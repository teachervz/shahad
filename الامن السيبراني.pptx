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Lst>
  <p:sldIdLst>
    <p:sldId id="256" r:id="rId4"/>
    <p:sldId id="403" r:id="rId5"/>
    <p:sldId id="389" r:id="rId6"/>
    <p:sldId id="354" r:id="rId7"/>
    <p:sldId id="424" r:id="rId8"/>
    <p:sldId id="426" r:id="rId9"/>
    <p:sldId id="435" r:id="rId10"/>
    <p:sldId id="439" r:id="rId11"/>
    <p:sldId id="427" r:id="rId12"/>
    <p:sldId id="374" r:id="rId13"/>
    <p:sldId id="257" r:id="rId14"/>
    <p:sldId id="258" r:id="rId15"/>
    <p:sldId id="259" r:id="rId16"/>
    <p:sldId id="432" r:id="rId17"/>
    <p:sldId id="261" r:id="rId18"/>
    <p:sldId id="409" r:id="rId19"/>
    <p:sldId id="377" r:id="rId20"/>
    <p:sldId id="394" r:id="rId21"/>
    <p:sldId id="263" r:id="rId22"/>
    <p:sldId id="264" r:id="rId23"/>
    <p:sldId id="285" r:id="rId24"/>
    <p:sldId id="265" r:id="rId25"/>
    <p:sldId id="266" r:id="rId26"/>
    <p:sldId id="334" r:id="rId27"/>
    <p:sldId id="423" r:id="rId28"/>
    <p:sldId id="393" r:id="rId29"/>
    <p:sldId id="437" r:id="rId30"/>
    <p:sldId id="333" r:id="rId31"/>
    <p:sldId id="267" r:id="rId32"/>
    <p:sldId id="429" r:id="rId33"/>
    <p:sldId id="268" r:id="rId34"/>
    <p:sldId id="269" r:id="rId35"/>
    <p:sldId id="270" r:id="rId36"/>
    <p:sldId id="271" r:id="rId37"/>
    <p:sldId id="395" r:id="rId38"/>
    <p:sldId id="288" r:id="rId39"/>
    <p:sldId id="397" r:id="rId40"/>
    <p:sldId id="440" r:id="rId41"/>
    <p:sldId id="272" r:id="rId42"/>
    <p:sldId id="273" r:id="rId43"/>
    <p:sldId id="274" r:id="rId44"/>
    <p:sldId id="275" r:id="rId45"/>
    <p:sldId id="276" r:id="rId46"/>
    <p:sldId id="292" r:id="rId47"/>
    <p:sldId id="293" r:id="rId48"/>
    <p:sldId id="277" r:id="rId49"/>
    <p:sldId id="399" r:id="rId50"/>
    <p:sldId id="278" r:id="rId51"/>
    <p:sldId id="398" r:id="rId52"/>
    <p:sldId id="425" r:id="rId53"/>
    <p:sldId id="433" r:id="rId54"/>
    <p:sldId id="438" r:id="rId55"/>
    <p:sldId id="436" r:id="rId56"/>
  </p:sldIdLst>
  <p:sldSz cx="18288000" cy="10287000"/>
  <p:notesSz cx="6858000" cy="9144000"/>
  <p:embeddedFontLst>
    <p:embeddedFont>
      <p:font typeface="Abadi" panose="020B0604020104020204" pitchFamily="34" charset="0"/>
      <p:regular r:id="rId57"/>
    </p:embeddedFont>
    <p:embeddedFont>
      <p:font typeface="Abdo Logo" panose="02000500030000020004" pitchFamily="2" charset="-78"/>
      <p:regular r:id="rId58"/>
    </p:embeddedFont>
    <p:embeddedFont>
      <p:font typeface="Calibri" panose="020F0502020204030204" pitchFamily="34" charset="0"/>
      <p:regular r:id="rId59"/>
      <p:bold r:id="rId60"/>
      <p:italic r:id="rId61"/>
      <p:boldItalic r:id="rId62"/>
    </p:embeddedFont>
    <p:embeddedFont>
      <p:font typeface="Calibri Light" panose="020F0302020204030204" pitchFamily="34" charset="0"/>
      <p:regular r:id="rId63"/>
      <p:italic r:id="rId64"/>
    </p:embeddedFont>
    <p:embeddedFont>
      <p:font typeface="PT Bold Heading" panose="02010400000000000000" charset="-78"/>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شهد العتيبي" initials="شا" lastIdx="1" clrIdx="0">
    <p:extLst>
      <p:ext uri="{19B8F6BF-5375-455C-9EA6-DF929625EA0E}">
        <p15:presenceInfo xmlns:p15="http://schemas.microsoft.com/office/powerpoint/2012/main" userId="S::t691836@tbkg.moe.gov.sa::f5f061ff-d5be-4124-af02-a505254b747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D87"/>
    <a:srgbClr val="FFE194"/>
    <a:srgbClr val="1C262A"/>
    <a:srgbClr val="1DA8A7"/>
    <a:srgbClr val="FFEDBF"/>
    <a:srgbClr val="BFC5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432" y="54"/>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7.fntdata"/><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66"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8.fntdata"/><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6.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font" Target="fonts/font9.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29E29E7-632F-7B62-4993-AEB81016A4A1}"/>
              </a:ext>
            </a:extLst>
          </p:cNvPr>
          <p:cNvSpPr>
            <a:spLocks noGrp="1"/>
          </p:cNvSpPr>
          <p:nvPr>
            <p:ph type="ctrTitle"/>
          </p:nvPr>
        </p:nvSpPr>
        <p:spPr>
          <a:xfrm>
            <a:off x="2286000" y="1684338"/>
            <a:ext cx="13716000" cy="35814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C0531028-CB56-30F3-364F-0FE7448DC442}"/>
              </a:ext>
            </a:extLst>
          </p:cNvPr>
          <p:cNvSpPr>
            <a:spLocks noGrp="1"/>
          </p:cNvSpPr>
          <p:nvPr>
            <p:ph type="subTitle" idx="1"/>
          </p:nvPr>
        </p:nvSpPr>
        <p:spPr>
          <a:xfrm>
            <a:off x="2286000" y="5403850"/>
            <a:ext cx="13716000" cy="248285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7BF0DDF7-F25C-0F21-5B3F-523740133CD6}"/>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48E68399-3998-2FB4-0DA7-E535FF8B161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4F626E9-29B9-A54A-9438-F8D074A7D5E2}"/>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1458722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CF2DE89-E519-D299-01D9-2925F5EDA869}"/>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23599401-592B-89EC-7889-DAE1FF91733F}"/>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259B2551-D24E-1A27-3AFC-53DA63FDB48D}"/>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93D3041B-B60A-DB60-3C5C-7A5B805DF78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31FA03C-D102-B22C-AD38-72E1704C981F}"/>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1310241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2DCCA79-6FAB-4903-303A-5A639400BC7A}"/>
              </a:ext>
            </a:extLst>
          </p:cNvPr>
          <p:cNvSpPr>
            <a:spLocks noGrp="1"/>
          </p:cNvSpPr>
          <p:nvPr>
            <p:ph type="title"/>
          </p:nvPr>
        </p:nvSpPr>
        <p:spPr>
          <a:xfrm>
            <a:off x="1247775" y="2565400"/>
            <a:ext cx="15773400" cy="4278313"/>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36E43516-BA9B-9A75-ADFE-1F35FB406B21}"/>
              </a:ext>
            </a:extLst>
          </p:cNvPr>
          <p:cNvSpPr>
            <a:spLocks noGrp="1"/>
          </p:cNvSpPr>
          <p:nvPr>
            <p:ph type="body" idx="1"/>
          </p:nvPr>
        </p:nvSpPr>
        <p:spPr>
          <a:xfrm>
            <a:off x="1247775" y="6884988"/>
            <a:ext cx="15773400" cy="22494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1C774223-9A95-1091-581D-B6CC163A8AB8}"/>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DD8E3381-8118-D9C2-1E46-C9AD8A87142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074D734-8F98-BC11-959E-AB5C238D3B95}"/>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1450639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D8C8ECB-00B0-9ACF-5F0E-C2E27CCF17D3}"/>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304F4C2-616D-E466-69DD-180825673E16}"/>
              </a:ext>
            </a:extLst>
          </p:cNvPr>
          <p:cNvSpPr>
            <a:spLocks noGrp="1"/>
          </p:cNvSpPr>
          <p:nvPr>
            <p:ph sz="half" idx="1"/>
          </p:nvPr>
        </p:nvSpPr>
        <p:spPr>
          <a:xfrm>
            <a:off x="1257300" y="2738438"/>
            <a:ext cx="7810500" cy="65278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6909FA39-E754-4ECD-DB35-23EC42CA7AEA}"/>
              </a:ext>
            </a:extLst>
          </p:cNvPr>
          <p:cNvSpPr>
            <a:spLocks noGrp="1"/>
          </p:cNvSpPr>
          <p:nvPr>
            <p:ph sz="half" idx="2"/>
          </p:nvPr>
        </p:nvSpPr>
        <p:spPr>
          <a:xfrm>
            <a:off x="9220200" y="2738438"/>
            <a:ext cx="7810500" cy="65278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D025551F-CC43-BC78-9C87-356A7DEB8F47}"/>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5DB901C6-34F8-4602-39E2-6894D4879264}"/>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7856428E-D061-6244-ECC5-3E6F4BA8E089}"/>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3822544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EC1774F-52D0-4F35-209B-EA9FD0B80E05}"/>
              </a:ext>
            </a:extLst>
          </p:cNvPr>
          <p:cNvSpPr>
            <a:spLocks noGrp="1"/>
          </p:cNvSpPr>
          <p:nvPr>
            <p:ph type="title"/>
          </p:nvPr>
        </p:nvSpPr>
        <p:spPr>
          <a:xfrm>
            <a:off x="1260475" y="547688"/>
            <a:ext cx="15773400" cy="1989137"/>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DEA95503-B569-7C4E-29BD-12150B1CCF7F}"/>
              </a:ext>
            </a:extLst>
          </p:cNvPr>
          <p:cNvSpPr>
            <a:spLocks noGrp="1"/>
          </p:cNvSpPr>
          <p:nvPr>
            <p:ph type="body" idx="1"/>
          </p:nvPr>
        </p:nvSpPr>
        <p:spPr>
          <a:xfrm>
            <a:off x="1260475" y="2522538"/>
            <a:ext cx="7735888"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CBDD0C9D-A011-B010-0944-893247E12763}"/>
              </a:ext>
            </a:extLst>
          </p:cNvPr>
          <p:cNvSpPr>
            <a:spLocks noGrp="1"/>
          </p:cNvSpPr>
          <p:nvPr>
            <p:ph sz="half" idx="2"/>
          </p:nvPr>
        </p:nvSpPr>
        <p:spPr>
          <a:xfrm>
            <a:off x="1260475" y="3757613"/>
            <a:ext cx="7735888" cy="5527675"/>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F066DA42-434B-D787-6672-428AECDFD8AA}"/>
              </a:ext>
            </a:extLst>
          </p:cNvPr>
          <p:cNvSpPr>
            <a:spLocks noGrp="1"/>
          </p:cNvSpPr>
          <p:nvPr>
            <p:ph type="body" sz="quarter" idx="3"/>
          </p:nvPr>
        </p:nvSpPr>
        <p:spPr>
          <a:xfrm>
            <a:off x="9258300" y="2522538"/>
            <a:ext cx="7775575"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31F4227E-73FC-3580-7F88-C1E67730D2F2}"/>
              </a:ext>
            </a:extLst>
          </p:cNvPr>
          <p:cNvSpPr>
            <a:spLocks noGrp="1"/>
          </p:cNvSpPr>
          <p:nvPr>
            <p:ph sz="quarter" idx="4"/>
          </p:nvPr>
        </p:nvSpPr>
        <p:spPr>
          <a:xfrm>
            <a:off x="9258300" y="3757613"/>
            <a:ext cx="7775575" cy="5527675"/>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DCB6584F-1AA3-E0F9-DAD8-6B806122AF1A}"/>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8" name="عنصر نائب للتذييل 7">
            <a:extLst>
              <a:ext uri="{FF2B5EF4-FFF2-40B4-BE49-F238E27FC236}">
                <a16:creationId xmlns:a16="http://schemas.microsoft.com/office/drawing/2014/main" id="{F2D33054-77FA-4F00-5602-9A589FB5B117}"/>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B3EDC427-A24F-6D85-28E6-AD1ABD48D35C}"/>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3536814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2C32398-6D03-6D17-9D29-8FBEF9900B2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03A0D5C7-1D41-A087-27E8-A921A2E85182}"/>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4" name="عنصر نائب للتذييل 3">
            <a:extLst>
              <a:ext uri="{FF2B5EF4-FFF2-40B4-BE49-F238E27FC236}">
                <a16:creationId xmlns:a16="http://schemas.microsoft.com/office/drawing/2014/main" id="{C5145E50-F115-7002-AF37-937C072C066C}"/>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22E30A8E-3D36-E27D-A6B3-C0B45CB8804F}"/>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356812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2DD39E74-9789-00D9-21DA-8AF22E70745E}"/>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3" name="عنصر نائب للتذييل 2">
            <a:extLst>
              <a:ext uri="{FF2B5EF4-FFF2-40B4-BE49-F238E27FC236}">
                <a16:creationId xmlns:a16="http://schemas.microsoft.com/office/drawing/2014/main" id="{EF950303-7AC1-9EFA-F005-F2BF2282B45F}"/>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B9FBFFEA-85BB-6E02-7578-3BF01576ED63}"/>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3135023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459FC4D-4EAB-6028-1157-CAB063DF13A7}"/>
              </a:ext>
            </a:extLst>
          </p:cNvPr>
          <p:cNvSpPr>
            <a:spLocks noGrp="1"/>
          </p:cNvSpPr>
          <p:nvPr>
            <p:ph type="title"/>
          </p:nvPr>
        </p:nvSpPr>
        <p:spPr>
          <a:xfrm>
            <a:off x="1260475" y="685800"/>
            <a:ext cx="5897563" cy="24003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849D4E63-29D9-381B-0021-A835F732508A}"/>
              </a:ext>
            </a:extLst>
          </p:cNvPr>
          <p:cNvSpPr>
            <a:spLocks noGrp="1"/>
          </p:cNvSpPr>
          <p:nvPr>
            <p:ph idx="1"/>
          </p:nvPr>
        </p:nvSpPr>
        <p:spPr>
          <a:xfrm>
            <a:off x="7775575" y="1481138"/>
            <a:ext cx="9258300"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0D0C4E8F-6829-81DC-71C3-7DA64F85036B}"/>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0CD0A7B7-66F6-8ABF-F59E-2E974CB9B918}"/>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44691FBE-E5F2-CA6F-A5BB-8C82821DD3C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E679252D-15CF-AE22-4F9E-A8AB102E4B1A}"/>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3855612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9BC6B73-54E4-C5FC-39A4-7CC427108D25}"/>
              </a:ext>
            </a:extLst>
          </p:cNvPr>
          <p:cNvSpPr>
            <a:spLocks noGrp="1"/>
          </p:cNvSpPr>
          <p:nvPr>
            <p:ph type="title"/>
          </p:nvPr>
        </p:nvSpPr>
        <p:spPr>
          <a:xfrm>
            <a:off x="1260475" y="685800"/>
            <a:ext cx="5897563" cy="24003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24FB4013-5CC8-320B-C9B7-EF59E5DE5B33}"/>
              </a:ext>
            </a:extLst>
          </p:cNvPr>
          <p:cNvSpPr>
            <a:spLocks noGrp="1"/>
          </p:cNvSpPr>
          <p:nvPr>
            <p:ph type="pic" idx="1"/>
          </p:nvPr>
        </p:nvSpPr>
        <p:spPr>
          <a:xfrm>
            <a:off x="7775575" y="1481138"/>
            <a:ext cx="9258300"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94C78876-AAA1-C05C-EA07-9F420B5EC4D7}"/>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1B4BA304-D132-D2B5-D284-56460F3D53CB}"/>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54A245E4-3E2E-C242-346B-E149EBA4E15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DEC1E82B-CC24-CA32-CDB1-BDC5B3986978}"/>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2774403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45DE26F-1B22-7805-3F36-303ACAA37F4A}"/>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B8EDC643-4AF7-CC68-0029-A738475E210D}"/>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2B132A63-2577-3B62-88B4-5F4A63DB9FA1}"/>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C55555FA-3CE1-45D3-10CE-AAD107DE158B}"/>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BFC4C88D-7E30-F125-C2AE-3F49153D4FCB}"/>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797412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C8A5A1EB-66BF-21F3-14BF-8DDDDF7ECCCA}"/>
              </a:ext>
            </a:extLst>
          </p:cNvPr>
          <p:cNvSpPr>
            <a:spLocks noGrp="1"/>
          </p:cNvSpPr>
          <p:nvPr>
            <p:ph type="title" orient="vert"/>
          </p:nvPr>
        </p:nvSpPr>
        <p:spPr>
          <a:xfrm>
            <a:off x="13087350" y="547688"/>
            <a:ext cx="3943350" cy="8718550"/>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8409E98-A347-CECC-0C53-2D279F5F4109}"/>
              </a:ext>
            </a:extLst>
          </p:cNvPr>
          <p:cNvSpPr>
            <a:spLocks noGrp="1"/>
          </p:cNvSpPr>
          <p:nvPr>
            <p:ph type="body" orient="vert" idx="1"/>
          </p:nvPr>
        </p:nvSpPr>
        <p:spPr>
          <a:xfrm>
            <a:off x="1257300" y="547688"/>
            <a:ext cx="11677650" cy="871855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4B2B269-16F1-9E0B-7588-952E0EFD1633}"/>
              </a:ext>
            </a:extLst>
          </p:cNvPr>
          <p:cNvSpPr>
            <a:spLocks noGrp="1"/>
          </p:cNvSpPr>
          <p:nvPr>
            <p:ph type="dt" sz="half" idx="10"/>
          </p:nvPr>
        </p:nvSpPr>
        <p:spPr/>
        <p:txBody>
          <a:body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F607C73F-1EC4-1D73-A53B-34F5FF268B7A}"/>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9F98EF2-9145-EA6D-415D-FC12D386CFCB}"/>
              </a:ext>
            </a:extLst>
          </p:cNvPr>
          <p:cNvSpPr>
            <a:spLocks noGrp="1"/>
          </p:cNvSpPr>
          <p:nvPr>
            <p:ph type="sldNum" sz="quarter" idx="12"/>
          </p:nvPr>
        </p:nvSpPr>
        <p:spPr/>
        <p:txBody>
          <a:bodyPr/>
          <a:lstStyle/>
          <a:p>
            <a:fld id="{96AD0CC9-B587-4FCB-AC82-2747817EE146}" type="slidenum">
              <a:rPr lang="ar-SA" smtClean="0"/>
              <a:t>‹#›</a:t>
            </a:fld>
            <a:endParaRPr lang="ar-SA"/>
          </a:p>
        </p:txBody>
      </p:sp>
    </p:spTree>
    <p:extLst>
      <p:ext uri="{BB962C8B-B14F-4D97-AF65-F5344CB8AC3E}">
        <p14:creationId xmlns:p14="http://schemas.microsoft.com/office/powerpoint/2010/main" val="17686298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266F2EE-B44B-49E8-1670-BAECF1B32F9A}"/>
              </a:ext>
            </a:extLst>
          </p:cNvPr>
          <p:cNvSpPr>
            <a:spLocks noGrp="1"/>
          </p:cNvSpPr>
          <p:nvPr>
            <p:ph type="ctrTitle"/>
          </p:nvPr>
        </p:nvSpPr>
        <p:spPr>
          <a:xfrm>
            <a:off x="2286000" y="1684338"/>
            <a:ext cx="13716000" cy="35814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13FC6533-915C-C62D-06F8-B670E634A30C}"/>
              </a:ext>
            </a:extLst>
          </p:cNvPr>
          <p:cNvSpPr>
            <a:spLocks noGrp="1"/>
          </p:cNvSpPr>
          <p:nvPr>
            <p:ph type="subTitle" idx="1"/>
          </p:nvPr>
        </p:nvSpPr>
        <p:spPr>
          <a:xfrm>
            <a:off x="2286000" y="5403850"/>
            <a:ext cx="13716000" cy="248285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FB7930F3-5A0C-D4AA-25D6-EFCE3BAF9166}"/>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512A507D-9B89-34B3-0514-56E9BD1447B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65A7A4CA-6E8A-043A-1007-08D08DE5D48E}"/>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33494592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8F307EC-6195-9DFB-6F94-439B8ECE00EA}"/>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039B6B1F-A9C3-E9D9-AE92-0C2C242ECD5F}"/>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5FF9DF0-3AD2-7A8F-F017-536A83FAF95C}"/>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5819EAD5-3DB4-1F67-FE62-BF6E9D47E50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4DE3AF0-3077-4A84-3CF5-49AF3FC4F003}"/>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19327211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BDBA56E-856C-389B-F55F-712DF082A0FD}"/>
              </a:ext>
            </a:extLst>
          </p:cNvPr>
          <p:cNvSpPr>
            <a:spLocks noGrp="1"/>
          </p:cNvSpPr>
          <p:nvPr>
            <p:ph type="title"/>
          </p:nvPr>
        </p:nvSpPr>
        <p:spPr>
          <a:xfrm>
            <a:off x="1247775" y="2565400"/>
            <a:ext cx="15773400" cy="4278313"/>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8067CBF2-8E8D-AED6-725F-BBCB53970D6D}"/>
              </a:ext>
            </a:extLst>
          </p:cNvPr>
          <p:cNvSpPr>
            <a:spLocks noGrp="1"/>
          </p:cNvSpPr>
          <p:nvPr>
            <p:ph type="body" idx="1"/>
          </p:nvPr>
        </p:nvSpPr>
        <p:spPr>
          <a:xfrm>
            <a:off x="1247775" y="6884988"/>
            <a:ext cx="15773400" cy="22494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FA4639FE-FDE3-8FC6-35BF-6C4AFF92EBC4}"/>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582547FB-0256-25B9-B3CD-58E139D2DB1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DDC2D425-5195-78FE-3EC8-0A35E1437D3E}"/>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1758295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6EFDA78-7D17-168F-F5DD-340BF920E79E}"/>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003A5EAD-7396-03DC-D58C-11182AE0783E}"/>
              </a:ext>
            </a:extLst>
          </p:cNvPr>
          <p:cNvSpPr>
            <a:spLocks noGrp="1"/>
          </p:cNvSpPr>
          <p:nvPr>
            <p:ph sz="half" idx="1"/>
          </p:nvPr>
        </p:nvSpPr>
        <p:spPr>
          <a:xfrm>
            <a:off x="1257300" y="2738438"/>
            <a:ext cx="7810500" cy="65278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8B466352-C98A-EE66-B8D0-1DA8362D53AF}"/>
              </a:ext>
            </a:extLst>
          </p:cNvPr>
          <p:cNvSpPr>
            <a:spLocks noGrp="1"/>
          </p:cNvSpPr>
          <p:nvPr>
            <p:ph sz="half" idx="2"/>
          </p:nvPr>
        </p:nvSpPr>
        <p:spPr>
          <a:xfrm>
            <a:off x="9220200" y="2738438"/>
            <a:ext cx="7810500" cy="6527800"/>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DB9E543F-2573-8DD7-9818-3B41B2442645}"/>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EE285CB3-7F5A-C3AB-E81F-2486F291ACA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74A5D7C9-3711-3712-E59E-FC2344055640}"/>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1797438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FC258EA-3931-12FD-7424-9BFB7AA3B145}"/>
              </a:ext>
            </a:extLst>
          </p:cNvPr>
          <p:cNvSpPr>
            <a:spLocks noGrp="1"/>
          </p:cNvSpPr>
          <p:nvPr>
            <p:ph type="title"/>
          </p:nvPr>
        </p:nvSpPr>
        <p:spPr>
          <a:xfrm>
            <a:off x="1260475" y="547688"/>
            <a:ext cx="15773400" cy="1989137"/>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FAACD12B-1BF5-2E09-D945-FDC3A2149A93}"/>
              </a:ext>
            </a:extLst>
          </p:cNvPr>
          <p:cNvSpPr>
            <a:spLocks noGrp="1"/>
          </p:cNvSpPr>
          <p:nvPr>
            <p:ph type="body" idx="1"/>
          </p:nvPr>
        </p:nvSpPr>
        <p:spPr>
          <a:xfrm>
            <a:off x="1260475" y="2522538"/>
            <a:ext cx="7735888"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C34A3BC4-8270-03C4-D546-B0F649B4C18B}"/>
              </a:ext>
            </a:extLst>
          </p:cNvPr>
          <p:cNvSpPr>
            <a:spLocks noGrp="1"/>
          </p:cNvSpPr>
          <p:nvPr>
            <p:ph sz="half" idx="2"/>
          </p:nvPr>
        </p:nvSpPr>
        <p:spPr>
          <a:xfrm>
            <a:off x="1260475" y="3757613"/>
            <a:ext cx="7735888" cy="5527675"/>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1D95B510-246F-7A63-09FD-110EB88A0FA0}"/>
              </a:ext>
            </a:extLst>
          </p:cNvPr>
          <p:cNvSpPr>
            <a:spLocks noGrp="1"/>
          </p:cNvSpPr>
          <p:nvPr>
            <p:ph type="body" sz="quarter" idx="3"/>
          </p:nvPr>
        </p:nvSpPr>
        <p:spPr>
          <a:xfrm>
            <a:off x="9258300" y="2522538"/>
            <a:ext cx="7775575"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325F486B-F1F7-3052-9034-1E6F8F96CD61}"/>
              </a:ext>
            </a:extLst>
          </p:cNvPr>
          <p:cNvSpPr>
            <a:spLocks noGrp="1"/>
          </p:cNvSpPr>
          <p:nvPr>
            <p:ph sz="quarter" idx="4"/>
          </p:nvPr>
        </p:nvSpPr>
        <p:spPr>
          <a:xfrm>
            <a:off x="9258300" y="3757613"/>
            <a:ext cx="7775575" cy="5527675"/>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8B6100D4-939A-BBCC-4246-23CA99BF72AD}"/>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8" name="عنصر نائب للتذييل 7">
            <a:extLst>
              <a:ext uri="{FF2B5EF4-FFF2-40B4-BE49-F238E27FC236}">
                <a16:creationId xmlns:a16="http://schemas.microsoft.com/office/drawing/2014/main" id="{2D08B935-A253-8AED-2EB5-C679DAAACD55}"/>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F20E82AA-8EC3-240C-881D-82EFEA8223A9}"/>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3207448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3E371C9-F518-31DC-FC03-12C84072B5F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147A63AC-02AD-53E2-45DE-94725B351493}"/>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4" name="عنصر نائب للتذييل 3">
            <a:extLst>
              <a:ext uri="{FF2B5EF4-FFF2-40B4-BE49-F238E27FC236}">
                <a16:creationId xmlns:a16="http://schemas.microsoft.com/office/drawing/2014/main" id="{6C30517D-2507-DA03-0255-8760EAC64C67}"/>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146D9EDE-7478-8BFD-0392-15418E500F3B}"/>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3893909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AE50507F-6B93-998D-8A35-6901F4FC5F9C}"/>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3" name="عنصر نائب للتذييل 2">
            <a:extLst>
              <a:ext uri="{FF2B5EF4-FFF2-40B4-BE49-F238E27FC236}">
                <a16:creationId xmlns:a16="http://schemas.microsoft.com/office/drawing/2014/main" id="{87F0B9CF-5C7E-E07C-41D3-0C6279F5393C}"/>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F0051ACB-3440-9816-F840-692B533ECA70}"/>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2298689208"/>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1FA4981-E80E-E739-76BF-3F5E805DDA35}"/>
              </a:ext>
            </a:extLst>
          </p:cNvPr>
          <p:cNvSpPr>
            <a:spLocks noGrp="1"/>
          </p:cNvSpPr>
          <p:nvPr>
            <p:ph type="title"/>
          </p:nvPr>
        </p:nvSpPr>
        <p:spPr>
          <a:xfrm>
            <a:off x="1260475" y="685800"/>
            <a:ext cx="5897563" cy="24003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4A922DDE-00C5-D7AC-2B54-18DD0FA672C8}"/>
              </a:ext>
            </a:extLst>
          </p:cNvPr>
          <p:cNvSpPr>
            <a:spLocks noGrp="1"/>
          </p:cNvSpPr>
          <p:nvPr>
            <p:ph idx="1"/>
          </p:nvPr>
        </p:nvSpPr>
        <p:spPr>
          <a:xfrm>
            <a:off x="7775575" y="1481138"/>
            <a:ext cx="9258300"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6264F2E2-8DCD-80E3-2C0B-244009CC6DD1}"/>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8F8759B-C9DF-05EE-6D53-35D88841C543}"/>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1376191C-4A94-735C-70C9-5924ABA1D8B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B04686B5-1568-538D-FFE1-52E7A85A89D9}"/>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22572787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9A115A2-3097-ED8C-CA87-9C266DC4AEC4}"/>
              </a:ext>
            </a:extLst>
          </p:cNvPr>
          <p:cNvSpPr>
            <a:spLocks noGrp="1"/>
          </p:cNvSpPr>
          <p:nvPr>
            <p:ph type="title"/>
          </p:nvPr>
        </p:nvSpPr>
        <p:spPr>
          <a:xfrm>
            <a:off x="1260475" y="685800"/>
            <a:ext cx="5897563" cy="24003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49D234EE-6752-C9AA-7A49-E5CB6AAC7451}"/>
              </a:ext>
            </a:extLst>
          </p:cNvPr>
          <p:cNvSpPr>
            <a:spLocks noGrp="1"/>
          </p:cNvSpPr>
          <p:nvPr>
            <p:ph type="pic" idx="1"/>
          </p:nvPr>
        </p:nvSpPr>
        <p:spPr>
          <a:xfrm>
            <a:off x="7775575" y="1481138"/>
            <a:ext cx="9258300"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C8C2C05D-D49C-11B9-A8DA-932F73331FE4}"/>
              </a:ext>
            </a:extLst>
          </p:cNvPr>
          <p:cNvSpPr>
            <a:spLocks noGrp="1"/>
          </p:cNvSpPr>
          <p:nvPr>
            <p:ph type="body" sz="half" idx="2"/>
          </p:nvPr>
        </p:nvSpPr>
        <p:spPr>
          <a:xfrm>
            <a:off x="1260475" y="3086100"/>
            <a:ext cx="5897563"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D445FE53-91DF-1AEE-6DF6-8AF1E044472D}"/>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6" name="عنصر نائب للتذييل 5">
            <a:extLst>
              <a:ext uri="{FF2B5EF4-FFF2-40B4-BE49-F238E27FC236}">
                <a16:creationId xmlns:a16="http://schemas.microsoft.com/office/drawing/2014/main" id="{98DAA2A0-B4C0-D8F0-8384-93361D71ECC1}"/>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FDC3D320-8B62-B095-55DA-1D5276F16CE9}"/>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42249650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EDE13EB-9DE5-0A7B-0604-9AD1A690C653}"/>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24C50262-EF5E-D079-574C-CEE5F8B62405}"/>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D5F6935-E939-2D0D-AADB-BE0C33960A47}"/>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BA6848C6-EF45-1F76-005F-4C3E37A8784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D118E215-F83C-B206-9450-D8C3458F74E7}"/>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3682551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17AEB999-CF0E-4760-2770-DEA2124113F3}"/>
              </a:ext>
            </a:extLst>
          </p:cNvPr>
          <p:cNvSpPr>
            <a:spLocks noGrp="1"/>
          </p:cNvSpPr>
          <p:nvPr>
            <p:ph type="title" orient="vert"/>
          </p:nvPr>
        </p:nvSpPr>
        <p:spPr>
          <a:xfrm>
            <a:off x="13087350" y="547688"/>
            <a:ext cx="3943350" cy="8718550"/>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61569593-EB92-B9A8-45C7-BB8861F45B3D}"/>
              </a:ext>
            </a:extLst>
          </p:cNvPr>
          <p:cNvSpPr>
            <a:spLocks noGrp="1"/>
          </p:cNvSpPr>
          <p:nvPr>
            <p:ph type="body" orient="vert" idx="1"/>
          </p:nvPr>
        </p:nvSpPr>
        <p:spPr>
          <a:xfrm>
            <a:off x="1257300" y="547688"/>
            <a:ext cx="11677650" cy="8718550"/>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EADF08D1-B3CE-6F59-D3D2-BF3BB7BB5039}"/>
              </a:ext>
            </a:extLst>
          </p:cNvPr>
          <p:cNvSpPr>
            <a:spLocks noGrp="1"/>
          </p:cNvSpPr>
          <p:nvPr>
            <p:ph type="dt" sz="half" idx="10"/>
          </p:nvPr>
        </p:nvSpPr>
        <p:spPr/>
        <p:txBody>
          <a:body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570DC4D2-405E-D42A-EACB-E5E81DA36C4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136610D-F526-F75A-8290-E35E319D1AFE}"/>
              </a:ext>
            </a:extLst>
          </p:cNvPr>
          <p:cNvSpPr>
            <a:spLocks noGrp="1"/>
          </p:cNvSpPr>
          <p:nvPr>
            <p:ph type="sldNum" sz="quarter" idx="12"/>
          </p:nvPr>
        </p:nvSpPr>
        <p:spPr/>
        <p:txBody>
          <a:bodyPr/>
          <a:lstStyle/>
          <a:p>
            <a:fld id="{F99A1663-88B3-47B6-9487-8CD5BFB3D17A}" type="slidenum">
              <a:rPr lang="ar-SA" smtClean="0"/>
              <a:t>‹#›</a:t>
            </a:fld>
            <a:endParaRPr lang="ar-SA"/>
          </a:p>
        </p:txBody>
      </p:sp>
    </p:spTree>
    <p:extLst>
      <p:ext uri="{BB962C8B-B14F-4D97-AF65-F5344CB8AC3E}">
        <p14:creationId xmlns:p14="http://schemas.microsoft.com/office/powerpoint/2010/main" val="424246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sv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125A363E-FF66-F905-D12E-CB637A2CDD96}"/>
              </a:ext>
            </a:extLst>
          </p:cNvPr>
          <p:cNvSpPr>
            <a:spLocks noGrp="1"/>
          </p:cNvSpPr>
          <p:nvPr>
            <p:ph type="title"/>
          </p:nvPr>
        </p:nvSpPr>
        <p:spPr>
          <a:xfrm>
            <a:off x="1257300" y="547688"/>
            <a:ext cx="15773400" cy="1989137"/>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4C9EE17E-1F00-4852-0C7D-9B81EEF3E5B3}"/>
              </a:ext>
            </a:extLst>
          </p:cNvPr>
          <p:cNvSpPr>
            <a:spLocks noGrp="1"/>
          </p:cNvSpPr>
          <p:nvPr>
            <p:ph type="body" idx="1"/>
          </p:nvPr>
        </p:nvSpPr>
        <p:spPr>
          <a:xfrm>
            <a:off x="1257300" y="2738438"/>
            <a:ext cx="15773400" cy="6527800"/>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454885B-D9C4-BACF-8B89-67120CB24042}"/>
              </a:ext>
            </a:extLst>
          </p:cNvPr>
          <p:cNvSpPr>
            <a:spLocks noGrp="1"/>
          </p:cNvSpPr>
          <p:nvPr>
            <p:ph type="dt" sz="half" idx="2"/>
          </p:nvPr>
        </p:nvSpPr>
        <p:spPr>
          <a:xfrm>
            <a:off x="12915900" y="9534525"/>
            <a:ext cx="4114800" cy="547688"/>
          </a:xfrm>
          <a:prstGeom prst="rect">
            <a:avLst/>
          </a:prstGeom>
        </p:spPr>
        <p:txBody>
          <a:bodyPr vert="horz" lIns="91440" tIns="45720" rIns="91440" bIns="45720" rtlCol="1" anchor="ctr"/>
          <a:lstStyle>
            <a:lvl1pPr algn="r">
              <a:defRPr sz="1200">
                <a:solidFill>
                  <a:schemeClr val="tx1">
                    <a:tint val="75000"/>
                  </a:schemeClr>
                </a:solidFill>
              </a:defRPr>
            </a:lvl1pPr>
          </a:lstStyle>
          <a:p>
            <a:fld id="{D6F66415-FE39-4EDD-A00F-DE88353D2827}"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2ACD015A-D2FC-8EFF-F092-4145C643C966}"/>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7231339C-679C-9257-9266-AF32FFB90B41}"/>
              </a:ext>
            </a:extLst>
          </p:cNvPr>
          <p:cNvSpPr>
            <a:spLocks noGrp="1"/>
          </p:cNvSpPr>
          <p:nvPr>
            <p:ph type="sldNum" sz="quarter" idx="4"/>
          </p:nvPr>
        </p:nvSpPr>
        <p:spPr>
          <a:xfrm>
            <a:off x="1257300" y="9534525"/>
            <a:ext cx="4114800" cy="547688"/>
          </a:xfrm>
          <a:prstGeom prst="rect">
            <a:avLst/>
          </a:prstGeom>
        </p:spPr>
        <p:txBody>
          <a:bodyPr vert="horz" lIns="91440" tIns="45720" rIns="91440" bIns="45720" rtlCol="1" anchor="ctr"/>
          <a:lstStyle>
            <a:lvl1pPr algn="l">
              <a:defRPr sz="1200">
                <a:solidFill>
                  <a:schemeClr val="tx1">
                    <a:tint val="75000"/>
                  </a:schemeClr>
                </a:solidFill>
              </a:defRPr>
            </a:lvl1pPr>
          </a:lstStyle>
          <a:p>
            <a:fld id="{96AD0CC9-B587-4FCB-AC82-2747817EE146}" type="slidenum">
              <a:rPr lang="ar-SA" smtClean="0"/>
              <a:t>‹#›</a:t>
            </a:fld>
            <a:endParaRPr lang="ar-SA"/>
          </a:p>
        </p:txBody>
      </p:sp>
      <p:grpSp>
        <p:nvGrpSpPr>
          <p:cNvPr id="7" name="Group 2">
            <a:extLst>
              <a:ext uri="{FF2B5EF4-FFF2-40B4-BE49-F238E27FC236}">
                <a16:creationId xmlns:a16="http://schemas.microsoft.com/office/drawing/2014/main" id="{9737754C-4FC4-F0EA-534D-31C2AE3C1D42}"/>
              </a:ext>
            </a:extLst>
          </p:cNvPr>
          <p:cNvGrpSpPr/>
          <p:nvPr userDrawn="1"/>
        </p:nvGrpSpPr>
        <p:grpSpPr>
          <a:xfrm rot="3443392">
            <a:off x="547994" y="-3364886"/>
            <a:ext cx="399092" cy="7237429"/>
            <a:chOff x="0" y="0"/>
            <a:chExt cx="105111" cy="1906154"/>
          </a:xfrm>
        </p:grpSpPr>
        <p:sp>
          <p:nvSpPr>
            <p:cNvPr id="8" name="Freeform 3">
              <a:extLst>
                <a:ext uri="{FF2B5EF4-FFF2-40B4-BE49-F238E27FC236}">
                  <a16:creationId xmlns:a16="http://schemas.microsoft.com/office/drawing/2014/main" id="{4D2B5076-C452-8ECF-68D9-338E17F8EC45}"/>
                </a:ext>
              </a:extLst>
            </p:cNvPr>
            <p:cNvSpPr/>
            <p:nvPr/>
          </p:nvSpPr>
          <p:spPr>
            <a:xfrm>
              <a:off x="0" y="0"/>
              <a:ext cx="105111" cy="1906154"/>
            </a:xfrm>
            <a:custGeom>
              <a:avLst/>
              <a:gdLst/>
              <a:ahLst/>
              <a:cxnLst/>
              <a:rect l="l" t="t" r="r" b="b"/>
              <a:pathLst>
                <a:path w="105111" h="1906154">
                  <a:moveTo>
                    <a:pt x="0" y="0"/>
                  </a:moveTo>
                  <a:lnTo>
                    <a:pt x="105111" y="0"/>
                  </a:lnTo>
                  <a:lnTo>
                    <a:pt x="105111" y="1906154"/>
                  </a:lnTo>
                  <a:lnTo>
                    <a:pt x="0" y="1906154"/>
                  </a:lnTo>
                  <a:close/>
                </a:path>
              </a:pathLst>
            </a:custGeom>
            <a:solidFill>
              <a:srgbClr val="1C262A"/>
            </a:solidFill>
          </p:spPr>
          <p:txBody>
            <a:bodyPr/>
            <a:lstStyle/>
            <a:p>
              <a:endParaRPr lang="ar-SA"/>
            </a:p>
          </p:txBody>
        </p:sp>
        <p:sp>
          <p:nvSpPr>
            <p:cNvPr id="9" name="TextBox 4">
              <a:extLst>
                <a:ext uri="{FF2B5EF4-FFF2-40B4-BE49-F238E27FC236}">
                  <a16:creationId xmlns:a16="http://schemas.microsoft.com/office/drawing/2014/main" id="{1D631AA5-982C-F7DE-91DD-5A89020995BF}"/>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5">
            <a:extLst>
              <a:ext uri="{FF2B5EF4-FFF2-40B4-BE49-F238E27FC236}">
                <a16:creationId xmlns:a16="http://schemas.microsoft.com/office/drawing/2014/main" id="{35F55972-E9A8-A820-64E4-358A64395098}"/>
              </a:ext>
            </a:extLst>
          </p:cNvPr>
          <p:cNvGrpSpPr/>
          <p:nvPr userDrawn="1"/>
        </p:nvGrpSpPr>
        <p:grpSpPr>
          <a:xfrm>
            <a:off x="-581465" y="8721221"/>
            <a:ext cx="19392643" cy="2022791"/>
            <a:chOff x="0" y="0"/>
            <a:chExt cx="25856857" cy="2697055"/>
          </a:xfrm>
        </p:grpSpPr>
        <p:grpSp>
          <p:nvGrpSpPr>
            <p:cNvPr id="11" name="Group 6">
              <a:extLst>
                <a:ext uri="{FF2B5EF4-FFF2-40B4-BE49-F238E27FC236}">
                  <a16:creationId xmlns:a16="http://schemas.microsoft.com/office/drawing/2014/main" id="{7F5CA020-7F0C-AED5-3083-DB8C53B4D99E}"/>
                </a:ext>
              </a:extLst>
            </p:cNvPr>
            <p:cNvGrpSpPr/>
            <p:nvPr/>
          </p:nvGrpSpPr>
          <p:grpSpPr>
            <a:xfrm>
              <a:off x="0" y="1597666"/>
              <a:ext cx="25856857" cy="1099389"/>
              <a:chOff x="0" y="0"/>
              <a:chExt cx="5107527" cy="217163"/>
            </a:xfrm>
          </p:grpSpPr>
          <p:sp>
            <p:nvSpPr>
              <p:cNvPr id="13" name="Freeform 7">
                <a:extLst>
                  <a:ext uri="{FF2B5EF4-FFF2-40B4-BE49-F238E27FC236}">
                    <a16:creationId xmlns:a16="http://schemas.microsoft.com/office/drawing/2014/main" id="{55BBDB5D-84AB-3F3A-7110-B1D6985E446E}"/>
                  </a:ext>
                </a:extLst>
              </p:cNvPr>
              <p:cNvSpPr/>
              <p:nvPr/>
            </p:nvSpPr>
            <p:spPr>
              <a:xfrm>
                <a:off x="0" y="0"/>
                <a:ext cx="5107527" cy="217163"/>
              </a:xfrm>
              <a:custGeom>
                <a:avLst/>
                <a:gdLst/>
                <a:ahLst/>
                <a:cxnLst/>
                <a:rect l="l" t="t" r="r" b="b"/>
                <a:pathLst>
                  <a:path w="5107527" h="217163">
                    <a:moveTo>
                      <a:pt x="0" y="0"/>
                    </a:moveTo>
                    <a:lnTo>
                      <a:pt x="5107527" y="0"/>
                    </a:lnTo>
                    <a:lnTo>
                      <a:pt x="5107527" y="217163"/>
                    </a:lnTo>
                    <a:lnTo>
                      <a:pt x="0" y="217163"/>
                    </a:lnTo>
                    <a:close/>
                  </a:path>
                </a:pathLst>
              </a:custGeom>
              <a:solidFill>
                <a:srgbClr val="FFFFFF"/>
              </a:solidFill>
              <a:ln w="38100">
                <a:solidFill>
                  <a:srgbClr val="A1CCD1"/>
                </a:solidFill>
              </a:ln>
            </p:spPr>
            <p:txBody>
              <a:bodyPr/>
              <a:lstStyle/>
              <a:p>
                <a:endParaRPr lang="ar-SA"/>
              </a:p>
            </p:txBody>
          </p:sp>
          <p:sp>
            <p:nvSpPr>
              <p:cNvPr id="14" name="TextBox 8">
                <a:extLst>
                  <a:ext uri="{FF2B5EF4-FFF2-40B4-BE49-F238E27FC236}">
                    <a16:creationId xmlns:a16="http://schemas.microsoft.com/office/drawing/2014/main" id="{8031AE24-5957-E391-3806-A7A8A1EC8964}"/>
                  </a:ext>
                </a:extLst>
              </p:cNvPr>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sp>
          <p:nvSpPr>
            <p:cNvPr id="12" name="Freeform 9">
              <a:extLst>
                <a:ext uri="{FF2B5EF4-FFF2-40B4-BE49-F238E27FC236}">
                  <a16:creationId xmlns:a16="http://schemas.microsoft.com/office/drawing/2014/main" id="{898A91D3-72E7-3AD3-B9A2-776335E85617}"/>
                </a:ext>
              </a:extLst>
            </p:cNvPr>
            <p:cNvSpPr/>
            <p:nvPr/>
          </p:nvSpPr>
          <p:spPr>
            <a:xfrm flipH="1">
              <a:off x="536520" y="0"/>
              <a:ext cx="1597666" cy="1597666"/>
            </a:xfrm>
            <a:custGeom>
              <a:avLst/>
              <a:gdLst/>
              <a:ahLst/>
              <a:cxnLst/>
              <a:rect l="l" t="t" r="r" b="b"/>
              <a:pathLst>
                <a:path w="1597666" h="1597666">
                  <a:moveTo>
                    <a:pt x="1597666" y="0"/>
                  </a:moveTo>
                  <a:lnTo>
                    <a:pt x="0" y="0"/>
                  </a:lnTo>
                  <a:lnTo>
                    <a:pt x="0" y="1597666"/>
                  </a:lnTo>
                  <a:lnTo>
                    <a:pt x="1597666" y="1597666"/>
                  </a:lnTo>
                  <a:lnTo>
                    <a:pt x="1597666"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ar-SA"/>
            </a:p>
          </p:txBody>
        </p:sp>
      </p:grpSp>
      <p:grpSp>
        <p:nvGrpSpPr>
          <p:cNvPr id="15" name="Group 10">
            <a:extLst>
              <a:ext uri="{FF2B5EF4-FFF2-40B4-BE49-F238E27FC236}">
                <a16:creationId xmlns:a16="http://schemas.microsoft.com/office/drawing/2014/main" id="{AD49E1C5-702F-4DC3-CAB3-105B22113667}"/>
              </a:ext>
            </a:extLst>
          </p:cNvPr>
          <p:cNvGrpSpPr/>
          <p:nvPr userDrawn="1"/>
        </p:nvGrpSpPr>
        <p:grpSpPr>
          <a:xfrm>
            <a:off x="13494062" y="-3232030"/>
            <a:ext cx="6999808" cy="6295680"/>
            <a:chOff x="0" y="0"/>
            <a:chExt cx="9333077" cy="8394239"/>
          </a:xfrm>
        </p:grpSpPr>
        <p:grpSp>
          <p:nvGrpSpPr>
            <p:cNvPr id="16" name="Group 11">
              <a:extLst>
                <a:ext uri="{FF2B5EF4-FFF2-40B4-BE49-F238E27FC236}">
                  <a16:creationId xmlns:a16="http://schemas.microsoft.com/office/drawing/2014/main" id="{7F6F600C-2F32-4210-4F27-1A064E926FC4}"/>
                </a:ext>
              </a:extLst>
            </p:cNvPr>
            <p:cNvGrpSpPr/>
            <p:nvPr/>
          </p:nvGrpSpPr>
          <p:grpSpPr>
            <a:xfrm rot="1542919">
              <a:off x="6468687" y="1086457"/>
              <a:ext cx="1646683" cy="5988709"/>
              <a:chOff x="0" y="0"/>
              <a:chExt cx="325271" cy="1182955"/>
            </a:xfrm>
          </p:grpSpPr>
          <p:sp>
            <p:nvSpPr>
              <p:cNvPr id="23" name="Freeform 12">
                <a:extLst>
                  <a:ext uri="{FF2B5EF4-FFF2-40B4-BE49-F238E27FC236}">
                    <a16:creationId xmlns:a16="http://schemas.microsoft.com/office/drawing/2014/main" id="{B6EFA4BE-C023-3250-B1A2-FFCA24825643}"/>
                  </a:ext>
                </a:extLst>
              </p:cNvPr>
              <p:cNvSpPr/>
              <p:nvPr/>
            </p:nvSpPr>
            <p:spPr>
              <a:xfrm>
                <a:off x="0" y="0"/>
                <a:ext cx="325271" cy="1182955"/>
              </a:xfrm>
              <a:custGeom>
                <a:avLst/>
                <a:gdLst/>
                <a:ahLst/>
                <a:cxnLst/>
                <a:rect l="l" t="t" r="r" b="b"/>
                <a:pathLst>
                  <a:path w="325271" h="1182955">
                    <a:moveTo>
                      <a:pt x="0" y="0"/>
                    </a:moveTo>
                    <a:lnTo>
                      <a:pt x="325271" y="0"/>
                    </a:lnTo>
                    <a:lnTo>
                      <a:pt x="325271" y="1182955"/>
                    </a:lnTo>
                    <a:lnTo>
                      <a:pt x="0" y="1182955"/>
                    </a:lnTo>
                    <a:close/>
                  </a:path>
                </a:pathLst>
              </a:custGeom>
              <a:solidFill>
                <a:srgbClr val="1DA8A7"/>
              </a:solidFill>
            </p:spPr>
            <p:txBody>
              <a:bodyPr/>
              <a:lstStyle/>
              <a:p>
                <a:endParaRPr lang="ar-SA"/>
              </a:p>
            </p:txBody>
          </p:sp>
          <p:sp>
            <p:nvSpPr>
              <p:cNvPr id="24" name="TextBox 13">
                <a:extLst>
                  <a:ext uri="{FF2B5EF4-FFF2-40B4-BE49-F238E27FC236}">
                    <a16:creationId xmlns:a16="http://schemas.microsoft.com/office/drawing/2014/main" id="{FB74C4B9-9ED2-1915-E2F5-2762C94208E3}"/>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4">
              <a:extLst>
                <a:ext uri="{FF2B5EF4-FFF2-40B4-BE49-F238E27FC236}">
                  <a16:creationId xmlns:a16="http://schemas.microsoft.com/office/drawing/2014/main" id="{7960CFB8-A381-98CF-2F21-64CDB7A17C95}"/>
                </a:ext>
              </a:extLst>
            </p:cNvPr>
            <p:cNvGrpSpPr/>
            <p:nvPr/>
          </p:nvGrpSpPr>
          <p:grpSpPr>
            <a:xfrm rot="-2482869">
              <a:off x="3320581" y="-997176"/>
              <a:ext cx="906693" cy="10388592"/>
              <a:chOff x="0" y="0"/>
              <a:chExt cx="179100" cy="2052068"/>
            </a:xfrm>
          </p:grpSpPr>
          <p:sp>
            <p:nvSpPr>
              <p:cNvPr id="21" name="Freeform 15">
                <a:extLst>
                  <a:ext uri="{FF2B5EF4-FFF2-40B4-BE49-F238E27FC236}">
                    <a16:creationId xmlns:a16="http://schemas.microsoft.com/office/drawing/2014/main" id="{571DF988-BE08-126D-C969-1C54A764808B}"/>
                  </a:ext>
                </a:extLst>
              </p:cNvPr>
              <p:cNvSpPr/>
              <p:nvPr/>
            </p:nvSpPr>
            <p:spPr>
              <a:xfrm>
                <a:off x="0" y="0"/>
                <a:ext cx="179100" cy="2052068"/>
              </a:xfrm>
              <a:custGeom>
                <a:avLst/>
                <a:gdLst/>
                <a:ahLst/>
                <a:cxnLst/>
                <a:rect l="l" t="t" r="r" b="b"/>
                <a:pathLst>
                  <a:path w="179100" h="2052068">
                    <a:moveTo>
                      <a:pt x="0" y="0"/>
                    </a:moveTo>
                    <a:lnTo>
                      <a:pt x="179100" y="0"/>
                    </a:lnTo>
                    <a:lnTo>
                      <a:pt x="179100" y="2052068"/>
                    </a:lnTo>
                    <a:lnTo>
                      <a:pt x="0" y="2052068"/>
                    </a:lnTo>
                    <a:close/>
                  </a:path>
                </a:pathLst>
              </a:custGeom>
              <a:solidFill>
                <a:srgbClr val="FFE194"/>
              </a:solidFill>
            </p:spPr>
            <p:txBody>
              <a:bodyPr/>
              <a:lstStyle/>
              <a:p>
                <a:endParaRPr lang="ar-SA"/>
              </a:p>
            </p:txBody>
          </p:sp>
          <p:sp>
            <p:nvSpPr>
              <p:cNvPr id="22" name="TextBox 16">
                <a:extLst>
                  <a:ext uri="{FF2B5EF4-FFF2-40B4-BE49-F238E27FC236}">
                    <a16:creationId xmlns:a16="http://schemas.microsoft.com/office/drawing/2014/main" id="{6A862662-1712-04E6-15F7-F78F4AC13C37}"/>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7">
              <a:extLst>
                <a:ext uri="{FF2B5EF4-FFF2-40B4-BE49-F238E27FC236}">
                  <a16:creationId xmlns:a16="http://schemas.microsoft.com/office/drawing/2014/main" id="{E8FB7940-9821-CE75-0125-EF2C0A72F783}"/>
                </a:ext>
              </a:extLst>
            </p:cNvPr>
            <p:cNvGrpSpPr/>
            <p:nvPr/>
          </p:nvGrpSpPr>
          <p:grpSpPr>
            <a:xfrm rot="-421074">
              <a:off x="3805705" y="3068514"/>
              <a:ext cx="3306083" cy="2570767"/>
              <a:chOff x="0" y="0"/>
              <a:chExt cx="812800" cy="632023"/>
            </a:xfrm>
          </p:grpSpPr>
          <p:sp>
            <p:nvSpPr>
              <p:cNvPr id="19" name="Freeform 18">
                <a:extLst>
                  <a:ext uri="{FF2B5EF4-FFF2-40B4-BE49-F238E27FC236}">
                    <a16:creationId xmlns:a16="http://schemas.microsoft.com/office/drawing/2014/main" id="{E7A1175B-4D10-E6F4-9BE8-7CBA6B2E76A6}"/>
                  </a:ext>
                </a:extLst>
              </p:cNvPr>
              <p:cNvSpPr/>
              <p:nvPr/>
            </p:nvSpPr>
            <p:spPr>
              <a:xfrm>
                <a:off x="0" y="0"/>
                <a:ext cx="812800" cy="632023"/>
              </a:xfrm>
              <a:custGeom>
                <a:avLst/>
                <a:gdLst/>
                <a:ahLst/>
                <a:cxnLst/>
                <a:rect l="l" t="t" r="r" b="b"/>
                <a:pathLst>
                  <a:path w="812800" h="632023">
                    <a:moveTo>
                      <a:pt x="406400" y="632023"/>
                    </a:moveTo>
                    <a:lnTo>
                      <a:pt x="812800" y="0"/>
                    </a:lnTo>
                    <a:lnTo>
                      <a:pt x="0" y="0"/>
                    </a:lnTo>
                    <a:lnTo>
                      <a:pt x="406400" y="632023"/>
                    </a:lnTo>
                    <a:close/>
                  </a:path>
                </a:pathLst>
              </a:custGeom>
              <a:solidFill>
                <a:srgbClr val="1C262A"/>
              </a:solidFill>
            </p:spPr>
            <p:txBody>
              <a:bodyPr/>
              <a:lstStyle/>
              <a:p>
                <a:endParaRPr lang="ar-SA"/>
              </a:p>
            </p:txBody>
          </p:sp>
          <p:sp>
            <p:nvSpPr>
              <p:cNvPr id="20" name="TextBox 19">
                <a:extLst>
                  <a:ext uri="{FF2B5EF4-FFF2-40B4-BE49-F238E27FC236}">
                    <a16:creationId xmlns:a16="http://schemas.microsoft.com/office/drawing/2014/main" id="{D6A5615C-6B51-EEF0-BBAC-0FDE37B301BF}"/>
                  </a:ext>
                </a:extLst>
              </p:cNvPr>
              <p:cNvSpPr txBox="1"/>
              <p:nvPr/>
            </p:nvSpPr>
            <p:spPr>
              <a:xfrm>
                <a:off x="127000" y="12700"/>
                <a:ext cx="558800" cy="368300"/>
              </a:xfrm>
              <a:prstGeom prst="rect">
                <a:avLst/>
              </a:prstGeom>
            </p:spPr>
            <p:txBody>
              <a:bodyPr lIns="50800" tIns="50800" rIns="50800" bIns="50800" rtlCol="0" anchor="ctr"/>
              <a:lstStyle/>
              <a:p>
                <a:pPr algn="ctr">
                  <a:lnSpc>
                    <a:spcPts val="2659"/>
                  </a:lnSpc>
                </a:pPr>
                <a:endParaRPr/>
              </a:p>
            </p:txBody>
          </p:sp>
        </p:grpSp>
      </p:grpSp>
    </p:spTree>
    <p:extLst>
      <p:ext uri="{BB962C8B-B14F-4D97-AF65-F5344CB8AC3E}">
        <p14:creationId xmlns:p14="http://schemas.microsoft.com/office/powerpoint/2010/main" val="3076064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4070C5F9-A34D-AD99-AC18-4036572D4821}"/>
              </a:ext>
            </a:extLst>
          </p:cNvPr>
          <p:cNvSpPr>
            <a:spLocks noGrp="1"/>
          </p:cNvSpPr>
          <p:nvPr>
            <p:ph type="title"/>
          </p:nvPr>
        </p:nvSpPr>
        <p:spPr>
          <a:xfrm>
            <a:off x="1257300" y="547688"/>
            <a:ext cx="15773400" cy="1989137"/>
          </a:xfrm>
          <a:prstGeom prst="rect">
            <a:avLst/>
          </a:prstGeom>
        </p:spPr>
        <p:txBody>
          <a:bodyPr vert="horz" lIns="91440" tIns="45720" rIns="91440" bIns="45720" rtlCol="1" anchor="ctr">
            <a:normAutofit/>
          </a:bodyPr>
          <a:lstStyle/>
          <a:p>
            <a:r>
              <a:rPr lang="ar-SA" dirty="0"/>
              <a:t>انقر لتحرير نمط عنوان الشكل الرئيسي</a:t>
            </a:r>
          </a:p>
        </p:txBody>
      </p:sp>
      <p:sp>
        <p:nvSpPr>
          <p:cNvPr id="3" name="عنصر نائب للنص 2">
            <a:extLst>
              <a:ext uri="{FF2B5EF4-FFF2-40B4-BE49-F238E27FC236}">
                <a16:creationId xmlns:a16="http://schemas.microsoft.com/office/drawing/2014/main" id="{C3C923A2-BDA0-C2A1-9749-24022BAC7270}"/>
              </a:ext>
            </a:extLst>
          </p:cNvPr>
          <p:cNvSpPr>
            <a:spLocks noGrp="1"/>
          </p:cNvSpPr>
          <p:nvPr>
            <p:ph type="body" idx="1"/>
          </p:nvPr>
        </p:nvSpPr>
        <p:spPr>
          <a:xfrm>
            <a:off x="1257300" y="2738438"/>
            <a:ext cx="15773400" cy="6527800"/>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A8FE1455-EC3D-3AEC-C1E0-8878BED52562}"/>
              </a:ext>
            </a:extLst>
          </p:cNvPr>
          <p:cNvSpPr>
            <a:spLocks noGrp="1"/>
          </p:cNvSpPr>
          <p:nvPr>
            <p:ph type="dt" sz="half" idx="2"/>
          </p:nvPr>
        </p:nvSpPr>
        <p:spPr>
          <a:xfrm>
            <a:off x="12915900" y="9534525"/>
            <a:ext cx="4114800" cy="547688"/>
          </a:xfrm>
          <a:prstGeom prst="rect">
            <a:avLst/>
          </a:prstGeom>
        </p:spPr>
        <p:txBody>
          <a:bodyPr vert="horz" lIns="91440" tIns="45720" rIns="91440" bIns="45720" rtlCol="1" anchor="ctr"/>
          <a:lstStyle>
            <a:lvl1pPr algn="r">
              <a:defRPr sz="1200">
                <a:solidFill>
                  <a:schemeClr val="tx1">
                    <a:tint val="75000"/>
                  </a:schemeClr>
                </a:solidFill>
              </a:defRPr>
            </a:lvl1pPr>
          </a:lstStyle>
          <a:p>
            <a:fld id="{B5658E8B-9BCF-4C2C-9C7D-F8F0288F2D4E}" type="datetimeFigureOut">
              <a:rPr lang="ar-SA" smtClean="0"/>
              <a:t>12 جمادى الأولى، 1448</a:t>
            </a:fld>
            <a:endParaRPr lang="ar-SA"/>
          </a:p>
        </p:txBody>
      </p:sp>
      <p:sp>
        <p:nvSpPr>
          <p:cNvPr id="5" name="عنصر نائب للتذييل 4">
            <a:extLst>
              <a:ext uri="{FF2B5EF4-FFF2-40B4-BE49-F238E27FC236}">
                <a16:creationId xmlns:a16="http://schemas.microsoft.com/office/drawing/2014/main" id="{B2D36DC5-6826-292F-765D-E4F4199B8574}"/>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A89A7EB6-CFA1-A167-0A16-28E484DD5DFF}"/>
              </a:ext>
            </a:extLst>
          </p:cNvPr>
          <p:cNvSpPr>
            <a:spLocks noGrp="1"/>
          </p:cNvSpPr>
          <p:nvPr>
            <p:ph type="sldNum" sz="quarter" idx="4"/>
          </p:nvPr>
        </p:nvSpPr>
        <p:spPr>
          <a:xfrm>
            <a:off x="1257300" y="9534525"/>
            <a:ext cx="4114800" cy="547688"/>
          </a:xfrm>
          <a:prstGeom prst="rect">
            <a:avLst/>
          </a:prstGeom>
        </p:spPr>
        <p:txBody>
          <a:bodyPr vert="horz" lIns="91440" tIns="45720" rIns="91440" bIns="45720" rtlCol="1" anchor="ctr"/>
          <a:lstStyle>
            <a:lvl1pPr algn="l">
              <a:defRPr sz="1200">
                <a:solidFill>
                  <a:schemeClr val="tx1">
                    <a:tint val="75000"/>
                  </a:schemeClr>
                </a:solidFill>
              </a:defRPr>
            </a:lvl1pPr>
          </a:lstStyle>
          <a:p>
            <a:fld id="{F99A1663-88B3-47B6-9487-8CD5BFB3D17A}" type="slidenum">
              <a:rPr lang="ar-SA" smtClean="0"/>
              <a:t>‹#›</a:t>
            </a:fld>
            <a:endParaRPr lang="ar-SA"/>
          </a:p>
        </p:txBody>
      </p:sp>
      <p:grpSp>
        <p:nvGrpSpPr>
          <p:cNvPr id="8" name="Group 2">
            <a:extLst>
              <a:ext uri="{FF2B5EF4-FFF2-40B4-BE49-F238E27FC236}">
                <a16:creationId xmlns:a16="http://schemas.microsoft.com/office/drawing/2014/main" id="{F850D465-D6BE-A786-FED4-07379B7B78FC}"/>
              </a:ext>
            </a:extLst>
          </p:cNvPr>
          <p:cNvGrpSpPr/>
          <p:nvPr userDrawn="1"/>
        </p:nvGrpSpPr>
        <p:grpSpPr>
          <a:xfrm rot="3443392">
            <a:off x="547994" y="-3364886"/>
            <a:ext cx="399092" cy="7237429"/>
            <a:chOff x="0" y="0"/>
            <a:chExt cx="105111" cy="1906154"/>
          </a:xfrm>
        </p:grpSpPr>
        <p:sp>
          <p:nvSpPr>
            <p:cNvPr id="10" name="Freeform 3">
              <a:extLst>
                <a:ext uri="{FF2B5EF4-FFF2-40B4-BE49-F238E27FC236}">
                  <a16:creationId xmlns:a16="http://schemas.microsoft.com/office/drawing/2014/main" id="{AAAFCBE8-3C4D-B485-6947-48CDA0F369D5}"/>
                </a:ext>
              </a:extLst>
            </p:cNvPr>
            <p:cNvSpPr/>
            <p:nvPr/>
          </p:nvSpPr>
          <p:spPr>
            <a:xfrm>
              <a:off x="0" y="0"/>
              <a:ext cx="105111" cy="1906154"/>
            </a:xfrm>
            <a:custGeom>
              <a:avLst/>
              <a:gdLst/>
              <a:ahLst/>
              <a:cxnLst/>
              <a:rect l="l" t="t" r="r" b="b"/>
              <a:pathLst>
                <a:path w="105111" h="1906154">
                  <a:moveTo>
                    <a:pt x="0" y="0"/>
                  </a:moveTo>
                  <a:lnTo>
                    <a:pt x="105111" y="0"/>
                  </a:lnTo>
                  <a:lnTo>
                    <a:pt x="105111" y="1906154"/>
                  </a:lnTo>
                  <a:lnTo>
                    <a:pt x="0" y="1906154"/>
                  </a:lnTo>
                  <a:close/>
                </a:path>
              </a:pathLst>
            </a:custGeom>
            <a:solidFill>
              <a:srgbClr val="1C262A"/>
            </a:solidFill>
          </p:spPr>
          <p:txBody>
            <a:bodyPr/>
            <a:lstStyle/>
            <a:p>
              <a:endParaRPr lang="ar-SA"/>
            </a:p>
          </p:txBody>
        </p:sp>
        <p:sp>
          <p:nvSpPr>
            <p:cNvPr id="13" name="TextBox 4">
              <a:extLst>
                <a:ext uri="{FF2B5EF4-FFF2-40B4-BE49-F238E27FC236}">
                  <a16:creationId xmlns:a16="http://schemas.microsoft.com/office/drawing/2014/main" id="{A49E6BF0-DBDC-C106-7453-8E5FD4E37A11}"/>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5">
            <a:extLst>
              <a:ext uri="{FF2B5EF4-FFF2-40B4-BE49-F238E27FC236}">
                <a16:creationId xmlns:a16="http://schemas.microsoft.com/office/drawing/2014/main" id="{A74CF973-390F-FD0C-6E99-F2EF7D42A4D9}"/>
              </a:ext>
            </a:extLst>
          </p:cNvPr>
          <p:cNvGrpSpPr/>
          <p:nvPr userDrawn="1"/>
        </p:nvGrpSpPr>
        <p:grpSpPr>
          <a:xfrm>
            <a:off x="-581465" y="8721221"/>
            <a:ext cx="19392643" cy="2022791"/>
            <a:chOff x="0" y="0"/>
            <a:chExt cx="25856857" cy="2697055"/>
          </a:xfrm>
        </p:grpSpPr>
        <p:grpSp>
          <p:nvGrpSpPr>
            <p:cNvPr id="16" name="Group 6">
              <a:extLst>
                <a:ext uri="{FF2B5EF4-FFF2-40B4-BE49-F238E27FC236}">
                  <a16:creationId xmlns:a16="http://schemas.microsoft.com/office/drawing/2014/main" id="{5EBE75F6-EF3E-97F3-2C7C-0EA37F879208}"/>
                </a:ext>
              </a:extLst>
            </p:cNvPr>
            <p:cNvGrpSpPr/>
            <p:nvPr/>
          </p:nvGrpSpPr>
          <p:grpSpPr>
            <a:xfrm>
              <a:off x="0" y="1597666"/>
              <a:ext cx="25856857" cy="1099389"/>
              <a:chOff x="0" y="0"/>
              <a:chExt cx="5107527" cy="217163"/>
            </a:xfrm>
          </p:grpSpPr>
          <p:sp>
            <p:nvSpPr>
              <p:cNvPr id="18" name="Freeform 7">
                <a:extLst>
                  <a:ext uri="{FF2B5EF4-FFF2-40B4-BE49-F238E27FC236}">
                    <a16:creationId xmlns:a16="http://schemas.microsoft.com/office/drawing/2014/main" id="{D9B44126-3C39-9572-FCE3-AAEEC4B74979}"/>
                  </a:ext>
                </a:extLst>
              </p:cNvPr>
              <p:cNvSpPr/>
              <p:nvPr/>
            </p:nvSpPr>
            <p:spPr>
              <a:xfrm>
                <a:off x="0" y="0"/>
                <a:ext cx="5107527" cy="217163"/>
              </a:xfrm>
              <a:custGeom>
                <a:avLst/>
                <a:gdLst/>
                <a:ahLst/>
                <a:cxnLst/>
                <a:rect l="l" t="t" r="r" b="b"/>
                <a:pathLst>
                  <a:path w="5107527" h="217163">
                    <a:moveTo>
                      <a:pt x="0" y="0"/>
                    </a:moveTo>
                    <a:lnTo>
                      <a:pt x="5107527" y="0"/>
                    </a:lnTo>
                    <a:lnTo>
                      <a:pt x="5107527" y="217163"/>
                    </a:lnTo>
                    <a:lnTo>
                      <a:pt x="0" y="217163"/>
                    </a:lnTo>
                    <a:close/>
                  </a:path>
                </a:pathLst>
              </a:custGeom>
              <a:solidFill>
                <a:srgbClr val="FFFFFF"/>
              </a:solidFill>
              <a:ln w="38100">
                <a:solidFill>
                  <a:srgbClr val="A1CCD1"/>
                </a:solidFill>
              </a:ln>
            </p:spPr>
            <p:txBody>
              <a:bodyPr/>
              <a:lstStyle/>
              <a:p>
                <a:endParaRPr lang="ar-SA"/>
              </a:p>
            </p:txBody>
          </p:sp>
          <p:sp>
            <p:nvSpPr>
              <p:cNvPr id="19" name="TextBox 8">
                <a:extLst>
                  <a:ext uri="{FF2B5EF4-FFF2-40B4-BE49-F238E27FC236}">
                    <a16:creationId xmlns:a16="http://schemas.microsoft.com/office/drawing/2014/main" id="{5B894F53-5E29-19CC-1030-F6729E166C92}"/>
                  </a:ext>
                </a:extLst>
              </p:cNvPr>
              <p:cNvSpPr txBox="1"/>
              <p:nvPr/>
            </p:nvSpPr>
            <p:spPr>
              <a:xfrm>
                <a:off x="0" y="-57150"/>
                <a:ext cx="812800" cy="869950"/>
              </a:xfrm>
              <a:prstGeom prst="rect">
                <a:avLst/>
              </a:prstGeom>
            </p:spPr>
            <p:txBody>
              <a:bodyPr lIns="50800" tIns="50800" rIns="50800" bIns="50800" rtlCol="0" anchor="ctr"/>
              <a:lstStyle/>
              <a:p>
                <a:pPr algn="ctr">
                  <a:lnSpc>
                    <a:spcPts val="2659"/>
                  </a:lnSpc>
                </a:pPr>
                <a:endParaRPr/>
              </a:p>
            </p:txBody>
          </p:sp>
        </p:grpSp>
        <p:sp>
          <p:nvSpPr>
            <p:cNvPr id="17" name="Freeform 9">
              <a:extLst>
                <a:ext uri="{FF2B5EF4-FFF2-40B4-BE49-F238E27FC236}">
                  <a16:creationId xmlns:a16="http://schemas.microsoft.com/office/drawing/2014/main" id="{106B37E4-8C90-841A-2125-3A55D84B884F}"/>
                </a:ext>
              </a:extLst>
            </p:cNvPr>
            <p:cNvSpPr/>
            <p:nvPr/>
          </p:nvSpPr>
          <p:spPr>
            <a:xfrm flipH="1">
              <a:off x="536520" y="0"/>
              <a:ext cx="1597666" cy="1597666"/>
            </a:xfrm>
            <a:custGeom>
              <a:avLst/>
              <a:gdLst/>
              <a:ahLst/>
              <a:cxnLst/>
              <a:rect l="l" t="t" r="r" b="b"/>
              <a:pathLst>
                <a:path w="1597666" h="1597666">
                  <a:moveTo>
                    <a:pt x="1597666" y="0"/>
                  </a:moveTo>
                  <a:lnTo>
                    <a:pt x="0" y="0"/>
                  </a:lnTo>
                  <a:lnTo>
                    <a:pt x="0" y="1597666"/>
                  </a:lnTo>
                  <a:lnTo>
                    <a:pt x="1597666" y="1597666"/>
                  </a:lnTo>
                  <a:lnTo>
                    <a:pt x="1597666"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ar-SA"/>
            </a:p>
          </p:txBody>
        </p:sp>
      </p:grpSp>
      <p:grpSp>
        <p:nvGrpSpPr>
          <p:cNvPr id="20" name="Group 10">
            <a:extLst>
              <a:ext uri="{FF2B5EF4-FFF2-40B4-BE49-F238E27FC236}">
                <a16:creationId xmlns:a16="http://schemas.microsoft.com/office/drawing/2014/main" id="{037B4ADC-1375-13EB-0905-926B11C2FDDD}"/>
              </a:ext>
            </a:extLst>
          </p:cNvPr>
          <p:cNvGrpSpPr/>
          <p:nvPr userDrawn="1"/>
        </p:nvGrpSpPr>
        <p:grpSpPr>
          <a:xfrm>
            <a:off x="13494062" y="-3232030"/>
            <a:ext cx="6999808" cy="6295680"/>
            <a:chOff x="0" y="0"/>
            <a:chExt cx="9333077" cy="8394239"/>
          </a:xfrm>
        </p:grpSpPr>
        <p:grpSp>
          <p:nvGrpSpPr>
            <p:cNvPr id="21" name="Group 11">
              <a:extLst>
                <a:ext uri="{FF2B5EF4-FFF2-40B4-BE49-F238E27FC236}">
                  <a16:creationId xmlns:a16="http://schemas.microsoft.com/office/drawing/2014/main" id="{8F9DA4EC-5411-7A19-49AA-D2DAE8F6BAD1}"/>
                </a:ext>
              </a:extLst>
            </p:cNvPr>
            <p:cNvGrpSpPr/>
            <p:nvPr/>
          </p:nvGrpSpPr>
          <p:grpSpPr>
            <a:xfrm rot="1542919">
              <a:off x="6468687" y="1086457"/>
              <a:ext cx="1646683" cy="5988709"/>
              <a:chOff x="0" y="0"/>
              <a:chExt cx="325271" cy="1182955"/>
            </a:xfrm>
          </p:grpSpPr>
          <p:sp>
            <p:nvSpPr>
              <p:cNvPr id="28" name="Freeform 12">
                <a:extLst>
                  <a:ext uri="{FF2B5EF4-FFF2-40B4-BE49-F238E27FC236}">
                    <a16:creationId xmlns:a16="http://schemas.microsoft.com/office/drawing/2014/main" id="{FEAAC789-A17C-6121-03C1-2FD3050D1B73}"/>
                  </a:ext>
                </a:extLst>
              </p:cNvPr>
              <p:cNvSpPr/>
              <p:nvPr/>
            </p:nvSpPr>
            <p:spPr>
              <a:xfrm>
                <a:off x="0" y="0"/>
                <a:ext cx="325271" cy="1182955"/>
              </a:xfrm>
              <a:custGeom>
                <a:avLst/>
                <a:gdLst/>
                <a:ahLst/>
                <a:cxnLst/>
                <a:rect l="l" t="t" r="r" b="b"/>
                <a:pathLst>
                  <a:path w="325271" h="1182955">
                    <a:moveTo>
                      <a:pt x="0" y="0"/>
                    </a:moveTo>
                    <a:lnTo>
                      <a:pt x="325271" y="0"/>
                    </a:lnTo>
                    <a:lnTo>
                      <a:pt x="325271" y="1182955"/>
                    </a:lnTo>
                    <a:lnTo>
                      <a:pt x="0" y="1182955"/>
                    </a:lnTo>
                    <a:close/>
                  </a:path>
                </a:pathLst>
              </a:custGeom>
              <a:solidFill>
                <a:srgbClr val="1DA8A7"/>
              </a:solidFill>
            </p:spPr>
            <p:txBody>
              <a:bodyPr/>
              <a:lstStyle/>
              <a:p>
                <a:endParaRPr lang="ar-SA"/>
              </a:p>
            </p:txBody>
          </p:sp>
          <p:sp>
            <p:nvSpPr>
              <p:cNvPr id="29" name="TextBox 13">
                <a:extLst>
                  <a:ext uri="{FF2B5EF4-FFF2-40B4-BE49-F238E27FC236}">
                    <a16:creationId xmlns:a16="http://schemas.microsoft.com/office/drawing/2014/main" id="{BB0841BD-8415-BBFC-DC8D-5DD8EFCE01DB}"/>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14">
              <a:extLst>
                <a:ext uri="{FF2B5EF4-FFF2-40B4-BE49-F238E27FC236}">
                  <a16:creationId xmlns:a16="http://schemas.microsoft.com/office/drawing/2014/main" id="{451BFE05-AA0C-415A-AB35-3E2756E19740}"/>
                </a:ext>
              </a:extLst>
            </p:cNvPr>
            <p:cNvGrpSpPr/>
            <p:nvPr/>
          </p:nvGrpSpPr>
          <p:grpSpPr>
            <a:xfrm rot="-2482869">
              <a:off x="3320581" y="-997176"/>
              <a:ext cx="906693" cy="10388592"/>
              <a:chOff x="0" y="0"/>
              <a:chExt cx="179100" cy="2052068"/>
            </a:xfrm>
          </p:grpSpPr>
          <p:sp>
            <p:nvSpPr>
              <p:cNvPr id="26" name="Freeform 15">
                <a:extLst>
                  <a:ext uri="{FF2B5EF4-FFF2-40B4-BE49-F238E27FC236}">
                    <a16:creationId xmlns:a16="http://schemas.microsoft.com/office/drawing/2014/main" id="{2D6BC2B8-DDE9-3195-6B2C-D625B0090DCE}"/>
                  </a:ext>
                </a:extLst>
              </p:cNvPr>
              <p:cNvSpPr/>
              <p:nvPr/>
            </p:nvSpPr>
            <p:spPr>
              <a:xfrm>
                <a:off x="0" y="0"/>
                <a:ext cx="179100" cy="2052068"/>
              </a:xfrm>
              <a:custGeom>
                <a:avLst/>
                <a:gdLst/>
                <a:ahLst/>
                <a:cxnLst/>
                <a:rect l="l" t="t" r="r" b="b"/>
                <a:pathLst>
                  <a:path w="179100" h="2052068">
                    <a:moveTo>
                      <a:pt x="0" y="0"/>
                    </a:moveTo>
                    <a:lnTo>
                      <a:pt x="179100" y="0"/>
                    </a:lnTo>
                    <a:lnTo>
                      <a:pt x="179100" y="2052068"/>
                    </a:lnTo>
                    <a:lnTo>
                      <a:pt x="0" y="2052068"/>
                    </a:lnTo>
                    <a:close/>
                  </a:path>
                </a:pathLst>
              </a:custGeom>
              <a:solidFill>
                <a:srgbClr val="FFE194"/>
              </a:solidFill>
            </p:spPr>
            <p:txBody>
              <a:bodyPr/>
              <a:lstStyle/>
              <a:p>
                <a:endParaRPr lang="ar-SA"/>
              </a:p>
            </p:txBody>
          </p:sp>
          <p:sp>
            <p:nvSpPr>
              <p:cNvPr id="27" name="TextBox 16">
                <a:extLst>
                  <a:ext uri="{FF2B5EF4-FFF2-40B4-BE49-F238E27FC236}">
                    <a16:creationId xmlns:a16="http://schemas.microsoft.com/office/drawing/2014/main" id="{B7E5A618-55F8-D537-9BD5-5DF80D4E62E3}"/>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17">
              <a:extLst>
                <a:ext uri="{FF2B5EF4-FFF2-40B4-BE49-F238E27FC236}">
                  <a16:creationId xmlns:a16="http://schemas.microsoft.com/office/drawing/2014/main" id="{D3F57535-A453-F931-0EA9-5B8886A07245}"/>
                </a:ext>
              </a:extLst>
            </p:cNvPr>
            <p:cNvGrpSpPr/>
            <p:nvPr/>
          </p:nvGrpSpPr>
          <p:grpSpPr>
            <a:xfrm rot="-421074">
              <a:off x="3805705" y="3068514"/>
              <a:ext cx="3306083" cy="2570767"/>
              <a:chOff x="0" y="0"/>
              <a:chExt cx="812800" cy="632023"/>
            </a:xfrm>
          </p:grpSpPr>
          <p:sp>
            <p:nvSpPr>
              <p:cNvPr id="24" name="Freeform 18">
                <a:extLst>
                  <a:ext uri="{FF2B5EF4-FFF2-40B4-BE49-F238E27FC236}">
                    <a16:creationId xmlns:a16="http://schemas.microsoft.com/office/drawing/2014/main" id="{525658D8-0DA4-6310-07B6-3C1E3D1BF70E}"/>
                  </a:ext>
                </a:extLst>
              </p:cNvPr>
              <p:cNvSpPr/>
              <p:nvPr/>
            </p:nvSpPr>
            <p:spPr>
              <a:xfrm>
                <a:off x="0" y="0"/>
                <a:ext cx="812800" cy="632023"/>
              </a:xfrm>
              <a:custGeom>
                <a:avLst/>
                <a:gdLst/>
                <a:ahLst/>
                <a:cxnLst/>
                <a:rect l="l" t="t" r="r" b="b"/>
                <a:pathLst>
                  <a:path w="812800" h="632023">
                    <a:moveTo>
                      <a:pt x="406400" y="632023"/>
                    </a:moveTo>
                    <a:lnTo>
                      <a:pt x="812800" y="0"/>
                    </a:lnTo>
                    <a:lnTo>
                      <a:pt x="0" y="0"/>
                    </a:lnTo>
                    <a:lnTo>
                      <a:pt x="406400" y="632023"/>
                    </a:lnTo>
                    <a:close/>
                  </a:path>
                </a:pathLst>
              </a:custGeom>
              <a:solidFill>
                <a:srgbClr val="1C262A"/>
              </a:solidFill>
            </p:spPr>
            <p:txBody>
              <a:bodyPr/>
              <a:lstStyle/>
              <a:p>
                <a:endParaRPr lang="ar-SA"/>
              </a:p>
            </p:txBody>
          </p:sp>
          <p:sp>
            <p:nvSpPr>
              <p:cNvPr id="25" name="TextBox 19">
                <a:extLst>
                  <a:ext uri="{FF2B5EF4-FFF2-40B4-BE49-F238E27FC236}">
                    <a16:creationId xmlns:a16="http://schemas.microsoft.com/office/drawing/2014/main" id="{25737C61-EFD9-B538-EB06-12835C504A6B}"/>
                  </a:ext>
                </a:extLst>
              </p:cNvPr>
              <p:cNvSpPr txBox="1"/>
              <p:nvPr/>
            </p:nvSpPr>
            <p:spPr>
              <a:xfrm>
                <a:off x="127000" y="12700"/>
                <a:ext cx="558800" cy="368300"/>
              </a:xfrm>
              <a:prstGeom prst="rect">
                <a:avLst/>
              </a:prstGeom>
            </p:spPr>
            <p:txBody>
              <a:bodyPr lIns="50800" tIns="50800" rIns="50800" bIns="50800" rtlCol="0" anchor="ctr"/>
              <a:lstStyle/>
              <a:p>
                <a:pPr algn="ctr">
                  <a:lnSpc>
                    <a:spcPts val="2659"/>
                  </a:lnSpc>
                </a:pPr>
                <a:endParaRPr/>
              </a:p>
            </p:txBody>
          </p:sp>
        </p:grpSp>
      </p:grpSp>
      <p:grpSp>
        <p:nvGrpSpPr>
          <p:cNvPr id="30" name="Group 44">
            <a:extLst>
              <a:ext uri="{FF2B5EF4-FFF2-40B4-BE49-F238E27FC236}">
                <a16:creationId xmlns:a16="http://schemas.microsoft.com/office/drawing/2014/main" id="{2DC215FF-F1A3-5A30-49BD-563FD45C0304}"/>
              </a:ext>
            </a:extLst>
          </p:cNvPr>
          <p:cNvGrpSpPr/>
          <p:nvPr userDrawn="1"/>
        </p:nvGrpSpPr>
        <p:grpSpPr>
          <a:xfrm>
            <a:off x="-76200" y="1011423"/>
            <a:ext cx="3048000" cy="544948"/>
            <a:chOff x="10114" y="56442"/>
            <a:chExt cx="3573141" cy="419700"/>
          </a:xfrm>
        </p:grpSpPr>
        <p:sp>
          <p:nvSpPr>
            <p:cNvPr id="31" name="Freeform 46">
              <a:extLst>
                <a:ext uri="{FF2B5EF4-FFF2-40B4-BE49-F238E27FC236}">
                  <a16:creationId xmlns:a16="http://schemas.microsoft.com/office/drawing/2014/main" id="{4F8350EF-3106-2F6D-9F2E-7E70634BF308}"/>
                </a:ext>
              </a:extLst>
            </p:cNvPr>
            <p:cNvSpPr/>
            <p:nvPr/>
          </p:nvSpPr>
          <p:spPr>
            <a:xfrm>
              <a:off x="2662326" y="57388"/>
              <a:ext cx="920929" cy="409619"/>
            </a:xfrm>
            <a:custGeom>
              <a:avLst/>
              <a:gdLst/>
              <a:ahLst/>
              <a:cxnLst/>
              <a:rect l="l" t="t" r="r" b="b"/>
              <a:pathLst>
                <a:path w="444614" h="197760">
                  <a:moveTo>
                    <a:pt x="0" y="0"/>
                  </a:moveTo>
                  <a:lnTo>
                    <a:pt x="444614" y="0"/>
                  </a:lnTo>
                  <a:lnTo>
                    <a:pt x="444614" y="197760"/>
                  </a:lnTo>
                  <a:lnTo>
                    <a:pt x="0" y="197760"/>
                  </a:lnTo>
                  <a:close/>
                </a:path>
              </a:pathLst>
            </a:custGeom>
            <a:solidFill>
              <a:srgbClr val="FFFFFF"/>
            </a:solidFill>
            <a:ln w="19050">
              <a:solidFill>
                <a:srgbClr val="091B31"/>
              </a:solidFill>
            </a:ln>
          </p:spPr>
          <p:txBody>
            <a:bodyPr/>
            <a:lstStyle/>
            <a:p>
              <a:endParaRPr lang="ar-SA"/>
            </a:p>
          </p:txBody>
        </p:sp>
        <p:sp>
          <p:nvSpPr>
            <p:cNvPr id="32" name="TextBox 48">
              <a:extLst>
                <a:ext uri="{FF2B5EF4-FFF2-40B4-BE49-F238E27FC236}">
                  <a16:creationId xmlns:a16="http://schemas.microsoft.com/office/drawing/2014/main" id="{62DA47C7-F159-F815-CD7C-2D32AE71A90C}"/>
                </a:ext>
              </a:extLst>
            </p:cNvPr>
            <p:cNvSpPr txBox="1"/>
            <p:nvPr/>
          </p:nvSpPr>
          <p:spPr>
            <a:xfrm>
              <a:off x="2647328" y="133472"/>
              <a:ext cx="863538" cy="342670"/>
            </a:xfrm>
            <a:prstGeom prst="rect">
              <a:avLst/>
            </a:prstGeom>
          </p:spPr>
          <p:txBody>
            <a:bodyPr wrap="square" lIns="0" tIns="0" rIns="0" bIns="0" rtlCol="0" anchor="t">
              <a:spAutoFit/>
            </a:bodyPr>
            <a:lstStyle/>
            <a:p>
              <a:pPr algn="ctr">
                <a:lnSpc>
                  <a:spcPts val="3246"/>
                </a:lnSpc>
              </a:pPr>
              <a:r>
                <a:rPr lang="en-US" sz="3600" dirty="0">
                  <a:solidFill>
                    <a:srgbClr val="17383E"/>
                  </a:solidFill>
                  <a:latin typeface="PT Bold Heading"/>
                </a:rPr>
                <a:t>3</a:t>
              </a:r>
              <a:r>
                <a:rPr lang="ar-SA" sz="3600" dirty="0">
                  <a:solidFill>
                    <a:srgbClr val="17383E"/>
                  </a:solidFill>
                  <a:latin typeface="PT Bold Heading"/>
                </a:rPr>
                <a:t>-</a:t>
              </a:r>
              <a:r>
                <a:rPr lang="en-US" sz="3600" dirty="0">
                  <a:solidFill>
                    <a:srgbClr val="17383E"/>
                  </a:solidFill>
                  <a:latin typeface="PT Bold Heading"/>
                </a:rPr>
                <a:t>2</a:t>
              </a:r>
            </a:p>
          </p:txBody>
        </p:sp>
        <p:sp>
          <p:nvSpPr>
            <p:cNvPr id="33" name="Freeform 50">
              <a:extLst>
                <a:ext uri="{FF2B5EF4-FFF2-40B4-BE49-F238E27FC236}">
                  <a16:creationId xmlns:a16="http://schemas.microsoft.com/office/drawing/2014/main" id="{77B99C48-EECF-81C6-442D-A5E1FD0F3A09}"/>
                </a:ext>
              </a:extLst>
            </p:cNvPr>
            <p:cNvSpPr/>
            <p:nvPr/>
          </p:nvSpPr>
          <p:spPr>
            <a:xfrm>
              <a:off x="80059" y="56442"/>
              <a:ext cx="2550330" cy="409619"/>
            </a:xfrm>
            <a:custGeom>
              <a:avLst/>
              <a:gdLst/>
              <a:ahLst/>
              <a:cxnLst/>
              <a:rect l="l" t="t" r="r" b="b"/>
              <a:pathLst>
                <a:path w="1231273" h="197760">
                  <a:moveTo>
                    <a:pt x="0" y="0"/>
                  </a:moveTo>
                  <a:lnTo>
                    <a:pt x="1231273" y="0"/>
                  </a:lnTo>
                  <a:lnTo>
                    <a:pt x="1231273" y="197760"/>
                  </a:lnTo>
                  <a:lnTo>
                    <a:pt x="0" y="197760"/>
                  </a:lnTo>
                  <a:close/>
                </a:path>
              </a:pathLst>
            </a:custGeom>
            <a:solidFill>
              <a:srgbClr val="2A8D87"/>
            </a:solidFill>
          </p:spPr>
          <p:txBody>
            <a:bodyPr/>
            <a:lstStyle/>
            <a:p>
              <a:endParaRPr lang="ar-SA"/>
            </a:p>
          </p:txBody>
        </p:sp>
        <p:sp>
          <p:nvSpPr>
            <p:cNvPr id="37" name="TextBox 52">
              <a:extLst>
                <a:ext uri="{FF2B5EF4-FFF2-40B4-BE49-F238E27FC236}">
                  <a16:creationId xmlns:a16="http://schemas.microsoft.com/office/drawing/2014/main" id="{842ECBD7-D338-A72E-1D95-B60F642CFFFD}"/>
                </a:ext>
              </a:extLst>
            </p:cNvPr>
            <p:cNvSpPr txBox="1"/>
            <p:nvPr/>
          </p:nvSpPr>
          <p:spPr>
            <a:xfrm>
              <a:off x="10114" y="173231"/>
              <a:ext cx="2572998" cy="204445"/>
            </a:xfrm>
            <a:prstGeom prst="rect">
              <a:avLst/>
            </a:prstGeom>
          </p:spPr>
          <p:txBody>
            <a:bodyPr lIns="0" tIns="0" rIns="0" bIns="0" rtlCol="0" anchor="t">
              <a:spAutoFit/>
            </a:bodyPr>
            <a:lstStyle/>
            <a:p>
              <a:pPr algn="ctr">
                <a:lnSpc>
                  <a:spcPts val="1780"/>
                </a:lnSpc>
              </a:pPr>
              <a:r>
                <a:rPr lang="en-US" sz="2400" dirty="0" err="1">
                  <a:solidFill>
                    <a:srgbClr val="FFFFFF"/>
                  </a:solidFill>
                  <a:cs typeface="PT Bold Heading"/>
                </a:rPr>
                <a:t>الأمن</a:t>
              </a:r>
              <a:r>
                <a:rPr lang="en-US" sz="2400" dirty="0">
                  <a:solidFill>
                    <a:srgbClr val="FFFFFF"/>
                  </a:solidFill>
                  <a:cs typeface="PT Bold Heading"/>
                </a:rPr>
                <a:t> </a:t>
              </a:r>
              <a:r>
                <a:rPr lang="en-US" sz="2400" dirty="0" err="1">
                  <a:solidFill>
                    <a:srgbClr val="FFFFFF"/>
                  </a:solidFill>
                  <a:cs typeface="PT Bold Heading"/>
                </a:rPr>
                <a:t>السيبراني</a:t>
              </a:r>
              <a:endParaRPr lang="en-US" sz="2400" dirty="0">
                <a:solidFill>
                  <a:srgbClr val="FFFFFF"/>
                </a:solidFill>
                <a:cs typeface="PT Bold Heading"/>
              </a:endParaRPr>
            </a:p>
          </p:txBody>
        </p:sp>
      </p:grpSp>
    </p:spTree>
    <p:extLst>
      <p:ext uri="{BB962C8B-B14F-4D97-AF65-F5344CB8AC3E}">
        <p14:creationId xmlns:p14="http://schemas.microsoft.com/office/powerpoint/2010/main" val="11679939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7.svg"/><Relationship Id="rId7" Type="http://schemas.openxmlformats.org/officeDocument/2006/relationships/slide" Target="slide4.xml"/><Relationship Id="rId2" Type="http://schemas.openxmlformats.org/officeDocument/2006/relationships/image" Target="../media/image6.svg"/><Relationship Id="rId1" Type="http://schemas.openxmlformats.org/officeDocument/2006/relationships/slideLayout" Target="../slideLayouts/slideLayout18.xml"/><Relationship Id="rId11" Type="http://schemas.openxmlformats.org/officeDocument/2006/relationships/image" Target="../media/image140.png"/><Relationship Id="rId10" Type="http://schemas.openxmlformats.org/officeDocument/2006/relationships/slide" Target="slide5.xml"/><Relationship Id="rId4" Type="http://schemas.openxmlformats.org/officeDocument/2006/relationships/image" Target="../media/image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18.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2.sv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5.sv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29.xml"/><Relationship Id="rId4" Type="http://schemas.openxmlformats.org/officeDocument/2006/relationships/image" Target="../media/image39.svg"/></Relationships>
</file>

<file path=ppt/slides/_rels/slide2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9.xml"/><Relationship Id="rId4" Type="http://schemas.openxmlformats.org/officeDocument/2006/relationships/image" Target="../media/image42.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24.xml"/><Relationship Id="rId1" Type="http://schemas.openxmlformats.org/officeDocument/2006/relationships/video" Target="https://www.youtube.com/embed/3NV1tS1kuPM?feature=oembed"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50.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9.sv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52.sv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53.sv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55.svg"/><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49.svg"/><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49.sv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9.svg"/><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slideLayout" Target="../slideLayouts/slideLayout29.xml"/><Relationship Id="rId6" Type="http://schemas.openxmlformats.org/officeDocument/2006/relationships/image" Target="../media/image13.svg"/><Relationship Id="rId5" Type="http://schemas.openxmlformats.org/officeDocument/2006/relationships/image" Target="../media/image60.svg"/><Relationship Id="rId4" Type="http://schemas.openxmlformats.org/officeDocument/2006/relationships/image" Target="../media/image12.svg"/></Relationships>
</file>

<file path=ppt/slides/_rels/slide5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61.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38800" y="2400300"/>
            <a:ext cx="10982765" cy="4098974"/>
            <a:chOff x="0" y="0"/>
            <a:chExt cx="14643686" cy="5465298"/>
          </a:xfrm>
        </p:grpSpPr>
        <p:sp>
          <p:nvSpPr>
            <p:cNvPr id="4" name="Freeform 4"/>
            <p:cNvSpPr/>
            <p:nvPr/>
          </p:nvSpPr>
          <p:spPr>
            <a:xfrm>
              <a:off x="0" y="0"/>
              <a:ext cx="14643686" cy="5465298"/>
            </a:xfrm>
            <a:custGeom>
              <a:avLst/>
              <a:gdLst/>
              <a:ahLst/>
              <a:cxnLst/>
              <a:rect l="l" t="t" r="r" b="b"/>
              <a:pathLst>
                <a:path w="2892580" h="1079565">
                  <a:moveTo>
                    <a:pt x="4229" y="0"/>
                  </a:moveTo>
                  <a:lnTo>
                    <a:pt x="2888351" y="0"/>
                  </a:lnTo>
                  <a:cubicBezTo>
                    <a:pt x="2889472" y="0"/>
                    <a:pt x="2890548" y="446"/>
                    <a:pt x="2891341" y="1239"/>
                  </a:cubicBezTo>
                  <a:cubicBezTo>
                    <a:pt x="2892135" y="2032"/>
                    <a:pt x="2892580" y="3108"/>
                    <a:pt x="2892580" y="4229"/>
                  </a:cubicBezTo>
                  <a:lnTo>
                    <a:pt x="2892580" y="1075336"/>
                  </a:lnTo>
                  <a:cubicBezTo>
                    <a:pt x="2892580" y="1077672"/>
                    <a:pt x="2890686" y="1079565"/>
                    <a:pt x="2888351" y="1079565"/>
                  </a:cubicBezTo>
                  <a:lnTo>
                    <a:pt x="4229" y="1079565"/>
                  </a:lnTo>
                  <a:cubicBezTo>
                    <a:pt x="3108" y="1079565"/>
                    <a:pt x="2032" y="1079119"/>
                    <a:pt x="1239" y="1078326"/>
                  </a:cubicBezTo>
                  <a:cubicBezTo>
                    <a:pt x="446" y="1077533"/>
                    <a:pt x="0" y="1076457"/>
                    <a:pt x="0" y="1075336"/>
                  </a:cubicBezTo>
                  <a:lnTo>
                    <a:pt x="0" y="4229"/>
                  </a:lnTo>
                  <a:cubicBezTo>
                    <a:pt x="0" y="3108"/>
                    <a:pt x="446" y="2032"/>
                    <a:pt x="1239" y="1239"/>
                  </a:cubicBezTo>
                  <a:cubicBezTo>
                    <a:pt x="2032" y="446"/>
                    <a:pt x="3108" y="0"/>
                    <a:pt x="4229" y="0"/>
                  </a:cubicBezTo>
                  <a:close/>
                </a:path>
              </a:pathLst>
            </a:custGeom>
            <a:solidFill>
              <a:srgbClr val="1DA8A7"/>
            </a:solidFill>
            <a:ln>
              <a:noFill/>
            </a:ln>
          </p:spPr>
          <p:txBody>
            <a:bodyPr/>
            <a:lstStyle/>
            <a:p>
              <a:pPr algn="r" rtl="1"/>
              <a:endParaRPr lang="ar-SA" dirty="0">
                <a:cs typeface="PT Bold Heading" panose="02010400000000000000" pitchFamily="2" charset="-78"/>
              </a:endParaRPr>
            </a:p>
          </p:txBody>
        </p:sp>
        <p:sp>
          <p:nvSpPr>
            <p:cNvPr id="7" name="Freeform 7"/>
            <p:cNvSpPr/>
            <p:nvPr/>
          </p:nvSpPr>
          <p:spPr>
            <a:xfrm>
              <a:off x="284285" y="275103"/>
              <a:ext cx="14075117" cy="4915095"/>
            </a:xfrm>
            <a:custGeom>
              <a:avLst/>
              <a:gdLst/>
              <a:ahLst/>
              <a:cxnLst/>
              <a:rect l="l" t="t" r="r" b="b"/>
              <a:pathLst>
                <a:path w="2780270" h="970883">
                  <a:moveTo>
                    <a:pt x="3667" y="0"/>
                  </a:moveTo>
                  <a:lnTo>
                    <a:pt x="2776603" y="0"/>
                  </a:lnTo>
                  <a:cubicBezTo>
                    <a:pt x="2777576" y="0"/>
                    <a:pt x="2778508" y="386"/>
                    <a:pt x="2779196" y="1074"/>
                  </a:cubicBezTo>
                  <a:cubicBezTo>
                    <a:pt x="2779884" y="1762"/>
                    <a:pt x="2780270" y="2694"/>
                    <a:pt x="2780270" y="3667"/>
                  </a:cubicBezTo>
                  <a:lnTo>
                    <a:pt x="2780270" y="967216"/>
                  </a:lnTo>
                  <a:cubicBezTo>
                    <a:pt x="2780270" y="969241"/>
                    <a:pt x="2778628" y="970883"/>
                    <a:pt x="2776603" y="970883"/>
                  </a:cubicBezTo>
                  <a:lnTo>
                    <a:pt x="3667" y="970883"/>
                  </a:lnTo>
                  <a:cubicBezTo>
                    <a:pt x="1642" y="970883"/>
                    <a:pt x="0" y="969241"/>
                    <a:pt x="0" y="967216"/>
                  </a:cubicBezTo>
                  <a:lnTo>
                    <a:pt x="0" y="3667"/>
                  </a:lnTo>
                  <a:cubicBezTo>
                    <a:pt x="0" y="2694"/>
                    <a:pt x="386" y="1762"/>
                    <a:pt x="1074" y="1074"/>
                  </a:cubicBezTo>
                  <a:cubicBezTo>
                    <a:pt x="1762" y="386"/>
                    <a:pt x="2694" y="0"/>
                    <a:pt x="3667" y="0"/>
                  </a:cubicBezTo>
                  <a:close/>
                </a:path>
              </a:pathLst>
            </a:custGeom>
            <a:solidFill>
              <a:srgbClr val="FFFFFF"/>
            </a:solidFill>
            <a:ln>
              <a:noFill/>
            </a:ln>
          </p:spPr>
          <p:txBody>
            <a:bodyPr/>
            <a:lstStyle/>
            <a:p>
              <a:pPr algn="r" rtl="1"/>
              <a:endParaRPr lang="ar-SA">
                <a:cs typeface="PT Bold Heading" panose="02010400000000000000" pitchFamily="2" charset="-78"/>
              </a:endParaRPr>
            </a:p>
          </p:txBody>
        </p:sp>
      </p:grpSp>
      <p:sp>
        <p:nvSpPr>
          <p:cNvPr id="11" name="Freeform 11"/>
          <p:cNvSpPr/>
          <p:nvPr/>
        </p:nvSpPr>
        <p:spPr>
          <a:xfrm>
            <a:off x="856267" y="2827071"/>
            <a:ext cx="4366566" cy="438613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14" name="TextBox 14"/>
          <p:cNvSpPr txBox="1"/>
          <p:nvPr/>
        </p:nvSpPr>
        <p:spPr>
          <a:xfrm>
            <a:off x="6520046" y="3024252"/>
            <a:ext cx="9452354" cy="1534716"/>
          </a:xfrm>
          <a:prstGeom prst="rect">
            <a:avLst/>
          </a:prstGeom>
        </p:spPr>
        <p:txBody>
          <a:bodyPr lIns="0" tIns="0" rIns="0" bIns="0" rtlCol="0" anchor="t">
            <a:spAutoFit/>
          </a:bodyPr>
          <a:lstStyle/>
          <a:p>
            <a:pPr algn="ctr" rtl="1">
              <a:lnSpc>
                <a:spcPts val="6089"/>
              </a:lnSpc>
            </a:pPr>
            <a:r>
              <a:rPr lang="en-US" sz="4349">
                <a:solidFill>
                  <a:srgbClr val="AD2C2C"/>
                </a:solidFill>
                <a:cs typeface="PT Bold Heading" panose="02010400000000000000" pitchFamily="2" charset="-78"/>
              </a:rPr>
              <a:t>الناجح</a:t>
            </a:r>
            <a:r>
              <a:rPr lang="en-US" sz="4349">
                <a:solidFill>
                  <a:srgbClr val="000000"/>
                </a:solidFill>
                <a:latin typeface="PT Bold Heading"/>
                <a:cs typeface="PT Bold Heading" panose="02010400000000000000" pitchFamily="2" charset="-78"/>
              </a:rPr>
              <a:t> من يستطيع رؤية ما هو أبعد من أن يراه الآخرون. </a:t>
            </a:r>
          </a:p>
        </p:txBody>
      </p:sp>
      <p:sp>
        <p:nvSpPr>
          <p:cNvPr id="15" name="TextBox 15"/>
          <p:cNvSpPr txBox="1"/>
          <p:nvPr/>
        </p:nvSpPr>
        <p:spPr>
          <a:xfrm>
            <a:off x="6520046" y="4885152"/>
            <a:ext cx="9452354" cy="746761"/>
          </a:xfrm>
          <a:prstGeom prst="rect">
            <a:avLst/>
          </a:prstGeom>
        </p:spPr>
        <p:txBody>
          <a:bodyPr lIns="0" tIns="0" rIns="0" bIns="0" rtlCol="0" anchor="t">
            <a:spAutoFit/>
          </a:bodyPr>
          <a:lstStyle/>
          <a:p>
            <a:pPr algn="ctr" rtl="1">
              <a:lnSpc>
                <a:spcPts val="6089"/>
              </a:lnSpc>
            </a:pPr>
            <a:r>
              <a:rPr lang="en-US" sz="4349">
                <a:solidFill>
                  <a:srgbClr val="2EB086"/>
                </a:solidFill>
                <a:cs typeface="PT Bold Heading" panose="02010400000000000000" pitchFamily="2" charset="-78"/>
              </a:rPr>
              <a:t>التردد</a:t>
            </a:r>
            <a:r>
              <a:rPr lang="en-US" sz="4349">
                <a:solidFill>
                  <a:srgbClr val="000000"/>
                </a:solidFill>
                <a:latin typeface="PT Bold Heading"/>
                <a:cs typeface="PT Bold Heading" panose="02010400000000000000" pitchFamily="2" charset="-78"/>
              </a:rPr>
              <a:t> أكبر عقبة في طريق النجاح. </a:t>
            </a:r>
          </a:p>
        </p:txBody>
      </p:sp>
      <p:grpSp>
        <p:nvGrpSpPr>
          <p:cNvPr id="16" name="Group 16"/>
          <p:cNvGrpSpPr/>
          <p:nvPr/>
        </p:nvGrpSpPr>
        <p:grpSpPr>
          <a:xfrm>
            <a:off x="5648325" y="6578660"/>
            <a:ext cx="12639674" cy="869450"/>
            <a:chOff x="0" y="-20565"/>
            <a:chExt cx="16852898" cy="1159267"/>
          </a:xfrm>
        </p:grpSpPr>
        <p:sp>
          <p:nvSpPr>
            <p:cNvPr id="18" name="Freeform 18"/>
            <p:cNvSpPr/>
            <p:nvPr/>
          </p:nvSpPr>
          <p:spPr>
            <a:xfrm>
              <a:off x="203199" y="237002"/>
              <a:ext cx="16649699" cy="588498"/>
            </a:xfrm>
            <a:custGeom>
              <a:avLst/>
              <a:gdLst/>
              <a:ahLst/>
              <a:cxnLst/>
              <a:rect l="l" t="t" r="r" b="b"/>
              <a:pathLst>
                <a:path w="3070423" h="116247">
                  <a:moveTo>
                    <a:pt x="0" y="0"/>
                  </a:moveTo>
                  <a:lnTo>
                    <a:pt x="3070423" y="0"/>
                  </a:lnTo>
                  <a:lnTo>
                    <a:pt x="3070423" y="116247"/>
                  </a:lnTo>
                  <a:lnTo>
                    <a:pt x="0" y="116247"/>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21" name="Freeform 21"/>
            <p:cNvSpPr/>
            <p:nvPr/>
          </p:nvSpPr>
          <p:spPr>
            <a:xfrm>
              <a:off x="0" y="0"/>
              <a:ext cx="14643686" cy="1138702"/>
            </a:xfrm>
            <a:custGeom>
              <a:avLst/>
              <a:gdLst/>
              <a:ahLst/>
              <a:cxnLst/>
              <a:rect l="l" t="t" r="r" b="b"/>
              <a:pathLst>
                <a:path w="2892580" h="224929">
                  <a:moveTo>
                    <a:pt x="0" y="0"/>
                  </a:moveTo>
                  <a:lnTo>
                    <a:pt x="2892580" y="0"/>
                  </a:lnTo>
                  <a:lnTo>
                    <a:pt x="2892580" y="224929"/>
                  </a:lnTo>
                  <a:lnTo>
                    <a:pt x="0" y="224929"/>
                  </a:lnTo>
                  <a:close/>
                </a:path>
              </a:pathLst>
            </a:custGeom>
            <a:solidFill>
              <a:srgbClr val="FFF0C8"/>
            </a:solidFill>
            <a:ln>
              <a:noFill/>
            </a:ln>
          </p:spPr>
          <p:txBody>
            <a:bodyPr/>
            <a:lstStyle/>
            <a:p>
              <a:pPr algn="r" rtl="1"/>
              <a:endParaRPr lang="ar-SA" dirty="0">
                <a:cs typeface="PT Bold Heading" panose="02010400000000000000" pitchFamily="2" charset="-78"/>
              </a:endParaRPr>
            </a:p>
          </p:txBody>
        </p:sp>
        <p:sp>
          <p:nvSpPr>
            <p:cNvPr id="23" name="TextBox 23"/>
            <p:cNvSpPr txBox="1"/>
            <p:nvPr/>
          </p:nvSpPr>
          <p:spPr>
            <a:xfrm>
              <a:off x="4660900" y="-20565"/>
              <a:ext cx="9038712" cy="1005404"/>
            </a:xfrm>
            <a:prstGeom prst="rect">
              <a:avLst/>
            </a:prstGeom>
          </p:spPr>
          <p:txBody>
            <a:bodyPr wrap="square" lIns="0" tIns="0" rIns="0" bIns="0" rtlCol="0" anchor="t">
              <a:spAutoFit/>
            </a:bodyPr>
            <a:lstStyle/>
            <a:p>
              <a:pPr algn="r" rtl="1">
                <a:lnSpc>
                  <a:spcPts val="6089"/>
                </a:lnSpc>
              </a:pPr>
              <a:r>
                <a:rPr lang="en-US" sz="4349" dirty="0" err="1">
                  <a:solidFill>
                    <a:srgbClr val="050A30"/>
                  </a:solidFill>
                  <a:cs typeface="PT Bold Heading" panose="02010400000000000000" pitchFamily="2" charset="-78"/>
                </a:rPr>
                <a:t>معلمة</a:t>
              </a:r>
              <a:r>
                <a:rPr lang="en-US" sz="4349" dirty="0">
                  <a:solidFill>
                    <a:srgbClr val="050A30"/>
                  </a:solidFill>
                  <a:cs typeface="PT Bold Heading" panose="02010400000000000000" pitchFamily="2" charset="-78"/>
                </a:rPr>
                <a:t> </a:t>
              </a:r>
              <a:r>
                <a:rPr lang="en-US" sz="4349" dirty="0" err="1">
                  <a:solidFill>
                    <a:srgbClr val="050A30"/>
                  </a:solidFill>
                  <a:cs typeface="PT Bold Heading" panose="02010400000000000000" pitchFamily="2" charset="-78"/>
                </a:rPr>
                <a:t>المادة</a:t>
              </a:r>
              <a:r>
                <a:rPr lang="en-US" sz="4349" dirty="0">
                  <a:solidFill>
                    <a:srgbClr val="050A30"/>
                  </a:solidFill>
                  <a:cs typeface="PT Bold Heading" panose="02010400000000000000" pitchFamily="2" charset="-78"/>
                </a:rPr>
                <a:t> :</a:t>
              </a:r>
              <a:r>
                <a:rPr lang="ar-SA" sz="4349" dirty="0">
                  <a:solidFill>
                    <a:srgbClr val="050A30"/>
                  </a:solidFill>
                  <a:cs typeface="PT Bold Heading" panose="02010400000000000000" pitchFamily="2" charset="-78"/>
                </a:rPr>
                <a:t> شهد العتيبي</a:t>
              </a:r>
              <a:endParaRPr lang="en-US" sz="4349" dirty="0">
                <a:solidFill>
                  <a:srgbClr val="050A30"/>
                </a:solidFill>
                <a:cs typeface="PT Bold Heading" panose="02010400000000000000" pitchFamily="2" charset="-78"/>
              </a:endParaRPr>
            </a:p>
          </p:txBody>
        </p:sp>
      </p:grpSp>
      <p:sp>
        <p:nvSpPr>
          <p:cNvPr id="3" name="Freeform 7">
            <a:extLst>
              <a:ext uri="{FF2B5EF4-FFF2-40B4-BE49-F238E27FC236}">
                <a16:creationId xmlns:a16="http://schemas.microsoft.com/office/drawing/2014/main" id="{8EBA32F0-4B52-79F8-EA9D-8782282D969C}"/>
              </a:ext>
            </a:extLst>
          </p:cNvPr>
          <p:cNvSpPr/>
          <p:nvPr/>
        </p:nvSpPr>
        <p:spPr>
          <a:xfrm>
            <a:off x="1155010" y="3241471"/>
            <a:ext cx="3530364" cy="3530364"/>
          </a:xfrm>
          <a:custGeom>
            <a:avLst/>
            <a:gdLst/>
            <a:ahLst/>
            <a:cxnLst/>
            <a:rect l="l" t="t" r="r" b="b"/>
            <a:pathLst>
              <a:path w="3530364" h="3530364">
                <a:moveTo>
                  <a:pt x="0" y="0"/>
                </a:moveTo>
                <a:lnTo>
                  <a:pt x="3530363" y="0"/>
                </a:lnTo>
                <a:lnTo>
                  <a:pt x="3530363" y="3530364"/>
                </a:lnTo>
                <a:lnTo>
                  <a:pt x="0" y="35303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Grp="1" noUngrp="1" noRot="1" noMove="1" noResize="1"/>
          </p:cNvGrpSpPr>
          <p:nvPr/>
        </p:nvGrpSpPr>
        <p:grpSpPr>
          <a:xfrm>
            <a:off x="6516044" y="-2891102"/>
            <a:ext cx="17156294" cy="16854683"/>
            <a:chOff x="0" y="0"/>
            <a:chExt cx="22875058" cy="22472910"/>
          </a:xfrm>
        </p:grpSpPr>
        <p:grpSp>
          <p:nvGrpSpPr>
            <p:cNvPr id="3" name="Group 3"/>
            <p:cNvGrpSpPr>
              <a:grpSpLocks noGrp="1" noUngrp="1" noRot="1" noChangeAspect="1" noMove="1" noResize="1"/>
            </p:cNvGrpSpPr>
            <p:nvPr/>
          </p:nvGrpSpPr>
          <p:grpSpPr>
            <a:xfrm>
              <a:off x="6644072" y="3540510"/>
              <a:ext cx="16230986" cy="14055302"/>
              <a:chOff x="0" y="0"/>
              <a:chExt cx="4282440" cy="3708400"/>
            </a:xfrm>
          </p:grpSpPr>
          <p:sp>
            <p:nvSpPr>
              <p:cNvPr id="4" name="Freeform 4"/>
              <p:cNvSpPr>
                <a:spLocks noGrp="1" noRot="1" noMove="1" noResize="1" noEditPoints="1" noAdjustHandles="1" noChangeArrowheads="1" noChangeShapeType="1"/>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40870" t="-22007"/>
                </a:stretch>
              </a:blipFill>
            </p:spPr>
            <p:txBody>
              <a:bodyPr/>
              <a:lstStyle/>
              <a:p>
                <a:pPr algn="r" rtl="1"/>
                <a:endParaRPr lang="ar-SA">
                  <a:cs typeface="PT Bold Heading" panose="02010400000000000000" pitchFamily="2" charset="-78"/>
                </a:endParaRPr>
              </a:p>
            </p:txBody>
          </p:sp>
        </p:grpSp>
        <p:grpSp>
          <p:nvGrpSpPr>
            <p:cNvPr id="5" name="Group 5"/>
            <p:cNvGrpSpPr>
              <a:grpSpLocks noGrp="1" noUngrp="1" noRot="1" noMove="1" noResize="1"/>
            </p:cNvGrpSpPr>
            <p:nvPr/>
          </p:nvGrpSpPr>
          <p:grpSpPr>
            <a:xfrm rot="-1979385">
              <a:off x="6368871" y="-492875"/>
              <a:ext cx="573793" cy="8051585"/>
              <a:chOff x="0" y="0"/>
              <a:chExt cx="113342" cy="1590437"/>
            </a:xfrm>
          </p:grpSpPr>
          <p:sp>
            <p:nvSpPr>
              <p:cNvPr id="6" name="Freeform 6"/>
              <p:cNvSpPr>
                <a:spLocks noGrp="1" noRot="1" noMove="1" noResize="1" noEditPoints="1" noAdjustHandles="1" noChangeArrowheads="1" noChangeShapeType="1"/>
              </p:cNvSpPr>
              <p:nvPr/>
            </p:nvSpPr>
            <p:spPr>
              <a:xfrm>
                <a:off x="0" y="0"/>
                <a:ext cx="113342" cy="1590437"/>
              </a:xfrm>
              <a:custGeom>
                <a:avLst/>
                <a:gdLst/>
                <a:ahLst/>
                <a:cxnLst/>
                <a:rect l="l" t="t" r="r" b="b"/>
                <a:pathLst>
                  <a:path w="113342" h="1590437">
                    <a:moveTo>
                      <a:pt x="0" y="0"/>
                    </a:moveTo>
                    <a:lnTo>
                      <a:pt x="113342" y="0"/>
                    </a:lnTo>
                    <a:lnTo>
                      <a:pt x="113342" y="1590437"/>
                    </a:lnTo>
                    <a:lnTo>
                      <a:pt x="0" y="1590437"/>
                    </a:lnTo>
                    <a:close/>
                  </a:path>
                </a:pathLst>
              </a:custGeom>
              <a:solidFill>
                <a:srgbClr val="FFE194"/>
              </a:solidFill>
            </p:spPr>
            <p:txBody>
              <a:bodyPr/>
              <a:lstStyle/>
              <a:p>
                <a:pPr algn="r" rtl="1"/>
                <a:endParaRPr lang="ar-SA">
                  <a:cs typeface="PT Bold Heading" panose="02010400000000000000" pitchFamily="2" charset="-78"/>
                </a:endParaRPr>
              </a:p>
            </p:txBody>
          </p:sp>
          <p:sp>
            <p:nvSpPr>
              <p:cNvPr id="7" name="TextBox 7"/>
              <p:cNvSpPr txBox="1">
                <a:spLocks noGrp="1" noRot="1" noMove="1" noResize="1" noEditPoints="1" noAdjustHandles="1" noChangeArrowheads="1" noChangeShapeType="1"/>
              </p:cNvSpPr>
              <p:nvPr/>
            </p:nvSpPr>
            <p:spPr>
              <a:xfrm>
                <a:off x="0" y="-38100"/>
                <a:ext cx="812800" cy="850900"/>
              </a:xfrm>
              <a:prstGeom prst="rect">
                <a:avLst/>
              </a:prstGeom>
            </p:spPr>
            <p:txBody>
              <a:bodyPr lIns="50800" tIns="50800" rIns="50800" bIns="50800" rtlCol="0" anchor="ctr"/>
              <a:lstStyle/>
              <a:p>
                <a:pPr algn="ctr" rtl="1">
                  <a:lnSpc>
                    <a:spcPts val="2659"/>
                  </a:lnSpc>
                  <a:spcBef>
                    <a:spcPct val="0"/>
                  </a:spcBef>
                </a:pPr>
                <a:endParaRPr>
                  <a:cs typeface="PT Bold Heading" panose="02010400000000000000" pitchFamily="2" charset="-78"/>
                </a:endParaRPr>
              </a:p>
            </p:txBody>
          </p:sp>
        </p:grpSp>
        <p:grpSp>
          <p:nvGrpSpPr>
            <p:cNvPr id="8" name="Group 8"/>
            <p:cNvGrpSpPr>
              <a:grpSpLocks noGrp="1" noUngrp="1" noRot="1" noMove="1" noResize="1"/>
            </p:cNvGrpSpPr>
            <p:nvPr/>
          </p:nvGrpSpPr>
          <p:grpSpPr>
            <a:xfrm rot="10372129">
              <a:off x="588790" y="10739090"/>
              <a:ext cx="18404066" cy="10632591"/>
              <a:chOff x="0" y="0"/>
              <a:chExt cx="553289" cy="319652"/>
            </a:xfrm>
          </p:grpSpPr>
          <p:sp>
            <p:nvSpPr>
              <p:cNvPr id="9" name="Freeform 9"/>
              <p:cNvSpPr>
                <a:spLocks noGrp="1" noRot="1" noMove="1" noResize="1" noEditPoints="1" noAdjustHandles="1" noChangeArrowheads="1" noChangeShapeType="1"/>
              </p:cNvSpPr>
              <p:nvPr/>
            </p:nvSpPr>
            <p:spPr>
              <a:xfrm>
                <a:off x="0" y="0"/>
                <a:ext cx="553289" cy="319652"/>
              </a:xfrm>
              <a:custGeom>
                <a:avLst/>
                <a:gdLst/>
                <a:ahLst/>
                <a:cxnLst/>
                <a:rect l="l" t="t" r="r" b="b"/>
                <a:pathLst>
                  <a:path w="553289" h="319652">
                    <a:moveTo>
                      <a:pt x="276644" y="319652"/>
                    </a:moveTo>
                    <a:lnTo>
                      <a:pt x="553289" y="0"/>
                    </a:lnTo>
                    <a:lnTo>
                      <a:pt x="0" y="0"/>
                    </a:lnTo>
                    <a:lnTo>
                      <a:pt x="276644" y="319652"/>
                    </a:lnTo>
                    <a:close/>
                  </a:path>
                </a:pathLst>
              </a:custGeom>
              <a:solidFill>
                <a:srgbClr val="1DA8A7"/>
              </a:solidFill>
            </p:spPr>
            <p:txBody>
              <a:bodyPr/>
              <a:lstStyle/>
              <a:p>
                <a:pPr algn="r" rtl="1"/>
                <a:endParaRPr lang="ar-SA">
                  <a:cs typeface="PT Bold Heading" panose="02010400000000000000" pitchFamily="2" charset="-78"/>
                </a:endParaRPr>
              </a:p>
            </p:txBody>
          </p:sp>
          <p:sp>
            <p:nvSpPr>
              <p:cNvPr id="10" name="TextBox 10"/>
              <p:cNvSpPr txBox="1">
                <a:spLocks noGrp="1" noRot="1" noMove="1" noResize="1" noEditPoints="1" noAdjustHandles="1" noChangeArrowheads="1" noChangeShapeType="1"/>
              </p:cNvSpPr>
              <p:nvPr/>
            </p:nvSpPr>
            <p:spPr>
              <a:xfrm>
                <a:off x="127000" y="12700"/>
                <a:ext cx="558800" cy="36830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grpSp>
          <p:nvGrpSpPr>
            <p:cNvPr id="11" name="Group 11"/>
            <p:cNvGrpSpPr>
              <a:grpSpLocks noGrp="1" noUngrp="1" noRot="1" noMove="1" noResize="1"/>
            </p:cNvGrpSpPr>
            <p:nvPr/>
          </p:nvGrpSpPr>
          <p:grpSpPr>
            <a:xfrm rot="1963993">
              <a:off x="8334307" y="2240882"/>
              <a:ext cx="1275519" cy="9649906"/>
              <a:chOff x="0" y="0"/>
              <a:chExt cx="251954" cy="1906154"/>
            </a:xfrm>
          </p:grpSpPr>
          <p:sp>
            <p:nvSpPr>
              <p:cNvPr id="12" name="Freeform 12"/>
              <p:cNvSpPr>
                <a:spLocks noGrp="1" noRot="1" noMove="1" noResize="1" noEditPoints="1" noAdjustHandles="1" noChangeArrowheads="1" noChangeShapeType="1"/>
              </p:cNvSpPr>
              <p:nvPr/>
            </p:nvSpPr>
            <p:spPr>
              <a:xfrm>
                <a:off x="0" y="0"/>
                <a:ext cx="251954" cy="1906154"/>
              </a:xfrm>
              <a:custGeom>
                <a:avLst/>
                <a:gdLst/>
                <a:ahLst/>
                <a:cxnLst/>
                <a:rect l="l" t="t" r="r" b="b"/>
                <a:pathLst>
                  <a:path w="251954" h="1906154">
                    <a:moveTo>
                      <a:pt x="0" y="0"/>
                    </a:moveTo>
                    <a:lnTo>
                      <a:pt x="251954" y="0"/>
                    </a:lnTo>
                    <a:lnTo>
                      <a:pt x="251954" y="1906154"/>
                    </a:lnTo>
                    <a:lnTo>
                      <a:pt x="0" y="1906154"/>
                    </a:lnTo>
                    <a:close/>
                  </a:path>
                </a:pathLst>
              </a:custGeom>
              <a:solidFill>
                <a:srgbClr val="1DA8A7"/>
              </a:solidFill>
            </p:spPr>
            <p:txBody>
              <a:bodyPr/>
              <a:lstStyle/>
              <a:p>
                <a:pPr algn="r" rtl="1"/>
                <a:endParaRPr lang="ar-SA">
                  <a:cs typeface="PT Bold Heading" panose="02010400000000000000" pitchFamily="2" charset="-78"/>
                </a:endParaRPr>
              </a:p>
            </p:txBody>
          </p:sp>
          <p:sp>
            <p:nvSpPr>
              <p:cNvPr id="13" name="TextBox 13"/>
              <p:cNvSpPr txBox="1">
                <a:spLocks noGrp="1" noRot="1" noMove="1" noResize="1" noEditPoints="1" noAdjustHandles="1" noChangeArrowheads="1" noChangeShapeType="1"/>
              </p:cNvSpPr>
              <p:nvPr/>
            </p:nvSpPr>
            <p:spPr>
              <a:xfrm>
                <a:off x="0" y="-38100"/>
                <a:ext cx="812800" cy="850900"/>
              </a:xfrm>
              <a:prstGeom prst="rect">
                <a:avLst/>
              </a:prstGeom>
            </p:spPr>
            <p:txBody>
              <a:bodyPr lIns="50800" tIns="50800" rIns="50800" bIns="50800" rtlCol="0" anchor="ctr"/>
              <a:lstStyle/>
              <a:p>
                <a:pPr algn="ctr" rtl="1">
                  <a:lnSpc>
                    <a:spcPts val="2659"/>
                  </a:lnSpc>
                  <a:spcBef>
                    <a:spcPct val="0"/>
                  </a:spcBef>
                </a:pPr>
                <a:endParaRPr>
                  <a:cs typeface="PT Bold Heading" panose="02010400000000000000" pitchFamily="2" charset="-78"/>
                </a:endParaRPr>
              </a:p>
            </p:txBody>
          </p:sp>
        </p:grpSp>
        <p:grpSp>
          <p:nvGrpSpPr>
            <p:cNvPr id="14" name="Group 14"/>
            <p:cNvGrpSpPr>
              <a:grpSpLocks noGrp="1" noUngrp="1" noRot="1" noMove="1" noResize="1"/>
            </p:cNvGrpSpPr>
            <p:nvPr/>
          </p:nvGrpSpPr>
          <p:grpSpPr>
            <a:xfrm rot="1979384">
              <a:off x="4907169" y="10699395"/>
              <a:ext cx="603937" cy="9890208"/>
              <a:chOff x="0" y="0"/>
              <a:chExt cx="119296" cy="1953621"/>
            </a:xfrm>
          </p:grpSpPr>
          <p:sp>
            <p:nvSpPr>
              <p:cNvPr id="15" name="Freeform 15"/>
              <p:cNvSpPr>
                <a:spLocks noGrp="1" noRot="1" noMove="1" noResize="1" noEditPoints="1" noAdjustHandles="1" noChangeArrowheads="1" noChangeShapeType="1"/>
              </p:cNvSpPr>
              <p:nvPr/>
            </p:nvSpPr>
            <p:spPr>
              <a:xfrm>
                <a:off x="0" y="0"/>
                <a:ext cx="119296" cy="1953621"/>
              </a:xfrm>
              <a:custGeom>
                <a:avLst/>
                <a:gdLst/>
                <a:ahLst/>
                <a:cxnLst/>
                <a:rect l="l" t="t" r="r" b="b"/>
                <a:pathLst>
                  <a:path w="119296" h="1953621">
                    <a:moveTo>
                      <a:pt x="0" y="0"/>
                    </a:moveTo>
                    <a:lnTo>
                      <a:pt x="119296" y="0"/>
                    </a:lnTo>
                    <a:lnTo>
                      <a:pt x="119296" y="1953621"/>
                    </a:lnTo>
                    <a:lnTo>
                      <a:pt x="0" y="1953621"/>
                    </a:lnTo>
                    <a:close/>
                  </a:path>
                </a:pathLst>
              </a:custGeom>
              <a:solidFill>
                <a:srgbClr val="FFE194"/>
              </a:solidFill>
            </p:spPr>
            <p:txBody>
              <a:bodyPr/>
              <a:lstStyle/>
              <a:p>
                <a:pPr algn="r" rtl="1"/>
                <a:endParaRPr lang="ar-SA">
                  <a:cs typeface="PT Bold Heading" panose="02010400000000000000" pitchFamily="2" charset="-78"/>
                </a:endParaRPr>
              </a:p>
            </p:txBody>
          </p:sp>
          <p:sp>
            <p:nvSpPr>
              <p:cNvPr id="16" name="TextBox 16"/>
              <p:cNvSpPr txBox="1">
                <a:spLocks noGrp="1" noRot="1" noMove="1" noResize="1" noEditPoints="1" noAdjustHandles="1" noChangeArrowheads="1" noChangeShapeType="1"/>
              </p:cNvSpPr>
              <p:nvPr/>
            </p:nvSpPr>
            <p:spPr>
              <a:xfrm>
                <a:off x="0" y="-38100"/>
                <a:ext cx="812800" cy="850900"/>
              </a:xfrm>
              <a:prstGeom prst="rect">
                <a:avLst/>
              </a:prstGeom>
            </p:spPr>
            <p:txBody>
              <a:bodyPr lIns="50800" tIns="50800" rIns="50800" bIns="50800" rtlCol="0" anchor="ctr"/>
              <a:lstStyle/>
              <a:p>
                <a:pPr algn="ctr" rtl="1">
                  <a:lnSpc>
                    <a:spcPts val="2659"/>
                  </a:lnSpc>
                  <a:spcBef>
                    <a:spcPct val="0"/>
                  </a:spcBef>
                </a:pPr>
                <a:endParaRPr>
                  <a:cs typeface="PT Bold Heading" panose="02010400000000000000" pitchFamily="2" charset="-78"/>
                </a:endParaRPr>
              </a:p>
            </p:txBody>
          </p:sp>
        </p:grpSp>
        <p:grpSp>
          <p:nvGrpSpPr>
            <p:cNvPr id="17" name="Group 17"/>
            <p:cNvGrpSpPr>
              <a:grpSpLocks noGrp="1" noUngrp="1" noRot="1" noMove="1" noResize="1"/>
            </p:cNvGrpSpPr>
            <p:nvPr/>
          </p:nvGrpSpPr>
          <p:grpSpPr>
            <a:xfrm>
              <a:off x="5826596" y="10817652"/>
              <a:ext cx="3261812" cy="2536342"/>
              <a:chOff x="0" y="0"/>
              <a:chExt cx="812800" cy="632023"/>
            </a:xfrm>
          </p:grpSpPr>
          <p:sp>
            <p:nvSpPr>
              <p:cNvPr id="18" name="Freeform 18"/>
              <p:cNvSpPr>
                <a:spLocks noGrp="1" noRot="1" noMove="1" noResize="1" noEditPoints="1" noAdjustHandles="1" noChangeArrowheads="1" noChangeShapeType="1"/>
              </p:cNvSpPr>
              <p:nvPr/>
            </p:nvSpPr>
            <p:spPr>
              <a:xfrm>
                <a:off x="0" y="0"/>
                <a:ext cx="812800" cy="632023"/>
              </a:xfrm>
              <a:custGeom>
                <a:avLst/>
                <a:gdLst/>
                <a:ahLst/>
                <a:cxnLst/>
                <a:rect l="l" t="t" r="r" b="b"/>
                <a:pathLst>
                  <a:path w="812800" h="632023">
                    <a:moveTo>
                      <a:pt x="406400" y="632023"/>
                    </a:moveTo>
                    <a:lnTo>
                      <a:pt x="812800" y="0"/>
                    </a:lnTo>
                    <a:lnTo>
                      <a:pt x="0" y="0"/>
                    </a:lnTo>
                    <a:lnTo>
                      <a:pt x="406400" y="632023"/>
                    </a:lnTo>
                    <a:close/>
                  </a:path>
                </a:pathLst>
              </a:custGeom>
              <a:solidFill>
                <a:srgbClr val="1C262A"/>
              </a:solidFill>
            </p:spPr>
            <p:txBody>
              <a:bodyPr/>
              <a:lstStyle/>
              <a:p>
                <a:pPr algn="r" rtl="1"/>
                <a:endParaRPr lang="ar-SA">
                  <a:cs typeface="PT Bold Heading" panose="02010400000000000000" pitchFamily="2" charset="-78"/>
                </a:endParaRPr>
              </a:p>
            </p:txBody>
          </p:sp>
          <p:sp>
            <p:nvSpPr>
              <p:cNvPr id="19" name="TextBox 19"/>
              <p:cNvSpPr txBox="1">
                <a:spLocks noGrp="1" noRot="1" noMove="1" noResize="1" noEditPoints="1" noAdjustHandles="1" noChangeArrowheads="1" noChangeShapeType="1"/>
              </p:cNvSpPr>
              <p:nvPr/>
            </p:nvSpPr>
            <p:spPr>
              <a:xfrm>
                <a:off x="127000" y="12700"/>
                <a:ext cx="558800" cy="36830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grpSp>
          <p:nvGrpSpPr>
            <p:cNvPr id="20" name="Group 20"/>
            <p:cNvGrpSpPr>
              <a:grpSpLocks noGrp="1" noUngrp="1" noRot="1" noMove="1" noResize="1"/>
            </p:cNvGrpSpPr>
            <p:nvPr/>
          </p:nvGrpSpPr>
          <p:grpSpPr>
            <a:xfrm>
              <a:off x="7341160" y="3540510"/>
              <a:ext cx="3142837" cy="2443829"/>
              <a:chOff x="0" y="0"/>
              <a:chExt cx="812800" cy="632023"/>
            </a:xfrm>
          </p:grpSpPr>
          <p:sp>
            <p:nvSpPr>
              <p:cNvPr id="21" name="Freeform 21"/>
              <p:cNvSpPr>
                <a:spLocks noGrp="1" noRot="1" noMove="1" noResize="1" noEditPoints="1" noAdjustHandles="1" noChangeArrowheads="1" noChangeShapeType="1"/>
              </p:cNvSpPr>
              <p:nvPr/>
            </p:nvSpPr>
            <p:spPr>
              <a:xfrm>
                <a:off x="0" y="0"/>
                <a:ext cx="812800" cy="632023"/>
              </a:xfrm>
              <a:custGeom>
                <a:avLst/>
                <a:gdLst/>
                <a:ahLst/>
                <a:cxnLst/>
                <a:rect l="l" t="t" r="r" b="b"/>
                <a:pathLst>
                  <a:path w="812800" h="632023">
                    <a:moveTo>
                      <a:pt x="406400" y="632023"/>
                    </a:moveTo>
                    <a:lnTo>
                      <a:pt x="812800" y="0"/>
                    </a:lnTo>
                    <a:lnTo>
                      <a:pt x="0" y="0"/>
                    </a:lnTo>
                    <a:lnTo>
                      <a:pt x="406400" y="632023"/>
                    </a:lnTo>
                    <a:close/>
                  </a:path>
                </a:pathLst>
              </a:custGeom>
              <a:solidFill>
                <a:srgbClr val="1C262A"/>
              </a:solidFill>
            </p:spPr>
            <p:txBody>
              <a:bodyPr/>
              <a:lstStyle/>
              <a:p>
                <a:pPr algn="r" rtl="1"/>
                <a:endParaRPr lang="ar-SA">
                  <a:cs typeface="PT Bold Heading" panose="02010400000000000000" pitchFamily="2" charset="-78"/>
                </a:endParaRPr>
              </a:p>
            </p:txBody>
          </p:sp>
          <p:sp>
            <p:nvSpPr>
              <p:cNvPr id="22" name="TextBox 22"/>
              <p:cNvSpPr txBox="1">
                <a:spLocks noGrp="1" noRot="1" noMove="1" noResize="1" noEditPoints="1" noAdjustHandles="1" noChangeArrowheads="1" noChangeShapeType="1"/>
              </p:cNvSpPr>
              <p:nvPr/>
            </p:nvSpPr>
            <p:spPr>
              <a:xfrm>
                <a:off x="127000" y="12700"/>
                <a:ext cx="558800" cy="36830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grpSp>
      <p:sp>
        <p:nvSpPr>
          <p:cNvPr id="28" name="TextBox 28"/>
          <p:cNvSpPr txBox="1"/>
          <p:nvPr/>
        </p:nvSpPr>
        <p:spPr>
          <a:xfrm>
            <a:off x="1079282" y="4070067"/>
            <a:ext cx="9071536" cy="1769074"/>
          </a:xfrm>
          <a:prstGeom prst="rect">
            <a:avLst/>
          </a:prstGeom>
        </p:spPr>
        <p:txBody>
          <a:bodyPr lIns="0" tIns="0" rIns="0" bIns="0" rtlCol="0" anchor="t">
            <a:spAutoFit/>
          </a:bodyPr>
          <a:lstStyle/>
          <a:p>
            <a:pPr algn="ctr" rtl="1">
              <a:lnSpc>
                <a:spcPts val="14326"/>
              </a:lnSpc>
            </a:pPr>
            <a:r>
              <a:rPr lang="en-US" sz="10233" spc="-204" dirty="0" err="1">
                <a:solidFill>
                  <a:srgbClr val="000000"/>
                </a:solidFill>
                <a:cs typeface="PT Bold Heading" panose="02010400000000000000" pitchFamily="2" charset="-78"/>
              </a:rPr>
              <a:t>دورة</a:t>
            </a:r>
            <a:r>
              <a:rPr lang="en-US" sz="10233" spc="-204" dirty="0">
                <a:solidFill>
                  <a:srgbClr val="000000"/>
                </a:solidFill>
                <a:cs typeface="PT Bold Heading" panose="02010400000000000000" pitchFamily="2" charset="-78"/>
              </a:rPr>
              <a:t> </a:t>
            </a:r>
            <a:r>
              <a:rPr lang="en-US" sz="10233" spc="-204" dirty="0" err="1">
                <a:solidFill>
                  <a:srgbClr val="000000"/>
                </a:solidFill>
                <a:cs typeface="PT Bold Heading" panose="02010400000000000000" pitchFamily="2" charset="-78"/>
              </a:rPr>
              <a:t>حياة</a:t>
            </a:r>
            <a:r>
              <a:rPr lang="en-US" sz="10233" spc="-204" dirty="0">
                <a:solidFill>
                  <a:srgbClr val="000000"/>
                </a:solidFill>
                <a:cs typeface="PT Bold Heading" panose="02010400000000000000" pitchFamily="2" charset="-78"/>
              </a:rPr>
              <a:t> </a:t>
            </a:r>
            <a:r>
              <a:rPr lang="en-US" sz="10233" spc="-204" dirty="0" err="1">
                <a:solidFill>
                  <a:srgbClr val="000000"/>
                </a:solidFill>
                <a:cs typeface="PT Bold Heading" panose="02010400000000000000" pitchFamily="2" charset="-78"/>
              </a:rPr>
              <a:t>النظام</a:t>
            </a:r>
            <a:endParaRPr lang="en-US" sz="10233" spc="-204" dirty="0">
              <a:solidFill>
                <a:srgbClr val="000000"/>
              </a:solidFill>
              <a:cs typeface="PT Bold Heading" panose="02010400000000000000" pitchFamily="2" charset="-78"/>
            </a:endParaRPr>
          </a:p>
        </p:txBody>
      </p:sp>
      <p:grpSp>
        <p:nvGrpSpPr>
          <p:cNvPr id="29" name="Group 29"/>
          <p:cNvGrpSpPr/>
          <p:nvPr/>
        </p:nvGrpSpPr>
        <p:grpSpPr>
          <a:xfrm>
            <a:off x="2079926" y="6095629"/>
            <a:ext cx="6539717" cy="761971"/>
            <a:chOff x="0" y="-27315"/>
            <a:chExt cx="8719624" cy="1015961"/>
          </a:xfrm>
        </p:grpSpPr>
        <p:grpSp>
          <p:nvGrpSpPr>
            <p:cNvPr id="30" name="Group 30"/>
            <p:cNvGrpSpPr/>
            <p:nvPr/>
          </p:nvGrpSpPr>
          <p:grpSpPr>
            <a:xfrm>
              <a:off x="0" y="0"/>
              <a:ext cx="8516425" cy="988646"/>
              <a:chOff x="0" y="0"/>
              <a:chExt cx="1682257" cy="195288"/>
            </a:xfrm>
          </p:grpSpPr>
          <p:sp>
            <p:nvSpPr>
              <p:cNvPr id="31" name="Freeform 31"/>
              <p:cNvSpPr/>
              <p:nvPr/>
            </p:nvSpPr>
            <p:spPr>
              <a:xfrm>
                <a:off x="0" y="0"/>
                <a:ext cx="1682257" cy="195288"/>
              </a:xfrm>
              <a:custGeom>
                <a:avLst/>
                <a:gdLst/>
                <a:ahLst/>
                <a:cxnLst/>
                <a:rect l="l" t="t" r="r" b="b"/>
                <a:pathLst>
                  <a:path w="1682257" h="195288">
                    <a:moveTo>
                      <a:pt x="0" y="0"/>
                    </a:moveTo>
                    <a:lnTo>
                      <a:pt x="1682257" y="0"/>
                    </a:lnTo>
                    <a:lnTo>
                      <a:pt x="1682257" y="195288"/>
                    </a:lnTo>
                    <a:lnTo>
                      <a:pt x="0" y="195288"/>
                    </a:lnTo>
                    <a:close/>
                  </a:path>
                </a:pathLst>
              </a:custGeom>
              <a:solidFill>
                <a:srgbClr val="FFE194"/>
              </a:solidFill>
            </p:spPr>
            <p:txBody>
              <a:bodyPr/>
              <a:lstStyle/>
              <a:p>
                <a:pPr algn="r" rtl="1"/>
                <a:endParaRPr lang="ar-SA">
                  <a:cs typeface="PT Bold Heading" panose="02010400000000000000" pitchFamily="2" charset="-78"/>
                </a:endParaRPr>
              </a:p>
            </p:txBody>
          </p:sp>
          <p:sp>
            <p:nvSpPr>
              <p:cNvPr id="32" name="TextBox 32"/>
              <p:cNvSpPr txBox="1"/>
              <p:nvPr/>
            </p:nvSpPr>
            <p:spPr>
              <a:xfrm>
                <a:off x="0" y="-57150"/>
                <a:ext cx="812800" cy="86995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sp>
          <p:nvSpPr>
            <p:cNvPr id="33" name="TextBox 33"/>
            <p:cNvSpPr txBox="1"/>
            <p:nvPr/>
          </p:nvSpPr>
          <p:spPr>
            <a:xfrm>
              <a:off x="768645" y="-27315"/>
              <a:ext cx="5558689" cy="939743"/>
            </a:xfrm>
            <a:prstGeom prst="rect">
              <a:avLst/>
            </a:prstGeom>
          </p:spPr>
          <p:txBody>
            <a:bodyPr lIns="0" tIns="0" rIns="0" bIns="0" rtlCol="0" anchor="t">
              <a:spAutoFit/>
            </a:bodyPr>
            <a:lstStyle/>
            <a:p>
              <a:pPr algn="r" rtl="1">
                <a:lnSpc>
                  <a:spcPts val="5697"/>
                </a:lnSpc>
              </a:pPr>
              <a:r>
                <a:rPr lang="en-US" sz="4069" spc="97">
                  <a:solidFill>
                    <a:srgbClr val="191C1C"/>
                  </a:solidFill>
                  <a:cs typeface="PT Bold Heading" panose="02010400000000000000" pitchFamily="2" charset="-78"/>
                </a:rPr>
                <a:t>التقنية الرقمية 3</a:t>
              </a:r>
            </a:p>
          </p:txBody>
        </p:sp>
        <p:grpSp>
          <p:nvGrpSpPr>
            <p:cNvPr id="34" name="Group 34"/>
            <p:cNvGrpSpPr/>
            <p:nvPr/>
          </p:nvGrpSpPr>
          <p:grpSpPr>
            <a:xfrm>
              <a:off x="7848653" y="0"/>
              <a:ext cx="870971" cy="988646"/>
              <a:chOff x="0" y="0"/>
              <a:chExt cx="172044" cy="195288"/>
            </a:xfrm>
          </p:grpSpPr>
          <p:sp>
            <p:nvSpPr>
              <p:cNvPr id="35" name="Freeform 35"/>
              <p:cNvSpPr/>
              <p:nvPr/>
            </p:nvSpPr>
            <p:spPr>
              <a:xfrm>
                <a:off x="0" y="0"/>
                <a:ext cx="172044" cy="195288"/>
              </a:xfrm>
              <a:custGeom>
                <a:avLst/>
                <a:gdLst/>
                <a:ahLst/>
                <a:cxnLst/>
                <a:rect l="l" t="t" r="r" b="b"/>
                <a:pathLst>
                  <a:path w="172044" h="195288">
                    <a:moveTo>
                      <a:pt x="0" y="0"/>
                    </a:moveTo>
                    <a:lnTo>
                      <a:pt x="172044" y="0"/>
                    </a:lnTo>
                    <a:lnTo>
                      <a:pt x="172044" y="195288"/>
                    </a:lnTo>
                    <a:lnTo>
                      <a:pt x="0" y="195288"/>
                    </a:lnTo>
                    <a:close/>
                  </a:path>
                </a:pathLst>
              </a:custGeom>
              <a:solidFill>
                <a:srgbClr val="1DA8A7"/>
              </a:solidFill>
            </p:spPr>
            <p:txBody>
              <a:bodyPr/>
              <a:lstStyle/>
              <a:p>
                <a:pPr algn="r" rtl="1"/>
                <a:endParaRPr lang="ar-SA">
                  <a:cs typeface="PT Bold Heading" panose="02010400000000000000" pitchFamily="2" charset="-78"/>
                </a:endParaRPr>
              </a:p>
            </p:txBody>
          </p:sp>
          <p:sp>
            <p:nvSpPr>
              <p:cNvPr id="36" name="TextBox 36"/>
              <p:cNvSpPr txBox="1"/>
              <p:nvPr/>
            </p:nvSpPr>
            <p:spPr>
              <a:xfrm>
                <a:off x="0" y="-57150"/>
                <a:ext cx="812800" cy="86995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grpSp>
      <p:grpSp>
        <p:nvGrpSpPr>
          <p:cNvPr id="40" name="Group 23">
            <a:extLst>
              <a:ext uri="{FF2B5EF4-FFF2-40B4-BE49-F238E27FC236}">
                <a16:creationId xmlns:a16="http://schemas.microsoft.com/office/drawing/2014/main" id="{E87B130B-2F72-C6A0-DD8B-B43DE043956B}"/>
              </a:ext>
            </a:extLst>
          </p:cNvPr>
          <p:cNvGrpSpPr>
            <a:grpSpLocks noGrp="1" noUngrp="1" noRot="1" noMove="1" noResize="1"/>
          </p:cNvGrpSpPr>
          <p:nvPr/>
        </p:nvGrpSpPr>
        <p:grpSpPr>
          <a:xfrm>
            <a:off x="-581465" y="7708498"/>
            <a:ext cx="19392643" cy="3035514"/>
            <a:chOff x="0" y="0"/>
            <a:chExt cx="25856857" cy="4047352"/>
          </a:xfrm>
        </p:grpSpPr>
        <p:grpSp>
          <p:nvGrpSpPr>
            <p:cNvPr id="41" name="Group 24">
              <a:extLst>
                <a:ext uri="{FF2B5EF4-FFF2-40B4-BE49-F238E27FC236}">
                  <a16:creationId xmlns:a16="http://schemas.microsoft.com/office/drawing/2014/main" id="{8A6F678D-041E-3D76-FD49-F5EE5C1E930C}"/>
                </a:ext>
              </a:extLst>
            </p:cNvPr>
            <p:cNvGrpSpPr>
              <a:grpSpLocks noGrp="1" noUngrp="1" noRot="1" noMove="1" noResize="1"/>
            </p:cNvGrpSpPr>
            <p:nvPr/>
          </p:nvGrpSpPr>
          <p:grpSpPr>
            <a:xfrm>
              <a:off x="0" y="2622843"/>
              <a:ext cx="25856857" cy="1424509"/>
              <a:chOff x="0" y="0"/>
              <a:chExt cx="5107527" cy="281385"/>
            </a:xfrm>
          </p:grpSpPr>
          <p:sp>
            <p:nvSpPr>
              <p:cNvPr id="43" name="Freeform 25">
                <a:extLst>
                  <a:ext uri="{FF2B5EF4-FFF2-40B4-BE49-F238E27FC236}">
                    <a16:creationId xmlns:a16="http://schemas.microsoft.com/office/drawing/2014/main" id="{E44F267B-E00A-D787-4C4B-7B550D2680C1}"/>
                  </a:ext>
                </a:extLst>
              </p:cNvPr>
              <p:cNvSpPr>
                <a:spLocks noGrp="1" noRot="1" noMove="1" noResize="1" noEditPoints="1" noAdjustHandles="1" noChangeArrowheads="1" noChangeShapeType="1"/>
              </p:cNvSpPr>
              <p:nvPr/>
            </p:nvSpPr>
            <p:spPr>
              <a:xfrm>
                <a:off x="0" y="0"/>
                <a:ext cx="5107527" cy="281385"/>
              </a:xfrm>
              <a:custGeom>
                <a:avLst/>
                <a:gdLst/>
                <a:ahLst/>
                <a:cxnLst/>
                <a:rect l="l" t="t" r="r" b="b"/>
                <a:pathLst>
                  <a:path w="5107527" h="281385">
                    <a:moveTo>
                      <a:pt x="0" y="0"/>
                    </a:moveTo>
                    <a:lnTo>
                      <a:pt x="5107527" y="0"/>
                    </a:lnTo>
                    <a:lnTo>
                      <a:pt x="5107527" y="281385"/>
                    </a:lnTo>
                    <a:lnTo>
                      <a:pt x="0" y="281385"/>
                    </a:ln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44" name="TextBox 26">
                <a:extLst>
                  <a:ext uri="{FF2B5EF4-FFF2-40B4-BE49-F238E27FC236}">
                    <a16:creationId xmlns:a16="http://schemas.microsoft.com/office/drawing/2014/main" id="{D6613288-0B9C-39CF-115C-0CE629561EE5}"/>
                  </a:ext>
                </a:extLst>
              </p:cNvPr>
              <p:cNvSpPr txBox="1">
                <a:spLocks noGrp="1" noRot="1" noMove="1" noResize="1" noEditPoints="1" noAdjustHandles="1" noChangeArrowheads="1" noChangeShapeType="1"/>
              </p:cNvSpPr>
              <p:nvPr/>
            </p:nvSpPr>
            <p:spPr>
              <a:xfrm>
                <a:off x="0" y="-57150"/>
                <a:ext cx="812800" cy="869950"/>
              </a:xfrm>
              <a:prstGeom prst="rect">
                <a:avLst/>
              </a:prstGeom>
            </p:spPr>
            <p:txBody>
              <a:bodyPr lIns="50800" tIns="50800" rIns="50800" bIns="50800" rtlCol="0" anchor="ctr"/>
              <a:lstStyle/>
              <a:p>
                <a:pPr algn="ctr" rtl="1">
                  <a:lnSpc>
                    <a:spcPts val="2659"/>
                  </a:lnSpc>
                </a:pPr>
                <a:endParaRPr>
                  <a:cs typeface="PT Bold Heading" panose="02010400000000000000" pitchFamily="2" charset="-78"/>
                </a:endParaRPr>
              </a:p>
            </p:txBody>
          </p:sp>
        </p:grpSp>
        <p:sp>
          <p:nvSpPr>
            <p:cNvPr id="42" name="Freeform 27">
              <a:extLst>
                <a:ext uri="{FF2B5EF4-FFF2-40B4-BE49-F238E27FC236}">
                  <a16:creationId xmlns:a16="http://schemas.microsoft.com/office/drawing/2014/main" id="{EA500905-B934-9E25-B506-A01B16AF19D5}"/>
                </a:ext>
              </a:extLst>
            </p:cNvPr>
            <p:cNvSpPr>
              <a:spLocks noGrp="1" noRot="1" noMove="1" noResize="1" noEditPoints="1" noAdjustHandles="1" noChangeArrowheads="1" noChangeShapeType="1"/>
            </p:cNvSpPr>
            <p:nvPr/>
          </p:nvSpPr>
          <p:spPr>
            <a:xfrm flipH="1">
              <a:off x="724486" y="0"/>
              <a:ext cx="2622843" cy="2622843"/>
            </a:xfrm>
            <a:custGeom>
              <a:avLst/>
              <a:gdLst/>
              <a:ahLst/>
              <a:cxnLst/>
              <a:rect l="l" t="t" r="r" b="b"/>
              <a:pathLst>
                <a:path w="2622843" h="2622843">
                  <a:moveTo>
                    <a:pt x="2622843" y="0"/>
                  </a:moveTo>
                  <a:lnTo>
                    <a:pt x="0" y="0"/>
                  </a:lnTo>
                  <a:lnTo>
                    <a:pt x="0" y="2622843"/>
                  </a:lnTo>
                  <a:lnTo>
                    <a:pt x="2622843" y="2622843"/>
                  </a:lnTo>
                  <a:lnTo>
                    <a:pt x="262284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45" name="Group 37">
            <a:extLst>
              <a:ext uri="{FF2B5EF4-FFF2-40B4-BE49-F238E27FC236}">
                <a16:creationId xmlns:a16="http://schemas.microsoft.com/office/drawing/2014/main" id="{642D3C7D-68EB-ABF6-3D9D-4C59010EB44F}"/>
              </a:ext>
            </a:extLst>
          </p:cNvPr>
          <p:cNvGrpSpPr>
            <a:grpSpLocks noGrp="1" noUngrp="1" noRot="1" noMove="1" noResize="1"/>
          </p:cNvGrpSpPr>
          <p:nvPr/>
        </p:nvGrpSpPr>
        <p:grpSpPr>
          <a:xfrm rot="3443392">
            <a:off x="547994" y="-3364886"/>
            <a:ext cx="399092" cy="7237429"/>
            <a:chOff x="0" y="0"/>
            <a:chExt cx="105111" cy="1906154"/>
          </a:xfrm>
        </p:grpSpPr>
        <p:sp>
          <p:nvSpPr>
            <p:cNvPr id="46" name="Freeform 38">
              <a:extLst>
                <a:ext uri="{FF2B5EF4-FFF2-40B4-BE49-F238E27FC236}">
                  <a16:creationId xmlns:a16="http://schemas.microsoft.com/office/drawing/2014/main" id="{08EE9C50-D2DC-ACAD-1D72-DBA3365A12A2}"/>
                </a:ext>
              </a:extLst>
            </p:cNvPr>
            <p:cNvSpPr>
              <a:spLocks noGrp="1" noRot="1" noMove="1" noResize="1" noEditPoints="1" noAdjustHandles="1" noChangeArrowheads="1" noChangeShapeType="1"/>
            </p:cNvSpPr>
            <p:nvPr/>
          </p:nvSpPr>
          <p:spPr>
            <a:xfrm>
              <a:off x="0" y="0"/>
              <a:ext cx="105111" cy="1906154"/>
            </a:xfrm>
            <a:custGeom>
              <a:avLst/>
              <a:gdLst/>
              <a:ahLst/>
              <a:cxnLst/>
              <a:rect l="l" t="t" r="r" b="b"/>
              <a:pathLst>
                <a:path w="105111" h="1906154">
                  <a:moveTo>
                    <a:pt x="0" y="0"/>
                  </a:moveTo>
                  <a:lnTo>
                    <a:pt x="105111" y="0"/>
                  </a:lnTo>
                  <a:lnTo>
                    <a:pt x="105111" y="1906154"/>
                  </a:lnTo>
                  <a:lnTo>
                    <a:pt x="0" y="1906154"/>
                  </a:lnTo>
                  <a:close/>
                </a:path>
              </a:pathLst>
            </a:custGeom>
            <a:solidFill>
              <a:srgbClr val="1C262A"/>
            </a:solidFill>
          </p:spPr>
          <p:txBody>
            <a:bodyPr/>
            <a:lstStyle/>
            <a:p>
              <a:pPr algn="r" rtl="1"/>
              <a:endParaRPr lang="ar-SA">
                <a:cs typeface="PT Bold Heading" panose="02010400000000000000" pitchFamily="2" charset="-78"/>
              </a:endParaRPr>
            </a:p>
          </p:txBody>
        </p:sp>
        <p:sp>
          <p:nvSpPr>
            <p:cNvPr id="47" name="TextBox 39">
              <a:extLst>
                <a:ext uri="{FF2B5EF4-FFF2-40B4-BE49-F238E27FC236}">
                  <a16:creationId xmlns:a16="http://schemas.microsoft.com/office/drawing/2014/main" id="{02864194-B31C-4DC1-208D-17B45A3213E2}"/>
                </a:ext>
              </a:extLst>
            </p:cNvPr>
            <p:cNvSpPr txBox="1">
              <a:spLocks noGrp="1" noRot="1" noMove="1" noResize="1" noEditPoints="1" noAdjustHandles="1" noChangeArrowheads="1" noChangeShapeType="1"/>
            </p:cNvSpPr>
            <p:nvPr/>
          </p:nvSpPr>
          <p:spPr>
            <a:xfrm>
              <a:off x="0" y="-38100"/>
              <a:ext cx="812800" cy="850900"/>
            </a:xfrm>
            <a:prstGeom prst="rect">
              <a:avLst/>
            </a:prstGeom>
          </p:spPr>
          <p:txBody>
            <a:bodyPr lIns="50800" tIns="50800" rIns="50800" bIns="50800" rtlCol="0" anchor="ctr"/>
            <a:lstStyle/>
            <a:p>
              <a:pPr algn="ctr" rtl="1">
                <a:lnSpc>
                  <a:spcPts val="2659"/>
                </a:lnSpc>
                <a:spcBef>
                  <a:spcPct val="0"/>
                </a:spcBef>
              </a:pPr>
              <a:endParaRPr>
                <a:cs typeface="PT Bold Heading" panose="02010400000000000000" pitchFamily="2" charset="-78"/>
              </a:endParaRPr>
            </a:p>
          </p:txBody>
        </p:sp>
      </p:grpSp>
      <p:sp>
        <p:nvSpPr>
          <p:cNvPr id="49" name="TextBox 10">
            <a:extLst>
              <a:ext uri="{FF2B5EF4-FFF2-40B4-BE49-F238E27FC236}">
                <a16:creationId xmlns:a16="http://schemas.microsoft.com/office/drawing/2014/main" id="{EB7530A7-5F11-4AA2-4913-335A9409F0C7}"/>
              </a:ext>
            </a:extLst>
          </p:cNvPr>
          <p:cNvSpPr txBox="1"/>
          <p:nvPr/>
        </p:nvSpPr>
        <p:spPr>
          <a:xfrm>
            <a:off x="1447800" y="2287000"/>
            <a:ext cx="6877431" cy="1744708"/>
          </a:xfrm>
          <a:prstGeom prst="rect">
            <a:avLst/>
          </a:prstGeom>
        </p:spPr>
        <p:txBody>
          <a:bodyPr wrap="square" lIns="0" tIns="0" rIns="0" bIns="0" rtlCol="0" anchor="t">
            <a:spAutoFit/>
          </a:bodyPr>
          <a:lstStyle/>
          <a:p>
            <a:pPr algn="r" rtl="1">
              <a:lnSpc>
                <a:spcPts val="14326"/>
              </a:lnSpc>
            </a:pPr>
            <a:r>
              <a:rPr lang="ar-SA" sz="8000" spc="-204" dirty="0">
                <a:solidFill>
                  <a:srgbClr val="2A8D87"/>
                </a:solidFill>
                <a:cs typeface="PT Bold Heading" panose="02010400000000000000" pitchFamily="2" charset="-78"/>
              </a:rPr>
              <a:t>الفصـــــــل</a:t>
            </a:r>
            <a:endParaRPr lang="en-US" sz="8000" spc="-204" dirty="0">
              <a:solidFill>
                <a:srgbClr val="2A8D87"/>
              </a:solidFill>
              <a:cs typeface="PT Bold Heading" panose="02010400000000000000" pitchFamily="2" charset="-78"/>
            </a:endParaRPr>
          </a:p>
        </p:txBody>
      </p:sp>
      <p:grpSp>
        <p:nvGrpSpPr>
          <p:cNvPr id="50" name="Group 64">
            <a:extLst>
              <a:ext uri="{FF2B5EF4-FFF2-40B4-BE49-F238E27FC236}">
                <a16:creationId xmlns:a16="http://schemas.microsoft.com/office/drawing/2014/main" id="{990141BA-CFB9-7914-2B45-C708E635980C}"/>
              </a:ext>
            </a:extLst>
          </p:cNvPr>
          <p:cNvGrpSpPr/>
          <p:nvPr/>
        </p:nvGrpSpPr>
        <p:grpSpPr>
          <a:xfrm>
            <a:off x="2787792" y="882074"/>
            <a:ext cx="3937285" cy="3108099"/>
            <a:chOff x="-1872847" y="-1500840"/>
            <a:chExt cx="7021628" cy="6977359"/>
          </a:xfrm>
        </p:grpSpPr>
        <p:grpSp>
          <p:nvGrpSpPr>
            <p:cNvPr id="51" name="Group 68">
              <a:extLst>
                <a:ext uri="{FF2B5EF4-FFF2-40B4-BE49-F238E27FC236}">
                  <a16:creationId xmlns:a16="http://schemas.microsoft.com/office/drawing/2014/main" id="{90270D38-8CE5-A04A-E2BF-E6B88185187C}"/>
                </a:ext>
              </a:extLst>
            </p:cNvPr>
            <p:cNvGrpSpPr/>
            <p:nvPr/>
          </p:nvGrpSpPr>
          <p:grpSpPr>
            <a:xfrm>
              <a:off x="-1872847" y="541418"/>
              <a:ext cx="7021628" cy="4935101"/>
              <a:chOff x="-267935" y="38100"/>
              <a:chExt cx="1004535" cy="706031"/>
            </a:xfrm>
          </p:grpSpPr>
          <p:sp>
            <p:nvSpPr>
              <p:cNvPr id="54" name="Freeform 69">
                <a:extLst>
                  <a:ext uri="{FF2B5EF4-FFF2-40B4-BE49-F238E27FC236}">
                    <a16:creationId xmlns:a16="http://schemas.microsoft.com/office/drawing/2014/main" id="{C19938A7-A2B3-851B-CDD5-E300A7A20D53}"/>
                  </a:ext>
                </a:extLst>
              </p:cNvPr>
              <p:cNvSpPr/>
              <p:nvPr/>
            </p:nvSpPr>
            <p:spPr>
              <a:xfrm>
                <a:off x="-267935" y="275199"/>
                <a:ext cx="367393" cy="468932"/>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55" name="TextBox 70">
                <a:extLst>
                  <a:ext uri="{FF2B5EF4-FFF2-40B4-BE49-F238E27FC236}">
                    <a16:creationId xmlns:a16="http://schemas.microsoft.com/office/drawing/2014/main" id="{B128667A-4041-C112-2CD8-D07F5D6E045F}"/>
                  </a:ext>
                </a:extLst>
              </p:cNvPr>
              <p:cNvSpPr txBox="1"/>
              <p:nvPr/>
            </p:nvSpPr>
            <p:spPr>
              <a:xfrm>
                <a:off x="76200" y="38100"/>
                <a:ext cx="660400" cy="698500"/>
              </a:xfrm>
              <a:prstGeom prst="rect">
                <a:avLst/>
              </a:prstGeom>
            </p:spPr>
            <p:txBody>
              <a:bodyPr lIns="50800" tIns="50800" rIns="50800" bIns="50800" rtlCol="0" anchor="ctr"/>
              <a:lstStyle/>
              <a:p>
                <a:pPr algn="ctr" rtl="1">
                  <a:lnSpc>
                    <a:spcPts val="2940"/>
                  </a:lnSpc>
                </a:pPr>
                <a:endParaRPr>
                  <a:cs typeface="PT Bold Heading" panose="02010400000000000000" pitchFamily="2" charset="-78"/>
                </a:endParaRPr>
              </a:p>
            </p:txBody>
          </p:sp>
        </p:grpSp>
        <p:sp>
          <p:nvSpPr>
            <p:cNvPr id="52" name="Freeform 71">
              <a:extLst>
                <a:ext uri="{FF2B5EF4-FFF2-40B4-BE49-F238E27FC236}">
                  <a16:creationId xmlns:a16="http://schemas.microsoft.com/office/drawing/2014/main" id="{2C0060BF-7CCA-4660-5835-853965445D9D}"/>
                </a:ext>
              </a:extLst>
            </p:cNvPr>
            <p:cNvSpPr/>
            <p:nvPr/>
          </p:nvSpPr>
          <p:spPr>
            <a:xfrm>
              <a:off x="-1648146" y="2979368"/>
              <a:ext cx="2118641" cy="1720843"/>
            </a:xfrm>
            <a:custGeom>
              <a:avLst/>
              <a:gdLst/>
              <a:ahLst/>
              <a:cxnLst/>
              <a:rect l="l" t="t" r="r" b="b"/>
              <a:pathLst>
                <a:path w="3835955" h="2678194">
                  <a:moveTo>
                    <a:pt x="0" y="0"/>
                  </a:moveTo>
                  <a:lnTo>
                    <a:pt x="3835956" y="0"/>
                  </a:lnTo>
                  <a:lnTo>
                    <a:pt x="3835956" y="2678195"/>
                  </a:lnTo>
                  <a:lnTo>
                    <a:pt x="0" y="26781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algn="r" rtl="1"/>
              <a:endParaRPr lang="ar-SA" dirty="0">
                <a:cs typeface="PT Bold Heading" panose="02010400000000000000" pitchFamily="2" charset="-78"/>
              </a:endParaRPr>
            </a:p>
          </p:txBody>
        </p:sp>
        <p:sp>
          <p:nvSpPr>
            <p:cNvPr id="53" name="TextBox 72">
              <a:extLst>
                <a:ext uri="{FF2B5EF4-FFF2-40B4-BE49-F238E27FC236}">
                  <a16:creationId xmlns:a16="http://schemas.microsoft.com/office/drawing/2014/main" id="{58F70D46-511B-484D-3347-0C7CD230CF6A}"/>
                </a:ext>
              </a:extLst>
            </p:cNvPr>
            <p:cNvSpPr txBox="1"/>
            <p:nvPr/>
          </p:nvSpPr>
          <p:spPr>
            <a:xfrm>
              <a:off x="-1230456" y="-1500840"/>
              <a:ext cx="782975" cy="6581074"/>
            </a:xfrm>
            <a:prstGeom prst="rect">
              <a:avLst/>
            </a:prstGeom>
          </p:spPr>
          <p:txBody>
            <a:bodyPr wrap="square" lIns="0" tIns="0" rIns="0" bIns="0" rtlCol="0" anchor="t">
              <a:spAutoFit/>
            </a:bodyPr>
            <a:lstStyle/>
            <a:p>
              <a:pPr algn="r" rtl="1">
                <a:lnSpc>
                  <a:spcPts val="27624"/>
                </a:lnSpc>
              </a:pPr>
              <a:r>
                <a:rPr lang="en-US" sz="7200" spc="-394" dirty="0">
                  <a:solidFill>
                    <a:srgbClr val="2A8D87"/>
                  </a:solidFill>
                  <a:latin typeface="Abdo Logo"/>
                  <a:cs typeface="PT Bold Heading" panose="02010400000000000000" pitchFamily="2" charset="-78"/>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مجموعة 6">
            <a:extLst>
              <a:ext uri="{FF2B5EF4-FFF2-40B4-BE49-F238E27FC236}">
                <a16:creationId xmlns:a16="http://schemas.microsoft.com/office/drawing/2014/main" id="{5A748F84-A3A2-B751-13A1-D40C97E4B5C6}"/>
              </a:ext>
            </a:extLst>
          </p:cNvPr>
          <p:cNvGrpSpPr/>
          <p:nvPr/>
        </p:nvGrpSpPr>
        <p:grpSpPr>
          <a:xfrm>
            <a:off x="992832" y="3785254"/>
            <a:ext cx="14018568" cy="4876799"/>
            <a:chOff x="1678632" y="3467101"/>
            <a:chExt cx="14018568" cy="4876799"/>
          </a:xfrm>
        </p:grpSpPr>
        <p:sp>
          <p:nvSpPr>
            <p:cNvPr id="26" name="Freeform 4">
              <a:extLst>
                <a:ext uri="{FF2B5EF4-FFF2-40B4-BE49-F238E27FC236}">
                  <a16:creationId xmlns:a16="http://schemas.microsoft.com/office/drawing/2014/main" id="{025899F1-F5E8-5C49-82ED-D516477A8720}"/>
                </a:ext>
              </a:extLst>
            </p:cNvPr>
            <p:cNvSpPr/>
            <p:nvPr/>
          </p:nvSpPr>
          <p:spPr>
            <a:xfrm>
              <a:off x="3640974" y="3467101"/>
              <a:ext cx="12056226" cy="4876799"/>
            </a:xfrm>
            <a:custGeom>
              <a:avLst/>
              <a:gdLst/>
              <a:ahLst/>
              <a:cxnLst/>
              <a:rect l="l" t="t" r="r" b="b"/>
              <a:pathLst>
                <a:path w="2838464" h="955376">
                  <a:moveTo>
                    <a:pt x="6937" y="0"/>
                  </a:moveTo>
                  <a:lnTo>
                    <a:pt x="2831527" y="0"/>
                  </a:lnTo>
                  <a:cubicBezTo>
                    <a:pt x="2835359" y="0"/>
                    <a:pt x="2838464" y="3106"/>
                    <a:pt x="2838464" y="6937"/>
                  </a:cubicBezTo>
                  <a:lnTo>
                    <a:pt x="2838464" y="948438"/>
                  </a:lnTo>
                  <a:cubicBezTo>
                    <a:pt x="2838464" y="952270"/>
                    <a:pt x="2835359" y="955376"/>
                    <a:pt x="2831527" y="955376"/>
                  </a:cubicBezTo>
                  <a:lnTo>
                    <a:pt x="6937" y="955376"/>
                  </a:lnTo>
                  <a:cubicBezTo>
                    <a:pt x="3106" y="955376"/>
                    <a:pt x="0" y="952270"/>
                    <a:pt x="0" y="948438"/>
                  </a:cubicBezTo>
                  <a:lnTo>
                    <a:pt x="0" y="6937"/>
                  </a:lnTo>
                  <a:cubicBezTo>
                    <a:pt x="0" y="3106"/>
                    <a:pt x="3106" y="0"/>
                    <a:pt x="6937" y="0"/>
                  </a:cubicBezTo>
                  <a:close/>
                </a:path>
              </a:pathLst>
            </a:custGeom>
            <a:solidFill>
              <a:schemeClr val="bg1">
                <a:lumMod val="75000"/>
              </a:schemeClr>
            </a:solidFill>
            <a:ln>
              <a:noFill/>
            </a:ln>
          </p:spPr>
          <p:txBody>
            <a:bodyPr/>
            <a:lstStyle/>
            <a:p>
              <a:pPr algn="r" rtl="1"/>
              <a:endParaRPr lang="ar-SA" dirty="0">
                <a:cs typeface="PT Bold Heading" panose="02010400000000000000" pitchFamily="2" charset="-78"/>
              </a:endParaRPr>
            </a:p>
          </p:txBody>
        </p:sp>
        <p:sp>
          <p:nvSpPr>
            <p:cNvPr id="27" name="Freeform 7">
              <a:extLst>
                <a:ext uri="{FF2B5EF4-FFF2-40B4-BE49-F238E27FC236}">
                  <a16:creationId xmlns:a16="http://schemas.microsoft.com/office/drawing/2014/main" id="{52BCD90A-9DB1-4047-E0AE-A90F50AEED2E}"/>
                </a:ext>
              </a:extLst>
            </p:cNvPr>
            <p:cNvSpPr/>
            <p:nvPr/>
          </p:nvSpPr>
          <p:spPr>
            <a:xfrm>
              <a:off x="3640974" y="3658523"/>
              <a:ext cx="11827626" cy="4427360"/>
            </a:xfrm>
            <a:custGeom>
              <a:avLst/>
              <a:gdLst/>
              <a:ahLst/>
              <a:cxnLst/>
              <a:rect l="l" t="t" r="r" b="b"/>
              <a:pathLst>
                <a:path w="3417538" h="1056014">
                  <a:moveTo>
                    <a:pt x="5370" y="0"/>
                  </a:moveTo>
                  <a:lnTo>
                    <a:pt x="3412168" y="0"/>
                  </a:lnTo>
                  <a:cubicBezTo>
                    <a:pt x="3413593" y="0"/>
                    <a:pt x="3414959" y="566"/>
                    <a:pt x="3415966" y="1573"/>
                  </a:cubicBezTo>
                  <a:cubicBezTo>
                    <a:pt x="3416972" y="2580"/>
                    <a:pt x="3417538" y="3946"/>
                    <a:pt x="3417538" y="5370"/>
                  </a:cubicBezTo>
                  <a:lnTo>
                    <a:pt x="3417538" y="1050644"/>
                  </a:lnTo>
                  <a:cubicBezTo>
                    <a:pt x="3417538" y="1052068"/>
                    <a:pt x="3416972" y="1053434"/>
                    <a:pt x="3415966" y="1054441"/>
                  </a:cubicBezTo>
                  <a:cubicBezTo>
                    <a:pt x="3414959" y="1055448"/>
                    <a:pt x="3413593" y="1056014"/>
                    <a:pt x="3412168" y="1056014"/>
                  </a:cubicBezTo>
                  <a:lnTo>
                    <a:pt x="5370" y="1056014"/>
                  </a:lnTo>
                  <a:cubicBezTo>
                    <a:pt x="3946" y="1056014"/>
                    <a:pt x="2580" y="1055448"/>
                    <a:pt x="1573" y="1054441"/>
                  </a:cubicBezTo>
                  <a:cubicBezTo>
                    <a:pt x="566" y="1053434"/>
                    <a:pt x="0" y="1052068"/>
                    <a:pt x="0" y="1050644"/>
                  </a:cubicBezTo>
                  <a:lnTo>
                    <a:pt x="0" y="5370"/>
                  </a:lnTo>
                  <a:cubicBezTo>
                    <a:pt x="0" y="3946"/>
                    <a:pt x="566" y="2580"/>
                    <a:pt x="1573" y="1573"/>
                  </a:cubicBezTo>
                  <a:cubicBezTo>
                    <a:pt x="2580" y="566"/>
                    <a:pt x="3946" y="0"/>
                    <a:pt x="5370" y="0"/>
                  </a:cubicBezTo>
                  <a:close/>
                </a:path>
              </a:pathLst>
            </a:custGeom>
            <a:solidFill>
              <a:srgbClr val="FFFFFF"/>
            </a:solidFill>
            <a:ln w="38100">
              <a:solidFill>
                <a:srgbClr val="A1CCD1"/>
              </a:solidFill>
            </a:ln>
          </p:spPr>
          <p:txBody>
            <a:bodyPr/>
            <a:lstStyle/>
            <a:p>
              <a:pPr algn="r" rtl="1"/>
              <a:endParaRPr lang="ar-SA" dirty="0">
                <a:cs typeface="PT Bold Heading" panose="02010400000000000000" pitchFamily="2" charset="-78"/>
              </a:endParaRPr>
            </a:p>
          </p:txBody>
        </p:sp>
        <p:sp>
          <p:nvSpPr>
            <p:cNvPr id="8" name="Freeform 69">
              <a:extLst>
                <a:ext uri="{FF2B5EF4-FFF2-40B4-BE49-F238E27FC236}">
                  <a16:creationId xmlns:a16="http://schemas.microsoft.com/office/drawing/2014/main" id="{CA97F608-3FA4-FC2A-FC80-DD8E0612DDC7}"/>
                </a:ext>
              </a:extLst>
            </p:cNvPr>
            <p:cNvSpPr/>
            <p:nvPr/>
          </p:nvSpPr>
          <p:spPr>
            <a:xfrm>
              <a:off x="1678632" y="3801317"/>
              <a:ext cx="4419600" cy="4208365"/>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9" name="Freeform 3">
              <a:extLst>
                <a:ext uri="{FF2B5EF4-FFF2-40B4-BE49-F238E27FC236}">
                  <a16:creationId xmlns:a16="http://schemas.microsoft.com/office/drawing/2014/main" id="{F5F603BD-84DE-4FB7-4609-58E238E40811}"/>
                </a:ext>
              </a:extLst>
            </p:cNvPr>
            <p:cNvSpPr/>
            <p:nvPr/>
          </p:nvSpPr>
          <p:spPr>
            <a:xfrm>
              <a:off x="2647887" y="4545133"/>
              <a:ext cx="2962640" cy="2720731"/>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grpSp>
      <p:grpSp>
        <p:nvGrpSpPr>
          <p:cNvPr id="3" name="مجموعة 2">
            <a:extLst>
              <a:ext uri="{FF2B5EF4-FFF2-40B4-BE49-F238E27FC236}">
                <a16:creationId xmlns:a16="http://schemas.microsoft.com/office/drawing/2014/main" id="{6739989F-71C0-B6B4-5493-BC99208D98BC}"/>
              </a:ext>
            </a:extLst>
          </p:cNvPr>
          <p:cNvGrpSpPr/>
          <p:nvPr/>
        </p:nvGrpSpPr>
        <p:grpSpPr>
          <a:xfrm>
            <a:off x="11456387" y="2171700"/>
            <a:ext cx="6907813" cy="1104756"/>
            <a:chOff x="11506200" y="1028328"/>
            <a:chExt cx="6907813" cy="1104756"/>
          </a:xfrm>
        </p:grpSpPr>
        <p:sp>
          <p:nvSpPr>
            <p:cNvPr id="28" name="Freeform 10">
              <a:extLst>
                <a:ext uri="{FF2B5EF4-FFF2-40B4-BE49-F238E27FC236}">
                  <a16:creationId xmlns:a16="http://schemas.microsoft.com/office/drawing/2014/main" id="{40DCB9C3-77AA-A2C4-4AA4-E4D2A7A208BA}"/>
                </a:ext>
              </a:extLst>
            </p:cNvPr>
            <p:cNvSpPr/>
            <p:nvPr/>
          </p:nvSpPr>
          <p:spPr>
            <a:xfrm>
              <a:off x="12115799" y="1028328"/>
              <a:ext cx="6260113" cy="1104756"/>
            </a:xfrm>
            <a:custGeom>
              <a:avLst/>
              <a:gdLst/>
              <a:ahLst/>
              <a:cxnLst/>
              <a:rect l="l" t="t" r="r" b="b"/>
              <a:pathLst>
                <a:path w="2087258" h="255445">
                  <a:moveTo>
                    <a:pt x="9434" y="0"/>
                  </a:moveTo>
                  <a:lnTo>
                    <a:pt x="2077824" y="0"/>
                  </a:lnTo>
                  <a:cubicBezTo>
                    <a:pt x="2083034" y="0"/>
                    <a:pt x="2087258" y="4224"/>
                    <a:pt x="2087258" y="9434"/>
                  </a:cubicBezTo>
                  <a:lnTo>
                    <a:pt x="2087258" y="246011"/>
                  </a:lnTo>
                  <a:cubicBezTo>
                    <a:pt x="2087258" y="251221"/>
                    <a:pt x="2083034" y="255445"/>
                    <a:pt x="2077824" y="255445"/>
                  </a:cubicBezTo>
                  <a:lnTo>
                    <a:pt x="9434" y="255445"/>
                  </a:lnTo>
                  <a:cubicBezTo>
                    <a:pt x="6932" y="255445"/>
                    <a:pt x="4532" y="254451"/>
                    <a:pt x="2763" y="252682"/>
                  </a:cubicBezTo>
                  <a:cubicBezTo>
                    <a:pt x="994" y="250912"/>
                    <a:pt x="0" y="248513"/>
                    <a:pt x="0" y="246011"/>
                  </a:cubicBezTo>
                  <a:lnTo>
                    <a:pt x="0" y="9434"/>
                  </a:lnTo>
                  <a:cubicBezTo>
                    <a:pt x="0" y="6932"/>
                    <a:pt x="994" y="4532"/>
                    <a:pt x="2763" y="2763"/>
                  </a:cubicBezTo>
                  <a:cubicBezTo>
                    <a:pt x="4532" y="994"/>
                    <a:pt x="6932" y="0"/>
                    <a:pt x="9434" y="0"/>
                  </a:cubicBez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30" name="TextBox 15">
              <a:extLst>
                <a:ext uri="{FF2B5EF4-FFF2-40B4-BE49-F238E27FC236}">
                  <a16:creationId xmlns:a16="http://schemas.microsoft.com/office/drawing/2014/main" id="{58B18BED-D70A-993E-E66D-5F595804A8CD}"/>
                </a:ext>
              </a:extLst>
            </p:cNvPr>
            <p:cNvSpPr txBox="1"/>
            <p:nvPr/>
          </p:nvSpPr>
          <p:spPr>
            <a:xfrm>
              <a:off x="12153900" y="1263119"/>
              <a:ext cx="6260113" cy="635174"/>
            </a:xfrm>
            <a:prstGeom prst="rect">
              <a:avLst/>
            </a:prstGeom>
          </p:spPr>
          <p:txBody>
            <a:bodyPr wrap="square" lIns="0" tIns="0" rIns="0" bIns="0" rtlCol="0" anchor="t">
              <a:spAutoFit/>
            </a:bodyPr>
            <a:lstStyle/>
            <a:p>
              <a:pPr algn="ctr" rtl="1">
                <a:lnSpc>
                  <a:spcPts val="4665"/>
                </a:lnSpc>
              </a:pPr>
              <a:r>
                <a:rPr lang="ar-SA" sz="4761" dirty="0">
                  <a:solidFill>
                    <a:srgbClr val="FFFFFF"/>
                  </a:solidFill>
                  <a:cs typeface="PT Bold Heading" panose="02010400000000000000" pitchFamily="2" charset="-78"/>
                </a:rPr>
                <a:t>مراجعة الدرس السابق</a:t>
              </a:r>
              <a:endParaRPr lang="en-US" sz="4761" dirty="0">
                <a:solidFill>
                  <a:srgbClr val="FFFFFF"/>
                </a:solidFill>
                <a:cs typeface="PT Bold Heading" panose="02010400000000000000" pitchFamily="2" charset="-78"/>
              </a:endParaRPr>
            </a:p>
          </p:txBody>
        </p:sp>
        <p:sp>
          <p:nvSpPr>
            <p:cNvPr id="2" name="مستطيل 1">
              <a:extLst>
                <a:ext uri="{FF2B5EF4-FFF2-40B4-BE49-F238E27FC236}">
                  <a16:creationId xmlns:a16="http://schemas.microsoft.com/office/drawing/2014/main" id="{BC30550D-8321-34D6-1975-77B75002EE82}"/>
                </a:ext>
              </a:extLst>
            </p:cNvPr>
            <p:cNvSpPr/>
            <p:nvPr/>
          </p:nvSpPr>
          <p:spPr>
            <a:xfrm>
              <a:off x="11506200" y="1028328"/>
              <a:ext cx="685800" cy="1104756"/>
            </a:xfrm>
            <a:prstGeom prst="rect">
              <a:avLst/>
            </a:prstGeom>
            <a:solidFill>
              <a:srgbClr val="FFE19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grpSp>
      <p:sp>
        <p:nvSpPr>
          <p:cNvPr id="5" name="Freeform 13">
            <a:extLst>
              <a:ext uri="{FF2B5EF4-FFF2-40B4-BE49-F238E27FC236}">
                <a16:creationId xmlns:a16="http://schemas.microsoft.com/office/drawing/2014/main" id="{FC1DDC72-6FD5-0C07-CD46-39958365D545}"/>
              </a:ext>
            </a:extLst>
          </p:cNvPr>
          <p:cNvSpPr/>
          <p:nvPr/>
        </p:nvSpPr>
        <p:spPr>
          <a:xfrm rot="5400000" flipH="1" flipV="1">
            <a:off x="6653825" y="4552245"/>
            <a:ext cx="4128605" cy="3263055"/>
          </a:xfrm>
          <a:custGeom>
            <a:avLst/>
            <a:gdLst/>
            <a:ahLst/>
            <a:cxnLst/>
            <a:rect l="l" t="t" r="r" b="b"/>
            <a:pathLst>
              <a:path w="4158022" h="3471948">
                <a:moveTo>
                  <a:pt x="4158021" y="3471949"/>
                </a:moveTo>
                <a:lnTo>
                  <a:pt x="0" y="3471949"/>
                </a:lnTo>
                <a:lnTo>
                  <a:pt x="0" y="0"/>
                </a:lnTo>
                <a:lnTo>
                  <a:pt x="4158021" y="0"/>
                </a:lnTo>
                <a:lnTo>
                  <a:pt x="4158021" y="347194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6" name="Freeform 14">
            <a:extLst>
              <a:ext uri="{FF2B5EF4-FFF2-40B4-BE49-F238E27FC236}">
                <a16:creationId xmlns:a16="http://schemas.microsoft.com/office/drawing/2014/main" id="{6216DA29-F183-E2A7-B033-7E36E75D9B4C}"/>
              </a:ext>
            </a:extLst>
          </p:cNvPr>
          <p:cNvSpPr/>
          <p:nvPr/>
        </p:nvSpPr>
        <p:spPr>
          <a:xfrm rot="5400000" flipH="1" flipV="1">
            <a:off x="9820740" y="4552245"/>
            <a:ext cx="4128605" cy="3263055"/>
          </a:xfrm>
          <a:custGeom>
            <a:avLst/>
            <a:gdLst/>
            <a:ahLst/>
            <a:cxnLst/>
            <a:rect l="l" t="t" r="r" b="b"/>
            <a:pathLst>
              <a:path w="4158022" h="3471948">
                <a:moveTo>
                  <a:pt x="4158022" y="3471949"/>
                </a:moveTo>
                <a:lnTo>
                  <a:pt x="0" y="3471949"/>
                </a:lnTo>
                <a:lnTo>
                  <a:pt x="0" y="0"/>
                </a:lnTo>
                <a:lnTo>
                  <a:pt x="4158022" y="0"/>
                </a:lnTo>
                <a:lnTo>
                  <a:pt x="4158022" y="347194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mc:AlternateContent xmlns:mc="http://schemas.openxmlformats.org/markup-compatibility/2006" xmlns:pslz="http://schemas.microsoft.com/office/powerpoint/2016/slidezoom">
        <mc:Choice Requires="pslz">
          <p:graphicFrame>
            <p:nvGraphicFramePr>
              <p:cNvPr id="11" name="صورة الشريحة 10">
                <a:extLst>
                  <a:ext uri="{FF2B5EF4-FFF2-40B4-BE49-F238E27FC236}">
                    <a16:creationId xmlns:a16="http://schemas.microsoft.com/office/drawing/2014/main" id="{C01E5F62-6C9F-F61D-6EE5-2445DD3DB620}"/>
                  </a:ext>
                </a:extLst>
              </p:cNvPr>
              <p:cNvGraphicFramePr>
                <a:graphicFrameLocks noChangeAspect="1"/>
              </p:cNvGraphicFramePr>
              <p:nvPr>
                <p:extLst>
                  <p:ext uri="{D42A27DB-BD31-4B8C-83A1-F6EECF244321}">
                    <p14:modId xmlns:p14="http://schemas.microsoft.com/office/powerpoint/2010/main" val="76316036"/>
                  </p:ext>
                </p:extLst>
              </p:nvPr>
            </p:nvGraphicFramePr>
            <p:xfrm>
              <a:off x="11009088" y="5807529"/>
              <a:ext cx="1792512" cy="1008288"/>
            </p:xfrm>
            <a:graphic>
              <a:graphicData uri="http://schemas.microsoft.com/office/powerpoint/2016/slidezoom">
                <pslz:sldZm>
                  <pslz:sldZmObj sldId="354" cId="260322409">
                    <pslz:zmPr id="{3BB09CEF-3B78-43E7-B531-18DFD5DDCA09}" returnToParent="0" transitionDur="1000">
                      <p166:blipFill xmlns:p166="http://schemas.microsoft.com/office/powerpoint/2016/6/main">
                        <a:blip r:embed="rId4"/>
                        <a:stretch>
                          <a:fillRect/>
                        </a:stretch>
                      </p166:blipFill>
                      <p166:spPr xmlns:p166="http://schemas.microsoft.com/office/powerpoint/2016/6/main">
                        <a:xfrm>
                          <a:off x="0" y="0"/>
                          <a:ext cx="1792512" cy="1008288"/>
                        </a:xfrm>
                        <a:prstGeom prst="rect">
                          <a:avLst/>
                        </a:prstGeom>
                        <a:ln w="3175">
                          <a:solidFill>
                            <a:prstClr val="ltGray"/>
                          </a:solidFill>
                        </a:ln>
                      </p166:spPr>
                    </pslz:zmPr>
                  </pslz:sldZmObj>
                </pslz:sldZm>
              </a:graphicData>
            </a:graphic>
          </p:graphicFrame>
        </mc:Choice>
        <mc:Fallback xmlns="">
          <p:pic>
            <p:nvPicPr>
              <p:cNvPr id="11" name="صورة الشريحة 10">
                <a:hlinkClick r:id="rId7" action="ppaction://hlinksldjump"/>
                <a:extLst>
                  <a:ext uri="{FF2B5EF4-FFF2-40B4-BE49-F238E27FC236}">
                    <a16:creationId xmlns:a16="http://schemas.microsoft.com/office/drawing/2014/main" id="{C01E5F62-6C9F-F61D-6EE5-2445DD3DB620}"/>
                  </a:ext>
                </a:extLst>
              </p:cNvPr>
              <p:cNvPicPr>
                <a:picLocks noGrp="1" noRot="1" noChangeAspect="1" noMove="1" noResize="1" noEditPoints="1" noAdjustHandles="1" noChangeArrowheads="1" noChangeShapeType="1"/>
              </p:cNvPicPr>
              <p:nvPr/>
            </p:nvPicPr>
            <p:blipFill>
              <a:blip r:embed="rId8"/>
              <a:stretch>
                <a:fillRect/>
              </a:stretch>
            </p:blipFill>
            <p:spPr>
              <a:xfrm>
                <a:off x="11009088" y="5807529"/>
                <a:ext cx="1792512" cy="100828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صورة الشريحة 13">
                <a:extLst>
                  <a:ext uri="{FF2B5EF4-FFF2-40B4-BE49-F238E27FC236}">
                    <a16:creationId xmlns:a16="http://schemas.microsoft.com/office/drawing/2014/main" id="{0E664CAF-DDCE-6D25-C483-82B9AEF44E42}"/>
                  </a:ext>
                </a:extLst>
              </p:cNvPr>
              <p:cNvGraphicFramePr>
                <a:graphicFrameLocks noChangeAspect="1"/>
              </p:cNvGraphicFramePr>
              <p:nvPr>
                <p:extLst>
                  <p:ext uri="{D42A27DB-BD31-4B8C-83A1-F6EECF244321}">
                    <p14:modId xmlns:p14="http://schemas.microsoft.com/office/powerpoint/2010/main" val="1405217015"/>
                  </p:ext>
                </p:extLst>
              </p:nvPr>
            </p:nvGraphicFramePr>
            <p:xfrm>
              <a:off x="7696200" y="5807529"/>
              <a:ext cx="1995712" cy="1122588"/>
            </p:xfrm>
            <a:graphic>
              <a:graphicData uri="http://schemas.microsoft.com/office/powerpoint/2016/slidezoom">
                <pslz:sldZm>
                  <pslz:sldZmObj sldId="424" cId="88212424">
                    <pslz:zmPr id="{3EA17E0C-7CDB-47C2-A005-DEBBB5FDEBA7}" returnToParent="0" transitionDur="1000">
                      <p166:blipFill xmlns:p166="http://schemas.microsoft.com/office/powerpoint/2016/6/main">
                        <a:blip r:embed="rId9"/>
                        <a:stretch>
                          <a:fillRect/>
                        </a:stretch>
                      </p166:blipFill>
                      <p166:spPr xmlns:p166="http://schemas.microsoft.com/office/powerpoint/2016/6/main">
                        <a:xfrm>
                          <a:off x="0" y="0"/>
                          <a:ext cx="1995712" cy="1122588"/>
                        </a:xfrm>
                        <a:prstGeom prst="rect">
                          <a:avLst/>
                        </a:prstGeom>
                        <a:ln w="3175">
                          <a:solidFill>
                            <a:prstClr val="ltGray"/>
                          </a:solidFill>
                        </a:ln>
                      </p166:spPr>
                    </pslz:zmPr>
                  </pslz:sldZmObj>
                </pslz:sldZm>
              </a:graphicData>
            </a:graphic>
          </p:graphicFrame>
        </mc:Choice>
        <mc:Fallback xmlns="">
          <p:pic>
            <p:nvPicPr>
              <p:cNvPr id="14" name="صورة الشريحة 13">
                <a:hlinkClick r:id="rId10" action="ppaction://hlinksldjump"/>
                <a:extLst>
                  <a:ext uri="{FF2B5EF4-FFF2-40B4-BE49-F238E27FC236}">
                    <a16:creationId xmlns:a16="http://schemas.microsoft.com/office/drawing/2014/main" id="{0E664CAF-DDCE-6D25-C483-82B9AEF44E42}"/>
                  </a:ext>
                </a:extLst>
              </p:cNvPr>
              <p:cNvPicPr>
                <a:picLocks noGrp="1" noRot="1" noChangeAspect="1" noMove="1" noResize="1" noEditPoints="1" noAdjustHandles="1" noChangeArrowheads="1" noChangeShapeType="1"/>
              </p:cNvPicPr>
              <p:nvPr/>
            </p:nvPicPr>
            <p:blipFill>
              <a:blip r:embed="rId11"/>
              <a:stretch>
                <a:fillRect/>
              </a:stretch>
            </p:blipFill>
            <p:spPr>
              <a:xfrm>
                <a:off x="7696200" y="5807529"/>
                <a:ext cx="1995712" cy="1122588"/>
              </a:xfrm>
              <a:prstGeom prst="rect">
                <a:avLst/>
              </a:prstGeom>
              <a:ln w="3175">
                <a:solidFill>
                  <a:prstClr val="ltGray"/>
                </a:solidFill>
              </a:ln>
            </p:spPr>
          </p:pic>
        </mc:Fallback>
      </mc:AlternateContent>
    </p:spTree>
    <p:extLst>
      <p:ext uri="{BB962C8B-B14F-4D97-AF65-F5344CB8AC3E}">
        <p14:creationId xmlns:p14="http://schemas.microsoft.com/office/powerpoint/2010/main" val="226495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مجموعة 41">
            <a:extLst>
              <a:ext uri="{FF2B5EF4-FFF2-40B4-BE49-F238E27FC236}">
                <a16:creationId xmlns:a16="http://schemas.microsoft.com/office/drawing/2014/main" id="{0904CDD0-D004-4E7E-C07E-B6E820C0751D}"/>
              </a:ext>
            </a:extLst>
          </p:cNvPr>
          <p:cNvGrpSpPr/>
          <p:nvPr/>
        </p:nvGrpSpPr>
        <p:grpSpPr>
          <a:xfrm>
            <a:off x="1503709" y="3507519"/>
            <a:ext cx="15131060" cy="685800"/>
            <a:chOff x="2184857" y="3314700"/>
            <a:chExt cx="15131060" cy="685800"/>
          </a:xfrm>
        </p:grpSpPr>
        <p:sp>
          <p:nvSpPr>
            <p:cNvPr id="17" name="TextBox 17"/>
            <p:cNvSpPr txBox="1"/>
            <p:nvPr/>
          </p:nvSpPr>
          <p:spPr>
            <a:xfrm>
              <a:off x="2184857" y="3377273"/>
              <a:ext cx="14578874" cy="600164"/>
            </a:xfrm>
            <a:prstGeom prst="rect">
              <a:avLst/>
            </a:prstGeom>
          </p:spPr>
          <p:txBody>
            <a:bodyPr lIns="0" tIns="0" rIns="0" bIns="0" rtlCol="0" anchor="t">
              <a:spAutoFit/>
            </a:bodyPr>
            <a:lstStyle/>
            <a:p>
              <a:pPr algn="r" rtl="1">
                <a:lnSpc>
                  <a:spcPts val="4829"/>
                </a:lnSpc>
              </a:pPr>
              <a:r>
                <a:rPr lang="en-US" sz="3600" dirty="0" err="1">
                  <a:solidFill>
                    <a:srgbClr val="000000"/>
                  </a:solidFill>
                  <a:cs typeface="PT Bold Heading" panose="02010400000000000000" pitchFamily="2" charset="-78"/>
                </a:rPr>
                <a:t>اجيبي</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بعلامة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أمام</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الإجابة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الصحيحة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وعلامة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أمام</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الإجابة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الخاطئة</a:t>
              </a:r>
              <a:r>
                <a:rPr lang="en-US" sz="3600" dirty="0">
                  <a:solidFill>
                    <a:srgbClr val="000000"/>
                  </a:solidFill>
                  <a:cs typeface="PT Bold Heading" panose="02010400000000000000" pitchFamily="2" charset="-78"/>
                </a:rPr>
                <a:t> ؟</a:t>
              </a:r>
            </a:p>
          </p:txBody>
        </p:sp>
        <p:sp>
          <p:nvSpPr>
            <p:cNvPr id="18" name="Freeform 18"/>
            <p:cNvSpPr/>
            <p:nvPr/>
          </p:nvSpPr>
          <p:spPr>
            <a:xfrm>
              <a:off x="13874457" y="3314700"/>
              <a:ext cx="503776" cy="600165"/>
            </a:xfrm>
            <a:custGeom>
              <a:avLst/>
              <a:gdLst/>
              <a:ahLst/>
              <a:cxnLst/>
              <a:rect l="l" t="t" r="r" b="b"/>
              <a:pathLst>
                <a:path w="736107" h="552080">
                  <a:moveTo>
                    <a:pt x="0" y="0"/>
                  </a:moveTo>
                  <a:lnTo>
                    <a:pt x="736107" y="0"/>
                  </a:lnTo>
                  <a:lnTo>
                    <a:pt x="736107" y="552080"/>
                  </a:lnTo>
                  <a:lnTo>
                    <a:pt x="0" y="5520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2800" dirty="0">
                <a:solidFill>
                  <a:srgbClr val="2A8D87"/>
                </a:solidFill>
                <a:cs typeface="PT Bold Heading" panose="02010400000000000000" pitchFamily="2" charset="-78"/>
              </a:endParaRPr>
            </a:p>
          </p:txBody>
        </p:sp>
        <p:sp>
          <p:nvSpPr>
            <p:cNvPr id="19" name="Freeform 19"/>
            <p:cNvSpPr/>
            <p:nvPr/>
          </p:nvSpPr>
          <p:spPr>
            <a:xfrm>
              <a:off x="8487824" y="3400336"/>
              <a:ext cx="351376" cy="600164"/>
            </a:xfrm>
            <a:custGeom>
              <a:avLst/>
              <a:gdLst/>
              <a:ahLst/>
              <a:cxnLst/>
              <a:rect l="l" t="t" r="r" b="b"/>
              <a:pathLst>
                <a:path w="538031" h="539380">
                  <a:moveTo>
                    <a:pt x="0" y="0"/>
                  </a:moveTo>
                  <a:lnTo>
                    <a:pt x="538032" y="0"/>
                  </a:lnTo>
                  <a:lnTo>
                    <a:pt x="538032" y="539380"/>
                  </a:lnTo>
                  <a:lnTo>
                    <a:pt x="0" y="5393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sz="2800">
                <a:solidFill>
                  <a:srgbClr val="FF0000"/>
                </a:solidFill>
                <a:cs typeface="PT Bold Heading" panose="02010400000000000000" pitchFamily="2" charset="-78"/>
              </a:endParaRPr>
            </a:p>
          </p:txBody>
        </p:sp>
        <p:sp>
          <p:nvSpPr>
            <p:cNvPr id="20" name="Freeform 20"/>
            <p:cNvSpPr/>
            <p:nvPr/>
          </p:nvSpPr>
          <p:spPr>
            <a:xfrm>
              <a:off x="16903542" y="3369558"/>
              <a:ext cx="412375" cy="630942"/>
            </a:xfrm>
            <a:custGeom>
              <a:avLst/>
              <a:gdLst/>
              <a:ahLst/>
              <a:cxnLst/>
              <a:rect l="l" t="t" r="r" b="b"/>
              <a:pathLst>
                <a:path w="570306" h="720766">
                  <a:moveTo>
                    <a:pt x="0" y="0"/>
                  </a:moveTo>
                  <a:lnTo>
                    <a:pt x="570305" y="0"/>
                  </a:lnTo>
                  <a:lnTo>
                    <a:pt x="570305" y="720766"/>
                  </a:lnTo>
                  <a:lnTo>
                    <a:pt x="0" y="7207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algn="r" rtl="1"/>
              <a:endParaRPr lang="ar-SA" sz="2800">
                <a:cs typeface="PT Bold Heading" panose="02010400000000000000" pitchFamily="2" charset="-78"/>
              </a:endParaRPr>
            </a:p>
          </p:txBody>
        </p:sp>
      </p:grpSp>
      <p:grpSp>
        <p:nvGrpSpPr>
          <p:cNvPr id="51" name="مجموعة 50">
            <a:extLst>
              <a:ext uri="{FF2B5EF4-FFF2-40B4-BE49-F238E27FC236}">
                <a16:creationId xmlns:a16="http://schemas.microsoft.com/office/drawing/2014/main" id="{DE6BFCD1-7641-3BA3-25FE-0C05379BB75F}"/>
              </a:ext>
            </a:extLst>
          </p:cNvPr>
          <p:cNvGrpSpPr/>
          <p:nvPr/>
        </p:nvGrpSpPr>
        <p:grpSpPr>
          <a:xfrm>
            <a:off x="1654961" y="4386138"/>
            <a:ext cx="15711397" cy="1121007"/>
            <a:chOff x="2362201" y="4504393"/>
            <a:chExt cx="15711397" cy="1121007"/>
          </a:xfrm>
        </p:grpSpPr>
        <p:sp>
          <p:nvSpPr>
            <p:cNvPr id="3" name="Freeform 3"/>
            <p:cNvSpPr/>
            <p:nvPr/>
          </p:nvSpPr>
          <p:spPr>
            <a:xfrm>
              <a:off x="2362201" y="4510959"/>
              <a:ext cx="15085827" cy="1114441"/>
            </a:xfrm>
            <a:custGeom>
              <a:avLst/>
              <a:gdLst/>
              <a:ahLst/>
              <a:cxnLst/>
              <a:rect l="l" t="t" r="r" b="b"/>
              <a:pathLst>
                <a:path w="2811621" h="259413">
                  <a:moveTo>
                    <a:pt x="7169" y="0"/>
                  </a:moveTo>
                  <a:lnTo>
                    <a:pt x="2804452" y="0"/>
                  </a:lnTo>
                  <a:cubicBezTo>
                    <a:pt x="2806353" y="0"/>
                    <a:pt x="2808177" y="755"/>
                    <a:pt x="2809521" y="2100"/>
                  </a:cubicBezTo>
                  <a:cubicBezTo>
                    <a:pt x="2810866" y="3444"/>
                    <a:pt x="2811621" y="5268"/>
                    <a:pt x="2811621" y="7169"/>
                  </a:cubicBezTo>
                  <a:lnTo>
                    <a:pt x="2811621" y="252244"/>
                  </a:lnTo>
                  <a:cubicBezTo>
                    <a:pt x="2811621" y="254146"/>
                    <a:pt x="2810866" y="255969"/>
                    <a:pt x="2809521" y="257313"/>
                  </a:cubicBezTo>
                  <a:cubicBezTo>
                    <a:pt x="2808177" y="258658"/>
                    <a:pt x="2806353" y="259413"/>
                    <a:pt x="2804452" y="259413"/>
                  </a:cubicBezTo>
                  <a:lnTo>
                    <a:pt x="7169" y="259413"/>
                  </a:lnTo>
                  <a:cubicBezTo>
                    <a:pt x="5268" y="259413"/>
                    <a:pt x="3444" y="258658"/>
                    <a:pt x="2100" y="257313"/>
                  </a:cubicBezTo>
                  <a:cubicBezTo>
                    <a:pt x="755" y="255969"/>
                    <a:pt x="0" y="254146"/>
                    <a:pt x="0" y="252244"/>
                  </a:cubicBezTo>
                  <a:lnTo>
                    <a:pt x="0" y="7169"/>
                  </a:lnTo>
                  <a:cubicBezTo>
                    <a:pt x="0" y="5268"/>
                    <a:pt x="755" y="3444"/>
                    <a:pt x="2100" y="2100"/>
                  </a:cubicBezTo>
                  <a:cubicBezTo>
                    <a:pt x="3444" y="755"/>
                    <a:pt x="5268" y="0"/>
                    <a:pt x="7169" y="0"/>
                  </a:cubicBezTo>
                  <a:close/>
                </a:path>
              </a:pathLst>
            </a:custGeom>
            <a:solidFill>
              <a:srgbClr val="FFF0C8">
                <a:alpha val="50980"/>
              </a:srgbClr>
            </a:solidFill>
            <a:ln>
              <a:noFill/>
            </a:ln>
          </p:spPr>
          <p:txBody>
            <a:bodyPr/>
            <a:lstStyle/>
            <a:p>
              <a:pPr algn="ctr" rtl="1"/>
              <a:endParaRPr lang="ar-SA" sz="1050" dirty="0">
                <a:cs typeface="PT Bold Heading" panose="02010400000000000000" pitchFamily="2" charset="-78"/>
              </a:endParaRPr>
            </a:p>
          </p:txBody>
        </p:sp>
        <p:grpSp>
          <p:nvGrpSpPr>
            <p:cNvPr id="33" name="Group 33"/>
            <p:cNvGrpSpPr/>
            <p:nvPr/>
          </p:nvGrpSpPr>
          <p:grpSpPr>
            <a:xfrm>
              <a:off x="17184398" y="4504393"/>
              <a:ext cx="889200" cy="1096015"/>
              <a:chOff x="0" y="0"/>
              <a:chExt cx="1022912" cy="1010894"/>
            </a:xfrm>
          </p:grpSpPr>
          <p:sp>
            <p:nvSpPr>
              <p:cNvPr id="35" name="Freeform 35"/>
              <p:cNvSpPr/>
              <p:nvPr/>
            </p:nvSpPr>
            <p:spPr>
              <a:xfrm>
                <a:off x="0" y="0"/>
                <a:ext cx="1022912" cy="1010894"/>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37" name="TextBox 37"/>
              <p:cNvSpPr txBox="1"/>
              <p:nvPr/>
            </p:nvSpPr>
            <p:spPr>
              <a:xfrm>
                <a:off x="71198" y="281790"/>
                <a:ext cx="859298" cy="617425"/>
              </a:xfrm>
              <a:prstGeom prst="rect">
                <a:avLst/>
              </a:prstGeom>
            </p:spPr>
            <p:txBody>
              <a:bodyPr lIns="0" tIns="0" rIns="0" bIns="0" rtlCol="0" anchor="t">
                <a:spAutoFit/>
              </a:bodyPr>
              <a:lstStyle/>
              <a:p>
                <a:pPr algn="ctr" rtl="1">
                  <a:lnSpc>
                    <a:spcPts val="4771"/>
                  </a:lnSpc>
                </a:pPr>
                <a:r>
                  <a:rPr lang="en-US" sz="5400" b="1" dirty="0">
                    <a:solidFill>
                      <a:srgbClr val="000000"/>
                    </a:solidFill>
                    <a:latin typeface="PT Bold Heading"/>
                    <a:cs typeface="PT Bold Heading" panose="02010400000000000000" pitchFamily="2" charset="-78"/>
                  </a:rPr>
                  <a:t>1</a:t>
                </a:r>
              </a:p>
            </p:txBody>
          </p:sp>
        </p:grpSp>
      </p:grpSp>
      <p:grpSp>
        <p:nvGrpSpPr>
          <p:cNvPr id="6" name="مجموعة 5">
            <a:extLst>
              <a:ext uri="{FF2B5EF4-FFF2-40B4-BE49-F238E27FC236}">
                <a16:creationId xmlns:a16="http://schemas.microsoft.com/office/drawing/2014/main" id="{542F94B9-9BF0-3F6B-BCB0-C4465921810D}"/>
              </a:ext>
            </a:extLst>
          </p:cNvPr>
          <p:cNvGrpSpPr/>
          <p:nvPr/>
        </p:nvGrpSpPr>
        <p:grpSpPr>
          <a:xfrm>
            <a:off x="1066800" y="4437345"/>
            <a:ext cx="993600" cy="993600"/>
            <a:chOff x="5162453" y="5175617"/>
            <a:chExt cx="813078" cy="816723"/>
          </a:xfrm>
        </p:grpSpPr>
        <p:sp>
          <p:nvSpPr>
            <p:cNvPr id="9" name="Freeform 6">
              <a:extLst>
                <a:ext uri="{FF2B5EF4-FFF2-40B4-BE49-F238E27FC236}">
                  <a16:creationId xmlns:a16="http://schemas.microsoft.com/office/drawing/2014/main" id="{F3A7C4AB-8F3B-9B06-8A46-0CC08CDB472D}"/>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12" name="Freeform 15">
              <a:extLst>
                <a:ext uri="{FF2B5EF4-FFF2-40B4-BE49-F238E27FC236}">
                  <a16:creationId xmlns:a16="http://schemas.microsoft.com/office/drawing/2014/main" id="{CC98E9F9-6864-46F4-4CF5-F15EC2F5CB82}"/>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algn="r" rtl="1"/>
              <a:endParaRPr lang="ar-SA">
                <a:cs typeface="PT Bold Heading" panose="02010400000000000000" pitchFamily="2" charset="-78"/>
              </a:endParaRPr>
            </a:p>
          </p:txBody>
        </p:sp>
      </p:grpSp>
      <p:grpSp>
        <p:nvGrpSpPr>
          <p:cNvPr id="44" name="مجموعة 43">
            <a:extLst>
              <a:ext uri="{FF2B5EF4-FFF2-40B4-BE49-F238E27FC236}">
                <a16:creationId xmlns:a16="http://schemas.microsoft.com/office/drawing/2014/main" id="{0796648B-A3D6-FAD1-816E-1059C9601960}"/>
              </a:ext>
            </a:extLst>
          </p:cNvPr>
          <p:cNvGrpSpPr/>
          <p:nvPr/>
        </p:nvGrpSpPr>
        <p:grpSpPr>
          <a:xfrm>
            <a:off x="1654961" y="5833451"/>
            <a:ext cx="15711397" cy="1206895"/>
            <a:chOff x="2362201" y="4504393"/>
            <a:chExt cx="15711397" cy="1206895"/>
          </a:xfrm>
        </p:grpSpPr>
        <p:sp>
          <p:nvSpPr>
            <p:cNvPr id="46" name="Freeform 3">
              <a:extLst>
                <a:ext uri="{FF2B5EF4-FFF2-40B4-BE49-F238E27FC236}">
                  <a16:creationId xmlns:a16="http://schemas.microsoft.com/office/drawing/2014/main" id="{C0520C85-1484-6A8A-1C2F-87C73741601E}"/>
                </a:ext>
              </a:extLst>
            </p:cNvPr>
            <p:cNvSpPr/>
            <p:nvPr/>
          </p:nvSpPr>
          <p:spPr>
            <a:xfrm>
              <a:off x="2362201" y="4510959"/>
              <a:ext cx="15085827" cy="1200329"/>
            </a:xfrm>
            <a:custGeom>
              <a:avLst/>
              <a:gdLst/>
              <a:ahLst/>
              <a:cxnLst/>
              <a:rect l="l" t="t" r="r" b="b"/>
              <a:pathLst>
                <a:path w="2811621" h="259413">
                  <a:moveTo>
                    <a:pt x="7169" y="0"/>
                  </a:moveTo>
                  <a:lnTo>
                    <a:pt x="2804452" y="0"/>
                  </a:lnTo>
                  <a:cubicBezTo>
                    <a:pt x="2806353" y="0"/>
                    <a:pt x="2808177" y="755"/>
                    <a:pt x="2809521" y="2100"/>
                  </a:cubicBezTo>
                  <a:cubicBezTo>
                    <a:pt x="2810866" y="3444"/>
                    <a:pt x="2811621" y="5268"/>
                    <a:pt x="2811621" y="7169"/>
                  </a:cubicBezTo>
                  <a:lnTo>
                    <a:pt x="2811621" y="252244"/>
                  </a:lnTo>
                  <a:cubicBezTo>
                    <a:pt x="2811621" y="254146"/>
                    <a:pt x="2810866" y="255969"/>
                    <a:pt x="2809521" y="257313"/>
                  </a:cubicBezTo>
                  <a:cubicBezTo>
                    <a:pt x="2808177" y="258658"/>
                    <a:pt x="2806353" y="259413"/>
                    <a:pt x="2804452" y="259413"/>
                  </a:cubicBezTo>
                  <a:lnTo>
                    <a:pt x="7169" y="259413"/>
                  </a:lnTo>
                  <a:cubicBezTo>
                    <a:pt x="5268" y="259413"/>
                    <a:pt x="3444" y="258658"/>
                    <a:pt x="2100" y="257313"/>
                  </a:cubicBezTo>
                  <a:cubicBezTo>
                    <a:pt x="755" y="255969"/>
                    <a:pt x="0" y="254146"/>
                    <a:pt x="0" y="252244"/>
                  </a:cubicBezTo>
                  <a:lnTo>
                    <a:pt x="0" y="7169"/>
                  </a:lnTo>
                  <a:cubicBezTo>
                    <a:pt x="0" y="5268"/>
                    <a:pt x="755" y="3444"/>
                    <a:pt x="2100" y="2100"/>
                  </a:cubicBezTo>
                  <a:cubicBezTo>
                    <a:pt x="3444" y="755"/>
                    <a:pt x="5268" y="0"/>
                    <a:pt x="7169" y="0"/>
                  </a:cubicBezTo>
                  <a:close/>
                </a:path>
              </a:pathLst>
            </a:custGeom>
            <a:solidFill>
              <a:srgbClr val="FFF0C8">
                <a:alpha val="50980"/>
              </a:srgbClr>
            </a:solidFill>
            <a:ln>
              <a:noFill/>
            </a:ln>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50" b="0" i="0" u="none" strike="noStrike" kern="1200" cap="none" spc="0" normalizeH="0" baseline="0" noProof="0" dirty="0">
                <a:ln>
                  <a:noFill/>
                </a:ln>
                <a:solidFill>
                  <a:prstClr val="black"/>
                </a:solidFill>
                <a:effectLst/>
                <a:uLnTx/>
                <a:uFillTx/>
                <a:latin typeface="Calibri" panose="020F0502020204030204"/>
                <a:ea typeface="+mn-ea"/>
                <a:cs typeface="PT Bold Heading" panose="02010400000000000000" pitchFamily="2" charset="-78"/>
              </a:endParaRPr>
            </a:p>
          </p:txBody>
        </p:sp>
        <p:grpSp>
          <p:nvGrpSpPr>
            <p:cNvPr id="48" name="Group 33">
              <a:extLst>
                <a:ext uri="{FF2B5EF4-FFF2-40B4-BE49-F238E27FC236}">
                  <a16:creationId xmlns:a16="http://schemas.microsoft.com/office/drawing/2014/main" id="{D927BC82-825D-336B-E934-1F6C76AD4302}"/>
                </a:ext>
              </a:extLst>
            </p:cNvPr>
            <p:cNvGrpSpPr/>
            <p:nvPr/>
          </p:nvGrpSpPr>
          <p:grpSpPr>
            <a:xfrm>
              <a:off x="17184398" y="4504393"/>
              <a:ext cx="889200" cy="1096015"/>
              <a:chOff x="0" y="0"/>
              <a:chExt cx="1022912" cy="1010894"/>
            </a:xfrm>
          </p:grpSpPr>
          <p:sp>
            <p:nvSpPr>
              <p:cNvPr id="49" name="Freeform 35">
                <a:extLst>
                  <a:ext uri="{FF2B5EF4-FFF2-40B4-BE49-F238E27FC236}">
                    <a16:creationId xmlns:a16="http://schemas.microsoft.com/office/drawing/2014/main" id="{0E4446B0-C4A7-7CB7-A400-8E6B79C1BD49}"/>
                  </a:ext>
                </a:extLst>
              </p:cNvPr>
              <p:cNvSpPr/>
              <p:nvPr/>
            </p:nvSpPr>
            <p:spPr>
              <a:xfrm>
                <a:off x="0" y="0"/>
                <a:ext cx="1022912" cy="1010894"/>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50" name="TextBox 37">
                <a:extLst>
                  <a:ext uri="{FF2B5EF4-FFF2-40B4-BE49-F238E27FC236}">
                    <a16:creationId xmlns:a16="http://schemas.microsoft.com/office/drawing/2014/main" id="{A5D0AC32-9010-D7FF-516A-E05326AA8F8D}"/>
                  </a:ext>
                </a:extLst>
              </p:cNvPr>
              <p:cNvSpPr txBox="1"/>
              <p:nvPr/>
            </p:nvSpPr>
            <p:spPr>
              <a:xfrm>
                <a:off x="71199" y="352295"/>
                <a:ext cx="859298" cy="617425"/>
              </a:xfrm>
              <a:prstGeom prst="rect">
                <a:avLst/>
              </a:prstGeom>
            </p:spPr>
            <p:txBody>
              <a:bodyPr lIns="0" tIns="0" rIns="0" bIns="0" rtlCol="0" anchor="t">
                <a:spAutoFit/>
              </a:bodyPr>
              <a:lstStyle/>
              <a:p>
                <a:pPr algn="ctr" rtl="1">
                  <a:lnSpc>
                    <a:spcPts val="4771"/>
                  </a:lnSpc>
                </a:pPr>
                <a:r>
                  <a:rPr lang="en-US" sz="5400" b="1" dirty="0">
                    <a:solidFill>
                      <a:srgbClr val="000000"/>
                    </a:solidFill>
                    <a:latin typeface="PT Bold Heading"/>
                    <a:cs typeface="PT Bold Heading" panose="02010400000000000000" pitchFamily="2" charset="-78"/>
                  </a:rPr>
                  <a:t>2</a:t>
                </a:r>
              </a:p>
            </p:txBody>
          </p:sp>
        </p:grpSp>
      </p:grpSp>
      <p:sp>
        <p:nvSpPr>
          <p:cNvPr id="55" name="مربع نص 54">
            <a:extLst>
              <a:ext uri="{FF2B5EF4-FFF2-40B4-BE49-F238E27FC236}">
                <a16:creationId xmlns:a16="http://schemas.microsoft.com/office/drawing/2014/main" id="{90FF4A11-22E1-0DD3-7A34-2F6D0851A1E1}"/>
              </a:ext>
            </a:extLst>
          </p:cNvPr>
          <p:cNvSpPr txBox="1"/>
          <p:nvPr/>
        </p:nvSpPr>
        <p:spPr>
          <a:xfrm>
            <a:off x="3304398" y="5971282"/>
            <a:ext cx="13002402" cy="1077218"/>
          </a:xfrm>
          <a:prstGeom prst="rect">
            <a:avLst/>
          </a:prstGeom>
          <a:noFill/>
        </p:spPr>
        <p:txBody>
          <a:bodyPr wrap="square" rtlCol="1">
            <a:spAutoFit/>
          </a:bodyPr>
          <a:lstStyle/>
          <a:p>
            <a:pPr algn="r" rtl="1"/>
            <a:r>
              <a:rPr lang="ar-SA" sz="3200" dirty="0">
                <a:solidFill>
                  <a:srgbClr val="000000"/>
                </a:solidFill>
                <a:cs typeface="PT Bold Heading" panose="02010400000000000000" pitchFamily="2" charset="-78"/>
              </a:rPr>
              <a:t>المخططات هي تمثيل نصي للمعلومات باستخدام الأشكال والأسهم لعرض الترتيبات والعلاقات المختلفة بينها.</a:t>
            </a:r>
          </a:p>
        </p:txBody>
      </p:sp>
      <p:sp>
        <p:nvSpPr>
          <p:cNvPr id="56" name="مربع نص 55">
            <a:extLst>
              <a:ext uri="{FF2B5EF4-FFF2-40B4-BE49-F238E27FC236}">
                <a16:creationId xmlns:a16="http://schemas.microsoft.com/office/drawing/2014/main" id="{72FD0868-0CB6-F917-1A33-5436184C8595}"/>
              </a:ext>
            </a:extLst>
          </p:cNvPr>
          <p:cNvSpPr txBox="1"/>
          <p:nvPr/>
        </p:nvSpPr>
        <p:spPr>
          <a:xfrm>
            <a:off x="3205091" y="4641757"/>
            <a:ext cx="13002402" cy="584775"/>
          </a:xfrm>
          <a:prstGeom prst="rect">
            <a:avLst/>
          </a:prstGeom>
          <a:noFill/>
        </p:spPr>
        <p:txBody>
          <a:bodyPr wrap="square" rtlCol="1">
            <a:spAutoFit/>
          </a:bodyPr>
          <a:lstStyle/>
          <a:p>
            <a:pPr algn="r" rtl="1"/>
            <a:r>
              <a:rPr lang="ar-SA" sz="3200" dirty="0">
                <a:solidFill>
                  <a:srgbClr val="000000"/>
                </a:solidFill>
                <a:cs typeface="PT Bold Heading" panose="02010400000000000000" pitchFamily="2" charset="-78"/>
              </a:rPr>
              <a:t>يعد التمثيل المرئي للمعلومات باستخدام المخططات أكثر فعالية من الوصف النصي.</a:t>
            </a:r>
          </a:p>
        </p:txBody>
      </p:sp>
      <p:grpSp>
        <p:nvGrpSpPr>
          <p:cNvPr id="61" name="مجموعة 60">
            <a:extLst>
              <a:ext uri="{FF2B5EF4-FFF2-40B4-BE49-F238E27FC236}">
                <a16:creationId xmlns:a16="http://schemas.microsoft.com/office/drawing/2014/main" id="{6B65F288-6901-EDAB-36C8-409A9AC00C03}"/>
              </a:ext>
            </a:extLst>
          </p:cNvPr>
          <p:cNvGrpSpPr/>
          <p:nvPr/>
        </p:nvGrpSpPr>
        <p:grpSpPr>
          <a:xfrm>
            <a:off x="1066800" y="5891224"/>
            <a:ext cx="993600" cy="993600"/>
            <a:chOff x="1749600" y="7299092"/>
            <a:chExt cx="993600" cy="993600"/>
          </a:xfrm>
        </p:grpSpPr>
        <p:sp>
          <p:nvSpPr>
            <p:cNvPr id="53" name="Freeform 6">
              <a:extLst>
                <a:ext uri="{FF2B5EF4-FFF2-40B4-BE49-F238E27FC236}">
                  <a16:creationId xmlns:a16="http://schemas.microsoft.com/office/drawing/2014/main" id="{B073CF57-2B96-EB5D-CC2B-77E948627531}"/>
                </a:ext>
              </a:extLst>
            </p:cNvPr>
            <p:cNvSpPr/>
            <p:nvPr/>
          </p:nvSpPr>
          <p:spPr>
            <a:xfrm>
              <a:off x="1749600" y="7299092"/>
              <a:ext cx="993600" cy="9936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60" name="Freeform 14">
              <a:extLst>
                <a:ext uri="{FF2B5EF4-FFF2-40B4-BE49-F238E27FC236}">
                  <a16:creationId xmlns:a16="http://schemas.microsoft.com/office/drawing/2014/main" id="{55383439-66B4-DF21-9258-A86EC10D2F00}"/>
                </a:ext>
              </a:extLst>
            </p:cNvPr>
            <p:cNvSpPr/>
            <p:nvPr/>
          </p:nvSpPr>
          <p:spPr>
            <a:xfrm>
              <a:off x="2005535" y="7524922"/>
              <a:ext cx="481730" cy="555486"/>
            </a:xfrm>
            <a:custGeom>
              <a:avLst/>
              <a:gdLst/>
              <a:ahLst/>
              <a:cxnLst/>
              <a:rect l="l" t="t" r="r" b="b"/>
              <a:pathLst>
                <a:path w="394207" h="395195">
                  <a:moveTo>
                    <a:pt x="0" y="0"/>
                  </a:moveTo>
                  <a:lnTo>
                    <a:pt x="394207" y="0"/>
                  </a:lnTo>
                  <a:lnTo>
                    <a:pt x="394207" y="395194"/>
                  </a:lnTo>
                  <a:lnTo>
                    <a:pt x="0" y="39519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algn="r" rtl="1"/>
              <a:endParaRPr lang="ar-SA" dirty="0">
                <a:cs typeface="PT Bold Heading" panose="02010400000000000000" pitchFamily="2" charset="-78"/>
              </a:endParaRPr>
            </a:p>
          </p:txBody>
        </p:sp>
      </p:grpSp>
    </p:spTree>
    <p:extLst>
      <p:ext uri="{BB962C8B-B14F-4D97-AF65-F5344CB8AC3E}">
        <p14:creationId xmlns:p14="http://schemas.microsoft.com/office/powerpoint/2010/main" val="26032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1000"/>
                                        <p:tgtEl>
                                          <p:spTgt spid="61"/>
                                        </p:tgtEl>
                                      </p:cBhvr>
                                    </p:animEffect>
                                    <p:anim calcmode="lin" valueType="num">
                                      <p:cBhvr>
                                        <p:cTn id="15" dur="1000" fill="hold"/>
                                        <p:tgtEl>
                                          <p:spTgt spid="61"/>
                                        </p:tgtEl>
                                        <p:attrNameLst>
                                          <p:attrName>ppt_x</p:attrName>
                                        </p:attrNameLst>
                                      </p:cBhvr>
                                      <p:tavLst>
                                        <p:tav tm="0">
                                          <p:val>
                                            <p:strVal val="#ppt_x"/>
                                          </p:val>
                                        </p:tav>
                                        <p:tav tm="100000">
                                          <p:val>
                                            <p:strVal val="#ppt_x"/>
                                          </p:val>
                                        </p:tav>
                                      </p:tavLst>
                                    </p:anim>
                                    <p:anim calcmode="lin" valueType="num">
                                      <p:cBhvr>
                                        <p:cTn id="16"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مجموعة 7">
            <a:extLst>
              <a:ext uri="{FF2B5EF4-FFF2-40B4-BE49-F238E27FC236}">
                <a16:creationId xmlns:a16="http://schemas.microsoft.com/office/drawing/2014/main" id="{5EBFCA11-3A94-CA82-1BB2-E698926F03BB}"/>
              </a:ext>
            </a:extLst>
          </p:cNvPr>
          <p:cNvGrpSpPr/>
          <p:nvPr/>
        </p:nvGrpSpPr>
        <p:grpSpPr>
          <a:xfrm>
            <a:off x="1399973" y="5431290"/>
            <a:ext cx="3479629" cy="2013087"/>
            <a:chOff x="1446423" y="6115513"/>
            <a:chExt cx="3479629" cy="2013087"/>
          </a:xfrm>
        </p:grpSpPr>
        <p:grpSp>
          <p:nvGrpSpPr>
            <p:cNvPr id="60" name="مجموعة 59">
              <a:extLst>
                <a:ext uri="{FF2B5EF4-FFF2-40B4-BE49-F238E27FC236}">
                  <a16:creationId xmlns:a16="http://schemas.microsoft.com/office/drawing/2014/main" id="{B7673DC6-82F0-AC67-1EA0-429DBE34A357}"/>
                </a:ext>
              </a:extLst>
            </p:cNvPr>
            <p:cNvGrpSpPr/>
            <p:nvPr/>
          </p:nvGrpSpPr>
          <p:grpSpPr>
            <a:xfrm>
              <a:off x="1446423" y="6115513"/>
              <a:ext cx="3479629" cy="2013087"/>
              <a:chOff x="741854" y="6115513"/>
              <a:chExt cx="3479629" cy="2013087"/>
            </a:xfrm>
          </p:grpSpPr>
          <p:sp>
            <p:nvSpPr>
              <p:cNvPr id="36" name="Freeform 19">
                <a:extLst>
                  <a:ext uri="{FF2B5EF4-FFF2-40B4-BE49-F238E27FC236}">
                    <a16:creationId xmlns:a16="http://schemas.microsoft.com/office/drawing/2014/main" id="{D1580D93-051D-E26D-3F78-EE448777AE25}"/>
                  </a:ext>
                </a:extLst>
              </p:cNvPr>
              <p:cNvSpPr/>
              <p:nvPr/>
            </p:nvSpPr>
            <p:spPr>
              <a:xfrm>
                <a:off x="741854" y="6648673"/>
                <a:ext cx="3479629" cy="1479927"/>
              </a:xfrm>
              <a:custGeom>
                <a:avLst/>
                <a:gdLst/>
                <a:ahLst/>
                <a:cxnLst/>
                <a:rect l="l" t="t" r="r" b="b"/>
                <a:pathLst>
                  <a:path w="578832" h="197911">
                    <a:moveTo>
                      <a:pt x="28680" y="0"/>
                    </a:moveTo>
                    <a:lnTo>
                      <a:pt x="550152" y="0"/>
                    </a:lnTo>
                    <a:cubicBezTo>
                      <a:pt x="557759" y="0"/>
                      <a:pt x="565053" y="3022"/>
                      <a:pt x="570432" y="8400"/>
                    </a:cubicBezTo>
                    <a:cubicBezTo>
                      <a:pt x="575811" y="13779"/>
                      <a:pt x="578832" y="21074"/>
                      <a:pt x="578832" y="28680"/>
                    </a:cubicBezTo>
                    <a:lnTo>
                      <a:pt x="578832" y="169231"/>
                    </a:lnTo>
                    <a:cubicBezTo>
                      <a:pt x="578832" y="176837"/>
                      <a:pt x="575811" y="184132"/>
                      <a:pt x="570432" y="189511"/>
                    </a:cubicBezTo>
                    <a:cubicBezTo>
                      <a:pt x="565053" y="194889"/>
                      <a:pt x="557759" y="197911"/>
                      <a:pt x="550152" y="197911"/>
                    </a:cubicBezTo>
                    <a:lnTo>
                      <a:pt x="28680" y="197911"/>
                    </a:lnTo>
                    <a:cubicBezTo>
                      <a:pt x="21074" y="197911"/>
                      <a:pt x="13779" y="194889"/>
                      <a:pt x="8400" y="189511"/>
                    </a:cubicBezTo>
                    <a:cubicBezTo>
                      <a:pt x="3022" y="184132"/>
                      <a:pt x="0" y="176837"/>
                      <a:pt x="0" y="169231"/>
                    </a:cubicBezTo>
                    <a:lnTo>
                      <a:pt x="0" y="28680"/>
                    </a:lnTo>
                    <a:cubicBezTo>
                      <a:pt x="0" y="21074"/>
                      <a:pt x="3022" y="13779"/>
                      <a:pt x="8400" y="8400"/>
                    </a:cubicBezTo>
                    <a:cubicBezTo>
                      <a:pt x="13779" y="3022"/>
                      <a:pt x="21074" y="0"/>
                      <a:pt x="28680" y="0"/>
                    </a:cubicBezTo>
                    <a:close/>
                  </a:path>
                </a:pathLst>
              </a:custGeom>
              <a:solidFill>
                <a:srgbClr val="A1CCD1">
                  <a:alpha val="55686"/>
                </a:srgbClr>
              </a:solidFill>
              <a:ln>
                <a:noFill/>
              </a:ln>
            </p:spPr>
            <p:txBody>
              <a:bodyPr/>
              <a:lstStyle/>
              <a:p>
                <a:pPr algn="ctr" rtl="1">
                  <a:lnSpc>
                    <a:spcPct val="200000"/>
                  </a:lnSpc>
                </a:pPr>
                <a:endParaRPr lang="ar-SA" sz="3600" dirty="0">
                  <a:cs typeface="PT Bold Heading" panose="02010400000000000000" pitchFamily="2" charset="-78"/>
                </a:endParaRPr>
              </a:p>
            </p:txBody>
          </p:sp>
          <p:grpSp>
            <p:nvGrpSpPr>
              <p:cNvPr id="50" name="مجموعة 49">
                <a:extLst>
                  <a:ext uri="{FF2B5EF4-FFF2-40B4-BE49-F238E27FC236}">
                    <a16:creationId xmlns:a16="http://schemas.microsoft.com/office/drawing/2014/main" id="{B4FADDCB-0551-0AAD-28C1-30A433434569}"/>
                  </a:ext>
                </a:extLst>
              </p:cNvPr>
              <p:cNvGrpSpPr/>
              <p:nvPr/>
            </p:nvGrpSpPr>
            <p:grpSpPr>
              <a:xfrm>
                <a:off x="2046087" y="6115513"/>
                <a:ext cx="657718" cy="679351"/>
                <a:chOff x="15239999" y="6134100"/>
                <a:chExt cx="657718" cy="679351"/>
              </a:xfrm>
            </p:grpSpPr>
            <p:sp>
              <p:nvSpPr>
                <p:cNvPr id="51" name="مستطيل 50">
                  <a:extLst>
                    <a:ext uri="{FF2B5EF4-FFF2-40B4-BE49-F238E27FC236}">
                      <a16:creationId xmlns:a16="http://schemas.microsoft.com/office/drawing/2014/main" id="{54AC09C6-741D-BDBE-E64F-BDF869B8965B}"/>
                    </a:ext>
                  </a:extLst>
                </p:cNvPr>
                <p:cNvSpPr/>
                <p:nvPr/>
              </p:nvSpPr>
              <p:spPr>
                <a:xfrm>
                  <a:off x="15240000" y="6134100"/>
                  <a:ext cx="657717" cy="679351"/>
                </a:xfrm>
                <a:prstGeom prst="rect">
                  <a:avLst/>
                </a:prstGeom>
                <a:solidFill>
                  <a:schemeClr val="bg1"/>
                </a:solidFill>
                <a:ln w="7620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2" name="TextBox 37">
                  <a:extLst>
                    <a:ext uri="{FF2B5EF4-FFF2-40B4-BE49-F238E27FC236}">
                      <a16:creationId xmlns:a16="http://schemas.microsoft.com/office/drawing/2014/main" id="{837DC2D6-9734-D379-9F7A-B13B9F80BAF4}"/>
                    </a:ext>
                  </a:extLst>
                </p:cNvPr>
                <p:cNvSpPr txBox="1"/>
                <p:nvPr/>
              </p:nvSpPr>
              <p:spPr>
                <a:xfrm>
                  <a:off x="15239999" y="6163313"/>
                  <a:ext cx="657718" cy="584775"/>
                </a:xfrm>
                <a:prstGeom prst="rect">
                  <a:avLst/>
                </a:prstGeom>
              </p:spPr>
              <p:txBody>
                <a:bodyPr wrap="square" lIns="0" tIns="0" rIns="0" bIns="0" rtlCol="0" anchor="t">
                  <a:spAutoFit/>
                </a:bodyPr>
                <a:lstStyle/>
                <a:p>
                  <a:pPr algn="ctr" rtl="1">
                    <a:lnSpc>
                      <a:spcPts val="4771"/>
                    </a:lnSpc>
                  </a:pPr>
                  <a:r>
                    <a:rPr lang="ar-SA" sz="3200" b="1" dirty="0">
                      <a:solidFill>
                        <a:srgbClr val="000000"/>
                      </a:solidFill>
                      <a:latin typeface="PT Bold Heading"/>
                      <a:cs typeface="PT Bold Heading" panose="02010400000000000000" pitchFamily="2" charset="-78"/>
                    </a:rPr>
                    <a:t>د</a:t>
                  </a:r>
                  <a:endParaRPr lang="en-US" sz="3200" b="1" dirty="0">
                    <a:solidFill>
                      <a:srgbClr val="000000"/>
                    </a:solidFill>
                    <a:latin typeface="PT Bold Heading"/>
                    <a:cs typeface="PT Bold Heading" panose="02010400000000000000" pitchFamily="2" charset="-78"/>
                  </a:endParaRPr>
                </a:p>
              </p:txBody>
            </p:sp>
          </p:grpSp>
        </p:grpSp>
        <p:sp>
          <p:nvSpPr>
            <p:cNvPr id="5" name="مربع نص 4">
              <a:extLst>
                <a:ext uri="{FF2B5EF4-FFF2-40B4-BE49-F238E27FC236}">
                  <a16:creationId xmlns:a16="http://schemas.microsoft.com/office/drawing/2014/main" id="{A3854E22-EDCF-EC46-5EEB-E575D1E679B2}"/>
                </a:ext>
              </a:extLst>
            </p:cNvPr>
            <p:cNvSpPr txBox="1"/>
            <p:nvPr/>
          </p:nvSpPr>
          <p:spPr>
            <a:xfrm>
              <a:off x="1477842" y="6783549"/>
              <a:ext cx="3292187" cy="1061829"/>
            </a:xfrm>
            <a:prstGeom prst="rect">
              <a:avLst/>
            </a:prstGeom>
            <a:noFill/>
          </p:spPr>
          <p:txBody>
            <a:bodyPr wrap="square" rtlCol="1">
              <a:spAutoFit/>
            </a:bodyPr>
            <a:lstStyle/>
            <a:p>
              <a:pPr algn="ctr" rtl="1">
                <a:lnSpc>
                  <a:spcPct val="200000"/>
                </a:lnSpc>
              </a:pPr>
              <a:r>
                <a:rPr lang="en-US" sz="3600" dirty="0" err="1">
                  <a:solidFill>
                    <a:srgbClr val="091B31"/>
                  </a:solidFill>
                  <a:cs typeface="PT Bold Heading" panose="02010400000000000000" pitchFamily="2" charset="-78"/>
                </a:rPr>
                <a:t>مخطط</a:t>
              </a:r>
              <a:r>
                <a:rPr lang="en-US" sz="3600" dirty="0">
                  <a:solidFill>
                    <a:srgbClr val="091B31"/>
                  </a:solidFill>
                  <a:cs typeface="PT Bold Heading" panose="02010400000000000000" pitchFamily="2" charset="-78"/>
                </a:rPr>
                <a:t> </a:t>
              </a:r>
              <a:r>
                <a:rPr lang="en-US" sz="3600" dirty="0" err="1">
                  <a:solidFill>
                    <a:srgbClr val="091B31"/>
                  </a:solidFill>
                  <a:cs typeface="PT Bold Heading" panose="02010400000000000000" pitchFamily="2" charset="-78"/>
                </a:rPr>
                <a:t>الشجرة</a:t>
              </a:r>
              <a:endParaRPr lang="ar-SA" sz="3600" dirty="0">
                <a:solidFill>
                  <a:srgbClr val="000000"/>
                </a:solidFill>
                <a:cs typeface="PT Bold Heading" panose="02010400000000000000" pitchFamily="2" charset="-78"/>
              </a:endParaRPr>
            </a:p>
          </p:txBody>
        </p:sp>
      </p:grpSp>
      <p:grpSp>
        <p:nvGrpSpPr>
          <p:cNvPr id="40" name="مجموعة 39">
            <a:extLst>
              <a:ext uri="{FF2B5EF4-FFF2-40B4-BE49-F238E27FC236}">
                <a16:creationId xmlns:a16="http://schemas.microsoft.com/office/drawing/2014/main" id="{BE7695B8-1810-8994-391D-DDB7563D685E}"/>
              </a:ext>
            </a:extLst>
          </p:cNvPr>
          <p:cNvGrpSpPr/>
          <p:nvPr/>
        </p:nvGrpSpPr>
        <p:grpSpPr>
          <a:xfrm>
            <a:off x="7944039" y="3009900"/>
            <a:ext cx="8991600" cy="600164"/>
            <a:chOff x="7848600" y="3204561"/>
            <a:chExt cx="8991600" cy="600164"/>
          </a:xfrm>
        </p:grpSpPr>
        <p:sp>
          <p:nvSpPr>
            <p:cNvPr id="3" name="TextBox 3"/>
            <p:cNvSpPr txBox="1"/>
            <p:nvPr/>
          </p:nvSpPr>
          <p:spPr>
            <a:xfrm>
              <a:off x="7848600" y="3204561"/>
              <a:ext cx="8404339" cy="600164"/>
            </a:xfrm>
            <a:prstGeom prst="rect">
              <a:avLst/>
            </a:prstGeom>
          </p:spPr>
          <p:txBody>
            <a:bodyPr wrap="square" lIns="0" tIns="0" rIns="0" bIns="0" rtlCol="0" anchor="t">
              <a:spAutoFit/>
            </a:bodyPr>
            <a:lstStyle/>
            <a:p>
              <a:pPr algn="r" rtl="1">
                <a:lnSpc>
                  <a:spcPts val="4829"/>
                </a:lnSpc>
              </a:pPr>
              <a:r>
                <a:rPr lang="en-US" sz="3600" dirty="0" err="1">
                  <a:solidFill>
                    <a:srgbClr val="000000"/>
                  </a:solidFill>
                  <a:cs typeface="PT Bold Heading" panose="02010400000000000000" pitchFamily="2" charset="-78"/>
                </a:rPr>
                <a:t>اختاري</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الإجابة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الصحيحة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من</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الخيارات</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المتعددة</a:t>
              </a:r>
              <a:r>
                <a:rPr lang="en-US" sz="3600" dirty="0">
                  <a:solidFill>
                    <a:srgbClr val="000000"/>
                  </a:solidFill>
                  <a:cs typeface="PT Bold Heading" panose="02010400000000000000" pitchFamily="2" charset="-78"/>
                </a:rPr>
                <a:t> ؟</a:t>
              </a:r>
            </a:p>
          </p:txBody>
        </p:sp>
        <p:sp>
          <p:nvSpPr>
            <p:cNvPr id="4" name="Freeform 4"/>
            <p:cNvSpPr/>
            <p:nvPr/>
          </p:nvSpPr>
          <p:spPr>
            <a:xfrm>
              <a:off x="16416768" y="3238500"/>
              <a:ext cx="423432" cy="530266"/>
            </a:xfrm>
            <a:custGeom>
              <a:avLst/>
              <a:gdLst/>
              <a:ahLst/>
              <a:cxnLst/>
              <a:rect l="l" t="t" r="r" b="b"/>
              <a:pathLst>
                <a:path w="570306" h="720766">
                  <a:moveTo>
                    <a:pt x="0" y="0"/>
                  </a:moveTo>
                  <a:lnTo>
                    <a:pt x="570306" y="0"/>
                  </a:lnTo>
                  <a:lnTo>
                    <a:pt x="570306" y="720766"/>
                  </a:lnTo>
                  <a:lnTo>
                    <a:pt x="0" y="7207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3600" dirty="0">
                <a:cs typeface="PT Bold Heading" panose="02010400000000000000" pitchFamily="2" charset="-78"/>
              </a:endParaRPr>
            </a:p>
          </p:txBody>
        </p:sp>
      </p:grpSp>
      <p:sp>
        <p:nvSpPr>
          <p:cNvPr id="6" name="Freeform 6"/>
          <p:cNvSpPr/>
          <p:nvPr/>
        </p:nvSpPr>
        <p:spPr>
          <a:xfrm>
            <a:off x="1219200" y="4156790"/>
            <a:ext cx="15293007" cy="1050297"/>
          </a:xfrm>
          <a:custGeom>
            <a:avLst/>
            <a:gdLst/>
            <a:ahLst/>
            <a:cxnLst/>
            <a:rect l="l" t="t" r="r" b="b"/>
            <a:pathLst>
              <a:path w="2811621" h="259413">
                <a:moveTo>
                  <a:pt x="7004" y="0"/>
                </a:moveTo>
                <a:lnTo>
                  <a:pt x="2804618" y="0"/>
                </a:lnTo>
                <a:cubicBezTo>
                  <a:pt x="2808486" y="0"/>
                  <a:pt x="2811621" y="3136"/>
                  <a:pt x="2811621" y="7004"/>
                </a:cubicBezTo>
                <a:lnTo>
                  <a:pt x="2811621" y="252410"/>
                </a:lnTo>
                <a:cubicBezTo>
                  <a:pt x="2811621" y="256278"/>
                  <a:pt x="2808486" y="259413"/>
                  <a:pt x="2804618" y="259413"/>
                </a:cubicBezTo>
                <a:lnTo>
                  <a:pt x="7004" y="259413"/>
                </a:lnTo>
                <a:cubicBezTo>
                  <a:pt x="3136" y="259413"/>
                  <a:pt x="0" y="256278"/>
                  <a:pt x="0" y="252410"/>
                </a:cubicBezTo>
                <a:lnTo>
                  <a:pt x="0" y="7004"/>
                </a:lnTo>
                <a:cubicBezTo>
                  <a:pt x="0" y="3136"/>
                  <a:pt x="3136" y="0"/>
                  <a:pt x="7004" y="0"/>
                </a:cubicBezTo>
                <a:close/>
              </a:path>
            </a:pathLst>
          </a:custGeom>
          <a:solidFill>
            <a:srgbClr val="FFF0C8">
              <a:alpha val="50980"/>
            </a:srgbClr>
          </a:solidFill>
          <a:ln>
            <a:noFill/>
          </a:ln>
        </p:spPr>
        <p:txBody>
          <a:bodyPr/>
          <a:lstStyle/>
          <a:p>
            <a:pPr algn="ctr" rtl="1"/>
            <a:r>
              <a:rPr lang="en-US" sz="4400" dirty="0">
                <a:solidFill>
                  <a:srgbClr val="28443B"/>
                </a:solidFill>
                <a:latin typeface="PT Bold Heading"/>
                <a:cs typeface="PT Bold Heading" panose="02010400000000000000" pitchFamily="2" charset="-78"/>
              </a:rPr>
              <a:t> </a:t>
            </a:r>
          </a:p>
        </p:txBody>
      </p:sp>
      <p:grpSp>
        <p:nvGrpSpPr>
          <p:cNvPr id="75" name="مجموعة 74">
            <a:extLst>
              <a:ext uri="{FF2B5EF4-FFF2-40B4-BE49-F238E27FC236}">
                <a16:creationId xmlns:a16="http://schemas.microsoft.com/office/drawing/2014/main" id="{F02F2457-2C4B-DE18-DAF6-2AED718D53DC}"/>
              </a:ext>
            </a:extLst>
          </p:cNvPr>
          <p:cNvGrpSpPr/>
          <p:nvPr/>
        </p:nvGrpSpPr>
        <p:grpSpPr>
          <a:xfrm>
            <a:off x="16067634" y="4156789"/>
            <a:ext cx="889145" cy="963815"/>
            <a:chOff x="16988310" y="4848156"/>
            <a:chExt cx="1031982" cy="927702"/>
          </a:xfrm>
        </p:grpSpPr>
        <p:sp>
          <p:nvSpPr>
            <p:cNvPr id="73" name="Freeform 35">
              <a:extLst>
                <a:ext uri="{FF2B5EF4-FFF2-40B4-BE49-F238E27FC236}">
                  <a16:creationId xmlns:a16="http://schemas.microsoft.com/office/drawing/2014/main" id="{6297942D-0259-EDE2-6709-B13BCFD3D022}"/>
                </a:ext>
              </a:extLst>
            </p:cNvPr>
            <p:cNvSpPr/>
            <p:nvPr/>
          </p:nvSpPr>
          <p:spPr>
            <a:xfrm>
              <a:off x="16988310" y="4848156"/>
              <a:ext cx="1031982" cy="927702"/>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74" name="TextBox 37">
              <a:extLst>
                <a:ext uri="{FF2B5EF4-FFF2-40B4-BE49-F238E27FC236}">
                  <a16:creationId xmlns:a16="http://schemas.microsoft.com/office/drawing/2014/main" id="{D0A1DC20-3637-6248-9646-C26A4F105AC7}"/>
                </a:ext>
              </a:extLst>
            </p:cNvPr>
            <p:cNvSpPr txBox="1"/>
            <p:nvPr/>
          </p:nvSpPr>
          <p:spPr>
            <a:xfrm>
              <a:off x="17079826" y="5050516"/>
              <a:ext cx="848954" cy="622115"/>
            </a:xfrm>
            <a:prstGeom prst="rect">
              <a:avLst/>
            </a:prstGeom>
          </p:spPr>
          <p:txBody>
            <a:bodyPr wrap="square" lIns="0" tIns="0" rIns="0" bIns="0" rtlCol="0" anchor="t">
              <a:spAutoFit/>
            </a:bodyPr>
            <a:lstStyle/>
            <a:p>
              <a:pPr algn="ctr" rtl="1">
                <a:lnSpc>
                  <a:spcPts val="4771"/>
                </a:lnSpc>
              </a:pPr>
              <a:r>
                <a:rPr lang="en-US" sz="4800" b="1" dirty="0">
                  <a:solidFill>
                    <a:srgbClr val="000000"/>
                  </a:solidFill>
                  <a:latin typeface="PT Bold Heading"/>
                  <a:cs typeface="PT Bold Heading" panose="02010400000000000000" pitchFamily="2" charset="-78"/>
                </a:rPr>
                <a:t>1</a:t>
              </a:r>
            </a:p>
          </p:txBody>
        </p:sp>
      </p:grpSp>
      <p:sp>
        <p:nvSpPr>
          <p:cNvPr id="14" name="Freeform 8">
            <a:extLst>
              <a:ext uri="{FF2B5EF4-FFF2-40B4-BE49-F238E27FC236}">
                <a16:creationId xmlns:a16="http://schemas.microsoft.com/office/drawing/2014/main" id="{E3E053D1-9170-5010-D1BB-6B677795EDAC}"/>
              </a:ext>
            </a:extLst>
          </p:cNvPr>
          <p:cNvSpPr/>
          <p:nvPr/>
        </p:nvSpPr>
        <p:spPr>
          <a:xfrm>
            <a:off x="10363663" y="7560306"/>
            <a:ext cx="1203571" cy="1219200"/>
          </a:xfrm>
          <a:custGeom>
            <a:avLst/>
            <a:gdLst/>
            <a:ahLst/>
            <a:cxnLst/>
            <a:rect l="l" t="t" r="r" b="b"/>
            <a:pathLst>
              <a:path w="684628" h="513471">
                <a:moveTo>
                  <a:pt x="0" y="0"/>
                </a:moveTo>
                <a:lnTo>
                  <a:pt x="684628" y="0"/>
                </a:lnTo>
                <a:lnTo>
                  <a:pt x="684628" y="513470"/>
                </a:lnTo>
                <a:lnTo>
                  <a:pt x="0" y="5134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solidFill>
                <a:srgbClr val="FF0000"/>
              </a:solidFill>
              <a:cs typeface="PT Bold Heading" panose="02010400000000000000" pitchFamily="2" charset="-78"/>
            </a:endParaRPr>
          </a:p>
        </p:txBody>
      </p:sp>
      <p:sp>
        <p:nvSpPr>
          <p:cNvPr id="41" name="مربع نص 40">
            <a:extLst>
              <a:ext uri="{FF2B5EF4-FFF2-40B4-BE49-F238E27FC236}">
                <a16:creationId xmlns:a16="http://schemas.microsoft.com/office/drawing/2014/main" id="{31A58E8C-1681-D3A4-5371-348AB5E776B3}"/>
              </a:ext>
            </a:extLst>
          </p:cNvPr>
          <p:cNvSpPr txBox="1"/>
          <p:nvPr/>
        </p:nvSpPr>
        <p:spPr>
          <a:xfrm>
            <a:off x="1911048" y="3844046"/>
            <a:ext cx="13464739" cy="1169551"/>
          </a:xfrm>
          <a:prstGeom prst="rect">
            <a:avLst/>
          </a:prstGeom>
          <a:noFill/>
        </p:spPr>
        <p:txBody>
          <a:bodyPr wrap="square" rtlCol="1">
            <a:spAutoFit/>
          </a:bodyPr>
          <a:lstStyle/>
          <a:p>
            <a:pPr algn="ctr" rtl="1">
              <a:lnSpc>
                <a:spcPct val="200000"/>
              </a:lnSpc>
            </a:pPr>
            <a:r>
              <a:rPr lang="en-US" sz="4000" dirty="0" err="1">
                <a:cs typeface="PT Bold Heading" panose="02010400000000000000" pitchFamily="2" charset="-78"/>
              </a:rPr>
              <a:t>هو</a:t>
            </a:r>
            <a:r>
              <a:rPr lang="en-US" sz="4000" dirty="0">
                <a:cs typeface="PT Bold Heading" panose="02010400000000000000" pitchFamily="2" charset="-78"/>
              </a:rPr>
              <a:t> </a:t>
            </a:r>
            <a:r>
              <a:rPr lang="en-US" sz="4000" dirty="0" err="1">
                <a:cs typeface="PT Bold Heading" panose="02010400000000000000" pitchFamily="2" charset="-78"/>
              </a:rPr>
              <a:t>تمثيل</a:t>
            </a:r>
            <a:r>
              <a:rPr lang="en-US" sz="4000" dirty="0">
                <a:cs typeface="PT Bold Heading" panose="02010400000000000000" pitchFamily="2" charset="-78"/>
              </a:rPr>
              <a:t> </a:t>
            </a:r>
            <a:r>
              <a:rPr lang="en-US" sz="4000" dirty="0" err="1">
                <a:cs typeface="PT Bold Heading" panose="02010400000000000000" pitchFamily="2" charset="-78"/>
              </a:rPr>
              <a:t>مرئي</a:t>
            </a:r>
            <a:r>
              <a:rPr lang="en-US" sz="4000" dirty="0">
                <a:cs typeface="PT Bold Heading" panose="02010400000000000000" pitchFamily="2" charset="-78"/>
              </a:rPr>
              <a:t> </a:t>
            </a:r>
            <a:r>
              <a:rPr lang="en-US" sz="4000" dirty="0" err="1">
                <a:cs typeface="PT Bold Heading" panose="02010400000000000000" pitchFamily="2" charset="-78"/>
              </a:rPr>
              <a:t>لإطار</a:t>
            </a:r>
            <a:r>
              <a:rPr lang="en-US" sz="4000" dirty="0">
                <a:cs typeface="PT Bold Heading" panose="02010400000000000000" pitchFamily="2" charset="-78"/>
              </a:rPr>
              <a:t> </a:t>
            </a:r>
            <a:r>
              <a:rPr lang="en-US" sz="4000" dirty="0" err="1">
                <a:cs typeface="PT Bold Heading" panose="02010400000000000000" pitchFamily="2" charset="-78"/>
              </a:rPr>
              <a:t>موقع</a:t>
            </a:r>
            <a:r>
              <a:rPr lang="en-US" sz="4000" dirty="0">
                <a:cs typeface="PT Bold Heading" panose="02010400000000000000" pitchFamily="2" charset="-78"/>
              </a:rPr>
              <a:t> </a:t>
            </a:r>
            <a:r>
              <a:rPr lang="en-US" sz="4000" dirty="0" err="1">
                <a:cs typeface="PT Bold Heading" panose="02010400000000000000" pitchFamily="2" charset="-78"/>
              </a:rPr>
              <a:t>إلكتروني</a:t>
            </a:r>
            <a:r>
              <a:rPr lang="en-US" sz="4000" dirty="0">
                <a:cs typeface="PT Bold Heading" panose="02010400000000000000" pitchFamily="2" charset="-78"/>
              </a:rPr>
              <a:t> </a:t>
            </a:r>
            <a:r>
              <a:rPr lang="en-US" sz="4000" dirty="0" err="1">
                <a:cs typeface="PT Bold Heading" panose="02010400000000000000" pitchFamily="2" charset="-78"/>
              </a:rPr>
              <a:t>أو</a:t>
            </a:r>
            <a:r>
              <a:rPr lang="en-US" sz="4000" dirty="0">
                <a:cs typeface="PT Bold Heading" panose="02010400000000000000" pitchFamily="2" charset="-78"/>
              </a:rPr>
              <a:t> </a:t>
            </a:r>
            <a:r>
              <a:rPr lang="en-US" sz="4000" dirty="0" err="1">
                <a:cs typeface="PT Bold Heading" panose="02010400000000000000" pitchFamily="2" charset="-78"/>
              </a:rPr>
              <a:t>تطبيق</a:t>
            </a:r>
            <a:r>
              <a:rPr lang="en-US" sz="4000" dirty="0">
                <a:cs typeface="PT Bold Heading" panose="02010400000000000000" pitchFamily="2" charset="-78"/>
              </a:rPr>
              <a:t> </a:t>
            </a:r>
            <a:r>
              <a:rPr lang="en-US" sz="4000" dirty="0" err="1">
                <a:cs typeface="PT Bold Heading" panose="02010400000000000000" pitchFamily="2" charset="-78"/>
              </a:rPr>
              <a:t>ذكي</a:t>
            </a:r>
            <a:r>
              <a:rPr lang="ar-SA" sz="4000" dirty="0">
                <a:cs typeface="PT Bold Heading" panose="02010400000000000000" pitchFamily="2" charset="-78"/>
              </a:rPr>
              <a:t>.</a:t>
            </a:r>
          </a:p>
        </p:txBody>
      </p:sp>
      <p:grpSp>
        <p:nvGrpSpPr>
          <p:cNvPr id="58" name="مجموعة 57">
            <a:extLst>
              <a:ext uri="{FF2B5EF4-FFF2-40B4-BE49-F238E27FC236}">
                <a16:creationId xmlns:a16="http://schemas.microsoft.com/office/drawing/2014/main" id="{4C9D0E4D-FB97-B310-51FB-DFE46F0C474D}"/>
              </a:ext>
            </a:extLst>
          </p:cNvPr>
          <p:cNvGrpSpPr/>
          <p:nvPr/>
        </p:nvGrpSpPr>
        <p:grpSpPr>
          <a:xfrm>
            <a:off x="13215672" y="5455193"/>
            <a:ext cx="3479629" cy="1973267"/>
            <a:chOff x="13724926" y="6134100"/>
            <a:chExt cx="3479629" cy="1973267"/>
          </a:xfrm>
        </p:grpSpPr>
        <p:sp>
          <p:nvSpPr>
            <p:cNvPr id="33" name="Freeform 10">
              <a:extLst>
                <a:ext uri="{FF2B5EF4-FFF2-40B4-BE49-F238E27FC236}">
                  <a16:creationId xmlns:a16="http://schemas.microsoft.com/office/drawing/2014/main" id="{E00A0DFF-8DA3-16F5-605E-E019E1FC193E}"/>
                </a:ext>
              </a:extLst>
            </p:cNvPr>
            <p:cNvSpPr/>
            <p:nvPr/>
          </p:nvSpPr>
          <p:spPr>
            <a:xfrm>
              <a:off x="13724926" y="6627440"/>
              <a:ext cx="3479629" cy="1479927"/>
            </a:xfrm>
            <a:custGeom>
              <a:avLst/>
              <a:gdLst/>
              <a:ahLst/>
              <a:cxnLst/>
              <a:rect l="l" t="t" r="r" b="b"/>
              <a:pathLst>
                <a:path w="578832" h="197911">
                  <a:moveTo>
                    <a:pt x="28680" y="0"/>
                  </a:moveTo>
                  <a:lnTo>
                    <a:pt x="550152" y="0"/>
                  </a:lnTo>
                  <a:cubicBezTo>
                    <a:pt x="557759" y="0"/>
                    <a:pt x="565053" y="3022"/>
                    <a:pt x="570432" y="8400"/>
                  </a:cubicBezTo>
                  <a:cubicBezTo>
                    <a:pt x="575811" y="13779"/>
                    <a:pt x="578832" y="21074"/>
                    <a:pt x="578832" y="28680"/>
                  </a:cubicBezTo>
                  <a:lnTo>
                    <a:pt x="578832" y="169231"/>
                  </a:lnTo>
                  <a:cubicBezTo>
                    <a:pt x="578832" y="176837"/>
                    <a:pt x="575811" y="184132"/>
                    <a:pt x="570432" y="189511"/>
                  </a:cubicBezTo>
                  <a:cubicBezTo>
                    <a:pt x="565053" y="194889"/>
                    <a:pt x="557759" y="197911"/>
                    <a:pt x="550152" y="197911"/>
                  </a:cubicBezTo>
                  <a:lnTo>
                    <a:pt x="28680" y="197911"/>
                  </a:lnTo>
                  <a:cubicBezTo>
                    <a:pt x="21074" y="197911"/>
                    <a:pt x="13779" y="194889"/>
                    <a:pt x="8400" y="189511"/>
                  </a:cubicBezTo>
                  <a:cubicBezTo>
                    <a:pt x="3022" y="184132"/>
                    <a:pt x="0" y="176837"/>
                    <a:pt x="0" y="169231"/>
                  </a:cubicBezTo>
                  <a:lnTo>
                    <a:pt x="0" y="28680"/>
                  </a:lnTo>
                  <a:cubicBezTo>
                    <a:pt x="0" y="21074"/>
                    <a:pt x="3022" y="13779"/>
                    <a:pt x="8400" y="8400"/>
                  </a:cubicBezTo>
                  <a:cubicBezTo>
                    <a:pt x="13779" y="3022"/>
                    <a:pt x="21074" y="0"/>
                    <a:pt x="28680" y="0"/>
                  </a:cubicBezTo>
                  <a:close/>
                </a:path>
              </a:pathLst>
            </a:custGeom>
            <a:solidFill>
              <a:srgbClr val="A1CCD1">
                <a:alpha val="55686"/>
              </a:srgbClr>
            </a:solidFill>
            <a:ln>
              <a:noFill/>
            </a:ln>
          </p:spPr>
          <p:txBody>
            <a:bodyPr/>
            <a:lstStyle/>
            <a:p>
              <a:pPr algn="ctr" rtl="1"/>
              <a:endParaRPr lang="ar-SA" sz="3200" dirty="0">
                <a:solidFill>
                  <a:srgbClr val="000000"/>
                </a:solidFill>
                <a:cs typeface="PT Bold Heading" panose="02010400000000000000" pitchFamily="2" charset="-78"/>
              </a:endParaRPr>
            </a:p>
          </p:txBody>
        </p:sp>
        <p:grpSp>
          <p:nvGrpSpPr>
            <p:cNvPr id="43" name="مجموعة 42">
              <a:extLst>
                <a:ext uri="{FF2B5EF4-FFF2-40B4-BE49-F238E27FC236}">
                  <a16:creationId xmlns:a16="http://schemas.microsoft.com/office/drawing/2014/main" id="{8B877F16-EC01-4EC1-020E-A08A7691BFA1}"/>
                </a:ext>
              </a:extLst>
            </p:cNvPr>
            <p:cNvGrpSpPr/>
            <p:nvPr/>
          </p:nvGrpSpPr>
          <p:grpSpPr>
            <a:xfrm>
              <a:off x="15239999" y="6134100"/>
              <a:ext cx="657718" cy="679351"/>
              <a:chOff x="15239999" y="6134100"/>
              <a:chExt cx="657718" cy="679351"/>
            </a:xfrm>
          </p:grpSpPr>
          <p:sp>
            <p:nvSpPr>
              <p:cNvPr id="42" name="مستطيل 41">
                <a:extLst>
                  <a:ext uri="{FF2B5EF4-FFF2-40B4-BE49-F238E27FC236}">
                    <a16:creationId xmlns:a16="http://schemas.microsoft.com/office/drawing/2014/main" id="{F9AB28DB-2F67-2557-24C9-586E089A2E6A}"/>
                  </a:ext>
                </a:extLst>
              </p:cNvPr>
              <p:cNvSpPr/>
              <p:nvPr/>
            </p:nvSpPr>
            <p:spPr>
              <a:xfrm>
                <a:off x="15240000" y="6134100"/>
                <a:ext cx="657717" cy="679351"/>
              </a:xfrm>
              <a:prstGeom prst="rect">
                <a:avLst/>
              </a:prstGeom>
              <a:solidFill>
                <a:schemeClr val="bg1"/>
              </a:solidFill>
              <a:ln w="7620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2" name="TextBox 37">
                <a:extLst>
                  <a:ext uri="{FF2B5EF4-FFF2-40B4-BE49-F238E27FC236}">
                    <a16:creationId xmlns:a16="http://schemas.microsoft.com/office/drawing/2014/main" id="{8E335ECC-917E-EA2E-D6FE-782F0A844FEE}"/>
                  </a:ext>
                </a:extLst>
              </p:cNvPr>
              <p:cNvSpPr txBox="1"/>
              <p:nvPr/>
            </p:nvSpPr>
            <p:spPr>
              <a:xfrm>
                <a:off x="15239999" y="6216130"/>
                <a:ext cx="657718" cy="584775"/>
              </a:xfrm>
              <a:prstGeom prst="rect">
                <a:avLst/>
              </a:prstGeom>
            </p:spPr>
            <p:txBody>
              <a:bodyPr wrap="square" lIns="0" tIns="0" rIns="0" bIns="0" rtlCol="0" anchor="t">
                <a:spAutoFit/>
              </a:bodyPr>
              <a:lstStyle/>
              <a:p>
                <a:pPr algn="ctr" rtl="1">
                  <a:lnSpc>
                    <a:spcPts val="4771"/>
                  </a:lnSpc>
                </a:pPr>
                <a:r>
                  <a:rPr lang="ar-SA" sz="3200" b="1" dirty="0">
                    <a:solidFill>
                      <a:srgbClr val="000000"/>
                    </a:solidFill>
                    <a:latin typeface="PT Bold Heading"/>
                    <a:cs typeface="PT Bold Heading" panose="02010400000000000000" pitchFamily="2" charset="-78"/>
                  </a:rPr>
                  <a:t>أ</a:t>
                </a:r>
                <a:endParaRPr lang="en-US" sz="3200" b="1" dirty="0">
                  <a:solidFill>
                    <a:srgbClr val="000000"/>
                  </a:solidFill>
                  <a:latin typeface="PT Bold Heading"/>
                  <a:cs typeface="PT Bold Heading" panose="02010400000000000000" pitchFamily="2" charset="-78"/>
                </a:endParaRPr>
              </a:p>
            </p:txBody>
          </p:sp>
        </p:grpSp>
      </p:grpSp>
      <p:grpSp>
        <p:nvGrpSpPr>
          <p:cNvPr id="57" name="مجموعة 56">
            <a:extLst>
              <a:ext uri="{FF2B5EF4-FFF2-40B4-BE49-F238E27FC236}">
                <a16:creationId xmlns:a16="http://schemas.microsoft.com/office/drawing/2014/main" id="{4F89456B-585C-7352-732E-5A6C691F0592}"/>
              </a:ext>
            </a:extLst>
          </p:cNvPr>
          <p:cNvGrpSpPr/>
          <p:nvPr/>
        </p:nvGrpSpPr>
        <p:grpSpPr>
          <a:xfrm>
            <a:off x="9225635" y="5431290"/>
            <a:ext cx="3479629" cy="1997170"/>
            <a:chOff x="9392234" y="6115513"/>
            <a:chExt cx="3479629" cy="1997170"/>
          </a:xfrm>
        </p:grpSpPr>
        <p:sp>
          <p:nvSpPr>
            <p:cNvPr id="34" name="Freeform 13">
              <a:extLst>
                <a:ext uri="{FF2B5EF4-FFF2-40B4-BE49-F238E27FC236}">
                  <a16:creationId xmlns:a16="http://schemas.microsoft.com/office/drawing/2014/main" id="{D092E546-0095-520E-81AD-FE564C716EEC}"/>
                </a:ext>
              </a:extLst>
            </p:cNvPr>
            <p:cNvSpPr/>
            <p:nvPr/>
          </p:nvSpPr>
          <p:spPr>
            <a:xfrm>
              <a:off x="9392234" y="6632756"/>
              <a:ext cx="3479629" cy="1479927"/>
            </a:xfrm>
            <a:custGeom>
              <a:avLst/>
              <a:gdLst/>
              <a:ahLst/>
              <a:cxnLst/>
              <a:rect l="l" t="t" r="r" b="b"/>
              <a:pathLst>
                <a:path w="578832" h="197911">
                  <a:moveTo>
                    <a:pt x="28680" y="0"/>
                  </a:moveTo>
                  <a:lnTo>
                    <a:pt x="550152" y="0"/>
                  </a:lnTo>
                  <a:cubicBezTo>
                    <a:pt x="557759" y="0"/>
                    <a:pt x="565053" y="3022"/>
                    <a:pt x="570432" y="8400"/>
                  </a:cubicBezTo>
                  <a:cubicBezTo>
                    <a:pt x="575811" y="13779"/>
                    <a:pt x="578832" y="21074"/>
                    <a:pt x="578832" y="28680"/>
                  </a:cubicBezTo>
                  <a:lnTo>
                    <a:pt x="578832" y="169231"/>
                  </a:lnTo>
                  <a:cubicBezTo>
                    <a:pt x="578832" y="176837"/>
                    <a:pt x="575811" y="184132"/>
                    <a:pt x="570432" y="189511"/>
                  </a:cubicBezTo>
                  <a:cubicBezTo>
                    <a:pt x="565053" y="194889"/>
                    <a:pt x="557759" y="197911"/>
                    <a:pt x="550152" y="197911"/>
                  </a:cubicBezTo>
                  <a:lnTo>
                    <a:pt x="28680" y="197911"/>
                  </a:lnTo>
                  <a:cubicBezTo>
                    <a:pt x="21074" y="197911"/>
                    <a:pt x="13779" y="194889"/>
                    <a:pt x="8400" y="189511"/>
                  </a:cubicBezTo>
                  <a:cubicBezTo>
                    <a:pt x="3022" y="184132"/>
                    <a:pt x="0" y="176837"/>
                    <a:pt x="0" y="169231"/>
                  </a:cubicBezTo>
                  <a:lnTo>
                    <a:pt x="0" y="28680"/>
                  </a:lnTo>
                  <a:cubicBezTo>
                    <a:pt x="0" y="21074"/>
                    <a:pt x="3022" y="13779"/>
                    <a:pt x="8400" y="8400"/>
                  </a:cubicBezTo>
                  <a:cubicBezTo>
                    <a:pt x="13779" y="3022"/>
                    <a:pt x="21074" y="0"/>
                    <a:pt x="28680" y="0"/>
                  </a:cubicBezTo>
                  <a:close/>
                </a:path>
              </a:pathLst>
            </a:custGeom>
            <a:solidFill>
              <a:srgbClr val="A1CCD1">
                <a:alpha val="55686"/>
              </a:srgbClr>
            </a:solidFill>
            <a:ln>
              <a:noFill/>
            </a:ln>
          </p:spPr>
          <p:txBody>
            <a:bodyPr/>
            <a:lstStyle/>
            <a:p>
              <a:pPr algn="ctr" rtl="1">
                <a:lnSpc>
                  <a:spcPct val="200000"/>
                </a:lnSpc>
              </a:pPr>
              <a:endParaRPr lang="ar-SA" sz="3600" dirty="0">
                <a:cs typeface="PT Bold Heading" panose="02010400000000000000" pitchFamily="2" charset="-78"/>
              </a:endParaRPr>
            </a:p>
          </p:txBody>
        </p:sp>
        <p:grpSp>
          <p:nvGrpSpPr>
            <p:cNvPr id="44" name="مجموعة 43">
              <a:extLst>
                <a:ext uri="{FF2B5EF4-FFF2-40B4-BE49-F238E27FC236}">
                  <a16:creationId xmlns:a16="http://schemas.microsoft.com/office/drawing/2014/main" id="{18CA32A5-980E-ED20-ACF3-B0ED2F1900EE}"/>
                </a:ext>
              </a:extLst>
            </p:cNvPr>
            <p:cNvGrpSpPr/>
            <p:nvPr/>
          </p:nvGrpSpPr>
          <p:grpSpPr>
            <a:xfrm>
              <a:off x="10696468" y="6115513"/>
              <a:ext cx="657718" cy="679351"/>
              <a:chOff x="15239999" y="6134100"/>
              <a:chExt cx="657718" cy="679351"/>
            </a:xfrm>
          </p:grpSpPr>
          <p:sp>
            <p:nvSpPr>
              <p:cNvPr id="45" name="مستطيل 44">
                <a:extLst>
                  <a:ext uri="{FF2B5EF4-FFF2-40B4-BE49-F238E27FC236}">
                    <a16:creationId xmlns:a16="http://schemas.microsoft.com/office/drawing/2014/main" id="{3AA04C12-CE3D-70E7-039D-0BE41ED67B1E}"/>
                  </a:ext>
                </a:extLst>
              </p:cNvPr>
              <p:cNvSpPr/>
              <p:nvPr/>
            </p:nvSpPr>
            <p:spPr>
              <a:xfrm>
                <a:off x="15240000" y="6134100"/>
                <a:ext cx="657717" cy="679351"/>
              </a:xfrm>
              <a:prstGeom prst="rect">
                <a:avLst/>
              </a:prstGeom>
              <a:solidFill>
                <a:schemeClr val="bg1"/>
              </a:solidFill>
              <a:ln w="7620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6" name="TextBox 37">
                <a:extLst>
                  <a:ext uri="{FF2B5EF4-FFF2-40B4-BE49-F238E27FC236}">
                    <a16:creationId xmlns:a16="http://schemas.microsoft.com/office/drawing/2014/main" id="{862FEB8A-1DE1-F347-CE38-AE284D1E9150}"/>
                  </a:ext>
                </a:extLst>
              </p:cNvPr>
              <p:cNvSpPr txBox="1"/>
              <p:nvPr/>
            </p:nvSpPr>
            <p:spPr>
              <a:xfrm>
                <a:off x="15239999" y="6163312"/>
                <a:ext cx="657718" cy="584775"/>
              </a:xfrm>
              <a:prstGeom prst="rect">
                <a:avLst/>
              </a:prstGeom>
            </p:spPr>
            <p:txBody>
              <a:bodyPr wrap="square" lIns="0" tIns="0" rIns="0" bIns="0" rtlCol="0" anchor="t">
                <a:spAutoFit/>
              </a:bodyPr>
              <a:lstStyle/>
              <a:p>
                <a:pPr algn="ctr" rtl="1">
                  <a:lnSpc>
                    <a:spcPts val="4771"/>
                  </a:lnSpc>
                </a:pPr>
                <a:r>
                  <a:rPr lang="ar-SA" sz="3200" b="1" dirty="0">
                    <a:solidFill>
                      <a:srgbClr val="000000"/>
                    </a:solidFill>
                    <a:latin typeface="PT Bold Heading"/>
                    <a:cs typeface="PT Bold Heading" panose="02010400000000000000" pitchFamily="2" charset="-78"/>
                  </a:rPr>
                  <a:t>ب</a:t>
                </a:r>
                <a:endParaRPr lang="en-US" sz="3200" b="1" dirty="0">
                  <a:solidFill>
                    <a:srgbClr val="000000"/>
                  </a:solidFill>
                  <a:latin typeface="PT Bold Heading"/>
                  <a:cs typeface="PT Bold Heading" panose="02010400000000000000" pitchFamily="2" charset="-78"/>
                </a:endParaRPr>
              </a:p>
            </p:txBody>
          </p:sp>
        </p:grpSp>
      </p:grpSp>
      <p:grpSp>
        <p:nvGrpSpPr>
          <p:cNvPr id="56" name="مجموعة 55">
            <a:extLst>
              <a:ext uri="{FF2B5EF4-FFF2-40B4-BE49-F238E27FC236}">
                <a16:creationId xmlns:a16="http://schemas.microsoft.com/office/drawing/2014/main" id="{8199028D-DC24-D359-A035-960887AE220E}"/>
              </a:ext>
            </a:extLst>
          </p:cNvPr>
          <p:cNvGrpSpPr/>
          <p:nvPr/>
        </p:nvGrpSpPr>
        <p:grpSpPr>
          <a:xfrm>
            <a:off x="10535051" y="5443469"/>
            <a:ext cx="662615" cy="679351"/>
            <a:chOff x="8330073" y="5837753"/>
            <a:chExt cx="662615" cy="679351"/>
          </a:xfrm>
        </p:grpSpPr>
        <p:sp>
          <p:nvSpPr>
            <p:cNvPr id="54" name="مستطيل 53">
              <a:extLst>
                <a:ext uri="{FF2B5EF4-FFF2-40B4-BE49-F238E27FC236}">
                  <a16:creationId xmlns:a16="http://schemas.microsoft.com/office/drawing/2014/main" id="{0079C33C-063D-CA99-4EA4-084ABA7A0C4F}"/>
                </a:ext>
              </a:extLst>
            </p:cNvPr>
            <p:cNvSpPr/>
            <p:nvPr/>
          </p:nvSpPr>
          <p:spPr>
            <a:xfrm>
              <a:off x="8334971" y="5837753"/>
              <a:ext cx="657717" cy="679351"/>
            </a:xfrm>
            <a:prstGeom prst="rect">
              <a:avLst/>
            </a:prstGeom>
            <a:solidFill>
              <a:srgbClr val="C00000"/>
            </a:solidFill>
            <a:ln w="7620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ar-SA" dirty="0">
                <a:solidFill>
                  <a:schemeClr val="bg1"/>
                </a:solidFill>
              </a:endParaRPr>
            </a:p>
          </p:txBody>
        </p:sp>
        <p:sp>
          <p:nvSpPr>
            <p:cNvPr id="55" name="TextBox 37">
              <a:extLst>
                <a:ext uri="{FF2B5EF4-FFF2-40B4-BE49-F238E27FC236}">
                  <a16:creationId xmlns:a16="http://schemas.microsoft.com/office/drawing/2014/main" id="{4650F488-A3C1-94ED-A958-E42D2A067DF8}"/>
                </a:ext>
              </a:extLst>
            </p:cNvPr>
            <p:cNvSpPr txBox="1"/>
            <p:nvPr/>
          </p:nvSpPr>
          <p:spPr>
            <a:xfrm>
              <a:off x="8330073" y="5881003"/>
              <a:ext cx="657718" cy="584775"/>
            </a:xfrm>
            <a:prstGeom prst="rect">
              <a:avLst/>
            </a:prstGeom>
          </p:spPr>
          <p:txBody>
            <a:bodyPr wrap="square" lIns="0" tIns="0" rIns="0" bIns="0" rtlCol="0" anchor="t">
              <a:spAutoFit/>
            </a:bodyPr>
            <a:lstStyle/>
            <a:p>
              <a:pPr algn="ctr" rtl="1">
                <a:lnSpc>
                  <a:spcPts val="4771"/>
                </a:lnSpc>
              </a:pPr>
              <a:r>
                <a:rPr lang="ar-SA" sz="3200" b="1" dirty="0">
                  <a:solidFill>
                    <a:schemeClr val="bg1"/>
                  </a:solidFill>
                  <a:latin typeface="PT Bold Heading"/>
                  <a:cs typeface="PT Bold Heading" panose="02010400000000000000" pitchFamily="2" charset="-78"/>
                </a:rPr>
                <a:t>ب</a:t>
              </a:r>
              <a:endParaRPr lang="en-US" sz="3200" b="1" dirty="0">
                <a:solidFill>
                  <a:schemeClr val="bg1"/>
                </a:solidFill>
                <a:latin typeface="PT Bold Heading"/>
                <a:cs typeface="PT Bold Heading" panose="02010400000000000000" pitchFamily="2" charset="-78"/>
              </a:endParaRPr>
            </a:p>
          </p:txBody>
        </p:sp>
      </p:grpSp>
      <p:grpSp>
        <p:nvGrpSpPr>
          <p:cNvPr id="7" name="مجموعة 6">
            <a:extLst>
              <a:ext uri="{FF2B5EF4-FFF2-40B4-BE49-F238E27FC236}">
                <a16:creationId xmlns:a16="http://schemas.microsoft.com/office/drawing/2014/main" id="{DB0B8B47-D16C-9A1D-92DC-662F39F37EB5}"/>
              </a:ext>
            </a:extLst>
          </p:cNvPr>
          <p:cNvGrpSpPr/>
          <p:nvPr/>
        </p:nvGrpSpPr>
        <p:grpSpPr>
          <a:xfrm>
            <a:off x="5287550" y="5406451"/>
            <a:ext cx="3479629" cy="2022009"/>
            <a:chOff x="5334000" y="6090674"/>
            <a:chExt cx="3479629" cy="2022009"/>
          </a:xfrm>
        </p:grpSpPr>
        <p:grpSp>
          <p:nvGrpSpPr>
            <p:cNvPr id="59" name="مجموعة 58">
              <a:extLst>
                <a:ext uri="{FF2B5EF4-FFF2-40B4-BE49-F238E27FC236}">
                  <a16:creationId xmlns:a16="http://schemas.microsoft.com/office/drawing/2014/main" id="{F7E358B9-74FB-E461-3DCE-674EA3CB4057}"/>
                </a:ext>
              </a:extLst>
            </p:cNvPr>
            <p:cNvGrpSpPr/>
            <p:nvPr/>
          </p:nvGrpSpPr>
          <p:grpSpPr>
            <a:xfrm>
              <a:off x="5334000" y="6090674"/>
              <a:ext cx="3479629" cy="2022009"/>
              <a:chOff x="5067044" y="6090674"/>
              <a:chExt cx="3479629" cy="2022009"/>
            </a:xfrm>
          </p:grpSpPr>
          <p:sp>
            <p:nvSpPr>
              <p:cNvPr id="35" name="Freeform 16">
                <a:extLst>
                  <a:ext uri="{FF2B5EF4-FFF2-40B4-BE49-F238E27FC236}">
                    <a16:creationId xmlns:a16="http://schemas.microsoft.com/office/drawing/2014/main" id="{710E649F-08C1-8EAF-8A8A-6ED5101E2C8E}"/>
                  </a:ext>
                </a:extLst>
              </p:cNvPr>
              <p:cNvSpPr/>
              <p:nvPr/>
            </p:nvSpPr>
            <p:spPr>
              <a:xfrm>
                <a:off x="5067044" y="6632756"/>
                <a:ext cx="3479629" cy="1479927"/>
              </a:xfrm>
              <a:custGeom>
                <a:avLst/>
                <a:gdLst/>
                <a:ahLst/>
                <a:cxnLst/>
                <a:rect l="l" t="t" r="r" b="b"/>
                <a:pathLst>
                  <a:path w="578832" h="197911">
                    <a:moveTo>
                      <a:pt x="28680" y="0"/>
                    </a:moveTo>
                    <a:lnTo>
                      <a:pt x="550152" y="0"/>
                    </a:lnTo>
                    <a:cubicBezTo>
                      <a:pt x="557759" y="0"/>
                      <a:pt x="565053" y="3022"/>
                      <a:pt x="570432" y="8400"/>
                    </a:cubicBezTo>
                    <a:cubicBezTo>
                      <a:pt x="575811" y="13779"/>
                      <a:pt x="578832" y="21074"/>
                      <a:pt x="578832" y="28680"/>
                    </a:cubicBezTo>
                    <a:lnTo>
                      <a:pt x="578832" y="169231"/>
                    </a:lnTo>
                    <a:cubicBezTo>
                      <a:pt x="578832" y="176837"/>
                      <a:pt x="575811" y="184132"/>
                      <a:pt x="570432" y="189511"/>
                    </a:cubicBezTo>
                    <a:cubicBezTo>
                      <a:pt x="565053" y="194889"/>
                      <a:pt x="557759" y="197911"/>
                      <a:pt x="550152" y="197911"/>
                    </a:cubicBezTo>
                    <a:lnTo>
                      <a:pt x="28680" y="197911"/>
                    </a:lnTo>
                    <a:cubicBezTo>
                      <a:pt x="21074" y="197911"/>
                      <a:pt x="13779" y="194889"/>
                      <a:pt x="8400" y="189511"/>
                    </a:cubicBezTo>
                    <a:cubicBezTo>
                      <a:pt x="3022" y="184132"/>
                      <a:pt x="0" y="176837"/>
                      <a:pt x="0" y="169231"/>
                    </a:cubicBezTo>
                    <a:lnTo>
                      <a:pt x="0" y="28680"/>
                    </a:lnTo>
                    <a:cubicBezTo>
                      <a:pt x="0" y="21074"/>
                      <a:pt x="3022" y="13779"/>
                      <a:pt x="8400" y="8400"/>
                    </a:cubicBezTo>
                    <a:cubicBezTo>
                      <a:pt x="13779" y="3022"/>
                      <a:pt x="21074" y="0"/>
                      <a:pt x="28680" y="0"/>
                    </a:cubicBezTo>
                    <a:close/>
                  </a:path>
                </a:pathLst>
              </a:custGeom>
              <a:solidFill>
                <a:srgbClr val="A1CCD1">
                  <a:alpha val="55686"/>
                </a:srgbClr>
              </a:solidFill>
              <a:ln>
                <a:noFill/>
              </a:ln>
            </p:spPr>
            <p:txBody>
              <a:bodyPr/>
              <a:lstStyle/>
              <a:p>
                <a:pPr algn="ctr" rtl="1"/>
                <a:endParaRPr lang="ar-SA" sz="3600" dirty="0">
                  <a:solidFill>
                    <a:srgbClr val="28443B"/>
                  </a:solidFill>
                  <a:cs typeface="PT Bold Heading" panose="02010400000000000000" pitchFamily="2" charset="-78"/>
                </a:endParaRPr>
              </a:p>
            </p:txBody>
          </p:sp>
          <p:grpSp>
            <p:nvGrpSpPr>
              <p:cNvPr id="47" name="مجموعة 46">
                <a:extLst>
                  <a:ext uri="{FF2B5EF4-FFF2-40B4-BE49-F238E27FC236}">
                    <a16:creationId xmlns:a16="http://schemas.microsoft.com/office/drawing/2014/main" id="{EDA9C1D0-D5EF-8A06-D6C7-460164E2E0A0}"/>
                  </a:ext>
                </a:extLst>
              </p:cNvPr>
              <p:cNvGrpSpPr/>
              <p:nvPr/>
            </p:nvGrpSpPr>
            <p:grpSpPr>
              <a:xfrm>
                <a:off x="6408700" y="6090674"/>
                <a:ext cx="676981" cy="692875"/>
                <a:chOff x="15220736" y="6120576"/>
                <a:chExt cx="676981" cy="692875"/>
              </a:xfrm>
            </p:grpSpPr>
            <p:sp>
              <p:nvSpPr>
                <p:cNvPr id="48" name="مستطيل 47">
                  <a:extLst>
                    <a:ext uri="{FF2B5EF4-FFF2-40B4-BE49-F238E27FC236}">
                      <a16:creationId xmlns:a16="http://schemas.microsoft.com/office/drawing/2014/main" id="{FFBEBC5C-866E-5282-087B-4100E6ED99F0}"/>
                    </a:ext>
                  </a:extLst>
                </p:cNvPr>
                <p:cNvSpPr/>
                <p:nvPr/>
              </p:nvSpPr>
              <p:spPr>
                <a:xfrm>
                  <a:off x="15240000" y="6134100"/>
                  <a:ext cx="657717" cy="679351"/>
                </a:xfrm>
                <a:prstGeom prst="rect">
                  <a:avLst/>
                </a:prstGeom>
                <a:solidFill>
                  <a:schemeClr val="bg1"/>
                </a:solidFill>
                <a:ln w="7620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9" name="TextBox 37">
                  <a:extLst>
                    <a:ext uri="{FF2B5EF4-FFF2-40B4-BE49-F238E27FC236}">
                      <a16:creationId xmlns:a16="http://schemas.microsoft.com/office/drawing/2014/main" id="{3CBC5733-4180-6015-0A0F-9685A565B464}"/>
                    </a:ext>
                  </a:extLst>
                </p:cNvPr>
                <p:cNvSpPr txBox="1"/>
                <p:nvPr/>
              </p:nvSpPr>
              <p:spPr>
                <a:xfrm>
                  <a:off x="15220736" y="6120576"/>
                  <a:ext cx="657718" cy="584775"/>
                </a:xfrm>
                <a:prstGeom prst="rect">
                  <a:avLst/>
                </a:prstGeom>
              </p:spPr>
              <p:txBody>
                <a:bodyPr wrap="square" lIns="0" tIns="0" rIns="0" bIns="0" rtlCol="0" anchor="t">
                  <a:spAutoFit/>
                </a:bodyPr>
                <a:lstStyle/>
                <a:p>
                  <a:pPr algn="ctr" rtl="1">
                    <a:lnSpc>
                      <a:spcPts val="4771"/>
                    </a:lnSpc>
                  </a:pPr>
                  <a:r>
                    <a:rPr lang="ar-SA" sz="3200" b="1" dirty="0">
                      <a:solidFill>
                        <a:srgbClr val="000000"/>
                      </a:solidFill>
                      <a:latin typeface="PT Bold Heading"/>
                      <a:cs typeface="PT Bold Heading" panose="02010400000000000000" pitchFamily="2" charset="-78"/>
                    </a:rPr>
                    <a:t>ج</a:t>
                  </a:r>
                  <a:endParaRPr lang="en-US" sz="3200" b="1" dirty="0">
                    <a:solidFill>
                      <a:srgbClr val="000000"/>
                    </a:solidFill>
                    <a:latin typeface="PT Bold Heading"/>
                    <a:cs typeface="PT Bold Heading" panose="02010400000000000000" pitchFamily="2" charset="-78"/>
                  </a:endParaRPr>
                </a:p>
              </p:txBody>
            </p:sp>
          </p:grpSp>
        </p:grpSp>
        <p:sp>
          <p:nvSpPr>
            <p:cNvPr id="2" name="مربع نص 1">
              <a:extLst>
                <a:ext uri="{FF2B5EF4-FFF2-40B4-BE49-F238E27FC236}">
                  <a16:creationId xmlns:a16="http://schemas.microsoft.com/office/drawing/2014/main" id="{72D29DDB-624C-B697-D596-D131B05D1B60}"/>
                </a:ext>
              </a:extLst>
            </p:cNvPr>
            <p:cNvSpPr txBox="1"/>
            <p:nvPr/>
          </p:nvSpPr>
          <p:spPr>
            <a:xfrm>
              <a:off x="5632915" y="6927388"/>
              <a:ext cx="2743200" cy="1077218"/>
            </a:xfrm>
            <a:prstGeom prst="rect">
              <a:avLst/>
            </a:prstGeom>
            <a:noFill/>
          </p:spPr>
          <p:txBody>
            <a:bodyPr wrap="square" rtlCol="1">
              <a:spAutoFit/>
            </a:bodyPr>
            <a:lstStyle/>
            <a:p>
              <a:pPr algn="ctr" rtl="1"/>
              <a:r>
                <a:rPr lang="en-US" sz="3200" dirty="0" err="1">
                  <a:solidFill>
                    <a:srgbClr val="091B31"/>
                  </a:solidFill>
                  <a:cs typeface="PT Bold Heading" panose="02010400000000000000" pitchFamily="2" charset="-78"/>
                </a:rPr>
                <a:t>مخطط</a:t>
              </a:r>
              <a:r>
                <a:rPr lang="en-US" sz="3200" dirty="0">
                  <a:solidFill>
                    <a:srgbClr val="091B31"/>
                  </a:solidFill>
                  <a:cs typeface="PT Bold Heading" panose="02010400000000000000" pitchFamily="2" charset="-78"/>
                </a:rPr>
                <a:t> </a:t>
              </a:r>
              <a:r>
                <a:rPr lang="en-US" sz="3200" dirty="0" err="1">
                  <a:solidFill>
                    <a:srgbClr val="091B31"/>
                  </a:solidFill>
                  <a:cs typeface="PT Bold Heading" panose="02010400000000000000" pitchFamily="2" charset="-78"/>
                </a:rPr>
                <a:t>حالة</a:t>
              </a:r>
              <a:r>
                <a:rPr lang="en-US" sz="3200" dirty="0">
                  <a:solidFill>
                    <a:srgbClr val="091B31"/>
                  </a:solidFill>
                  <a:cs typeface="PT Bold Heading" panose="02010400000000000000" pitchFamily="2" charset="-78"/>
                </a:rPr>
                <a:t> </a:t>
              </a:r>
              <a:r>
                <a:rPr lang="en-US" sz="3200" dirty="0" err="1">
                  <a:solidFill>
                    <a:srgbClr val="091B31"/>
                  </a:solidFill>
                  <a:cs typeface="PT Bold Heading" panose="02010400000000000000" pitchFamily="2" charset="-78"/>
                </a:rPr>
                <a:t>الاستخدام</a:t>
              </a:r>
              <a:endParaRPr lang="ar-SA" sz="3200" dirty="0">
                <a:solidFill>
                  <a:srgbClr val="000000"/>
                </a:solidFill>
                <a:cs typeface="PT Bold Heading" panose="02010400000000000000" pitchFamily="2" charset="-78"/>
              </a:endParaRPr>
            </a:p>
          </p:txBody>
        </p:sp>
      </p:grpSp>
      <p:sp>
        <p:nvSpPr>
          <p:cNvPr id="9" name="مربع نص 8">
            <a:extLst>
              <a:ext uri="{FF2B5EF4-FFF2-40B4-BE49-F238E27FC236}">
                <a16:creationId xmlns:a16="http://schemas.microsoft.com/office/drawing/2014/main" id="{89FECA75-EB50-FBBD-224C-D1ED4F830F36}"/>
              </a:ext>
            </a:extLst>
          </p:cNvPr>
          <p:cNvSpPr txBox="1"/>
          <p:nvPr/>
        </p:nvSpPr>
        <p:spPr>
          <a:xfrm>
            <a:off x="13163720" y="5991226"/>
            <a:ext cx="3600936" cy="1061829"/>
          </a:xfrm>
          <a:prstGeom prst="rect">
            <a:avLst/>
          </a:prstGeom>
          <a:noFill/>
        </p:spPr>
        <p:txBody>
          <a:bodyPr wrap="square" rtlCol="1">
            <a:spAutoFit/>
          </a:bodyPr>
          <a:lstStyle/>
          <a:p>
            <a:pPr algn="ctr" rtl="1">
              <a:lnSpc>
                <a:spcPct val="200000"/>
              </a:lnSpc>
            </a:pPr>
            <a:r>
              <a:rPr lang="en-US" sz="3600" dirty="0" err="1">
                <a:solidFill>
                  <a:srgbClr val="091B31"/>
                </a:solidFill>
                <a:cs typeface="PT Bold Heading" panose="02010400000000000000" pitchFamily="2" charset="-78"/>
              </a:rPr>
              <a:t>مخطط</a:t>
            </a:r>
            <a:r>
              <a:rPr lang="en-US" sz="3600" dirty="0">
                <a:solidFill>
                  <a:srgbClr val="091B31"/>
                </a:solidFill>
                <a:cs typeface="PT Bold Heading" panose="02010400000000000000" pitchFamily="2" charset="-78"/>
              </a:rPr>
              <a:t> </a:t>
            </a:r>
            <a:r>
              <a:rPr lang="en-US" sz="3600" dirty="0" err="1">
                <a:solidFill>
                  <a:srgbClr val="091B31"/>
                </a:solidFill>
                <a:cs typeface="PT Bold Heading" panose="02010400000000000000" pitchFamily="2" charset="-78"/>
              </a:rPr>
              <a:t>سير</a:t>
            </a:r>
            <a:r>
              <a:rPr lang="en-US" sz="3600" dirty="0">
                <a:solidFill>
                  <a:srgbClr val="091B31"/>
                </a:solidFill>
                <a:cs typeface="PT Bold Heading" panose="02010400000000000000" pitchFamily="2" charset="-78"/>
              </a:rPr>
              <a:t> </a:t>
            </a:r>
            <a:r>
              <a:rPr lang="en-US" sz="3600" dirty="0" err="1">
                <a:solidFill>
                  <a:srgbClr val="091B31"/>
                </a:solidFill>
                <a:cs typeface="PT Bold Heading" panose="02010400000000000000" pitchFamily="2" charset="-78"/>
              </a:rPr>
              <a:t>العمل</a:t>
            </a:r>
            <a:endParaRPr lang="ar-SA" sz="3600" dirty="0">
              <a:solidFill>
                <a:srgbClr val="000000"/>
              </a:solidFill>
              <a:cs typeface="PT Bold Heading" panose="02010400000000000000" pitchFamily="2" charset="-78"/>
            </a:endParaRPr>
          </a:p>
        </p:txBody>
      </p:sp>
      <p:sp>
        <p:nvSpPr>
          <p:cNvPr id="12" name="مربع نص 11">
            <a:extLst>
              <a:ext uri="{FF2B5EF4-FFF2-40B4-BE49-F238E27FC236}">
                <a16:creationId xmlns:a16="http://schemas.microsoft.com/office/drawing/2014/main" id="{F88AA670-C6AE-BC71-8C17-140AE8F0870B}"/>
              </a:ext>
            </a:extLst>
          </p:cNvPr>
          <p:cNvSpPr txBox="1"/>
          <p:nvPr/>
        </p:nvSpPr>
        <p:spPr>
          <a:xfrm>
            <a:off x="9236520" y="6053719"/>
            <a:ext cx="3321735" cy="1061829"/>
          </a:xfrm>
          <a:prstGeom prst="rect">
            <a:avLst/>
          </a:prstGeom>
          <a:noFill/>
        </p:spPr>
        <p:txBody>
          <a:bodyPr wrap="square">
            <a:spAutoFit/>
          </a:bodyPr>
          <a:lstStyle/>
          <a:p>
            <a:pPr algn="ctr" rtl="1">
              <a:lnSpc>
                <a:spcPct val="200000"/>
              </a:lnSpc>
            </a:pPr>
            <a:r>
              <a:rPr lang="en-US" sz="3600" dirty="0" err="1">
                <a:solidFill>
                  <a:srgbClr val="050A30"/>
                </a:solidFill>
                <a:cs typeface="PT Bold Heading" panose="02010400000000000000" pitchFamily="2" charset="-78"/>
              </a:rPr>
              <a:t>المخطط</a:t>
            </a:r>
            <a:r>
              <a:rPr lang="en-US" sz="3600" dirty="0">
                <a:solidFill>
                  <a:srgbClr val="050A30"/>
                </a:solidFill>
                <a:cs typeface="PT Bold Heading" panose="02010400000000000000" pitchFamily="2" charset="-78"/>
              </a:rPr>
              <a:t> </a:t>
            </a:r>
            <a:r>
              <a:rPr lang="en-US" sz="3600" dirty="0" err="1">
                <a:solidFill>
                  <a:srgbClr val="050A30"/>
                </a:solidFill>
                <a:cs typeface="PT Bold Heading" panose="02010400000000000000" pitchFamily="2" charset="-78"/>
              </a:rPr>
              <a:t>الهيكلي</a:t>
            </a:r>
            <a:endParaRPr lang="ar-SA" sz="3600" dirty="0">
              <a:solidFill>
                <a:srgbClr val="000000"/>
              </a:solidFill>
              <a:cs typeface="PT Bold Heading" panose="02010400000000000000" pitchFamily="2" charset="-78"/>
            </a:endParaRPr>
          </a:p>
        </p:txBody>
      </p:sp>
    </p:spTree>
    <p:extLst>
      <p:ext uri="{BB962C8B-B14F-4D97-AF65-F5344CB8AC3E}">
        <p14:creationId xmlns:p14="http://schemas.microsoft.com/office/powerpoint/2010/main" val="8821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فيديو واتساب بتاريخ 1445-03-09 في 21.32.14">
            <a:hlinkClick r:id="" action="ppaction://media"/>
            <a:extLst>
              <a:ext uri="{FF2B5EF4-FFF2-40B4-BE49-F238E27FC236}">
                <a16:creationId xmlns:a16="http://schemas.microsoft.com/office/drawing/2014/main" id="{AC9F2D9D-E898-C519-9986-5B01B2BDEBD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371600" y="1028700"/>
            <a:ext cx="14685265" cy="6927011"/>
          </a:xfrm>
          <a:prstGeom prst="rect">
            <a:avLst/>
          </a:prstGeom>
          <a:ln>
            <a:noFill/>
          </a:ln>
          <a:effectLst>
            <a:outerShdw blurRad="292100" dist="139700" dir="2700000" algn="tl" rotWithShape="0">
              <a:srgbClr val="333333">
                <a:alpha val="65000"/>
              </a:srgbClr>
            </a:outerShdw>
          </a:effectLst>
        </p:spPr>
      </p:pic>
      <p:grpSp>
        <p:nvGrpSpPr>
          <p:cNvPr id="3" name="Group 16">
            <a:extLst>
              <a:ext uri="{FF2B5EF4-FFF2-40B4-BE49-F238E27FC236}">
                <a16:creationId xmlns:a16="http://schemas.microsoft.com/office/drawing/2014/main" id="{678EFC34-B7AB-6B0C-2E19-D2559E749B14}"/>
              </a:ext>
            </a:extLst>
          </p:cNvPr>
          <p:cNvGrpSpPr/>
          <p:nvPr/>
        </p:nvGrpSpPr>
        <p:grpSpPr>
          <a:xfrm>
            <a:off x="13258800" y="6515100"/>
            <a:ext cx="5029200" cy="827723"/>
            <a:chOff x="0" y="-20565"/>
            <a:chExt cx="16852898" cy="1103631"/>
          </a:xfrm>
        </p:grpSpPr>
        <p:sp>
          <p:nvSpPr>
            <p:cNvPr id="4" name="Freeform 18">
              <a:extLst>
                <a:ext uri="{FF2B5EF4-FFF2-40B4-BE49-F238E27FC236}">
                  <a16:creationId xmlns:a16="http://schemas.microsoft.com/office/drawing/2014/main" id="{B634319C-234E-79EE-8015-FE5C29B56A53}"/>
                </a:ext>
              </a:extLst>
            </p:cNvPr>
            <p:cNvSpPr/>
            <p:nvPr/>
          </p:nvSpPr>
          <p:spPr>
            <a:xfrm>
              <a:off x="203199" y="237002"/>
              <a:ext cx="16649699" cy="588498"/>
            </a:xfrm>
            <a:custGeom>
              <a:avLst/>
              <a:gdLst/>
              <a:ahLst/>
              <a:cxnLst/>
              <a:rect l="l" t="t" r="r" b="b"/>
              <a:pathLst>
                <a:path w="3070423" h="116247">
                  <a:moveTo>
                    <a:pt x="0" y="0"/>
                  </a:moveTo>
                  <a:lnTo>
                    <a:pt x="3070423" y="0"/>
                  </a:lnTo>
                  <a:lnTo>
                    <a:pt x="3070423" y="116247"/>
                  </a:lnTo>
                  <a:lnTo>
                    <a:pt x="0" y="116247"/>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5" name="Freeform 21">
              <a:extLst>
                <a:ext uri="{FF2B5EF4-FFF2-40B4-BE49-F238E27FC236}">
                  <a16:creationId xmlns:a16="http://schemas.microsoft.com/office/drawing/2014/main" id="{0ACF2EBB-DFBA-6DC6-3CA3-3618144C2A6D}"/>
                </a:ext>
              </a:extLst>
            </p:cNvPr>
            <p:cNvSpPr/>
            <p:nvPr/>
          </p:nvSpPr>
          <p:spPr>
            <a:xfrm>
              <a:off x="0" y="157171"/>
              <a:ext cx="14643685" cy="925895"/>
            </a:xfrm>
            <a:custGeom>
              <a:avLst/>
              <a:gdLst/>
              <a:ahLst/>
              <a:cxnLst/>
              <a:rect l="l" t="t" r="r" b="b"/>
              <a:pathLst>
                <a:path w="2892580" h="224929">
                  <a:moveTo>
                    <a:pt x="0" y="0"/>
                  </a:moveTo>
                  <a:lnTo>
                    <a:pt x="2892580" y="0"/>
                  </a:lnTo>
                  <a:lnTo>
                    <a:pt x="2892580" y="224929"/>
                  </a:lnTo>
                  <a:lnTo>
                    <a:pt x="0" y="224929"/>
                  </a:lnTo>
                  <a:close/>
                </a:path>
              </a:pathLst>
            </a:custGeom>
            <a:solidFill>
              <a:srgbClr val="FFF0C8"/>
            </a:solidFill>
            <a:ln>
              <a:noFill/>
            </a:ln>
          </p:spPr>
          <p:txBody>
            <a:bodyPr/>
            <a:lstStyle/>
            <a:p>
              <a:pPr algn="r" rtl="1"/>
              <a:endParaRPr lang="ar-SA" dirty="0">
                <a:cs typeface="PT Bold Heading" panose="02010400000000000000" pitchFamily="2" charset="-78"/>
              </a:endParaRPr>
            </a:p>
          </p:txBody>
        </p:sp>
        <p:sp>
          <p:nvSpPr>
            <p:cNvPr id="6" name="TextBox 23">
              <a:extLst>
                <a:ext uri="{FF2B5EF4-FFF2-40B4-BE49-F238E27FC236}">
                  <a16:creationId xmlns:a16="http://schemas.microsoft.com/office/drawing/2014/main" id="{DFBE7702-8E86-E26F-C821-738CAC41FA3E}"/>
                </a:ext>
              </a:extLst>
            </p:cNvPr>
            <p:cNvSpPr txBox="1"/>
            <p:nvPr/>
          </p:nvSpPr>
          <p:spPr>
            <a:xfrm>
              <a:off x="203199" y="-20565"/>
              <a:ext cx="13496413" cy="925895"/>
            </a:xfrm>
            <a:prstGeom prst="rect">
              <a:avLst/>
            </a:prstGeom>
          </p:spPr>
          <p:txBody>
            <a:bodyPr wrap="square" lIns="0" tIns="0" rIns="0" bIns="0" rtlCol="0" anchor="t">
              <a:spAutoFit/>
            </a:bodyPr>
            <a:lstStyle/>
            <a:p>
              <a:pPr algn="ctr" rtl="1">
                <a:lnSpc>
                  <a:spcPts val="6089"/>
                </a:lnSpc>
              </a:pPr>
              <a:r>
                <a:rPr lang="ar-SA" sz="2800" dirty="0">
                  <a:solidFill>
                    <a:srgbClr val="050A30"/>
                  </a:solidFill>
                  <a:cs typeface="PT Bold Heading" panose="02010400000000000000" pitchFamily="2" charset="-78"/>
                </a:rPr>
                <a:t>عزنا بطبعنا</a:t>
              </a:r>
              <a:endParaRPr lang="en-US" sz="2800" dirty="0">
                <a:solidFill>
                  <a:srgbClr val="050A30"/>
                </a:solidFill>
                <a:cs typeface="PT Bold Heading" panose="02010400000000000000" pitchFamily="2" charset="-78"/>
              </a:endParaRPr>
            </a:p>
          </p:txBody>
        </p:sp>
      </p:grpSp>
    </p:spTree>
    <p:extLst>
      <p:ext uri="{BB962C8B-B14F-4D97-AF65-F5344CB8AC3E}">
        <p14:creationId xmlns:p14="http://schemas.microsoft.com/office/powerpoint/2010/main" val="245068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57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38800" y="2400300"/>
            <a:ext cx="10982765" cy="4098974"/>
            <a:chOff x="0" y="0"/>
            <a:chExt cx="14643686" cy="5465298"/>
          </a:xfrm>
        </p:grpSpPr>
        <p:sp>
          <p:nvSpPr>
            <p:cNvPr id="4" name="Freeform 4"/>
            <p:cNvSpPr/>
            <p:nvPr/>
          </p:nvSpPr>
          <p:spPr>
            <a:xfrm>
              <a:off x="0" y="0"/>
              <a:ext cx="14643686" cy="5465298"/>
            </a:xfrm>
            <a:custGeom>
              <a:avLst/>
              <a:gdLst/>
              <a:ahLst/>
              <a:cxnLst/>
              <a:rect l="l" t="t" r="r" b="b"/>
              <a:pathLst>
                <a:path w="2892580" h="1079565">
                  <a:moveTo>
                    <a:pt x="4229" y="0"/>
                  </a:moveTo>
                  <a:lnTo>
                    <a:pt x="2888351" y="0"/>
                  </a:lnTo>
                  <a:cubicBezTo>
                    <a:pt x="2889472" y="0"/>
                    <a:pt x="2890548" y="446"/>
                    <a:pt x="2891341" y="1239"/>
                  </a:cubicBezTo>
                  <a:cubicBezTo>
                    <a:pt x="2892135" y="2032"/>
                    <a:pt x="2892580" y="3108"/>
                    <a:pt x="2892580" y="4229"/>
                  </a:cubicBezTo>
                  <a:lnTo>
                    <a:pt x="2892580" y="1075336"/>
                  </a:lnTo>
                  <a:cubicBezTo>
                    <a:pt x="2892580" y="1077672"/>
                    <a:pt x="2890686" y="1079565"/>
                    <a:pt x="2888351" y="1079565"/>
                  </a:cubicBezTo>
                  <a:lnTo>
                    <a:pt x="4229" y="1079565"/>
                  </a:lnTo>
                  <a:cubicBezTo>
                    <a:pt x="3108" y="1079565"/>
                    <a:pt x="2032" y="1079119"/>
                    <a:pt x="1239" y="1078326"/>
                  </a:cubicBezTo>
                  <a:cubicBezTo>
                    <a:pt x="446" y="1077533"/>
                    <a:pt x="0" y="1076457"/>
                    <a:pt x="0" y="1075336"/>
                  </a:cubicBezTo>
                  <a:lnTo>
                    <a:pt x="0" y="4229"/>
                  </a:lnTo>
                  <a:cubicBezTo>
                    <a:pt x="0" y="3108"/>
                    <a:pt x="446" y="2032"/>
                    <a:pt x="1239" y="1239"/>
                  </a:cubicBezTo>
                  <a:cubicBezTo>
                    <a:pt x="2032" y="446"/>
                    <a:pt x="3108" y="0"/>
                    <a:pt x="4229" y="0"/>
                  </a:cubicBezTo>
                  <a:close/>
                </a:path>
              </a:pathLst>
            </a:custGeom>
            <a:solidFill>
              <a:srgbClr val="1DA8A7"/>
            </a:solidFill>
            <a:ln>
              <a:noFill/>
            </a:ln>
          </p:spPr>
          <p:txBody>
            <a:bodyPr/>
            <a:lstStyle/>
            <a:p>
              <a:pPr algn="r" rtl="1"/>
              <a:endParaRPr lang="ar-SA" dirty="0">
                <a:cs typeface="PT Bold Heading" panose="02010400000000000000" pitchFamily="2" charset="-78"/>
              </a:endParaRPr>
            </a:p>
          </p:txBody>
        </p:sp>
        <p:sp>
          <p:nvSpPr>
            <p:cNvPr id="7" name="Freeform 7"/>
            <p:cNvSpPr/>
            <p:nvPr/>
          </p:nvSpPr>
          <p:spPr>
            <a:xfrm>
              <a:off x="284285" y="275103"/>
              <a:ext cx="14075117" cy="4915095"/>
            </a:xfrm>
            <a:custGeom>
              <a:avLst/>
              <a:gdLst/>
              <a:ahLst/>
              <a:cxnLst/>
              <a:rect l="l" t="t" r="r" b="b"/>
              <a:pathLst>
                <a:path w="2780270" h="970883">
                  <a:moveTo>
                    <a:pt x="3667" y="0"/>
                  </a:moveTo>
                  <a:lnTo>
                    <a:pt x="2776603" y="0"/>
                  </a:lnTo>
                  <a:cubicBezTo>
                    <a:pt x="2777576" y="0"/>
                    <a:pt x="2778508" y="386"/>
                    <a:pt x="2779196" y="1074"/>
                  </a:cubicBezTo>
                  <a:cubicBezTo>
                    <a:pt x="2779884" y="1762"/>
                    <a:pt x="2780270" y="2694"/>
                    <a:pt x="2780270" y="3667"/>
                  </a:cubicBezTo>
                  <a:lnTo>
                    <a:pt x="2780270" y="967216"/>
                  </a:lnTo>
                  <a:cubicBezTo>
                    <a:pt x="2780270" y="969241"/>
                    <a:pt x="2778628" y="970883"/>
                    <a:pt x="2776603" y="970883"/>
                  </a:cubicBezTo>
                  <a:lnTo>
                    <a:pt x="3667" y="970883"/>
                  </a:lnTo>
                  <a:cubicBezTo>
                    <a:pt x="1642" y="970883"/>
                    <a:pt x="0" y="969241"/>
                    <a:pt x="0" y="967216"/>
                  </a:cubicBezTo>
                  <a:lnTo>
                    <a:pt x="0" y="3667"/>
                  </a:lnTo>
                  <a:cubicBezTo>
                    <a:pt x="0" y="2694"/>
                    <a:pt x="386" y="1762"/>
                    <a:pt x="1074" y="1074"/>
                  </a:cubicBezTo>
                  <a:cubicBezTo>
                    <a:pt x="1762" y="386"/>
                    <a:pt x="2694" y="0"/>
                    <a:pt x="3667" y="0"/>
                  </a:cubicBezTo>
                  <a:close/>
                </a:path>
              </a:pathLst>
            </a:custGeom>
            <a:solidFill>
              <a:srgbClr val="FFFFFF"/>
            </a:solidFill>
            <a:ln>
              <a:noFill/>
            </a:ln>
          </p:spPr>
          <p:txBody>
            <a:bodyPr/>
            <a:lstStyle/>
            <a:p>
              <a:pPr algn="r" rtl="1"/>
              <a:endParaRPr lang="ar-SA">
                <a:cs typeface="PT Bold Heading" panose="02010400000000000000" pitchFamily="2" charset="-78"/>
              </a:endParaRPr>
            </a:p>
          </p:txBody>
        </p:sp>
      </p:grpSp>
      <p:sp>
        <p:nvSpPr>
          <p:cNvPr id="11" name="Freeform 11"/>
          <p:cNvSpPr/>
          <p:nvPr/>
        </p:nvSpPr>
        <p:spPr>
          <a:xfrm>
            <a:off x="856267" y="2827071"/>
            <a:ext cx="4366566" cy="438613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14" name="TextBox 14"/>
          <p:cNvSpPr txBox="1"/>
          <p:nvPr/>
        </p:nvSpPr>
        <p:spPr>
          <a:xfrm>
            <a:off x="6413530" y="3470335"/>
            <a:ext cx="9452354" cy="1536318"/>
          </a:xfrm>
          <a:prstGeom prst="rect">
            <a:avLst/>
          </a:prstGeom>
        </p:spPr>
        <p:txBody>
          <a:bodyPr lIns="0" tIns="0" rIns="0" bIns="0" rtlCol="0" anchor="t">
            <a:spAutoFit/>
          </a:bodyPr>
          <a:lstStyle/>
          <a:p>
            <a:pPr algn="ctr" rtl="1">
              <a:lnSpc>
                <a:spcPts val="6089"/>
              </a:lnSpc>
            </a:pPr>
            <a:r>
              <a:rPr lang="ar-SA" sz="4349" dirty="0">
                <a:solidFill>
                  <a:srgbClr val="AD2C2C"/>
                </a:solidFill>
                <a:latin typeface="PT Bold Heading"/>
                <a:cs typeface="PT Bold Heading" panose="02010400000000000000" pitchFamily="2" charset="-78"/>
              </a:rPr>
              <a:t>وطن لا نحميه لا نستحق العيش فيه</a:t>
            </a:r>
            <a:r>
              <a:rPr lang="en-US" sz="4349" dirty="0">
                <a:solidFill>
                  <a:srgbClr val="000000"/>
                </a:solidFill>
                <a:latin typeface="PT Bold Heading"/>
                <a:cs typeface="PT Bold Heading" panose="02010400000000000000" pitchFamily="2" charset="-78"/>
              </a:rPr>
              <a:t>. </a:t>
            </a:r>
          </a:p>
          <a:p>
            <a:pPr algn="ctr" rtl="1">
              <a:lnSpc>
                <a:spcPts val="6089"/>
              </a:lnSpc>
            </a:pPr>
            <a:r>
              <a:rPr lang="ar-SA" sz="4349" dirty="0">
                <a:solidFill>
                  <a:srgbClr val="000000"/>
                </a:solidFill>
                <a:latin typeface="PT Bold Heading"/>
                <a:cs typeface="PT Bold Heading" panose="02010400000000000000" pitchFamily="2" charset="-78"/>
              </a:rPr>
              <a:t>برأيك كيف أحمي وطني</a:t>
            </a:r>
            <a:endParaRPr lang="en-US" sz="4349" dirty="0">
              <a:solidFill>
                <a:srgbClr val="000000"/>
              </a:solidFill>
              <a:latin typeface="PT Bold Heading"/>
              <a:cs typeface="PT Bold Heading" panose="02010400000000000000" pitchFamily="2" charset="-78"/>
            </a:endParaRPr>
          </a:p>
        </p:txBody>
      </p:sp>
      <p:grpSp>
        <p:nvGrpSpPr>
          <p:cNvPr id="16" name="Group 16"/>
          <p:cNvGrpSpPr/>
          <p:nvPr/>
        </p:nvGrpSpPr>
        <p:grpSpPr>
          <a:xfrm>
            <a:off x="5648325" y="6578660"/>
            <a:ext cx="12639674" cy="869450"/>
            <a:chOff x="0" y="-20565"/>
            <a:chExt cx="16852898" cy="1159267"/>
          </a:xfrm>
        </p:grpSpPr>
        <p:sp>
          <p:nvSpPr>
            <p:cNvPr id="18" name="Freeform 18"/>
            <p:cNvSpPr/>
            <p:nvPr/>
          </p:nvSpPr>
          <p:spPr>
            <a:xfrm>
              <a:off x="203199" y="237002"/>
              <a:ext cx="16649699" cy="588498"/>
            </a:xfrm>
            <a:custGeom>
              <a:avLst/>
              <a:gdLst/>
              <a:ahLst/>
              <a:cxnLst/>
              <a:rect l="l" t="t" r="r" b="b"/>
              <a:pathLst>
                <a:path w="3070423" h="116247">
                  <a:moveTo>
                    <a:pt x="0" y="0"/>
                  </a:moveTo>
                  <a:lnTo>
                    <a:pt x="3070423" y="0"/>
                  </a:lnTo>
                  <a:lnTo>
                    <a:pt x="3070423" y="116247"/>
                  </a:lnTo>
                  <a:lnTo>
                    <a:pt x="0" y="116247"/>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21" name="Freeform 21"/>
            <p:cNvSpPr/>
            <p:nvPr/>
          </p:nvSpPr>
          <p:spPr>
            <a:xfrm>
              <a:off x="0" y="0"/>
              <a:ext cx="14643686" cy="1138702"/>
            </a:xfrm>
            <a:custGeom>
              <a:avLst/>
              <a:gdLst/>
              <a:ahLst/>
              <a:cxnLst/>
              <a:rect l="l" t="t" r="r" b="b"/>
              <a:pathLst>
                <a:path w="2892580" h="224929">
                  <a:moveTo>
                    <a:pt x="0" y="0"/>
                  </a:moveTo>
                  <a:lnTo>
                    <a:pt x="2892580" y="0"/>
                  </a:lnTo>
                  <a:lnTo>
                    <a:pt x="2892580" y="224929"/>
                  </a:lnTo>
                  <a:lnTo>
                    <a:pt x="0" y="224929"/>
                  </a:lnTo>
                  <a:close/>
                </a:path>
              </a:pathLst>
            </a:custGeom>
            <a:solidFill>
              <a:srgbClr val="FFF0C8"/>
            </a:solidFill>
            <a:ln>
              <a:noFill/>
            </a:ln>
          </p:spPr>
          <p:txBody>
            <a:bodyPr/>
            <a:lstStyle/>
            <a:p>
              <a:pPr algn="r" rtl="1"/>
              <a:endParaRPr lang="ar-SA" dirty="0">
                <a:cs typeface="PT Bold Heading" panose="02010400000000000000" pitchFamily="2" charset="-78"/>
              </a:endParaRPr>
            </a:p>
          </p:txBody>
        </p:sp>
        <p:sp>
          <p:nvSpPr>
            <p:cNvPr id="23" name="TextBox 23"/>
            <p:cNvSpPr txBox="1"/>
            <p:nvPr/>
          </p:nvSpPr>
          <p:spPr>
            <a:xfrm>
              <a:off x="4660900" y="-20565"/>
              <a:ext cx="9038712" cy="925895"/>
            </a:xfrm>
            <a:prstGeom prst="rect">
              <a:avLst/>
            </a:prstGeom>
          </p:spPr>
          <p:txBody>
            <a:bodyPr wrap="square" lIns="0" tIns="0" rIns="0" bIns="0" rtlCol="0" anchor="t">
              <a:spAutoFit/>
            </a:bodyPr>
            <a:lstStyle/>
            <a:p>
              <a:pPr algn="r" rtl="1">
                <a:lnSpc>
                  <a:spcPts val="6089"/>
                </a:lnSpc>
              </a:pPr>
              <a:r>
                <a:rPr lang="ar-SA" sz="2800" dirty="0">
                  <a:solidFill>
                    <a:srgbClr val="050A30"/>
                  </a:solidFill>
                  <a:cs typeface="PT Bold Heading" panose="02010400000000000000" pitchFamily="2" charset="-78"/>
                </a:rPr>
                <a:t>ربط الدرس بالوطن</a:t>
              </a:r>
              <a:endParaRPr lang="en-US" sz="2800" dirty="0">
                <a:solidFill>
                  <a:srgbClr val="050A30"/>
                </a:solidFill>
                <a:cs typeface="PT Bold Heading" panose="02010400000000000000" pitchFamily="2" charset="-78"/>
              </a:endParaRPr>
            </a:p>
          </p:txBody>
        </p:sp>
      </p:grpSp>
      <p:sp>
        <p:nvSpPr>
          <p:cNvPr id="3" name="Freeform 7">
            <a:extLst>
              <a:ext uri="{FF2B5EF4-FFF2-40B4-BE49-F238E27FC236}">
                <a16:creationId xmlns:a16="http://schemas.microsoft.com/office/drawing/2014/main" id="{8EBA32F0-4B52-79F8-EA9D-8782282D969C}"/>
              </a:ext>
            </a:extLst>
          </p:cNvPr>
          <p:cNvSpPr/>
          <p:nvPr/>
        </p:nvSpPr>
        <p:spPr>
          <a:xfrm>
            <a:off x="1155010" y="3241471"/>
            <a:ext cx="3530364" cy="3530364"/>
          </a:xfrm>
          <a:custGeom>
            <a:avLst/>
            <a:gdLst/>
            <a:ahLst/>
            <a:cxnLst/>
            <a:rect l="l" t="t" r="r" b="b"/>
            <a:pathLst>
              <a:path w="3530364" h="3530364">
                <a:moveTo>
                  <a:pt x="0" y="0"/>
                </a:moveTo>
                <a:lnTo>
                  <a:pt x="3530363" y="0"/>
                </a:lnTo>
                <a:lnTo>
                  <a:pt x="3530363" y="3530364"/>
                </a:lnTo>
                <a:lnTo>
                  <a:pt x="0" y="35303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Tree>
    <p:extLst>
      <p:ext uri="{BB962C8B-B14F-4D97-AF65-F5344CB8AC3E}">
        <p14:creationId xmlns:p14="http://schemas.microsoft.com/office/powerpoint/2010/main" val="4155800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38800" y="2400300"/>
            <a:ext cx="10982765" cy="4098974"/>
            <a:chOff x="0" y="0"/>
            <a:chExt cx="14643686" cy="5465298"/>
          </a:xfrm>
        </p:grpSpPr>
        <p:sp>
          <p:nvSpPr>
            <p:cNvPr id="4" name="Freeform 4"/>
            <p:cNvSpPr/>
            <p:nvPr/>
          </p:nvSpPr>
          <p:spPr>
            <a:xfrm>
              <a:off x="0" y="0"/>
              <a:ext cx="14643686" cy="5465298"/>
            </a:xfrm>
            <a:custGeom>
              <a:avLst/>
              <a:gdLst/>
              <a:ahLst/>
              <a:cxnLst/>
              <a:rect l="l" t="t" r="r" b="b"/>
              <a:pathLst>
                <a:path w="2892580" h="1079565">
                  <a:moveTo>
                    <a:pt x="4229" y="0"/>
                  </a:moveTo>
                  <a:lnTo>
                    <a:pt x="2888351" y="0"/>
                  </a:lnTo>
                  <a:cubicBezTo>
                    <a:pt x="2889472" y="0"/>
                    <a:pt x="2890548" y="446"/>
                    <a:pt x="2891341" y="1239"/>
                  </a:cubicBezTo>
                  <a:cubicBezTo>
                    <a:pt x="2892135" y="2032"/>
                    <a:pt x="2892580" y="3108"/>
                    <a:pt x="2892580" y="4229"/>
                  </a:cubicBezTo>
                  <a:lnTo>
                    <a:pt x="2892580" y="1075336"/>
                  </a:lnTo>
                  <a:cubicBezTo>
                    <a:pt x="2892580" y="1077672"/>
                    <a:pt x="2890686" y="1079565"/>
                    <a:pt x="2888351" y="1079565"/>
                  </a:cubicBezTo>
                  <a:lnTo>
                    <a:pt x="4229" y="1079565"/>
                  </a:lnTo>
                  <a:cubicBezTo>
                    <a:pt x="3108" y="1079565"/>
                    <a:pt x="2032" y="1079119"/>
                    <a:pt x="1239" y="1078326"/>
                  </a:cubicBezTo>
                  <a:cubicBezTo>
                    <a:pt x="446" y="1077533"/>
                    <a:pt x="0" y="1076457"/>
                    <a:pt x="0" y="1075336"/>
                  </a:cubicBezTo>
                  <a:lnTo>
                    <a:pt x="0" y="4229"/>
                  </a:lnTo>
                  <a:cubicBezTo>
                    <a:pt x="0" y="3108"/>
                    <a:pt x="446" y="2032"/>
                    <a:pt x="1239" y="1239"/>
                  </a:cubicBezTo>
                  <a:cubicBezTo>
                    <a:pt x="2032" y="446"/>
                    <a:pt x="3108" y="0"/>
                    <a:pt x="4229" y="0"/>
                  </a:cubicBezTo>
                  <a:close/>
                </a:path>
              </a:pathLst>
            </a:custGeom>
            <a:solidFill>
              <a:srgbClr val="1DA8A7"/>
            </a:solidFill>
            <a:ln>
              <a:noFill/>
            </a:ln>
          </p:spPr>
          <p:txBody>
            <a:bodyPr/>
            <a:lstStyle/>
            <a:p>
              <a:pPr algn="r" rtl="1"/>
              <a:endParaRPr lang="ar-SA" dirty="0">
                <a:cs typeface="PT Bold Heading" panose="02010400000000000000" pitchFamily="2" charset="-78"/>
              </a:endParaRPr>
            </a:p>
          </p:txBody>
        </p:sp>
        <p:sp>
          <p:nvSpPr>
            <p:cNvPr id="7" name="Freeform 7"/>
            <p:cNvSpPr/>
            <p:nvPr/>
          </p:nvSpPr>
          <p:spPr>
            <a:xfrm>
              <a:off x="284285" y="275103"/>
              <a:ext cx="14075117" cy="4915095"/>
            </a:xfrm>
            <a:custGeom>
              <a:avLst/>
              <a:gdLst/>
              <a:ahLst/>
              <a:cxnLst/>
              <a:rect l="l" t="t" r="r" b="b"/>
              <a:pathLst>
                <a:path w="2780270" h="970883">
                  <a:moveTo>
                    <a:pt x="3667" y="0"/>
                  </a:moveTo>
                  <a:lnTo>
                    <a:pt x="2776603" y="0"/>
                  </a:lnTo>
                  <a:cubicBezTo>
                    <a:pt x="2777576" y="0"/>
                    <a:pt x="2778508" y="386"/>
                    <a:pt x="2779196" y="1074"/>
                  </a:cubicBezTo>
                  <a:cubicBezTo>
                    <a:pt x="2779884" y="1762"/>
                    <a:pt x="2780270" y="2694"/>
                    <a:pt x="2780270" y="3667"/>
                  </a:cubicBezTo>
                  <a:lnTo>
                    <a:pt x="2780270" y="967216"/>
                  </a:lnTo>
                  <a:cubicBezTo>
                    <a:pt x="2780270" y="969241"/>
                    <a:pt x="2778628" y="970883"/>
                    <a:pt x="2776603" y="970883"/>
                  </a:cubicBezTo>
                  <a:lnTo>
                    <a:pt x="3667" y="970883"/>
                  </a:lnTo>
                  <a:cubicBezTo>
                    <a:pt x="1642" y="970883"/>
                    <a:pt x="0" y="969241"/>
                    <a:pt x="0" y="967216"/>
                  </a:cubicBezTo>
                  <a:lnTo>
                    <a:pt x="0" y="3667"/>
                  </a:lnTo>
                  <a:cubicBezTo>
                    <a:pt x="0" y="2694"/>
                    <a:pt x="386" y="1762"/>
                    <a:pt x="1074" y="1074"/>
                  </a:cubicBezTo>
                  <a:cubicBezTo>
                    <a:pt x="1762" y="386"/>
                    <a:pt x="2694" y="0"/>
                    <a:pt x="3667" y="0"/>
                  </a:cubicBezTo>
                  <a:close/>
                </a:path>
              </a:pathLst>
            </a:custGeom>
            <a:solidFill>
              <a:srgbClr val="FFFFFF"/>
            </a:solidFill>
            <a:ln>
              <a:noFill/>
            </a:ln>
          </p:spPr>
          <p:txBody>
            <a:bodyPr/>
            <a:lstStyle/>
            <a:p>
              <a:pPr algn="r" rtl="1"/>
              <a:endParaRPr lang="ar-SA">
                <a:cs typeface="PT Bold Heading" panose="02010400000000000000" pitchFamily="2" charset="-78"/>
              </a:endParaRPr>
            </a:p>
          </p:txBody>
        </p:sp>
      </p:grpSp>
      <p:sp>
        <p:nvSpPr>
          <p:cNvPr id="11" name="Freeform 11"/>
          <p:cNvSpPr/>
          <p:nvPr/>
        </p:nvSpPr>
        <p:spPr>
          <a:xfrm>
            <a:off x="856267" y="2827071"/>
            <a:ext cx="4366566" cy="438613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14" name="TextBox 14"/>
          <p:cNvSpPr txBox="1"/>
          <p:nvPr/>
        </p:nvSpPr>
        <p:spPr>
          <a:xfrm>
            <a:off x="6413530" y="3470335"/>
            <a:ext cx="9452354" cy="1536318"/>
          </a:xfrm>
          <a:prstGeom prst="rect">
            <a:avLst/>
          </a:prstGeom>
        </p:spPr>
        <p:txBody>
          <a:bodyPr lIns="0" tIns="0" rIns="0" bIns="0" rtlCol="0" anchor="t">
            <a:spAutoFit/>
          </a:bodyPr>
          <a:lstStyle/>
          <a:p>
            <a:pPr algn="ctr" rtl="1">
              <a:lnSpc>
                <a:spcPts val="6089"/>
              </a:lnSpc>
            </a:pPr>
            <a:r>
              <a:rPr lang="ar-SA" sz="4349" dirty="0">
                <a:solidFill>
                  <a:srgbClr val="AD2C2C"/>
                </a:solidFill>
                <a:latin typeface="PT Bold Heading"/>
                <a:cs typeface="PT Bold Heading" panose="02010400000000000000" pitchFamily="2" charset="-78"/>
              </a:rPr>
              <a:t>المادة ٣٤ (اقرئيها لغوياً)</a:t>
            </a:r>
            <a:endParaRPr lang="en-US" sz="4349" dirty="0">
              <a:solidFill>
                <a:srgbClr val="000000"/>
              </a:solidFill>
              <a:latin typeface="PT Bold Heading"/>
              <a:cs typeface="PT Bold Heading" panose="02010400000000000000" pitchFamily="2" charset="-78"/>
            </a:endParaRPr>
          </a:p>
          <a:p>
            <a:pPr algn="ctr" rtl="1">
              <a:lnSpc>
                <a:spcPts val="6089"/>
              </a:lnSpc>
            </a:pPr>
            <a:r>
              <a:rPr lang="ar-SA" sz="4349" dirty="0">
                <a:solidFill>
                  <a:srgbClr val="000000"/>
                </a:solidFill>
                <a:latin typeface="PT Bold Heading"/>
                <a:cs typeface="PT Bold Heading" panose="02010400000000000000" pitchFamily="2" charset="-78"/>
              </a:rPr>
              <a:t>مشاركة والدة الطالبة المميزة رسيل 💖</a:t>
            </a:r>
            <a:endParaRPr lang="en-US" sz="4349" dirty="0">
              <a:solidFill>
                <a:srgbClr val="000000"/>
              </a:solidFill>
              <a:latin typeface="PT Bold Heading"/>
              <a:cs typeface="PT Bold Heading" panose="02010400000000000000" pitchFamily="2" charset="-78"/>
            </a:endParaRPr>
          </a:p>
        </p:txBody>
      </p:sp>
      <p:grpSp>
        <p:nvGrpSpPr>
          <p:cNvPr id="16" name="Group 16"/>
          <p:cNvGrpSpPr/>
          <p:nvPr/>
        </p:nvGrpSpPr>
        <p:grpSpPr>
          <a:xfrm>
            <a:off x="5648325" y="6578660"/>
            <a:ext cx="12639674" cy="869450"/>
            <a:chOff x="0" y="-20565"/>
            <a:chExt cx="16852898" cy="1159267"/>
          </a:xfrm>
        </p:grpSpPr>
        <p:sp>
          <p:nvSpPr>
            <p:cNvPr id="18" name="Freeform 18"/>
            <p:cNvSpPr/>
            <p:nvPr/>
          </p:nvSpPr>
          <p:spPr>
            <a:xfrm>
              <a:off x="203199" y="237002"/>
              <a:ext cx="16649699" cy="588498"/>
            </a:xfrm>
            <a:custGeom>
              <a:avLst/>
              <a:gdLst/>
              <a:ahLst/>
              <a:cxnLst/>
              <a:rect l="l" t="t" r="r" b="b"/>
              <a:pathLst>
                <a:path w="3070423" h="116247">
                  <a:moveTo>
                    <a:pt x="0" y="0"/>
                  </a:moveTo>
                  <a:lnTo>
                    <a:pt x="3070423" y="0"/>
                  </a:lnTo>
                  <a:lnTo>
                    <a:pt x="3070423" y="116247"/>
                  </a:lnTo>
                  <a:lnTo>
                    <a:pt x="0" y="116247"/>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21" name="Freeform 21"/>
            <p:cNvSpPr/>
            <p:nvPr/>
          </p:nvSpPr>
          <p:spPr>
            <a:xfrm>
              <a:off x="0" y="0"/>
              <a:ext cx="14643686" cy="1138702"/>
            </a:xfrm>
            <a:custGeom>
              <a:avLst/>
              <a:gdLst/>
              <a:ahLst/>
              <a:cxnLst/>
              <a:rect l="l" t="t" r="r" b="b"/>
              <a:pathLst>
                <a:path w="2892580" h="224929">
                  <a:moveTo>
                    <a:pt x="0" y="0"/>
                  </a:moveTo>
                  <a:lnTo>
                    <a:pt x="2892580" y="0"/>
                  </a:lnTo>
                  <a:lnTo>
                    <a:pt x="2892580" y="224929"/>
                  </a:lnTo>
                  <a:lnTo>
                    <a:pt x="0" y="224929"/>
                  </a:lnTo>
                  <a:close/>
                </a:path>
              </a:pathLst>
            </a:custGeom>
            <a:solidFill>
              <a:srgbClr val="FFF0C8"/>
            </a:solidFill>
            <a:ln>
              <a:noFill/>
            </a:ln>
          </p:spPr>
          <p:txBody>
            <a:bodyPr/>
            <a:lstStyle/>
            <a:p>
              <a:pPr algn="r" rtl="1"/>
              <a:endParaRPr lang="ar-SA" dirty="0">
                <a:cs typeface="PT Bold Heading" panose="02010400000000000000" pitchFamily="2" charset="-78"/>
              </a:endParaRPr>
            </a:p>
          </p:txBody>
        </p:sp>
        <p:sp>
          <p:nvSpPr>
            <p:cNvPr id="23" name="TextBox 23"/>
            <p:cNvSpPr txBox="1"/>
            <p:nvPr/>
          </p:nvSpPr>
          <p:spPr>
            <a:xfrm>
              <a:off x="1020273" y="-20565"/>
              <a:ext cx="12679338" cy="925895"/>
            </a:xfrm>
            <a:prstGeom prst="rect">
              <a:avLst/>
            </a:prstGeom>
          </p:spPr>
          <p:txBody>
            <a:bodyPr wrap="square" lIns="0" tIns="0" rIns="0" bIns="0" rtlCol="0" anchor="t">
              <a:spAutoFit/>
            </a:bodyPr>
            <a:lstStyle/>
            <a:p>
              <a:pPr algn="r" rtl="1">
                <a:lnSpc>
                  <a:spcPts val="6089"/>
                </a:lnSpc>
              </a:pPr>
              <a:r>
                <a:rPr lang="ar-SA" sz="2800" dirty="0">
                  <a:solidFill>
                    <a:srgbClr val="050A30"/>
                  </a:solidFill>
                  <a:cs typeface="PT Bold Heading" panose="02010400000000000000" pitchFamily="2" charset="-78"/>
                </a:rPr>
                <a:t>ربط الدرس بالقضاء السعودي - وأولياء الأمور</a:t>
              </a:r>
              <a:endParaRPr lang="en-US" sz="2800" dirty="0">
                <a:solidFill>
                  <a:srgbClr val="050A30"/>
                </a:solidFill>
                <a:cs typeface="PT Bold Heading" panose="02010400000000000000" pitchFamily="2" charset="-78"/>
              </a:endParaRPr>
            </a:p>
          </p:txBody>
        </p:sp>
      </p:grpSp>
      <p:sp>
        <p:nvSpPr>
          <p:cNvPr id="3" name="Freeform 7">
            <a:extLst>
              <a:ext uri="{FF2B5EF4-FFF2-40B4-BE49-F238E27FC236}">
                <a16:creationId xmlns:a16="http://schemas.microsoft.com/office/drawing/2014/main" id="{8EBA32F0-4B52-79F8-EA9D-8782282D969C}"/>
              </a:ext>
            </a:extLst>
          </p:cNvPr>
          <p:cNvSpPr/>
          <p:nvPr/>
        </p:nvSpPr>
        <p:spPr>
          <a:xfrm>
            <a:off x="1155010" y="3241471"/>
            <a:ext cx="3530364" cy="3530364"/>
          </a:xfrm>
          <a:custGeom>
            <a:avLst/>
            <a:gdLst/>
            <a:ahLst/>
            <a:cxnLst/>
            <a:rect l="l" t="t" r="r" b="b"/>
            <a:pathLst>
              <a:path w="3530364" h="3530364">
                <a:moveTo>
                  <a:pt x="0" y="0"/>
                </a:moveTo>
                <a:lnTo>
                  <a:pt x="3530363" y="0"/>
                </a:lnTo>
                <a:lnTo>
                  <a:pt x="3530363" y="3530364"/>
                </a:lnTo>
                <a:lnTo>
                  <a:pt x="0" y="35303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Tree>
    <p:extLst>
      <p:ext uri="{BB962C8B-B14F-4D97-AF65-F5344CB8AC3E}">
        <p14:creationId xmlns:p14="http://schemas.microsoft.com/office/powerpoint/2010/main" val="987774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1">
            <a:extLst>
              <a:ext uri="{FF2B5EF4-FFF2-40B4-BE49-F238E27FC236}">
                <a16:creationId xmlns:a16="http://schemas.microsoft.com/office/drawing/2014/main" id="{5A3F4BF8-9EC2-D0F3-122B-3C22D7C2E8FF}"/>
              </a:ext>
            </a:extLst>
          </p:cNvPr>
          <p:cNvGrpSpPr/>
          <p:nvPr/>
        </p:nvGrpSpPr>
        <p:grpSpPr>
          <a:xfrm>
            <a:off x="685800" y="1189795"/>
            <a:ext cx="16211622" cy="6594036"/>
            <a:chOff x="1310275" y="2312029"/>
            <a:chExt cx="16211622" cy="6594036"/>
          </a:xfrm>
        </p:grpSpPr>
        <p:grpSp>
          <p:nvGrpSpPr>
            <p:cNvPr id="3" name="Group 2">
              <a:extLst>
                <a:ext uri="{FF2B5EF4-FFF2-40B4-BE49-F238E27FC236}">
                  <a16:creationId xmlns:a16="http://schemas.microsoft.com/office/drawing/2014/main" id="{E675F4C3-F965-BA7D-A09A-BF457C298C53}"/>
                </a:ext>
              </a:extLst>
            </p:cNvPr>
            <p:cNvGrpSpPr/>
            <p:nvPr/>
          </p:nvGrpSpPr>
          <p:grpSpPr>
            <a:xfrm>
              <a:off x="1310275" y="3909557"/>
              <a:ext cx="16211622" cy="4996508"/>
              <a:chOff x="375433" y="-1"/>
              <a:chExt cx="21615496" cy="6662010"/>
            </a:xfrm>
          </p:grpSpPr>
          <p:sp>
            <p:nvSpPr>
              <p:cNvPr id="25" name="Freeform 4">
                <a:extLst>
                  <a:ext uri="{FF2B5EF4-FFF2-40B4-BE49-F238E27FC236}">
                    <a16:creationId xmlns:a16="http://schemas.microsoft.com/office/drawing/2014/main" id="{62D490B1-320B-6553-557E-F0F9FD5644AE}"/>
                  </a:ext>
                </a:extLst>
              </p:cNvPr>
              <p:cNvSpPr/>
              <p:nvPr/>
            </p:nvSpPr>
            <p:spPr>
              <a:xfrm>
                <a:off x="3327545" y="-1"/>
                <a:ext cx="18663384" cy="6662010"/>
              </a:xfrm>
              <a:custGeom>
                <a:avLst/>
                <a:gdLst/>
                <a:ahLst/>
                <a:cxnLst/>
                <a:rect l="l" t="t" r="r" b="b"/>
                <a:pathLst>
                  <a:path w="3344970" h="961940">
                    <a:moveTo>
                      <a:pt x="0" y="0"/>
                    </a:moveTo>
                    <a:lnTo>
                      <a:pt x="3344970" y="0"/>
                    </a:lnTo>
                    <a:lnTo>
                      <a:pt x="3344970" y="961940"/>
                    </a:lnTo>
                    <a:lnTo>
                      <a:pt x="0" y="961940"/>
                    </a:lnTo>
                    <a:close/>
                  </a:path>
                </a:pathLst>
              </a:custGeom>
              <a:solidFill>
                <a:srgbClr val="959E9D"/>
              </a:solidFill>
              <a:ln>
                <a:noFill/>
              </a:ln>
            </p:spPr>
            <p:txBody>
              <a:bodyPr/>
              <a:lstStyle/>
              <a:p>
                <a:pPr algn="r" rtl="1"/>
                <a:endParaRPr lang="ar-SA" dirty="0">
                  <a:cs typeface="PT Bold Heading" panose="02010400000000000000" pitchFamily="2" charset="-78"/>
                </a:endParaRPr>
              </a:p>
            </p:txBody>
          </p:sp>
          <p:sp>
            <p:nvSpPr>
              <p:cNvPr id="26" name="Freeform 7">
                <a:extLst>
                  <a:ext uri="{FF2B5EF4-FFF2-40B4-BE49-F238E27FC236}">
                    <a16:creationId xmlns:a16="http://schemas.microsoft.com/office/drawing/2014/main" id="{05AB3E52-B092-00CE-A5FB-E2E06A129E74}"/>
                  </a:ext>
                </a:extLst>
              </p:cNvPr>
              <p:cNvSpPr/>
              <p:nvPr/>
            </p:nvSpPr>
            <p:spPr>
              <a:xfrm>
                <a:off x="3117876" y="7812"/>
                <a:ext cx="18547274" cy="6247795"/>
              </a:xfrm>
              <a:custGeom>
                <a:avLst/>
                <a:gdLst/>
                <a:ahLst/>
                <a:cxnLst/>
                <a:rect l="l" t="t" r="r" b="b"/>
                <a:pathLst>
                  <a:path w="3786387" h="1038511">
                    <a:moveTo>
                      <a:pt x="5009" y="0"/>
                    </a:moveTo>
                    <a:lnTo>
                      <a:pt x="3781378" y="0"/>
                    </a:lnTo>
                    <a:cubicBezTo>
                      <a:pt x="3784145" y="0"/>
                      <a:pt x="3786387" y="2243"/>
                      <a:pt x="3786387" y="5009"/>
                    </a:cubicBezTo>
                    <a:lnTo>
                      <a:pt x="3786387" y="1033502"/>
                    </a:lnTo>
                    <a:cubicBezTo>
                      <a:pt x="3786387" y="1036268"/>
                      <a:pt x="3784145" y="1038511"/>
                      <a:pt x="3781378" y="1038511"/>
                    </a:cubicBezTo>
                    <a:lnTo>
                      <a:pt x="5009" y="1038511"/>
                    </a:lnTo>
                    <a:cubicBezTo>
                      <a:pt x="2243" y="1038511"/>
                      <a:pt x="0" y="1036268"/>
                      <a:pt x="0" y="1033502"/>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27" name="Freeform 10">
                <a:extLst>
                  <a:ext uri="{FF2B5EF4-FFF2-40B4-BE49-F238E27FC236}">
                    <a16:creationId xmlns:a16="http://schemas.microsoft.com/office/drawing/2014/main" id="{E3DDD453-EB44-FBF1-42D7-7BB450E56DB6}"/>
                  </a:ext>
                </a:extLst>
              </p:cNvPr>
              <p:cNvSpPr/>
              <p:nvPr/>
            </p:nvSpPr>
            <p:spPr>
              <a:xfrm>
                <a:off x="375433" y="415730"/>
                <a:ext cx="5472725" cy="5497255"/>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grpSp>
        <p:grpSp>
          <p:nvGrpSpPr>
            <p:cNvPr id="4" name="Group 13">
              <a:extLst>
                <a:ext uri="{FF2B5EF4-FFF2-40B4-BE49-F238E27FC236}">
                  <a16:creationId xmlns:a16="http://schemas.microsoft.com/office/drawing/2014/main" id="{920E4623-4F35-151C-FA97-D130FB19C277}"/>
                </a:ext>
              </a:extLst>
            </p:cNvPr>
            <p:cNvGrpSpPr/>
            <p:nvPr/>
          </p:nvGrpSpPr>
          <p:grpSpPr>
            <a:xfrm>
              <a:off x="6018873" y="4365622"/>
              <a:ext cx="11101701" cy="1068948"/>
              <a:chOff x="0" y="0"/>
              <a:chExt cx="14802268" cy="1425263"/>
            </a:xfrm>
          </p:grpSpPr>
          <p:sp>
            <p:nvSpPr>
              <p:cNvPr id="22" name="Freeform 15">
                <a:extLst>
                  <a:ext uri="{FF2B5EF4-FFF2-40B4-BE49-F238E27FC236}">
                    <a16:creationId xmlns:a16="http://schemas.microsoft.com/office/drawing/2014/main" id="{EAEA73D4-6C3B-5B21-7464-C36A054F2562}"/>
                  </a:ext>
                </a:extLst>
              </p:cNvPr>
              <p:cNvSpPr/>
              <p:nvPr/>
            </p:nvSpPr>
            <p:spPr>
              <a:xfrm>
                <a:off x="0" y="0"/>
                <a:ext cx="14229756" cy="142526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3" name="Freeform 18">
                <a:extLst>
                  <a:ext uri="{FF2B5EF4-FFF2-40B4-BE49-F238E27FC236}">
                    <a16:creationId xmlns:a16="http://schemas.microsoft.com/office/drawing/2014/main" id="{1FCC6CB9-88B6-40EC-F421-72783AC1EB05}"/>
                  </a:ext>
                </a:extLst>
              </p:cNvPr>
              <p:cNvSpPr/>
              <p:nvPr/>
            </p:nvSpPr>
            <p:spPr>
              <a:xfrm>
                <a:off x="14205179" y="0"/>
                <a:ext cx="597089" cy="1425263"/>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TextBox 20">
                <a:extLst>
                  <a:ext uri="{FF2B5EF4-FFF2-40B4-BE49-F238E27FC236}">
                    <a16:creationId xmlns:a16="http://schemas.microsoft.com/office/drawing/2014/main" id="{6C0AF9F2-63A8-CD18-A742-451F55CB24CE}"/>
                  </a:ext>
                </a:extLst>
              </p:cNvPr>
              <p:cNvSpPr txBox="1"/>
              <p:nvPr/>
            </p:nvSpPr>
            <p:spPr>
              <a:xfrm>
                <a:off x="6678701" y="386634"/>
                <a:ext cx="7200703" cy="688889"/>
              </a:xfrm>
              <a:prstGeom prst="rect">
                <a:avLst/>
              </a:prstGeom>
            </p:spPr>
            <p:txBody>
              <a:bodyPr wrap="square" lIns="0" tIns="0" rIns="0" bIns="0" rtlCol="0" anchor="t">
                <a:spAutoFit/>
              </a:bodyPr>
              <a:lstStyle/>
              <a:p>
                <a:pPr algn="r" rtl="1">
                  <a:lnSpc>
                    <a:spcPts val="3661"/>
                  </a:lnSpc>
                </a:pPr>
                <a:r>
                  <a:rPr lang="ar-SA" sz="3736" dirty="0">
                    <a:solidFill>
                      <a:srgbClr val="FFFFFF"/>
                    </a:solidFill>
                    <a:cs typeface="PT Bold Heading" panose="02010400000000000000" pitchFamily="2" charset="-78"/>
                  </a:rPr>
                  <a:t>استراتيجية المناقشة والحوار</a:t>
                </a:r>
                <a:r>
                  <a:rPr lang="en-US" sz="3736" dirty="0">
                    <a:solidFill>
                      <a:srgbClr val="FFFFFF"/>
                    </a:solidFill>
                    <a:cs typeface="PT Bold Heading" panose="02010400000000000000" pitchFamily="2" charset="-78"/>
                  </a:rPr>
                  <a:t>: </a:t>
                </a:r>
              </a:p>
            </p:txBody>
          </p:sp>
        </p:grpSp>
        <p:sp>
          <p:nvSpPr>
            <p:cNvPr id="5" name="Freeform 22">
              <a:extLst>
                <a:ext uri="{FF2B5EF4-FFF2-40B4-BE49-F238E27FC236}">
                  <a16:creationId xmlns:a16="http://schemas.microsoft.com/office/drawing/2014/main" id="{D6BBCB0A-BBA2-59A6-AA19-7E3F7F7C1DEA}"/>
                </a:ext>
              </a:extLst>
            </p:cNvPr>
            <p:cNvSpPr/>
            <p:nvPr/>
          </p:nvSpPr>
          <p:spPr>
            <a:xfrm>
              <a:off x="6018873" y="2312029"/>
              <a:ext cx="11503024" cy="1597528"/>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6" name="Freeform 25">
              <a:extLst>
                <a:ext uri="{FF2B5EF4-FFF2-40B4-BE49-F238E27FC236}">
                  <a16:creationId xmlns:a16="http://schemas.microsoft.com/office/drawing/2014/main" id="{2F8F0562-7255-2B19-0C83-AFA15D6083DF}"/>
                </a:ext>
              </a:extLst>
            </p:cNvPr>
            <p:cNvSpPr/>
            <p:nvPr/>
          </p:nvSpPr>
          <p:spPr>
            <a:xfrm>
              <a:off x="14849617"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7" name="Freeform 28">
              <a:extLst>
                <a:ext uri="{FF2B5EF4-FFF2-40B4-BE49-F238E27FC236}">
                  <a16:creationId xmlns:a16="http://schemas.microsoft.com/office/drawing/2014/main" id="{B0CED885-8950-562B-7119-193F1A04802E}"/>
                </a:ext>
              </a:extLst>
            </p:cNvPr>
            <p:cNvSpPr/>
            <p:nvPr/>
          </p:nvSpPr>
          <p:spPr>
            <a:xfrm>
              <a:off x="14849617"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8" name="Freeform 31">
              <a:extLst>
                <a:ext uri="{FF2B5EF4-FFF2-40B4-BE49-F238E27FC236}">
                  <a16:creationId xmlns:a16="http://schemas.microsoft.com/office/drawing/2014/main" id="{22CA9BA5-50C8-CAED-9C9F-712D1CC74C03}"/>
                </a:ext>
              </a:extLst>
            </p:cNvPr>
            <p:cNvSpPr/>
            <p:nvPr/>
          </p:nvSpPr>
          <p:spPr>
            <a:xfrm>
              <a:off x="13277553" y="2471737"/>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9" name="Freeform 34">
              <a:extLst>
                <a:ext uri="{FF2B5EF4-FFF2-40B4-BE49-F238E27FC236}">
                  <a16:creationId xmlns:a16="http://schemas.microsoft.com/office/drawing/2014/main" id="{FBA33350-BB24-F46A-E1D5-033C6A29A8CD}"/>
                </a:ext>
              </a:extLst>
            </p:cNvPr>
            <p:cNvSpPr/>
            <p:nvPr/>
          </p:nvSpPr>
          <p:spPr>
            <a:xfrm>
              <a:off x="13277553" y="3138634"/>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0" name="TextBox 36">
              <a:extLst>
                <a:ext uri="{FF2B5EF4-FFF2-40B4-BE49-F238E27FC236}">
                  <a16:creationId xmlns:a16="http://schemas.microsoft.com/office/drawing/2014/main" id="{B2DD10CB-CD1B-B6BC-09D4-0CE7E2E12AC5}"/>
                </a:ext>
              </a:extLst>
            </p:cNvPr>
            <p:cNvSpPr txBox="1"/>
            <p:nvPr/>
          </p:nvSpPr>
          <p:spPr>
            <a:xfrm>
              <a:off x="14789516" y="2564201"/>
              <a:ext cx="2495904" cy="445699"/>
            </a:xfrm>
            <a:prstGeom prst="rect">
              <a:avLst/>
            </a:prstGeom>
            <a:solidFill>
              <a:srgbClr val="FF0000"/>
            </a:solidFill>
          </p:spPr>
          <p:txBody>
            <a:bodyPr lIns="0" tIns="0" rIns="0" bIns="0" rtlCol="0" anchor="t">
              <a:spAutoFit/>
            </a:bodyPr>
            <a:lstStyle/>
            <a:p>
              <a:pPr algn="ctr" rtl="1">
                <a:lnSpc>
                  <a:spcPts val="3269"/>
                </a:lnSpc>
              </a:pPr>
              <a:r>
                <a:rPr lang="ar-SA" sz="3336" dirty="0">
                  <a:solidFill>
                    <a:srgbClr val="17383E"/>
                  </a:solidFill>
                  <a:cs typeface="PT Bold Heading" panose="02010400000000000000" pitchFamily="2" charset="-78"/>
                </a:rPr>
                <a:t>ورقة عمل</a:t>
              </a:r>
              <a:endParaRPr lang="en-US" sz="3336" dirty="0">
                <a:solidFill>
                  <a:srgbClr val="17383E"/>
                </a:solidFill>
                <a:cs typeface="PT Bold Heading" panose="02010400000000000000" pitchFamily="2" charset="-78"/>
              </a:endParaRPr>
            </a:p>
          </p:txBody>
        </p:sp>
        <p:sp>
          <p:nvSpPr>
            <p:cNvPr id="11" name="TextBox 37">
              <a:extLst>
                <a:ext uri="{FF2B5EF4-FFF2-40B4-BE49-F238E27FC236}">
                  <a16:creationId xmlns:a16="http://schemas.microsoft.com/office/drawing/2014/main" id="{A952472B-1AD0-82F1-D5C7-884D867D5D03}"/>
                </a:ext>
              </a:extLst>
            </p:cNvPr>
            <p:cNvSpPr txBox="1"/>
            <p:nvPr/>
          </p:nvSpPr>
          <p:spPr>
            <a:xfrm>
              <a:off x="14832717"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مد</a:t>
              </a:r>
              <a:r>
                <a:rPr lang="ar-SA" sz="3336" dirty="0">
                  <a:solidFill>
                    <a:srgbClr val="17383E"/>
                  </a:solidFill>
                  <a:cs typeface="PT Bold Heading" panose="02010400000000000000" pitchFamily="2" charset="-78"/>
                </a:rPr>
                <a:t>ته</a:t>
              </a:r>
              <a:endParaRPr lang="en-US" sz="3336" dirty="0">
                <a:solidFill>
                  <a:srgbClr val="17383E"/>
                </a:solidFill>
                <a:cs typeface="PT Bold Heading" panose="02010400000000000000" pitchFamily="2" charset="-78"/>
              </a:endParaRPr>
            </a:p>
          </p:txBody>
        </p:sp>
        <p:sp>
          <p:nvSpPr>
            <p:cNvPr id="12" name="TextBox 38">
              <a:extLst>
                <a:ext uri="{FF2B5EF4-FFF2-40B4-BE49-F238E27FC236}">
                  <a16:creationId xmlns:a16="http://schemas.microsoft.com/office/drawing/2014/main" id="{F05D3232-B778-017E-AF53-34C099A5C3A6}"/>
                </a:ext>
              </a:extLst>
            </p:cNvPr>
            <p:cNvSpPr txBox="1"/>
            <p:nvPr/>
          </p:nvSpPr>
          <p:spPr>
            <a:xfrm>
              <a:off x="13573848" y="2550126"/>
              <a:ext cx="882808" cy="445699"/>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1</a:t>
              </a:r>
            </a:p>
          </p:txBody>
        </p:sp>
        <p:sp>
          <p:nvSpPr>
            <p:cNvPr id="13" name="TextBox 39">
              <a:extLst>
                <a:ext uri="{FF2B5EF4-FFF2-40B4-BE49-F238E27FC236}">
                  <a16:creationId xmlns:a16="http://schemas.microsoft.com/office/drawing/2014/main" id="{71D7FED4-94E5-E8A5-C898-91D246F5C104}"/>
                </a:ext>
              </a:extLst>
            </p:cNvPr>
            <p:cNvSpPr txBox="1"/>
            <p:nvPr/>
          </p:nvSpPr>
          <p:spPr>
            <a:xfrm>
              <a:off x="13583373" y="3205309"/>
              <a:ext cx="882808" cy="444481"/>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1</a:t>
              </a:r>
              <a:r>
                <a:rPr lang="ar-SA" sz="3336" dirty="0">
                  <a:solidFill>
                    <a:srgbClr val="000000"/>
                  </a:solidFill>
                  <a:latin typeface="PT Bold Heading"/>
                  <a:cs typeface="PT Bold Heading" panose="02010400000000000000" pitchFamily="2" charset="-78"/>
                </a:rPr>
                <a:t> </a:t>
              </a:r>
              <a:r>
                <a:rPr lang="en-US" sz="3336" dirty="0">
                  <a:solidFill>
                    <a:srgbClr val="000000"/>
                  </a:solidFill>
                  <a:latin typeface="PT Bold Heading"/>
                  <a:cs typeface="PT Bold Heading" panose="02010400000000000000" pitchFamily="2" charset="-78"/>
                </a:rPr>
                <a:t>د</a:t>
              </a:r>
            </a:p>
          </p:txBody>
        </p:sp>
        <p:sp>
          <p:nvSpPr>
            <p:cNvPr id="14" name="Freeform 41">
              <a:extLst>
                <a:ext uri="{FF2B5EF4-FFF2-40B4-BE49-F238E27FC236}">
                  <a16:creationId xmlns:a16="http://schemas.microsoft.com/office/drawing/2014/main" id="{322C26DF-A7CF-70E5-16DA-BA3E9CFFC39A}"/>
                </a:ext>
              </a:extLst>
            </p:cNvPr>
            <p:cNvSpPr/>
            <p:nvPr/>
          </p:nvSpPr>
          <p:spPr>
            <a:xfrm>
              <a:off x="10410174"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15" name="Freeform 44">
              <a:extLst>
                <a:ext uri="{FF2B5EF4-FFF2-40B4-BE49-F238E27FC236}">
                  <a16:creationId xmlns:a16="http://schemas.microsoft.com/office/drawing/2014/main" id="{B7C0A108-C44C-D270-1385-3C891859D84F}"/>
                </a:ext>
              </a:extLst>
            </p:cNvPr>
            <p:cNvSpPr/>
            <p:nvPr/>
          </p:nvSpPr>
          <p:spPr>
            <a:xfrm>
              <a:off x="10410174"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6" name="Freeform 47">
              <a:extLst>
                <a:ext uri="{FF2B5EF4-FFF2-40B4-BE49-F238E27FC236}">
                  <a16:creationId xmlns:a16="http://schemas.microsoft.com/office/drawing/2014/main" id="{3308A33A-B006-F85F-E6C5-335AC0597C1E}"/>
                </a:ext>
              </a:extLst>
            </p:cNvPr>
            <p:cNvSpPr/>
            <p:nvPr/>
          </p:nvSpPr>
          <p:spPr>
            <a:xfrm>
              <a:off x="6249654" y="247173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7" name="Freeform 50">
              <a:extLst>
                <a:ext uri="{FF2B5EF4-FFF2-40B4-BE49-F238E27FC236}">
                  <a16:creationId xmlns:a16="http://schemas.microsoft.com/office/drawing/2014/main" id="{90AD527D-F89A-FCE3-0EB5-CD36D37179E4}"/>
                </a:ext>
              </a:extLst>
            </p:cNvPr>
            <p:cNvSpPr/>
            <p:nvPr/>
          </p:nvSpPr>
          <p:spPr>
            <a:xfrm>
              <a:off x="6249654" y="3138634"/>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0000"/>
            </a:solidFill>
            <a:ln>
              <a:noFill/>
            </a:ln>
          </p:spPr>
          <p:txBody>
            <a:bodyPr/>
            <a:lstStyle/>
            <a:p>
              <a:pPr algn="r" rtl="1"/>
              <a:endParaRPr lang="ar-SA">
                <a:cs typeface="PT Bold Heading" panose="02010400000000000000" pitchFamily="2" charset="-78"/>
              </a:endParaRPr>
            </a:p>
          </p:txBody>
        </p:sp>
        <p:sp>
          <p:nvSpPr>
            <p:cNvPr id="18" name="TextBox 52">
              <a:extLst>
                <a:ext uri="{FF2B5EF4-FFF2-40B4-BE49-F238E27FC236}">
                  <a16:creationId xmlns:a16="http://schemas.microsoft.com/office/drawing/2014/main" id="{FDAE3534-D553-2A94-77F0-2BBC54091026}"/>
                </a:ext>
              </a:extLst>
            </p:cNvPr>
            <p:cNvSpPr txBox="1"/>
            <p:nvPr/>
          </p:nvSpPr>
          <p:spPr>
            <a:xfrm>
              <a:off x="10351744" y="2591131"/>
              <a:ext cx="2495904" cy="418769"/>
            </a:xfrm>
            <a:prstGeom prst="rect">
              <a:avLst/>
            </a:prstGeom>
          </p:spPr>
          <p:txBody>
            <a:bodyPr lIns="0" tIns="0" rIns="0" bIns="0" rtlCol="0" anchor="t">
              <a:spAutoFit/>
            </a:bodyPr>
            <a:lstStyle/>
            <a:p>
              <a:pPr algn="ctr" rtl="1">
                <a:lnSpc>
                  <a:spcPts val="3073"/>
                </a:lnSpc>
              </a:pPr>
              <a:r>
                <a:rPr lang="en-US" sz="3136" dirty="0" err="1">
                  <a:solidFill>
                    <a:srgbClr val="17383E"/>
                  </a:solidFill>
                  <a:cs typeface="PT Bold Heading" panose="02010400000000000000" pitchFamily="2" charset="-78"/>
                </a:rPr>
                <a:t>موضوع</a:t>
              </a:r>
              <a:endParaRPr lang="en-US" sz="3136" dirty="0">
                <a:solidFill>
                  <a:srgbClr val="17383E"/>
                </a:solidFill>
                <a:cs typeface="PT Bold Heading" panose="02010400000000000000" pitchFamily="2" charset="-78"/>
              </a:endParaRPr>
            </a:p>
          </p:txBody>
        </p:sp>
        <p:sp>
          <p:nvSpPr>
            <p:cNvPr id="19" name="TextBox 53">
              <a:extLst>
                <a:ext uri="{FF2B5EF4-FFF2-40B4-BE49-F238E27FC236}">
                  <a16:creationId xmlns:a16="http://schemas.microsoft.com/office/drawing/2014/main" id="{34E30D81-24A2-BDB8-BA43-9603CF425C74}"/>
                </a:ext>
              </a:extLst>
            </p:cNvPr>
            <p:cNvSpPr txBox="1"/>
            <p:nvPr/>
          </p:nvSpPr>
          <p:spPr>
            <a:xfrm>
              <a:off x="10398214"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نوع</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20" name="TextBox 54">
              <a:extLst>
                <a:ext uri="{FF2B5EF4-FFF2-40B4-BE49-F238E27FC236}">
                  <a16:creationId xmlns:a16="http://schemas.microsoft.com/office/drawing/2014/main" id="{0BBEBF49-9D0D-E78C-784B-431927A498AA}"/>
                </a:ext>
              </a:extLst>
            </p:cNvPr>
            <p:cNvSpPr txBox="1"/>
            <p:nvPr/>
          </p:nvSpPr>
          <p:spPr>
            <a:xfrm>
              <a:off x="6226148" y="2591131"/>
              <a:ext cx="4184027" cy="418769"/>
            </a:xfrm>
            <a:prstGeom prst="rect">
              <a:avLst/>
            </a:prstGeom>
          </p:spPr>
          <p:txBody>
            <a:bodyPr lIns="0" tIns="0" rIns="0" bIns="0" rtlCol="0" anchor="t">
              <a:spAutoFit/>
            </a:bodyPr>
            <a:lstStyle/>
            <a:p>
              <a:pPr algn="ctr" rtl="1">
                <a:lnSpc>
                  <a:spcPts val="3073"/>
                </a:lnSpc>
              </a:pPr>
              <a:r>
                <a:rPr lang="ar-SA" sz="3136" dirty="0">
                  <a:solidFill>
                    <a:srgbClr val="17383E"/>
                  </a:solidFill>
                  <a:cs typeface="PT Bold Heading" panose="02010400000000000000" pitchFamily="2" charset="-78"/>
                </a:rPr>
                <a:t>استنتاج موضوع الدرس</a:t>
              </a:r>
              <a:endParaRPr lang="en-US" sz="3136" dirty="0">
                <a:solidFill>
                  <a:srgbClr val="17383E"/>
                </a:solidFill>
                <a:cs typeface="PT Bold Heading" panose="02010400000000000000" pitchFamily="2" charset="-78"/>
              </a:endParaRPr>
            </a:p>
          </p:txBody>
        </p:sp>
        <p:sp>
          <p:nvSpPr>
            <p:cNvPr id="21" name="TextBox 55">
              <a:extLst>
                <a:ext uri="{FF2B5EF4-FFF2-40B4-BE49-F238E27FC236}">
                  <a16:creationId xmlns:a16="http://schemas.microsoft.com/office/drawing/2014/main" id="{06B61B46-0E3C-8112-616F-00C80EA04E51}"/>
                </a:ext>
              </a:extLst>
            </p:cNvPr>
            <p:cNvSpPr txBox="1"/>
            <p:nvPr/>
          </p:nvSpPr>
          <p:spPr>
            <a:xfrm>
              <a:off x="6574232" y="3250001"/>
              <a:ext cx="3452507"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جماعي</a:t>
              </a:r>
              <a:endParaRPr lang="en-US" sz="3336" dirty="0">
                <a:solidFill>
                  <a:srgbClr val="17383E"/>
                </a:solidFill>
                <a:cs typeface="PT Bold Heading" panose="02010400000000000000" pitchFamily="2" charset="-78"/>
              </a:endParaRPr>
            </a:p>
          </p:txBody>
        </p:sp>
      </p:grpSp>
      <p:sp>
        <p:nvSpPr>
          <p:cNvPr id="34" name="TextBox 28">
            <a:extLst>
              <a:ext uri="{FF2B5EF4-FFF2-40B4-BE49-F238E27FC236}">
                <a16:creationId xmlns:a16="http://schemas.microsoft.com/office/drawing/2014/main" id="{0695264A-F818-A8C7-8749-3D222E16F3DC}"/>
              </a:ext>
            </a:extLst>
          </p:cNvPr>
          <p:cNvSpPr txBox="1"/>
          <p:nvPr/>
        </p:nvSpPr>
        <p:spPr>
          <a:xfrm>
            <a:off x="6534150" y="5693717"/>
            <a:ext cx="9839370" cy="525785"/>
          </a:xfrm>
          <a:prstGeom prst="rect">
            <a:avLst/>
          </a:prstGeom>
        </p:spPr>
        <p:txBody>
          <a:bodyPr lIns="0" tIns="0" rIns="0" bIns="0" rtlCol="0" anchor="t">
            <a:spAutoFit/>
          </a:bodyPr>
          <a:lstStyle/>
          <a:p>
            <a:pPr marL="457200" indent="-457200" algn="r" rtl="1">
              <a:lnSpc>
                <a:spcPts val="4100"/>
              </a:lnSpc>
              <a:buFont typeface="Arial" panose="020B0604020202020204" pitchFamily="34" charset="0"/>
              <a:buChar char="•"/>
            </a:pPr>
            <a:r>
              <a:rPr lang="en-US" sz="3361" dirty="0">
                <a:latin typeface="PT Bold Heading"/>
                <a:cs typeface="PT Bold Heading" panose="02010400000000000000" pitchFamily="2" charset="-78"/>
              </a:rPr>
              <a:t> </a:t>
            </a:r>
            <a:r>
              <a:rPr lang="ar-SA" sz="3361" dirty="0">
                <a:latin typeface="PT Bold Heading"/>
                <a:cs typeface="PT Bold Heading" panose="02010400000000000000" pitchFamily="2" charset="-78"/>
              </a:rPr>
              <a:t> ماذا تعرفين عن هذا الموضوع ؟</a:t>
            </a:r>
          </a:p>
        </p:txBody>
      </p:sp>
      <p:sp>
        <p:nvSpPr>
          <p:cNvPr id="39" name="TextBox 28">
            <a:extLst>
              <a:ext uri="{FF2B5EF4-FFF2-40B4-BE49-F238E27FC236}">
                <a16:creationId xmlns:a16="http://schemas.microsoft.com/office/drawing/2014/main" id="{E8DCF078-0BEC-CCCE-2854-978FDFBFB0AF}"/>
              </a:ext>
            </a:extLst>
          </p:cNvPr>
          <p:cNvSpPr txBox="1"/>
          <p:nvPr/>
        </p:nvSpPr>
        <p:spPr>
          <a:xfrm>
            <a:off x="6515100" y="4834062"/>
            <a:ext cx="9839370" cy="492443"/>
          </a:xfrm>
          <a:prstGeom prst="rect">
            <a:avLst/>
          </a:prstGeom>
        </p:spPr>
        <p:txBody>
          <a:bodyPr lIns="0" tIns="0" rIns="0" bIns="0" rtlCol="0" anchor="t">
            <a:spAutoFit/>
          </a:bodyPr>
          <a:lstStyle/>
          <a:p>
            <a:pPr marL="457200" indent="-457200" algn="r" rtl="1">
              <a:buFont typeface="Arial" panose="020B0604020202020204" pitchFamily="34" charset="0"/>
              <a:buChar char="•"/>
            </a:pPr>
            <a:r>
              <a:rPr lang="ar-SA" sz="3200" dirty="0">
                <a:cs typeface="PT Bold Heading" panose="02010400000000000000" pitchFamily="2" charset="-78"/>
              </a:rPr>
              <a:t>عزيزتي الطالبة . مالموضوع الذي تشير إليه هذه الصورة</a:t>
            </a:r>
            <a:endParaRPr lang="ar-SA" sz="3200" dirty="0"/>
          </a:p>
        </p:txBody>
      </p:sp>
      <p:pic>
        <p:nvPicPr>
          <p:cNvPr id="29" name="صورة 28">
            <a:extLst>
              <a:ext uri="{FF2B5EF4-FFF2-40B4-BE49-F238E27FC236}">
                <a16:creationId xmlns:a16="http://schemas.microsoft.com/office/drawing/2014/main" id="{215DD26E-5D3C-F0A7-D623-D7CBE444ABBA}"/>
              </a:ext>
            </a:extLst>
          </p:cNvPr>
          <p:cNvPicPr>
            <a:picLocks noChangeAspect="1"/>
          </p:cNvPicPr>
          <p:nvPr/>
        </p:nvPicPr>
        <p:blipFill>
          <a:blip r:embed="rId2"/>
          <a:srcRect l="5360" t="5879" r="5604" b="11389"/>
          <a:stretch>
            <a:fillRect/>
          </a:stretch>
        </p:blipFill>
        <p:spPr>
          <a:xfrm>
            <a:off x="248253" y="1189795"/>
            <a:ext cx="5156389" cy="7080805"/>
          </a:xfrm>
          <a:prstGeom prst="rect">
            <a:avLst/>
          </a:prstGeom>
        </p:spPr>
      </p:pic>
      <p:pic>
        <p:nvPicPr>
          <p:cNvPr id="36" name="Picture 3">
            <a:extLst>
              <a:ext uri="{FF2B5EF4-FFF2-40B4-BE49-F238E27FC236}">
                <a16:creationId xmlns:a16="http://schemas.microsoft.com/office/drawing/2014/main" id="{48273359-94EE-4980-9ED2-C9F00D9BF6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60936" y="7427152"/>
            <a:ext cx="3770991" cy="2119570"/>
          </a:xfrm>
          <a:prstGeom prst="rect">
            <a:avLst/>
          </a:prstGeom>
        </p:spPr>
      </p:pic>
      <p:pic>
        <p:nvPicPr>
          <p:cNvPr id="37" name="Picture 4">
            <a:extLst>
              <a:ext uri="{FF2B5EF4-FFF2-40B4-BE49-F238E27FC236}">
                <a16:creationId xmlns:a16="http://schemas.microsoft.com/office/drawing/2014/main" id="{D479A699-9B19-4220-99D7-9227D18000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2971674" y="7637352"/>
            <a:ext cx="1193367" cy="1193367"/>
          </a:xfrm>
          <a:prstGeom prst="rect">
            <a:avLst/>
          </a:prstGeom>
        </p:spPr>
      </p:pic>
      <p:pic>
        <p:nvPicPr>
          <p:cNvPr id="38" name="Picture 5">
            <a:extLst>
              <a:ext uri="{FF2B5EF4-FFF2-40B4-BE49-F238E27FC236}">
                <a16:creationId xmlns:a16="http://schemas.microsoft.com/office/drawing/2014/main" id="{74F8A29C-5B07-456B-A3D2-781A964D22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04309" y="8424704"/>
            <a:ext cx="1445730" cy="1445730"/>
          </a:xfrm>
          <a:prstGeom prst="rect">
            <a:avLst/>
          </a:prstGeom>
        </p:spPr>
      </p:pic>
      <p:pic>
        <p:nvPicPr>
          <p:cNvPr id="40" name="Picture 6">
            <a:extLst>
              <a:ext uri="{FF2B5EF4-FFF2-40B4-BE49-F238E27FC236}">
                <a16:creationId xmlns:a16="http://schemas.microsoft.com/office/drawing/2014/main" id="{D33469F3-3DFC-4EAF-BC2C-86840A19B4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67864" y="8189347"/>
            <a:ext cx="1734965" cy="1734965"/>
          </a:xfrm>
          <a:prstGeom prst="rect">
            <a:avLst/>
          </a:prstGeom>
        </p:spPr>
      </p:pic>
      <p:sp>
        <p:nvSpPr>
          <p:cNvPr id="44" name="مربع نص 43">
            <a:extLst>
              <a:ext uri="{FF2B5EF4-FFF2-40B4-BE49-F238E27FC236}">
                <a16:creationId xmlns:a16="http://schemas.microsoft.com/office/drawing/2014/main" id="{C4970459-CC5B-2903-9B48-C4735C7E3BFB}"/>
              </a:ext>
            </a:extLst>
          </p:cNvPr>
          <p:cNvSpPr txBox="1"/>
          <p:nvPr/>
        </p:nvSpPr>
        <p:spPr>
          <a:xfrm>
            <a:off x="4107201" y="6523508"/>
            <a:ext cx="12325350" cy="625171"/>
          </a:xfrm>
          <a:prstGeom prst="rect">
            <a:avLst/>
          </a:prstGeom>
          <a:noFill/>
        </p:spPr>
        <p:txBody>
          <a:bodyPr wrap="square">
            <a:spAutoFit/>
          </a:bodyPr>
          <a:lstStyle/>
          <a:p>
            <a:pPr marL="457200" indent="-457200" algn="r" rtl="1">
              <a:lnSpc>
                <a:spcPts val="4100"/>
              </a:lnSpc>
              <a:buFont typeface="Arial" panose="020B0604020202020204" pitchFamily="34" charset="0"/>
              <a:buChar char="•"/>
            </a:pPr>
            <a:r>
              <a:rPr lang="ar-SA" sz="3400" dirty="0">
                <a:solidFill>
                  <a:srgbClr val="C00000"/>
                </a:solidFill>
                <a:cs typeface="PT Bold Heading" panose="02010400000000000000" pitchFamily="2" charset="-78"/>
              </a:rPr>
              <a:t>برأيك هل له علاقة بدورة حياة النظام ؟</a:t>
            </a:r>
            <a:endParaRPr lang="en-US" sz="3400" dirty="0">
              <a:cs typeface="PT Bold Heading" panose="02010400000000000000" pitchFamily="2" charset="-78"/>
            </a:endParaRPr>
          </a:p>
        </p:txBody>
      </p:sp>
      <p:sp>
        <p:nvSpPr>
          <p:cNvPr id="31" name="TextBox 23">
            <a:extLst>
              <a:ext uri="{FF2B5EF4-FFF2-40B4-BE49-F238E27FC236}">
                <a16:creationId xmlns:a16="http://schemas.microsoft.com/office/drawing/2014/main" id="{573B99AC-C09F-A995-6B8D-AFD0B91A24B1}"/>
              </a:ext>
            </a:extLst>
          </p:cNvPr>
          <p:cNvSpPr txBox="1"/>
          <p:nvPr/>
        </p:nvSpPr>
        <p:spPr>
          <a:xfrm>
            <a:off x="376441" y="8735207"/>
            <a:ext cx="12110235" cy="694421"/>
          </a:xfrm>
          <a:prstGeom prst="rect">
            <a:avLst/>
          </a:prstGeom>
          <a:solidFill>
            <a:srgbClr val="FF0000"/>
          </a:solidFill>
          <a:ln>
            <a:solidFill>
              <a:srgbClr val="FF0000"/>
            </a:solidFill>
          </a:ln>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1">
              <a:lnSpc>
                <a:spcPts val="6089"/>
              </a:lnSpc>
            </a:pPr>
            <a:r>
              <a:rPr lang="ar-SA" sz="2800" dirty="0">
                <a:solidFill>
                  <a:srgbClr val="050A30"/>
                </a:solidFill>
                <a:cs typeface="PT Bold Heading" panose="02010400000000000000" pitchFamily="2" charset="-78"/>
              </a:rPr>
              <a:t>العرض المتصفح وكلام السعودي</a:t>
            </a:r>
            <a:endParaRPr lang="en-US" sz="2800" dirty="0">
              <a:solidFill>
                <a:srgbClr val="050A30"/>
              </a:solidFill>
              <a:cs typeface="PT Bold Heading" panose="02010400000000000000" pitchFamily="2" charset="-78"/>
            </a:endParaRPr>
          </a:p>
        </p:txBody>
      </p:sp>
    </p:spTree>
    <p:extLst>
      <p:ext uri="{BB962C8B-B14F-4D97-AF65-F5344CB8AC3E}">
        <p14:creationId xmlns:p14="http://schemas.microsoft.com/office/powerpoint/2010/main" val="1608577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1">
            <a:extLst>
              <a:ext uri="{FF2B5EF4-FFF2-40B4-BE49-F238E27FC236}">
                <a16:creationId xmlns:a16="http://schemas.microsoft.com/office/drawing/2014/main" id="{449E1087-CA59-A964-1DCA-CF57BD1F69A6}"/>
              </a:ext>
            </a:extLst>
          </p:cNvPr>
          <p:cNvGrpSpPr/>
          <p:nvPr/>
        </p:nvGrpSpPr>
        <p:grpSpPr>
          <a:xfrm>
            <a:off x="2667000" y="3140676"/>
            <a:ext cx="13654753" cy="3984024"/>
            <a:chOff x="3432293" y="1706123"/>
            <a:chExt cx="12208011" cy="3027371"/>
          </a:xfrm>
        </p:grpSpPr>
        <p:grpSp>
          <p:nvGrpSpPr>
            <p:cNvPr id="3" name="Group 2">
              <a:extLst>
                <a:ext uri="{FF2B5EF4-FFF2-40B4-BE49-F238E27FC236}">
                  <a16:creationId xmlns:a16="http://schemas.microsoft.com/office/drawing/2014/main" id="{263BC613-32AD-7136-FAFB-5C70F4D93D88}"/>
                </a:ext>
              </a:extLst>
            </p:cNvPr>
            <p:cNvGrpSpPr/>
            <p:nvPr/>
          </p:nvGrpSpPr>
          <p:grpSpPr>
            <a:xfrm>
              <a:off x="3541534" y="1706123"/>
              <a:ext cx="12098770" cy="1011827"/>
              <a:chOff x="0" y="0"/>
              <a:chExt cx="16131693" cy="1349101"/>
            </a:xfrm>
          </p:grpSpPr>
          <p:sp>
            <p:nvSpPr>
              <p:cNvPr id="34" name="Freeform 4">
                <a:extLst>
                  <a:ext uri="{FF2B5EF4-FFF2-40B4-BE49-F238E27FC236}">
                    <a16:creationId xmlns:a16="http://schemas.microsoft.com/office/drawing/2014/main" id="{AFEF30CB-37B0-94F0-E539-092F1DA721EB}"/>
                  </a:ext>
                </a:extLst>
              </p:cNvPr>
              <p:cNvSpPr/>
              <p:nvPr/>
            </p:nvSpPr>
            <p:spPr>
              <a:xfrm>
                <a:off x="0" y="0"/>
                <a:ext cx="16131693" cy="1349101"/>
              </a:xfrm>
              <a:custGeom>
                <a:avLst/>
                <a:gdLst/>
                <a:ahLst/>
                <a:cxnLst/>
                <a:rect l="l" t="t" r="r" b="b"/>
                <a:pathLst>
                  <a:path w="3398400" h="284210">
                    <a:moveTo>
                      <a:pt x="0" y="0"/>
                    </a:moveTo>
                    <a:lnTo>
                      <a:pt x="3398400" y="0"/>
                    </a:lnTo>
                    <a:lnTo>
                      <a:pt x="3398400" y="284210"/>
                    </a:lnTo>
                    <a:lnTo>
                      <a:pt x="0" y="284210"/>
                    </a:lnTo>
                    <a:close/>
                  </a:path>
                </a:pathLst>
              </a:custGeom>
              <a:solidFill>
                <a:srgbClr val="2A8D87"/>
              </a:solidFill>
            </p:spPr>
            <p:txBody>
              <a:bodyPr/>
              <a:lstStyle/>
              <a:p>
                <a:pPr algn="r" rtl="1"/>
                <a:endParaRPr lang="ar-SA" sz="2400">
                  <a:cs typeface="PT Bold Heading" panose="02010400000000000000" pitchFamily="2" charset="-78"/>
                </a:endParaRPr>
              </a:p>
            </p:txBody>
          </p:sp>
          <p:sp>
            <p:nvSpPr>
              <p:cNvPr id="35" name="TextBox 6">
                <a:extLst>
                  <a:ext uri="{FF2B5EF4-FFF2-40B4-BE49-F238E27FC236}">
                    <a16:creationId xmlns:a16="http://schemas.microsoft.com/office/drawing/2014/main" id="{0595FAC2-D00E-1E6C-EF0D-E508D1C59A4F}"/>
                  </a:ext>
                </a:extLst>
              </p:cNvPr>
              <p:cNvSpPr txBox="1"/>
              <p:nvPr/>
            </p:nvSpPr>
            <p:spPr>
              <a:xfrm>
                <a:off x="256355" y="284365"/>
                <a:ext cx="15747998" cy="795089"/>
              </a:xfrm>
              <a:prstGeom prst="rect">
                <a:avLst/>
              </a:prstGeom>
            </p:spPr>
            <p:txBody>
              <a:bodyPr wrap="square" lIns="0" tIns="0" rIns="0" bIns="0" rtlCol="0" anchor="t">
                <a:spAutoFit/>
              </a:bodyPr>
              <a:lstStyle/>
              <a:p>
                <a:pPr algn="ctr" rtl="1">
                  <a:lnSpc>
                    <a:spcPts val="4555"/>
                  </a:lnSpc>
                </a:pPr>
                <a:r>
                  <a:rPr lang="en-US" sz="4000" dirty="0" err="1">
                    <a:solidFill>
                      <a:srgbClr val="F9F9FA"/>
                    </a:solidFill>
                    <a:cs typeface="PT Bold Heading" panose="02010400000000000000" pitchFamily="2" charset="-78"/>
                  </a:rPr>
                  <a:t>عدد</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الساعات</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الدراسية</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لكل</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درس</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للسنة</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الثالثة</a:t>
                </a:r>
                <a:r>
                  <a:rPr lang="en-US" sz="4000" dirty="0">
                    <a:solidFill>
                      <a:srgbClr val="F9F9FA"/>
                    </a:solidFill>
                    <a:cs typeface="PT Bold Heading" panose="02010400000000000000" pitchFamily="2" charset="-78"/>
                  </a:rPr>
                  <a:t> - </a:t>
                </a:r>
                <a:r>
                  <a:rPr lang="ar-SA"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نظام</a:t>
                </a:r>
                <a:r>
                  <a:rPr lang="en-US" sz="4000" dirty="0">
                    <a:solidFill>
                      <a:srgbClr val="F9F9FA"/>
                    </a:solidFill>
                    <a:cs typeface="PT Bold Heading" panose="02010400000000000000" pitchFamily="2" charset="-78"/>
                  </a:rPr>
                  <a:t> </a:t>
                </a:r>
                <a:r>
                  <a:rPr lang="en-US" sz="4000" dirty="0" err="1">
                    <a:solidFill>
                      <a:srgbClr val="F9F9FA"/>
                    </a:solidFill>
                    <a:cs typeface="PT Bold Heading" panose="02010400000000000000" pitchFamily="2" charset="-78"/>
                  </a:rPr>
                  <a:t>المسارات</a:t>
                </a:r>
                <a:r>
                  <a:rPr lang="en-US" sz="4000" dirty="0">
                    <a:solidFill>
                      <a:srgbClr val="F9F9FA"/>
                    </a:solidFill>
                    <a:cs typeface="PT Bold Heading" panose="02010400000000000000" pitchFamily="2" charset="-78"/>
                  </a:rPr>
                  <a:t> </a:t>
                </a:r>
              </a:p>
            </p:txBody>
          </p:sp>
        </p:grpSp>
        <p:grpSp>
          <p:nvGrpSpPr>
            <p:cNvPr id="4" name="Group 7">
              <a:extLst>
                <a:ext uri="{FF2B5EF4-FFF2-40B4-BE49-F238E27FC236}">
                  <a16:creationId xmlns:a16="http://schemas.microsoft.com/office/drawing/2014/main" id="{94641072-F7ED-4CF8-DA20-D922F7762E33}"/>
                </a:ext>
              </a:extLst>
            </p:cNvPr>
            <p:cNvGrpSpPr/>
            <p:nvPr/>
          </p:nvGrpSpPr>
          <p:grpSpPr>
            <a:xfrm>
              <a:off x="3432293" y="2748932"/>
              <a:ext cx="12208007" cy="1020758"/>
              <a:chOff x="-145654" y="0"/>
              <a:chExt cx="16277342" cy="1361009"/>
            </a:xfrm>
          </p:grpSpPr>
          <p:sp>
            <p:nvSpPr>
              <p:cNvPr id="30" name="Freeform 9">
                <a:extLst>
                  <a:ext uri="{FF2B5EF4-FFF2-40B4-BE49-F238E27FC236}">
                    <a16:creationId xmlns:a16="http://schemas.microsoft.com/office/drawing/2014/main" id="{4E941F8E-29AC-3416-4C4D-EAC16FC9434C}"/>
                  </a:ext>
                </a:extLst>
              </p:cNvPr>
              <p:cNvSpPr/>
              <p:nvPr/>
            </p:nvSpPr>
            <p:spPr>
              <a:xfrm>
                <a:off x="4877576" y="11908"/>
                <a:ext cx="11254112" cy="1349101"/>
              </a:xfrm>
              <a:custGeom>
                <a:avLst/>
                <a:gdLst/>
                <a:ahLst/>
                <a:cxnLst/>
                <a:rect l="l" t="t" r="r" b="b"/>
                <a:pathLst>
                  <a:path w="2370860" h="284210">
                    <a:moveTo>
                      <a:pt x="0" y="0"/>
                    </a:moveTo>
                    <a:lnTo>
                      <a:pt x="2370860" y="0"/>
                    </a:lnTo>
                    <a:lnTo>
                      <a:pt x="2370860" y="284210"/>
                    </a:lnTo>
                    <a:lnTo>
                      <a:pt x="0" y="284210"/>
                    </a:lnTo>
                    <a:close/>
                  </a:path>
                </a:pathLst>
              </a:custGeom>
              <a:solidFill>
                <a:srgbClr val="959E9D"/>
              </a:solidFill>
            </p:spPr>
            <p:txBody>
              <a:bodyPr/>
              <a:lstStyle/>
              <a:p>
                <a:pPr algn="r" rtl="1"/>
                <a:endParaRPr lang="ar-SA" sz="2400">
                  <a:cs typeface="PT Bold Heading" panose="02010400000000000000" pitchFamily="2" charset="-78"/>
                </a:endParaRPr>
              </a:p>
            </p:txBody>
          </p:sp>
          <p:sp>
            <p:nvSpPr>
              <p:cNvPr id="31" name="TextBox 11">
                <a:extLst>
                  <a:ext uri="{FF2B5EF4-FFF2-40B4-BE49-F238E27FC236}">
                    <a16:creationId xmlns:a16="http://schemas.microsoft.com/office/drawing/2014/main" id="{32258E25-D492-C6FE-897D-006534562B27}"/>
                  </a:ext>
                </a:extLst>
              </p:cNvPr>
              <p:cNvSpPr txBox="1"/>
              <p:nvPr/>
            </p:nvSpPr>
            <p:spPr>
              <a:xfrm>
                <a:off x="6122444" y="356004"/>
                <a:ext cx="8060235" cy="752342"/>
              </a:xfrm>
              <a:prstGeom prst="rect">
                <a:avLst/>
              </a:prstGeom>
            </p:spPr>
            <p:txBody>
              <a:bodyPr lIns="0" tIns="0" rIns="0" bIns="0" rtlCol="0" anchor="t">
                <a:spAutoFit/>
              </a:bodyPr>
              <a:lstStyle/>
              <a:p>
                <a:pPr algn="ctr" rtl="1">
                  <a:lnSpc>
                    <a:spcPts val="4415"/>
                  </a:lnSpc>
                </a:pPr>
                <a:r>
                  <a:rPr lang="en-US" sz="3600" dirty="0" err="1">
                    <a:solidFill>
                      <a:srgbClr val="FFFFFF"/>
                    </a:solidFill>
                    <a:cs typeface="PT Bold Heading" panose="02010400000000000000" pitchFamily="2" charset="-78"/>
                  </a:rPr>
                  <a:t>الوحدة</a:t>
                </a:r>
                <a:r>
                  <a:rPr lang="en-US" sz="3600" dirty="0">
                    <a:solidFill>
                      <a:srgbClr val="FFFFFF"/>
                    </a:solidFill>
                    <a:cs typeface="PT Bold Heading" panose="02010400000000000000" pitchFamily="2" charset="-78"/>
                  </a:rPr>
                  <a:t> </a:t>
                </a:r>
                <a:r>
                  <a:rPr lang="en-US" sz="3600" dirty="0" err="1">
                    <a:solidFill>
                      <a:srgbClr val="FFFFFF"/>
                    </a:solidFill>
                    <a:cs typeface="PT Bold Heading" panose="02010400000000000000" pitchFamily="2" charset="-78"/>
                  </a:rPr>
                  <a:t>الثانية</a:t>
                </a:r>
                <a:r>
                  <a:rPr lang="en-US" sz="3600" dirty="0">
                    <a:solidFill>
                      <a:srgbClr val="FFFFFF"/>
                    </a:solidFill>
                    <a:cs typeface="PT Bold Heading" panose="02010400000000000000" pitchFamily="2" charset="-78"/>
                  </a:rPr>
                  <a:t> : </a:t>
                </a:r>
                <a:r>
                  <a:rPr lang="ar-SA" sz="3600" dirty="0">
                    <a:solidFill>
                      <a:srgbClr val="FFFFFF"/>
                    </a:solidFill>
                    <a:cs typeface="PT Bold Heading" panose="02010400000000000000" pitchFamily="2" charset="-78"/>
                  </a:rPr>
                  <a:t> </a:t>
                </a:r>
                <a:r>
                  <a:rPr lang="en-US" sz="3600" dirty="0" err="1">
                    <a:solidFill>
                      <a:srgbClr val="FFFFFF"/>
                    </a:solidFill>
                    <a:cs typeface="PT Bold Heading" panose="02010400000000000000" pitchFamily="2" charset="-78"/>
                  </a:rPr>
                  <a:t>دورة</a:t>
                </a:r>
                <a:r>
                  <a:rPr lang="en-US" sz="3600" dirty="0">
                    <a:solidFill>
                      <a:srgbClr val="FFFFFF"/>
                    </a:solidFill>
                    <a:cs typeface="PT Bold Heading" panose="02010400000000000000" pitchFamily="2" charset="-78"/>
                  </a:rPr>
                  <a:t> </a:t>
                </a:r>
                <a:r>
                  <a:rPr lang="en-US" sz="3600" dirty="0" err="1">
                    <a:solidFill>
                      <a:srgbClr val="FFFFFF"/>
                    </a:solidFill>
                    <a:cs typeface="PT Bold Heading" panose="02010400000000000000" pitchFamily="2" charset="-78"/>
                  </a:rPr>
                  <a:t>حياة</a:t>
                </a:r>
                <a:r>
                  <a:rPr lang="en-US" sz="3600" dirty="0">
                    <a:solidFill>
                      <a:srgbClr val="FFFFFF"/>
                    </a:solidFill>
                    <a:cs typeface="PT Bold Heading" panose="02010400000000000000" pitchFamily="2" charset="-78"/>
                  </a:rPr>
                  <a:t> </a:t>
                </a:r>
                <a:r>
                  <a:rPr lang="en-US" sz="3600" dirty="0" err="1">
                    <a:solidFill>
                      <a:srgbClr val="FFFFFF"/>
                    </a:solidFill>
                    <a:cs typeface="PT Bold Heading" panose="02010400000000000000" pitchFamily="2" charset="-78"/>
                  </a:rPr>
                  <a:t>النظام</a:t>
                </a:r>
                <a:endParaRPr lang="en-US" sz="3600" dirty="0">
                  <a:solidFill>
                    <a:srgbClr val="FFFFFF"/>
                  </a:solidFill>
                  <a:cs typeface="PT Bold Heading" panose="02010400000000000000" pitchFamily="2" charset="-78"/>
                </a:endParaRPr>
              </a:p>
            </p:txBody>
          </p:sp>
          <p:sp>
            <p:nvSpPr>
              <p:cNvPr id="32" name="Freeform 13">
                <a:extLst>
                  <a:ext uri="{FF2B5EF4-FFF2-40B4-BE49-F238E27FC236}">
                    <a16:creationId xmlns:a16="http://schemas.microsoft.com/office/drawing/2014/main" id="{95FC5D48-A0B2-CBE4-2189-041AC9E83014}"/>
                  </a:ext>
                </a:extLst>
              </p:cNvPr>
              <p:cNvSpPr/>
              <p:nvPr/>
            </p:nvSpPr>
            <p:spPr>
              <a:xfrm>
                <a:off x="0" y="0"/>
                <a:ext cx="4841851" cy="1349101"/>
              </a:xfrm>
              <a:custGeom>
                <a:avLst/>
                <a:gdLst/>
                <a:ahLst/>
                <a:cxnLst/>
                <a:rect l="l" t="t" r="r" b="b"/>
                <a:pathLst>
                  <a:path w="1020014" h="284210">
                    <a:moveTo>
                      <a:pt x="0" y="0"/>
                    </a:moveTo>
                    <a:lnTo>
                      <a:pt x="1020014" y="0"/>
                    </a:lnTo>
                    <a:lnTo>
                      <a:pt x="1020014" y="284210"/>
                    </a:lnTo>
                    <a:lnTo>
                      <a:pt x="0" y="284210"/>
                    </a:lnTo>
                    <a:close/>
                  </a:path>
                </a:pathLst>
              </a:custGeom>
              <a:solidFill>
                <a:srgbClr val="FFE194"/>
              </a:solidFill>
            </p:spPr>
            <p:txBody>
              <a:bodyPr/>
              <a:lstStyle/>
              <a:p>
                <a:pPr algn="r" rtl="1"/>
                <a:endParaRPr lang="ar-SA" sz="2400">
                  <a:cs typeface="PT Bold Heading" panose="02010400000000000000" pitchFamily="2" charset="-78"/>
                </a:endParaRPr>
              </a:p>
            </p:txBody>
          </p:sp>
          <p:sp>
            <p:nvSpPr>
              <p:cNvPr id="33" name="TextBox 15">
                <a:extLst>
                  <a:ext uri="{FF2B5EF4-FFF2-40B4-BE49-F238E27FC236}">
                    <a16:creationId xmlns:a16="http://schemas.microsoft.com/office/drawing/2014/main" id="{1BF3B38C-F0F1-4E63-1702-45988D86D879}"/>
                  </a:ext>
                </a:extLst>
              </p:cNvPr>
              <p:cNvSpPr txBox="1"/>
              <p:nvPr/>
            </p:nvSpPr>
            <p:spPr>
              <a:xfrm>
                <a:off x="-145654" y="376949"/>
                <a:ext cx="5133155" cy="710450"/>
              </a:xfrm>
              <a:prstGeom prst="rect">
                <a:avLst/>
              </a:prstGeom>
            </p:spPr>
            <p:txBody>
              <a:bodyPr wrap="square" lIns="0" tIns="0" rIns="0" bIns="0" rtlCol="0" anchor="t">
                <a:spAutoFit/>
              </a:bodyPr>
              <a:lstStyle/>
              <a:p>
                <a:pPr algn="ctr" rtl="1">
                  <a:lnSpc>
                    <a:spcPts val="4135"/>
                  </a:lnSpc>
                </a:pPr>
                <a:r>
                  <a:rPr lang="en-US" sz="3600" dirty="0" err="1">
                    <a:solidFill>
                      <a:srgbClr val="000000"/>
                    </a:solidFill>
                    <a:cs typeface="PT Bold Heading" panose="02010400000000000000" pitchFamily="2" charset="-78"/>
                  </a:rPr>
                  <a:t>عدد</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الحصص</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الدراسية</a:t>
                </a:r>
                <a:endParaRPr lang="en-US" sz="3600" dirty="0">
                  <a:solidFill>
                    <a:srgbClr val="000000"/>
                  </a:solidFill>
                  <a:cs typeface="PT Bold Heading" panose="02010400000000000000" pitchFamily="2" charset="-78"/>
                </a:endParaRPr>
              </a:p>
            </p:txBody>
          </p:sp>
        </p:grpSp>
        <p:grpSp>
          <p:nvGrpSpPr>
            <p:cNvPr id="5" name="Group 16">
              <a:extLst>
                <a:ext uri="{FF2B5EF4-FFF2-40B4-BE49-F238E27FC236}">
                  <a16:creationId xmlns:a16="http://schemas.microsoft.com/office/drawing/2014/main" id="{C19FDC36-97CA-10C0-A77D-6C15DA0845DB}"/>
                </a:ext>
              </a:extLst>
            </p:cNvPr>
            <p:cNvGrpSpPr/>
            <p:nvPr/>
          </p:nvGrpSpPr>
          <p:grpSpPr>
            <a:xfrm>
              <a:off x="3541534" y="3809605"/>
              <a:ext cx="12098766" cy="923889"/>
              <a:chOff x="0" y="0"/>
              <a:chExt cx="16131688" cy="1231852"/>
            </a:xfrm>
          </p:grpSpPr>
          <p:sp>
            <p:nvSpPr>
              <p:cNvPr id="26" name="Freeform 18">
                <a:extLst>
                  <a:ext uri="{FF2B5EF4-FFF2-40B4-BE49-F238E27FC236}">
                    <a16:creationId xmlns:a16="http://schemas.microsoft.com/office/drawing/2014/main" id="{E0004033-07A3-769E-54F3-7932EFE9E442}"/>
                  </a:ext>
                </a:extLst>
              </p:cNvPr>
              <p:cNvSpPr/>
              <p:nvPr/>
            </p:nvSpPr>
            <p:spPr>
              <a:xfrm>
                <a:off x="4877576" y="0"/>
                <a:ext cx="11254112" cy="1231852"/>
              </a:xfrm>
              <a:custGeom>
                <a:avLst/>
                <a:gdLst/>
                <a:ahLst/>
                <a:cxnLst/>
                <a:rect l="l" t="t" r="r" b="b"/>
                <a:pathLst>
                  <a:path w="2370860" h="259509">
                    <a:moveTo>
                      <a:pt x="0" y="0"/>
                    </a:moveTo>
                    <a:lnTo>
                      <a:pt x="2370860" y="0"/>
                    </a:lnTo>
                    <a:lnTo>
                      <a:pt x="2370860" y="259509"/>
                    </a:lnTo>
                    <a:lnTo>
                      <a:pt x="0" y="259509"/>
                    </a:lnTo>
                    <a:close/>
                  </a:path>
                </a:pathLst>
              </a:custGeom>
              <a:solidFill>
                <a:srgbClr val="FFE194">
                  <a:alpha val="40000"/>
                </a:srgbClr>
              </a:solidFill>
            </p:spPr>
            <p:txBody>
              <a:bodyPr/>
              <a:lstStyle/>
              <a:p>
                <a:pPr algn="r" rtl="1"/>
                <a:endParaRPr lang="ar-SA" sz="2400">
                  <a:cs typeface="PT Bold Heading" panose="02010400000000000000" pitchFamily="2" charset="-78"/>
                </a:endParaRPr>
              </a:p>
            </p:txBody>
          </p:sp>
          <p:sp>
            <p:nvSpPr>
              <p:cNvPr id="27" name="Freeform 21">
                <a:extLst>
                  <a:ext uri="{FF2B5EF4-FFF2-40B4-BE49-F238E27FC236}">
                    <a16:creationId xmlns:a16="http://schemas.microsoft.com/office/drawing/2014/main" id="{E09E541E-96B0-393A-AD61-730F5EA39B73}"/>
                  </a:ext>
                </a:extLst>
              </p:cNvPr>
              <p:cNvSpPr/>
              <p:nvPr/>
            </p:nvSpPr>
            <p:spPr>
              <a:xfrm>
                <a:off x="0" y="0"/>
                <a:ext cx="4841851" cy="1231852"/>
              </a:xfrm>
              <a:custGeom>
                <a:avLst/>
                <a:gdLst/>
                <a:ahLst/>
                <a:cxnLst/>
                <a:rect l="l" t="t" r="r" b="b"/>
                <a:pathLst>
                  <a:path w="1020014" h="259509">
                    <a:moveTo>
                      <a:pt x="0" y="0"/>
                    </a:moveTo>
                    <a:lnTo>
                      <a:pt x="1020014" y="0"/>
                    </a:lnTo>
                    <a:lnTo>
                      <a:pt x="1020014" y="259509"/>
                    </a:lnTo>
                    <a:lnTo>
                      <a:pt x="0" y="259509"/>
                    </a:lnTo>
                    <a:close/>
                  </a:path>
                </a:pathLst>
              </a:custGeom>
              <a:solidFill>
                <a:srgbClr val="A1CCD1">
                  <a:alpha val="45882"/>
                </a:srgbClr>
              </a:solidFill>
            </p:spPr>
            <p:txBody>
              <a:bodyPr/>
              <a:lstStyle/>
              <a:p>
                <a:pPr algn="r" rtl="1"/>
                <a:endParaRPr lang="ar-SA" sz="2400">
                  <a:cs typeface="PT Bold Heading" panose="02010400000000000000" pitchFamily="2" charset="-78"/>
                </a:endParaRPr>
              </a:p>
            </p:txBody>
          </p:sp>
          <p:sp>
            <p:nvSpPr>
              <p:cNvPr id="28" name="TextBox 23">
                <a:extLst>
                  <a:ext uri="{FF2B5EF4-FFF2-40B4-BE49-F238E27FC236}">
                    <a16:creationId xmlns:a16="http://schemas.microsoft.com/office/drawing/2014/main" id="{C03374FC-CC1B-AB8B-870D-F4FF63926081}"/>
                  </a:ext>
                </a:extLst>
              </p:cNvPr>
              <p:cNvSpPr txBox="1"/>
              <p:nvPr/>
            </p:nvSpPr>
            <p:spPr>
              <a:xfrm>
                <a:off x="412171" y="276829"/>
                <a:ext cx="4017511" cy="571039"/>
              </a:xfrm>
              <a:prstGeom prst="rect">
                <a:avLst/>
              </a:prstGeom>
            </p:spPr>
            <p:txBody>
              <a:bodyPr lIns="0" tIns="0" rIns="0" bIns="0" rtlCol="0" anchor="t">
                <a:spAutoFit/>
              </a:bodyPr>
              <a:lstStyle/>
              <a:p>
                <a:pPr algn="ctr" rtl="1">
                  <a:lnSpc>
                    <a:spcPts val="4135"/>
                  </a:lnSpc>
                </a:pPr>
                <a:r>
                  <a:rPr lang="en-US" sz="4800" dirty="0">
                    <a:solidFill>
                      <a:srgbClr val="000000"/>
                    </a:solidFill>
                    <a:cs typeface="PT Bold Heading" panose="02010400000000000000" pitchFamily="2" charset="-78"/>
                  </a:rPr>
                  <a:t>3</a:t>
                </a:r>
              </a:p>
            </p:txBody>
          </p:sp>
          <p:sp>
            <p:nvSpPr>
              <p:cNvPr id="29" name="TextBox 24">
                <a:extLst>
                  <a:ext uri="{FF2B5EF4-FFF2-40B4-BE49-F238E27FC236}">
                    <a16:creationId xmlns:a16="http://schemas.microsoft.com/office/drawing/2014/main" id="{B9E70A3D-F22D-460A-0B36-AB06DE5E1D24}"/>
                  </a:ext>
                </a:extLst>
              </p:cNvPr>
              <p:cNvSpPr txBox="1"/>
              <p:nvPr/>
            </p:nvSpPr>
            <p:spPr>
              <a:xfrm>
                <a:off x="4775208" y="292420"/>
                <a:ext cx="9394495" cy="555447"/>
              </a:xfrm>
              <a:prstGeom prst="rect">
                <a:avLst/>
              </a:prstGeom>
            </p:spPr>
            <p:txBody>
              <a:bodyPr lIns="0" tIns="0" rIns="0" bIns="0" rtlCol="0" anchor="t">
                <a:spAutoFit/>
              </a:bodyPr>
              <a:lstStyle/>
              <a:p>
                <a:pPr algn="r" rtl="1">
                  <a:lnSpc>
                    <a:spcPts val="4135"/>
                  </a:lnSpc>
                </a:pPr>
                <a:r>
                  <a:rPr lang="en-US" sz="4000" dirty="0">
                    <a:solidFill>
                      <a:srgbClr val="000000"/>
                    </a:solidFill>
                    <a:cs typeface="PT Bold Heading" panose="02010400000000000000" pitchFamily="2" charset="-78"/>
                  </a:rPr>
                  <a:t>الدرس </a:t>
                </a:r>
                <a:r>
                  <a:rPr lang="en-US" sz="4000" dirty="0" err="1">
                    <a:solidFill>
                      <a:srgbClr val="000000"/>
                    </a:solidFill>
                    <a:cs typeface="PT Bold Heading" panose="02010400000000000000" pitchFamily="2" charset="-78"/>
                  </a:rPr>
                  <a:t>الثالث</a:t>
                </a:r>
                <a:r>
                  <a:rPr lang="en-US" sz="4000" dirty="0">
                    <a:solidFill>
                      <a:srgbClr val="000000"/>
                    </a:solidFill>
                    <a:cs typeface="PT Bold Heading" panose="02010400000000000000" pitchFamily="2" charset="-78"/>
                  </a:rPr>
                  <a:t> : </a:t>
                </a:r>
                <a:r>
                  <a:rPr lang="ar-SA" sz="4000" dirty="0">
                    <a:solidFill>
                      <a:srgbClr val="000000"/>
                    </a:solidFill>
                    <a:cs typeface="PT Bold Heading" panose="02010400000000000000" pitchFamily="2" charset="-78"/>
                  </a:rPr>
                  <a:t> </a:t>
                </a:r>
                <a:r>
                  <a:rPr lang="en-US" sz="4000" dirty="0" err="1">
                    <a:solidFill>
                      <a:srgbClr val="000000"/>
                    </a:solidFill>
                    <a:cs typeface="PT Bold Heading" panose="02010400000000000000" pitchFamily="2" charset="-78"/>
                  </a:rPr>
                  <a:t>الأمن</a:t>
                </a:r>
                <a:r>
                  <a:rPr lang="en-US" sz="4000" dirty="0">
                    <a:solidFill>
                      <a:srgbClr val="000000"/>
                    </a:solidFill>
                    <a:cs typeface="PT Bold Heading" panose="02010400000000000000" pitchFamily="2" charset="-78"/>
                  </a:rPr>
                  <a:t> </a:t>
                </a:r>
                <a:r>
                  <a:rPr lang="en-US" sz="4000" dirty="0" err="1">
                    <a:solidFill>
                      <a:srgbClr val="000000"/>
                    </a:solidFill>
                    <a:cs typeface="PT Bold Heading" panose="02010400000000000000" pitchFamily="2" charset="-78"/>
                  </a:rPr>
                  <a:t>السيبراني</a:t>
                </a:r>
                <a:r>
                  <a:rPr lang="en-US" sz="4000" dirty="0">
                    <a:solidFill>
                      <a:srgbClr val="000000"/>
                    </a:solidFill>
                    <a:cs typeface="PT Bold Heading" panose="02010400000000000000" pitchFamily="2" charset="-78"/>
                  </a:rPr>
                  <a:t> </a:t>
                </a:r>
              </a:p>
            </p:txBody>
          </p:sp>
        </p:grpSp>
      </p:grpSp>
    </p:spTree>
    <p:extLst>
      <p:ext uri="{BB962C8B-B14F-4D97-AF65-F5344CB8AC3E}">
        <p14:creationId xmlns:p14="http://schemas.microsoft.com/office/powerpoint/2010/main" val="1643464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20"/>
          <p:cNvGrpSpPr/>
          <p:nvPr/>
        </p:nvGrpSpPr>
        <p:grpSpPr>
          <a:xfrm>
            <a:off x="5994246" y="4179409"/>
            <a:ext cx="10999719" cy="1059704"/>
            <a:chOff x="148060" y="0"/>
            <a:chExt cx="14666293" cy="1412938"/>
          </a:xfrm>
        </p:grpSpPr>
        <p:sp>
          <p:nvSpPr>
            <p:cNvPr id="22" name="Freeform 22"/>
            <p:cNvSpPr/>
            <p:nvPr/>
          </p:nvSpPr>
          <p:spPr>
            <a:xfrm>
              <a:off x="10778995" y="210445"/>
              <a:ext cx="4001618" cy="936813"/>
            </a:xfrm>
            <a:custGeom>
              <a:avLst/>
              <a:gdLst/>
              <a:ahLst/>
              <a:cxnLst/>
              <a:rect l="l" t="t" r="r" b="b"/>
              <a:pathLst>
                <a:path w="912469" h="213617">
                  <a:moveTo>
                    <a:pt x="28376" y="0"/>
                  </a:moveTo>
                  <a:lnTo>
                    <a:pt x="884094" y="0"/>
                  </a:lnTo>
                  <a:cubicBezTo>
                    <a:pt x="899765" y="0"/>
                    <a:pt x="912469" y="12704"/>
                    <a:pt x="912469" y="28376"/>
                  </a:cubicBezTo>
                  <a:lnTo>
                    <a:pt x="912469" y="185241"/>
                  </a:lnTo>
                  <a:cubicBezTo>
                    <a:pt x="912469" y="200913"/>
                    <a:pt x="899765" y="213617"/>
                    <a:pt x="884094" y="213617"/>
                  </a:cubicBezTo>
                  <a:lnTo>
                    <a:pt x="28376" y="213617"/>
                  </a:lnTo>
                  <a:cubicBezTo>
                    <a:pt x="12704" y="213617"/>
                    <a:pt x="0" y="200913"/>
                    <a:pt x="0" y="185241"/>
                  </a:cubicBezTo>
                  <a:lnTo>
                    <a:pt x="0" y="28376"/>
                  </a:lnTo>
                  <a:cubicBezTo>
                    <a:pt x="0" y="12704"/>
                    <a:pt x="12704" y="0"/>
                    <a:pt x="28376" y="0"/>
                  </a:cubicBez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25" name="Freeform 25"/>
            <p:cNvSpPr/>
            <p:nvPr/>
          </p:nvSpPr>
          <p:spPr>
            <a:xfrm>
              <a:off x="10445509" y="7245"/>
              <a:ext cx="4001618" cy="1405693"/>
            </a:xfrm>
            <a:custGeom>
              <a:avLst/>
              <a:gdLst/>
              <a:ahLst/>
              <a:cxnLst/>
              <a:rect l="l" t="t" r="r" b="b"/>
              <a:pathLst>
                <a:path w="912469" h="320533">
                  <a:moveTo>
                    <a:pt x="28376" y="0"/>
                  </a:moveTo>
                  <a:lnTo>
                    <a:pt x="884094" y="0"/>
                  </a:lnTo>
                  <a:cubicBezTo>
                    <a:pt x="899765" y="0"/>
                    <a:pt x="912469" y="12704"/>
                    <a:pt x="912469" y="28376"/>
                  </a:cubicBezTo>
                  <a:lnTo>
                    <a:pt x="912469" y="292158"/>
                  </a:lnTo>
                  <a:cubicBezTo>
                    <a:pt x="912469" y="307829"/>
                    <a:pt x="899765" y="320533"/>
                    <a:pt x="884094" y="320533"/>
                  </a:cubicBezTo>
                  <a:lnTo>
                    <a:pt x="28376" y="320533"/>
                  </a:lnTo>
                  <a:cubicBezTo>
                    <a:pt x="12704" y="320533"/>
                    <a:pt x="0" y="307829"/>
                    <a:pt x="0" y="292158"/>
                  </a:cubicBezTo>
                  <a:lnTo>
                    <a:pt x="0" y="28376"/>
                  </a:lnTo>
                  <a:cubicBezTo>
                    <a:pt x="0" y="12704"/>
                    <a:pt x="12704" y="0"/>
                    <a:pt x="28376" y="0"/>
                  </a:cubicBezTo>
                  <a:close/>
                </a:path>
              </a:pathLst>
            </a:custGeom>
            <a:solidFill>
              <a:srgbClr val="FFFFFF"/>
            </a:solidFill>
            <a:ln w="28575">
              <a:solidFill>
                <a:srgbClr val="A1CCD1"/>
              </a:solidFill>
            </a:ln>
          </p:spPr>
          <p:txBody>
            <a:bodyPr/>
            <a:lstStyle/>
            <a:p>
              <a:pPr algn="r" rtl="1"/>
              <a:endParaRPr lang="ar-SA">
                <a:cs typeface="PT Bold Heading" panose="02010400000000000000" pitchFamily="2" charset="-78"/>
              </a:endParaRPr>
            </a:p>
          </p:txBody>
        </p:sp>
        <p:sp>
          <p:nvSpPr>
            <p:cNvPr id="28" name="Freeform 28"/>
            <p:cNvSpPr/>
            <p:nvPr/>
          </p:nvSpPr>
          <p:spPr>
            <a:xfrm>
              <a:off x="374451" y="0"/>
              <a:ext cx="9959070" cy="1405693"/>
            </a:xfrm>
            <a:custGeom>
              <a:avLst/>
              <a:gdLst/>
              <a:ahLst/>
              <a:cxnLst/>
              <a:rect l="l" t="t" r="r" b="b"/>
              <a:pathLst>
                <a:path w="2270918" h="320533">
                  <a:moveTo>
                    <a:pt x="11401" y="0"/>
                  </a:moveTo>
                  <a:lnTo>
                    <a:pt x="2259516" y="0"/>
                  </a:lnTo>
                  <a:cubicBezTo>
                    <a:pt x="2262540" y="0"/>
                    <a:pt x="2265440" y="1201"/>
                    <a:pt x="2267578" y="3339"/>
                  </a:cubicBezTo>
                  <a:cubicBezTo>
                    <a:pt x="2269716" y="5478"/>
                    <a:pt x="2270918" y="8378"/>
                    <a:pt x="2270918" y="11401"/>
                  </a:cubicBezTo>
                  <a:lnTo>
                    <a:pt x="2270918" y="309132"/>
                  </a:lnTo>
                  <a:cubicBezTo>
                    <a:pt x="2270918" y="315429"/>
                    <a:pt x="2265813" y="320533"/>
                    <a:pt x="2259516" y="320533"/>
                  </a:cubicBezTo>
                  <a:lnTo>
                    <a:pt x="11401" y="320533"/>
                  </a:lnTo>
                  <a:cubicBezTo>
                    <a:pt x="5105" y="320533"/>
                    <a:pt x="0" y="315429"/>
                    <a:pt x="0" y="309132"/>
                  </a:cubicBezTo>
                  <a:lnTo>
                    <a:pt x="0" y="11401"/>
                  </a:lnTo>
                  <a:cubicBezTo>
                    <a:pt x="0" y="5105"/>
                    <a:pt x="5105" y="0"/>
                    <a:pt x="11401" y="0"/>
                  </a:cubicBezTo>
                  <a:close/>
                </a:path>
              </a:pathLst>
            </a:custGeom>
            <a:solidFill>
              <a:srgbClr val="FFE194">
                <a:alpha val="35686"/>
              </a:srgbClr>
            </a:solidFill>
            <a:ln>
              <a:noFill/>
            </a:ln>
          </p:spPr>
          <p:txBody>
            <a:bodyPr/>
            <a:lstStyle/>
            <a:p>
              <a:pPr algn="r" rtl="1"/>
              <a:endParaRPr lang="ar-SA">
                <a:cs typeface="PT Bold Heading" panose="02010400000000000000" pitchFamily="2" charset="-78"/>
              </a:endParaRPr>
            </a:p>
          </p:txBody>
        </p:sp>
        <p:sp>
          <p:nvSpPr>
            <p:cNvPr id="30" name="TextBox 30"/>
            <p:cNvSpPr txBox="1"/>
            <p:nvPr/>
          </p:nvSpPr>
          <p:spPr>
            <a:xfrm>
              <a:off x="9867929" y="297504"/>
              <a:ext cx="4946424" cy="763899"/>
            </a:xfrm>
            <a:prstGeom prst="rect">
              <a:avLst/>
            </a:prstGeom>
          </p:spPr>
          <p:txBody>
            <a:bodyPr lIns="0" tIns="0" rIns="0" bIns="0" rtlCol="0" anchor="t">
              <a:spAutoFit/>
            </a:bodyPr>
            <a:lstStyle/>
            <a:p>
              <a:pPr algn="ctr" rtl="1">
                <a:lnSpc>
                  <a:spcPts val="4104"/>
                </a:lnSpc>
              </a:pPr>
              <a:r>
                <a:rPr lang="en-US" sz="4188">
                  <a:solidFill>
                    <a:srgbClr val="28443B"/>
                  </a:solidFill>
                  <a:cs typeface="PT Bold Heading" panose="02010400000000000000" pitchFamily="2" charset="-78"/>
                </a:rPr>
                <a:t>الدرس الأول </a:t>
              </a:r>
            </a:p>
          </p:txBody>
        </p:sp>
        <p:sp>
          <p:nvSpPr>
            <p:cNvPr id="31" name="TextBox 31"/>
            <p:cNvSpPr txBox="1"/>
            <p:nvPr/>
          </p:nvSpPr>
          <p:spPr>
            <a:xfrm>
              <a:off x="148060" y="402024"/>
              <a:ext cx="10496368" cy="650855"/>
            </a:xfrm>
            <a:prstGeom prst="rect">
              <a:avLst/>
            </a:prstGeom>
          </p:spPr>
          <p:txBody>
            <a:bodyPr lIns="0" tIns="0" rIns="0" bIns="0" rtlCol="0" anchor="t">
              <a:spAutoFit/>
            </a:bodyPr>
            <a:lstStyle/>
            <a:p>
              <a:pPr algn="ctr" rtl="1">
                <a:lnSpc>
                  <a:spcPts val="3507"/>
                </a:lnSpc>
              </a:pPr>
              <a:r>
                <a:rPr lang="en-US" sz="3578" dirty="0" err="1">
                  <a:solidFill>
                    <a:srgbClr val="28443B"/>
                  </a:solidFill>
                  <a:cs typeface="PT Bold Heading" panose="02010400000000000000" pitchFamily="2" charset="-78"/>
                </a:rPr>
                <a:t>دورة</a:t>
              </a:r>
              <a:r>
                <a:rPr lang="en-US" sz="3578" dirty="0">
                  <a:solidFill>
                    <a:srgbClr val="28443B"/>
                  </a:solidFill>
                  <a:cs typeface="PT Bold Heading" panose="02010400000000000000" pitchFamily="2" charset="-78"/>
                </a:rPr>
                <a:t> </a:t>
              </a:r>
              <a:r>
                <a:rPr lang="en-US" sz="3578" dirty="0" err="1">
                  <a:solidFill>
                    <a:srgbClr val="28443B"/>
                  </a:solidFill>
                  <a:cs typeface="PT Bold Heading" panose="02010400000000000000" pitchFamily="2" charset="-78"/>
                </a:rPr>
                <a:t>حياة</a:t>
              </a:r>
              <a:r>
                <a:rPr lang="en-US" sz="3578" dirty="0">
                  <a:solidFill>
                    <a:srgbClr val="28443B"/>
                  </a:solidFill>
                  <a:cs typeface="PT Bold Heading" panose="02010400000000000000" pitchFamily="2" charset="-78"/>
                </a:rPr>
                <a:t> </a:t>
              </a:r>
              <a:r>
                <a:rPr lang="en-US" sz="3578" dirty="0" err="1">
                  <a:solidFill>
                    <a:srgbClr val="28443B"/>
                  </a:solidFill>
                  <a:cs typeface="PT Bold Heading" panose="02010400000000000000" pitchFamily="2" charset="-78"/>
                </a:rPr>
                <a:t>النظام</a:t>
              </a:r>
              <a:endParaRPr lang="en-US" sz="3578" dirty="0">
                <a:solidFill>
                  <a:srgbClr val="28443B"/>
                </a:solidFill>
                <a:cs typeface="PT Bold Heading" panose="02010400000000000000" pitchFamily="2" charset="-78"/>
              </a:endParaRPr>
            </a:p>
          </p:txBody>
        </p:sp>
      </p:grpSp>
      <p:grpSp>
        <p:nvGrpSpPr>
          <p:cNvPr id="33" name="Group 33"/>
          <p:cNvGrpSpPr/>
          <p:nvPr/>
        </p:nvGrpSpPr>
        <p:grpSpPr>
          <a:xfrm>
            <a:off x="6925083" y="1924732"/>
            <a:ext cx="7802674" cy="1769074"/>
            <a:chOff x="0" y="-190500"/>
            <a:chExt cx="10403565" cy="2358766"/>
          </a:xfrm>
        </p:grpSpPr>
        <p:sp>
          <p:nvSpPr>
            <p:cNvPr id="35" name="Freeform 35"/>
            <p:cNvSpPr/>
            <p:nvPr/>
          </p:nvSpPr>
          <p:spPr>
            <a:xfrm>
              <a:off x="8597709" y="265184"/>
              <a:ext cx="1805856" cy="1813951"/>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37" name="TextBox 37"/>
            <p:cNvSpPr txBox="1"/>
            <p:nvPr/>
          </p:nvSpPr>
          <p:spPr>
            <a:xfrm>
              <a:off x="0" y="-190500"/>
              <a:ext cx="9936162" cy="2358766"/>
            </a:xfrm>
            <a:prstGeom prst="rect">
              <a:avLst/>
            </a:prstGeom>
          </p:spPr>
          <p:txBody>
            <a:bodyPr lIns="0" tIns="0" rIns="0" bIns="0" rtlCol="0" anchor="t">
              <a:spAutoFit/>
            </a:bodyPr>
            <a:lstStyle/>
            <a:p>
              <a:pPr algn="r" rtl="1">
                <a:lnSpc>
                  <a:spcPts val="14326"/>
                </a:lnSpc>
              </a:pPr>
              <a:r>
                <a:rPr lang="en-US" sz="10233" spc="-204">
                  <a:solidFill>
                    <a:srgbClr val="000000"/>
                  </a:solidFill>
                  <a:cs typeface="PT Bold Heading" panose="02010400000000000000" pitchFamily="2" charset="-78"/>
                </a:rPr>
                <a:t>الفصل الثاني :</a:t>
              </a:r>
            </a:p>
          </p:txBody>
        </p:sp>
      </p:grpSp>
      <p:grpSp>
        <p:nvGrpSpPr>
          <p:cNvPr id="38" name="Group 38"/>
          <p:cNvGrpSpPr/>
          <p:nvPr/>
        </p:nvGrpSpPr>
        <p:grpSpPr>
          <a:xfrm>
            <a:off x="6164039" y="5326657"/>
            <a:ext cx="10813783" cy="1059704"/>
            <a:chOff x="374451" y="0"/>
            <a:chExt cx="14418377" cy="1412938"/>
          </a:xfrm>
        </p:grpSpPr>
        <p:sp>
          <p:nvSpPr>
            <p:cNvPr id="40" name="Freeform 40"/>
            <p:cNvSpPr/>
            <p:nvPr/>
          </p:nvSpPr>
          <p:spPr>
            <a:xfrm>
              <a:off x="10778995" y="288879"/>
              <a:ext cx="4001617" cy="936813"/>
            </a:xfrm>
            <a:custGeom>
              <a:avLst/>
              <a:gdLst/>
              <a:ahLst/>
              <a:cxnLst/>
              <a:rect l="l" t="t" r="r" b="b"/>
              <a:pathLst>
                <a:path w="912469" h="213617">
                  <a:moveTo>
                    <a:pt x="28376" y="0"/>
                  </a:moveTo>
                  <a:lnTo>
                    <a:pt x="884094" y="0"/>
                  </a:lnTo>
                  <a:cubicBezTo>
                    <a:pt x="899765" y="0"/>
                    <a:pt x="912469" y="12704"/>
                    <a:pt x="912469" y="28376"/>
                  </a:cubicBezTo>
                  <a:lnTo>
                    <a:pt x="912469" y="185241"/>
                  </a:lnTo>
                  <a:cubicBezTo>
                    <a:pt x="912469" y="200913"/>
                    <a:pt x="899765" y="213617"/>
                    <a:pt x="884094" y="213617"/>
                  </a:cubicBezTo>
                  <a:lnTo>
                    <a:pt x="28376" y="213617"/>
                  </a:lnTo>
                  <a:cubicBezTo>
                    <a:pt x="12704" y="213617"/>
                    <a:pt x="0" y="200913"/>
                    <a:pt x="0" y="185241"/>
                  </a:cubicBezTo>
                  <a:lnTo>
                    <a:pt x="0" y="28376"/>
                  </a:lnTo>
                  <a:cubicBezTo>
                    <a:pt x="0" y="12704"/>
                    <a:pt x="12704" y="0"/>
                    <a:pt x="28376" y="0"/>
                  </a:cubicBez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43" name="Freeform 43"/>
            <p:cNvSpPr/>
            <p:nvPr/>
          </p:nvSpPr>
          <p:spPr>
            <a:xfrm>
              <a:off x="10445509" y="7245"/>
              <a:ext cx="4001617" cy="1405693"/>
            </a:xfrm>
            <a:custGeom>
              <a:avLst/>
              <a:gdLst/>
              <a:ahLst/>
              <a:cxnLst/>
              <a:rect l="l" t="t" r="r" b="b"/>
              <a:pathLst>
                <a:path w="912469" h="320533">
                  <a:moveTo>
                    <a:pt x="28376" y="0"/>
                  </a:moveTo>
                  <a:lnTo>
                    <a:pt x="884094" y="0"/>
                  </a:lnTo>
                  <a:cubicBezTo>
                    <a:pt x="899765" y="0"/>
                    <a:pt x="912469" y="12704"/>
                    <a:pt x="912469" y="28376"/>
                  </a:cubicBezTo>
                  <a:lnTo>
                    <a:pt x="912469" y="292158"/>
                  </a:lnTo>
                  <a:cubicBezTo>
                    <a:pt x="912469" y="307829"/>
                    <a:pt x="899765" y="320533"/>
                    <a:pt x="884094" y="320533"/>
                  </a:cubicBezTo>
                  <a:lnTo>
                    <a:pt x="28376" y="320533"/>
                  </a:lnTo>
                  <a:cubicBezTo>
                    <a:pt x="12704" y="320533"/>
                    <a:pt x="0" y="307829"/>
                    <a:pt x="0" y="292158"/>
                  </a:cubicBezTo>
                  <a:lnTo>
                    <a:pt x="0" y="28376"/>
                  </a:lnTo>
                  <a:cubicBezTo>
                    <a:pt x="0" y="12704"/>
                    <a:pt x="12704" y="0"/>
                    <a:pt x="28376" y="0"/>
                  </a:cubicBezTo>
                  <a:close/>
                </a:path>
              </a:pathLst>
            </a:custGeom>
            <a:solidFill>
              <a:srgbClr val="FFFFFF"/>
            </a:solidFill>
            <a:ln w="28575">
              <a:solidFill>
                <a:srgbClr val="A1CCD1"/>
              </a:solidFill>
            </a:ln>
          </p:spPr>
          <p:txBody>
            <a:bodyPr/>
            <a:lstStyle/>
            <a:p>
              <a:pPr algn="r" rtl="1"/>
              <a:endParaRPr lang="ar-SA">
                <a:cs typeface="PT Bold Heading" panose="02010400000000000000" pitchFamily="2" charset="-78"/>
              </a:endParaRPr>
            </a:p>
          </p:txBody>
        </p:sp>
        <p:sp>
          <p:nvSpPr>
            <p:cNvPr id="46" name="Freeform 46"/>
            <p:cNvSpPr/>
            <p:nvPr/>
          </p:nvSpPr>
          <p:spPr>
            <a:xfrm>
              <a:off x="374451" y="0"/>
              <a:ext cx="9959071" cy="1405693"/>
            </a:xfrm>
            <a:custGeom>
              <a:avLst/>
              <a:gdLst/>
              <a:ahLst/>
              <a:cxnLst/>
              <a:rect l="l" t="t" r="r" b="b"/>
              <a:pathLst>
                <a:path w="2270918" h="320533">
                  <a:moveTo>
                    <a:pt x="11401" y="0"/>
                  </a:moveTo>
                  <a:lnTo>
                    <a:pt x="2259516" y="0"/>
                  </a:lnTo>
                  <a:cubicBezTo>
                    <a:pt x="2262540" y="0"/>
                    <a:pt x="2265440" y="1201"/>
                    <a:pt x="2267578" y="3339"/>
                  </a:cubicBezTo>
                  <a:cubicBezTo>
                    <a:pt x="2269716" y="5478"/>
                    <a:pt x="2270918" y="8378"/>
                    <a:pt x="2270918" y="11401"/>
                  </a:cubicBezTo>
                  <a:lnTo>
                    <a:pt x="2270918" y="309132"/>
                  </a:lnTo>
                  <a:cubicBezTo>
                    <a:pt x="2270918" y="315429"/>
                    <a:pt x="2265813" y="320533"/>
                    <a:pt x="2259516" y="320533"/>
                  </a:cubicBezTo>
                  <a:lnTo>
                    <a:pt x="11401" y="320533"/>
                  </a:lnTo>
                  <a:cubicBezTo>
                    <a:pt x="5105" y="320533"/>
                    <a:pt x="0" y="315429"/>
                    <a:pt x="0" y="309132"/>
                  </a:cubicBezTo>
                  <a:lnTo>
                    <a:pt x="0" y="11401"/>
                  </a:lnTo>
                  <a:cubicBezTo>
                    <a:pt x="0" y="5105"/>
                    <a:pt x="5105" y="0"/>
                    <a:pt x="11401" y="0"/>
                  </a:cubicBezTo>
                  <a:close/>
                </a:path>
              </a:pathLst>
            </a:custGeom>
            <a:solidFill>
              <a:srgbClr val="FFE194">
                <a:alpha val="35686"/>
              </a:srgbClr>
            </a:solidFill>
            <a:ln>
              <a:noFill/>
            </a:ln>
          </p:spPr>
          <p:txBody>
            <a:bodyPr/>
            <a:lstStyle/>
            <a:p>
              <a:pPr algn="r" rtl="1"/>
              <a:endParaRPr lang="ar-SA">
                <a:cs typeface="PT Bold Heading" panose="02010400000000000000" pitchFamily="2" charset="-78"/>
              </a:endParaRPr>
            </a:p>
          </p:txBody>
        </p:sp>
        <p:sp>
          <p:nvSpPr>
            <p:cNvPr id="48" name="TextBox 48"/>
            <p:cNvSpPr txBox="1"/>
            <p:nvPr/>
          </p:nvSpPr>
          <p:spPr>
            <a:xfrm>
              <a:off x="9846404" y="329927"/>
              <a:ext cx="4946424" cy="763899"/>
            </a:xfrm>
            <a:prstGeom prst="rect">
              <a:avLst/>
            </a:prstGeom>
          </p:spPr>
          <p:txBody>
            <a:bodyPr lIns="0" tIns="0" rIns="0" bIns="0" rtlCol="0" anchor="t">
              <a:spAutoFit/>
            </a:bodyPr>
            <a:lstStyle/>
            <a:p>
              <a:pPr algn="ctr" rtl="1">
                <a:lnSpc>
                  <a:spcPts val="4104"/>
                </a:lnSpc>
              </a:pPr>
              <a:r>
                <a:rPr lang="en-US" sz="4188">
                  <a:solidFill>
                    <a:srgbClr val="28443B"/>
                  </a:solidFill>
                  <a:cs typeface="PT Bold Heading" panose="02010400000000000000" pitchFamily="2" charset="-78"/>
                </a:rPr>
                <a:t>الدرس الثاني </a:t>
              </a:r>
            </a:p>
          </p:txBody>
        </p:sp>
        <p:sp>
          <p:nvSpPr>
            <p:cNvPr id="49" name="TextBox 49"/>
            <p:cNvSpPr txBox="1"/>
            <p:nvPr/>
          </p:nvSpPr>
          <p:spPr>
            <a:xfrm>
              <a:off x="840128" y="362239"/>
              <a:ext cx="9036795" cy="677071"/>
            </a:xfrm>
            <a:prstGeom prst="rect">
              <a:avLst/>
            </a:prstGeom>
          </p:spPr>
          <p:txBody>
            <a:bodyPr lIns="0" tIns="0" rIns="0" bIns="0" rtlCol="0" anchor="t">
              <a:spAutoFit/>
            </a:bodyPr>
            <a:lstStyle/>
            <a:p>
              <a:pPr algn="ctr" rtl="1">
                <a:lnSpc>
                  <a:spcPts val="3695"/>
                </a:lnSpc>
              </a:pPr>
              <a:r>
                <a:rPr lang="en-US" sz="3771" dirty="0" err="1">
                  <a:solidFill>
                    <a:srgbClr val="28443B"/>
                  </a:solidFill>
                  <a:cs typeface="PT Bold Heading" panose="02010400000000000000" pitchFamily="2" charset="-78"/>
                </a:rPr>
                <a:t>إنشاء</a:t>
              </a:r>
              <a:r>
                <a:rPr lang="en-US" sz="3771" dirty="0">
                  <a:solidFill>
                    <a:srgbClr val="28443B"/>
                  </a:solidFill>
                  <a:cs typeface="PT Bold Heading" panose="02010400000000000000" pitchFamily="2" charset="-78"/>
                </a:rPr>
                <a:t> </a:t>
              </a:r>
              <a:r>
                <a:rPr lang="en-US" sz="3771" dirty="0" err="1">
                  <a:solidFill>
                    <a:srgbClr val="28443B"/>
                  </a:solidFill>
                  <a:cs typeface="PT Bold Heading" panose="02010400000000000000" pitchFamily="2" charset="-78"/>
                </a:rPr>
                <a:t>المخطط</a:t>
              </a:r>
              <a:endParaRPr lang="en-US" sz="3771" dirty="0">
                <a:solidFill>
                  <a:srgbClr val="28443B"/>
                </a:solidFill>
                <a:cs typeface="PT Bold Heading" panose="02010400000000000000" pitchFamily="2" charset="-78"/>
              </a:endParaRPr>
            </a:p>
          </p:txBody>
        </p:sp>
      </p:grpSp>
      <p:grpSp>
        <p:nvGrpSpPr>
          <p:cNvPr id="51" name="Group 51"/>
          <p:cNvGrpSpPr/>
          <p:nvPr/>
        </p:nvGrpSpPr>
        <p:grpSpPr>
          <a:xfrm>
            <a:off x="6142308" y="6473287"/>
            <a:ext cx="10908808" cy="1059704"/>
            <a:chOff x="0" y="0"/>
            <a:chExt cx="14545077" cy="1412938"/>
          </a:xfrm>
        </p:grpSpPr>
        <p:sp>
          <p:nvSpPr>
            <p:cNvPr id="53" name="Freeform 53"/>
            <p:cNvSpPr/>
            <p:nvPr/>
          </p:nvSpPr>
          <p:spPr>
            <a:xfrm>
              <a:off x="10445734" y="234440"/>
              <a:ext cx="4001617" cy="936813"/>
            </a:xfrm>
            <a:custGeom>
              <a:avLst/>
              <a:gdLst/>
              <a:ahLst/>
              <a:cxnLst/>
              <a:rect l="l" t="t" r="r" b="b"/>
              <a:pathLst>
                <a:path w="912469" h="213617">
                  <a:moveTo>
                    <a:pt x="28376" y="0"/>
                  </a:moveTo>
                  <a:lnTo>
                    <a:pt x="884094" y="0"/>
                  </a:lnTo>
                  <a:cubicBezTo>
                    <a:pt x="899765" y="0"/>
                    <a:pt x="912469" y="12704"/>
                    <a:pt x="912469" y="28376"/>
                  </a:cubicBezTo>
                  <a:lnTo>
                    <a:pt x="912469" y="185241"/>
                  </a:lnTo>
                  <a:cubicBezTo>
                    <a:pt x="912469" y="200913"/>
                    <a:pt x="899765" y="213617"/>
                    <a:pt x="884094" y="213617"/>
                  </a:cubicBezTo>
                  <a:lnTo>
                    <a:pt x="28376" y="213617"/>
                  </a:lnTo>
                  <a:cubicBezTo>
                    <a:pt x="12704" y="213617"/>
                    <a:pt x="0" y="200913"/>
                    <a:pt x="0" y="185241"/>
                  </a:cubicBezTo>
                  <a:lnTo>
                    <a:pt x="0" y="28376"/>
                  </a:lnTo>
                  <a:cubicBezTo>
                    <a:pt x="0" y="12704"/>
                    <a:pt x="12704" y="0"/>
                    <a:pt x="28376" y="0"/>
                  </a:cubicBez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56" name="Freeform 56"/>
            <p:cNvSpPr/>
            <p:nvPr/>
          </p:nvSpPr>
          <p:spPr>
            <a:xfrm>
              <a:off x="10071057" y="7245"/>
              <a:ext cx="4001617" cy="1405693"/>
            </a:xfrm>
            <a:custGeom>
              <a:avLst/>
              <a:gdLst/>
              <a:ahLst/>
              <a:cxnLst/>
              <a:rect l="l" t="t" r="r" b="b"/>
              <a:pathLst>
                <a:path w="912469" h="320533">
                  <a:moveTo>
                    <a:pt x="28376" y="0"/>
                  </a:moveTo>
                  <a:lnTo>
                    <a:pt x="884094" y="0"/>
                  </a:lnTo>
                  <a:cubicBezTo>
                    <a:pt x="899765" y="0"/>
                    <a:pt x="912469" y="12704"/>
                    <a:pt x="912469" y="28376"/>
                  </a:cubicBezTo>
                  <a:lnTo>
                    <a:pt x="912469" y="292158"/>
                  </a:lnTo>
                  <a:cubicBezTo>
                    <a:pt x="912469" y="307829"/>
                    <a:pt x="899765" y="320533"/>
                    <a:pt x="884094" y="320533"/>
                  </a:cubicBezTo>
                  <a:lnTo>
                    <a:pt x="28376" y="320533"/>
                  </a:lnTo>
                  <a:cubicBezTo>
                    <a:pt x="12704" y="320533"/>
                    <a:pt x="0" y="307829"/>
                    <a:pt x="0" y="292158"/>
                  </a:cubicBezTo>
                  <a:lnTo>
                    <a:pt x="0" y="28376"/>
                  </a:lnTo>
                  <a:cubicBezTo>
                    <a:pt x="0" y="12704"/>
                    <a:pt x="12704" y="0"/>
                    <a:pt x="28376" y="0"/>
                  </a:cubicBezTo>
                  <a:close/>
                </a:path>
              </a:pathLst>
            </a:custGeom>
            <a:solidFill>
              <a:srgbClr val="FFFFFF"/>
            </a:solidFill>
            <a:ln w="28575">
              <a:solidFill>
                <a:srgbClr val="A1CCD1"/>
              </a:solidFill>
            </a:ln>
          </p:spPr>
          <p:txBody>
            <a:bodyPr/>
            <a:lstStyle/>
            <a:p>
              <a:pPr algn="r" rtl="1"/>
              <a:endParaRPr lang="ar-SA">
                <a:cs typeface="PT Bold Heading" panose="02010400000000000000" pitchFamily="2" charset="-78"/>
              </a:endParaRPr>
            </a:p>
          </p:txBody>
        </p:sp>
        <p:sp>
          <p:nvSpPr>
            <p:cNvPr id="59" name="Freeform 59"/>
            <p:cNvSpPr/>
            <p:nvPr/>
          </p:nvSpPr>
          <p:spPr>
            <a:xfrm>
              <a:off x="0" y="0"/>
              <a:ext cx="9959070" cy="1405693"/>
            </a:xfrm>
            <a:custGeom>
              <a:avLst/>
              <a:gdLst/>
              <a:ahLst/>
              <a:cxnLst/>
              <a:rect l="l" t="t" r="r" b="b"/>
              <a:pathLst>
                <a:path w="2270918" h="320533">
                  <a:moveTo>
                    <a:pt x="11401" y="0"/>
                  </a:moveTo>
                  <a:lnTo>
                    <a:pt x="2259516" y="0"/>
                  </a:lnTo>
                  <a:cubicBezTo>
                    <a:pt x="2262540" y="0"/>
                    <a:pt x="2265440" y="1201"/>
                    <a:pt x="2267578" y="3339"/>
                  </a:cubicBezTo>
                  <a:cubicBezTo>
                    <a:pt x="2269716" y="5478"/>
                    <a:pt x="2270918" y="8378"/>
                    <a:pt x="2270918" y="11401"/>
                  </a:cubicBezTo>
                  <a:lnTo>
                    <a:pt x="2270918" y="309132"/>
                  </a:lnTo>
                  <a:cubicBezTo>
                    <a:pt x="2270918" y="315429"/>
                    <a:pt x="2265813" y="320533"/>
                    <a:pt x="2259516" y="320533"/>
                  </a:cubicBezTo>
                  <a:lnTo>
                    <a:pt x="11401" y="320533"/>
                  </a:lnTo>
                  <a:cubicBezTo>
                    <a:pt x="5105" y="320533"/>
                    <a:pt x="0" y="315429"/>
                    <a:pt x="0" y="309132"/>
                  </a:cubicBezTo>
                  <a:lnTo>
                    <a:pt x="0" y="11401"/>
                  </a:lnTo>
                  <a:cubicBezTo>
                    <a:pt x="0" y="5105"/>
                    <a:pt x="5105" y="0"/>
                    <a:pt x="11401" y="0"/>
                  </a:cubicBezTo>
                  <a:close/>
                </a:path>
              </a:pathLst>
            </a:custGeom>
            <a:solidFill>
              <a:srgbClr val="FFE194">
                <a:alpha val="35686"/>
              </a:srgbClr>
            </a:solidFill>
            <a:ln>
              <a:noFill/>
            </a:ln>
          </p:spPr>
          <p:txBody>
            <a:bodyPr/>
            <a:lstStyle/>
            <a:p>
              <a:pPr algn="r" rtl="1"/>
              <a:endParaRPr lang="ar-SA">
                <a:cs typeface="PT Bold Heading" panose="02010400000000000000" pitchFamily="2" charset="-78"/>
              </a:endParaRPr>
            </a:p>
          </p:txBody>
        </p:sp>
        <p:sp>
          <p:nvSpPr>
            <p:cNvPr id="61" name="TextBox 61"/>
            <p:cNvSpPr txBox="1"/>
            <p:nvPr/>
          </p:nvSpPr>
          <p:spPr>
            <a:xfrm>
              <a:off x="9598653" y="309159"/>
              <a:ext cx="4946424" cy="763898"/>
            </a:xfrm>
            <a:prstGeom prst="rect">
              <a:avLst/>
            </a:prstGeom>
          </p:spPr>
          <p:txBody>
            <a:bodyPr lIns="0" tIns="0" rIns="0" bIns="0" rtlCol="0" anchor="t">
              <a:spAutoFit/>
            </a:bodyPr>
            <a:lstStyle/>
            <a:p>
              <a:pPr algn="ctr" rtl="1">
                <a:lnSpc>
                  <a:spcPts val="4104"/>
                </a:lnSpc>
              </a:pPr>
              <a:r>
                <a:rPr lang="en-US" sz="4188" dirty="0" err="1">
                  <a:solidFill>
                    <a:srgbClr val="28443B"/>
                  </a:solidFill>
                  <a:cs typeface="PT Bold Heading" panose="02010400000000000000" pitchFamily="2" charset="-78"/>
                </a:rPr>
                <a:t>الدرس</a:t>
              </a:r>
              <a:r>
                <a:rPr lang="en-US" sz="4188" dirty="0">
                  <a:solidFill>
                    <a:srgbClr val="28443B"/>
                  </a:solidFill>
                  <a:cs typeface="PT Bold Heading" panose="02010400000000000000" pitchFamily="2" charset="-78"/>
                </a:rPr>
                <a:t> </a:t>
              </a:r>
              <a:r>
                <a:rPr lang="en-US" sz="4188" dirty="0" err="1">
                  <a:solidFill>
                    <a:srgbClr val="28443B"/>
                  </a:solidFill>
                  <a:cs typeface="PT Bold Heading" panose="02010400000000000000" pitchFamily="2" charset="-78"/>
                </a:rPr>
                <a:t>الثالث</a:t>
              </a:r>
              <a:r>
                <a:rPr lang="en-US" sz="4188" dirty="0">
                  <a:solidFill>
                    <a:srgbClr val="28443B"/>
                  </a:solidFill>
                  <a:cs typeface="PT Bold Heading" panose="02010400000000000000" pitchFamily="2" charset="-78"/>
                </a:rPr>
                <a:t> </a:t>
              </a:r>
            </a:p>
          </p:txBody>
        </p:sp>
        <p:sp>
          <p:nvSpPr>
            <p:cNvPr id="62" name="TextBox 62"/>
            <p:cNvSpPr txBox="1"/>
            <p:nvPr/>
          </p:nvSpPr>
          <p:spPr>
            <a:xfrm>
              <a:off x="728722" y="358579"/>
              <a:ext cx="8644090" cy="677070"/>
            </a:xfrm>
            <a:prstGeom prst="rect">
              <a:avLst/>
            </a:prstGeom>
          </p:spPr>
          <p:txBody>
            <a:bodyPr lIns="0" tIns="0" rIns="0" bIns="0" rtlCol="0" anchor="t">
              <a:spAutoFit/>
            </a:bodyPr>
            <a:lstStyle/>
            <a:p>
              <a:pPr algn="ctr" rtl="1">
                <a:lnSpc>
                  <a:spcPts val="3695"/>
                </a:lnSpc>
              </a:pPr>
              <a:r>
                <a:rPr lang="en-US" sz="3771">
                  <a:solidFill>
                    <a:srgbClr val="28443B"/>
                  </a:solidFill>
                  <a:cs typeface="PT Bold Heading" panose="02010400000000000000" pitchFamily="2" charset="-78"/>
                </a:rPr>
                <a:t>الأمن السيبراني</a:t>
              </a:r>
            </a:p>
          </p:txBody>
        </p:sp>
      </p:grpSp>
      <p:grpSp>
        <p:nvGrpSpPr>
          <p:cNvPr id="63" name="Group 63"/>
          <p:cNvGrpSpPr/>
          <p:nvPr/>
        </p:nvGrpSpPr>
        <p:grpSpPr>
          <a:xfrm>
            <a:off x="995464" y="3114622"/>
            <a:ext cx="4242042" cy="4804660"/>
            <a:chOff x="12673" y="0"/>
            <a:chExt cx="5656056" cy="6406213"/>
          </a:xfrm>
        </p:grpSpPr>
        <p:sp>
          <p:nvSpPr>
            <p:cNvPr id="65" name="Freeform 65"/>
            <p:cNvSpPr/>
            <p:nvPr/>
          </p:nvSpPr>
          <p:spPr>
            <a:xfrm>
              <a:off x="662849" y="0"/>
              <a:ext cx="4355709" cy="6406213"/>
            </a:xfrm>
            <a:custGeom>
              <a:avLst/>
              <a:gdLst/>
              <a:ahLst/>
              <a:cxnLst/>
              <a:rect l="l" t="t" r="r" b="b"/>
              <a:pathLst>
                <a:path w="860387" h="1265425">
                  <a:moveTo>
                    <a:pt x="21329" y="0"/>
                  </a:moveTo>
                  <a:lnTo>
                    <a:pt x="839058" y="0"/>
                  </a:lnTo>
                  <a:cubicBezTo>
                    <a:pt x="844715" y="0"/>
                    <a:pt x="850140" y="2247"/>
                    <a:pt x="854140" y="6247"/>
                  </a:cubicBezTo>
                  <a:cubicBezTo>
                    <a:pt x="858140" y="10247"/>
                    <a:pt x="860387" y="15672"/>
                    <a:pt x="860387" y="21329"/>
                  </a:cubicBezTo>
                  <a:lnTo>
                    <a:pt x="860387" y="1244096"/>
                  </a:lnTo>
                  <a:cubicBezTo>
                    <a:pt x="860387" y="1255875"/>
                    <a:pt x="850838" y="1265425"/>
                    <a:pt x="839058" y="1265425"/>
                  </a:cubicBezTo>
                  <a:lnTo>
                    <a:pt x="21329" y="1265425"/>
                  </a:lnTo>
                  <a:cubicBezTo>
                    <a:pt x="9549" y="1265425"/>
                    <a:pt x="0" y="1255875"/>
                    <a:pt x="0" y="1244096"/>
                  </a:cubicBezTo>
                  <a:lnTo>
                    <a:pt x="0" y="21329"/>
                  </a:lnTo>
                  <a:cubicBezTo>
                    <a:pt x="0" y="9549"/>
                    <a:pt x="9549" y="0"/>
                    <a:pt x="21329" y="0"/>
                  </a:cubicBezTo>
                  <a:close/>
                </a:path>
              </a:pathLst>
            </a:custGeom>
            <a:solidFill>
              <a:srgbClr val="FFFFFF"/>
            </a:solidFill>
            <a:ln w="38100">
              <a:solidFill>
                <a:srgbClr val="1DA8A7"/>
              </a:solidFill>
            </a:ln>
          </p:spPr>
          <p:txBody>
            <a:bodyPr/>
            <a:lstStyle/>
            <a:p>
              <a:pPr algn="r" rtl="1"/>
              <a:endParaRPr lang="ar-SA">
                <a:cs typeface="PT Bold Heading" panose="02010400000000000000" pitchFamily="2" charset="-78"/>
              </a:endParaRPr>
            </a:p>
          </p:txBody>
        </p:sp>
        <p:sp>
          <p:nvSpPr>
            <p:cNvPr id="68" name="Freeform 68"/>
            <p:cNvSpPr/>
            <p:nvPr/>
          </p:nvSpPr>
          <p:spPr>
            <a:xfrm>
              <a:off x="12673" y="275103"/>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70" name="Freeform 70"/>
            <p:cNvSpPr/>
            <p:nvPr/>
          </p:nvSpPr>
          <p:spPr>
            <a:xfrm>
              <a:off x="922726" y="1864009"/>
              <a:ext cx="3835955" cy="2678194"/>
            </a:xfrm>
            <a:custGeom>
              <a:avLst/>
              <a:gdLst/>
              <a:ahLst/>
              <a:cxnLst/>
              <a:rect l="l" t="t" r="r" b="b"/>
              <a:pathLst>
                <a:path w="3835955" h="2678194">
                  <a:moveTo>
                    <a:pt x="0" y="0"/>
                  </a:moveTo>
                  <a:lnTo>
                    <a:pt x="3835956" y="0"/>
                  </a:lnTo>
                  <a:lnTo>
                    <a:pt x="3835956" y="2678195"/>
                  </a:lnTo>
                  <a:lnTo>
                    <a:pt x="0" y="26781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71" name="TextBox 71"/>
            <p:cNvSpPr txBox="1"/>
            <p:nvPr/>
          </p:nvSpPr>
          <p:spPr>
            <a:xfrm>
              <a:off x="2086827" y="587417"/>
              <a:ext cx="1184589" cy="4719240"/>
            </a:xfrm>
            <a:prstGeom prst="rect">
              <a:avLst/>
            </a:prstGeom>
          </p:spPr>
          <p:txBody>
            <a:bodyPr lIns="0" tIns="0" rIns="0" bIns="0" rtlCol="0" anchor="t">
              <a:spAutoFit/>
            </a:bodyPr>
            <a:lstStyle/>
            <a:p>
              <a:pPr algn="r" rtl="1">
                <a:lnSpc>
                  <a:spcPts val="27624"/>
                </a:lnSpc>
              </a:pPr>
              <a:r>
                <a:rPr lang="en-US" sz="19731" spc="-394">
                  <a:solidFill>
                    <a:srgbClr val="2A8D87"/>
                  </a:solidFill>
                  <a:latin typeface="Abdo Logo"/>
                  <a:cs typeface="PT Bold Heading" panose="02010400000000000000" pitchFamily="2" charset="-78"/>
                </a:rPr>
                <a:t>2</a:t>
              </a:r>
            </a:p>
          </p:txBody>
        </p:sp>
      </p:grpSp>
      <p:sp>
        <p:nvSpPr>
          <p:cNvPr id="2" name="Freeform 32">
            <a:extLst>
              <a:ext uri="{FF2B5EF4-FFF2-40B4-BE49-F238E27FC236}">
                <a16:creationId xmlns:a16="http://schemas.microsoft.com/office/drawing/2014/main" id="{2A88AB57-CC10-BADD-9734-7E3BC497DA18}"/>
              </a:ext>
            </a:extLst>
          </p:cNvPr>
          <p:cNvSpPr/>
          <p:nvPr/>
        </p:nvSpPr>
        <p:spPr>
          <a:xfrm>
            <a:off x="5973727" y="4377498"/>
            <a:ext cx="663526" cy="663527"/>
          </a:xfrm>
          <a:custGeom>
            <a:avLst/>
            <a:gdLst/>
            <a:ahLst/>
            <a:cxnLst/>
            <a:rect l="l" t="t" r="r" b="b"/>
            <a:pathLst>
              <a:path w="884702" h="884702">
                <a:moveTo>
                  <a:pt x="0" y="0"/>
                </a:moveTo>
                <a:lnTo>
                  <a:pt x="884702" y="0"/>
                </a:lnTo>
                <a:lnTo>
                  <a:pt x="884702" y="884701"/>
                </a:lnTo>
                <a:lnTo>
                  <a:pt x="0" y="8847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cs typeface="PT Bold Heading" panose="02010400000000000000" pitchFamily="2" charset="-78"/>
            </a:endParaRPr>
          </a:p>
        </p:txBody>
      </p:sp>
      <p:sp>
        <p:nvSpPr>
          <p:cNvPr id="3" name="Freeform 32">
            <a:extLst>
              <a:ext uri="{FF2B5EF4-FFF2-40B4-BE49-F238E27FC236}">
                <a16:creationId xmlns:a16="http://schemas.microsoft.com/office/drawing/2014/main" id="{EA8B4041-C9E1-D573-0939-325AA78A8115}"/>
              </a:ext>
            </a:extLst>
          </p:cNvPr>
          <p:cNvSpPr/>
          <p:nvPr/>
        </p:nvSpPr>
        <p:spPr>
          <a:xfrm>
            <a:off x="5973727" y="5483500"/>
            <a:ext cx="663526" cy="663527"/>
          </a:xfrm>
          <a:custGeom>
            <a:avLst/>
            <a:gdLst/>
            <a:ahLst/>
            <a:cxnLst/>
            <a:rect l="l" t="t" r="r" b="b"/>
            <a:pathLst>
              <a:path w="884702" h="884702">
                <a:moveTo>
                  <a:pt x="0" y="0"/>
                </a:moveTo>
                <a:lnTo>
                  <a:pt x="884702" y="0"/>
                </a:lnTo>
                <a:lnTo>
                  <a:pt x="884702" y="884701"/>
                </a:lnTo>
                <a:lnTo>
                  <a:pt x="0" y="8847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cs typeface="PT Bold Heading" panose="020104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30651" y="1754578"/>
            <a:ext cx="12815726" cy="1233701"/>
            <a:chOff x="195947" y="0"/>
            <a:chExt cx="17087635" cy="1644936"/>
          </a:xfrm>
        </p:grpSpPr>
        <p:sp>
          <p:nvSpPr>
            <p:cNvPr id="4" name="Freeform 4"/>
            <p:cNvSpPr/>
            <p:nvPr/>
          </p:nvSpPr>
          <p:spPr>
            <a:xfrm>
              <a:off x="12504827" y="244999"/>
              <a:ext cx="4658669" cy="1090634"/>
            </a:xfrm>
            <a:custGeom>
              <a:avLst/>
              <a:gdLst/>
              <a:ahLst/>
              <a:cxnLst/>
              <a:rect l="l" t="t" r="r" b="b"/>
              <a:pathLst>
                <a:path w="912469" h="213617">
                  <a:moveTo>
                    <a:pt x="24374" y="0"/>
                  </a:moveTo>
                  <a:lnTo>
                    <a:pt x="888096" y="0"/>
                  </a:lnTo>
                  <a:cubicBezTo>
                    <a:pt x="894560" y="0"/>
                    <a:pt x="900759" y="2568"/>
                    <a:pt x="905330" y="7139"/>
                  </a:cubicBezTo>
                  <a:cubicBezTo>
                    <a:pt x="909901" y="11710"/>
                    <a:pt x="912469" y="17909"/>
                    <a:pt x="912469" y="24374"/>
                  </a:cubicBezTo>
                  <a:lnTo>
                    <a:pt x="912469" y="189243"/>
                  </a:lnTo>
                  <a:cubicBezTo>
                    <a:pt x="912469" y="202704"/>
                    <a:pt x="901557" y="213617"/>
                    <a:pt x="888096" y="213617"/>
                  </a:cubicBezTo>
                  <a:lnTo>
                    <a:pt x="24374" y="213617"/>
                  </a:lnTo>
                  <a:cubicBezTo>
                    <a:pt x="10912" y="213617"/>
                    <a:pt x="0" y="202704"/>
                    <a:pt x="0" y="189243"/>
                  </a:cubicBezTo>
                  <a:lnTo>
                    <a:pt x="0" y="24374"/>
                  </a:lnTo>
                  <a:cubicBezTo>
                    <a:pt x="0" y="10912"/>
                    <a:pt x="10912" y="0"/>
                    <a:pt x="24374" y="0"/>
                  </a:cubicBez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12116585" y="8433"/>
              <a:ext cx="4658669" cy="1636503"/>
            </a:xfrm>
            <a:custGeom>
              <a:avLst/>
              <a:gdLst/>
              <a:ahLst/>
              <a:cxnLst/>
              <a:rect l="l" t="t" r="r" b="b"/>
              <a:pathLst>
                <a:path w="912469" h="320533">
                  <a:moveTo>
                    <a:pt x="24374" y="0"/>
                  </a:moveTo>
                  <a:lnTo>
                    <a:pt x="888096" y="0"/>
                  </a:lnTo>
                  <a:cubicBezTo>
                    <a:pt x="894560" y="0"/>
                    <a:pt x="900759" y="2568"/>
                    <a:pt x="905330" y="7139"/>
                  </a:cubicBezTo>
                  <a:cubicBezTo>
                    <a:pt x="909901" y="11710"/>
                    <a:pt x="912469" y="17909"/>
                    <a:pt x="912469" y="24374"/>
                  </a:cubicBezTo>
                  <a:lnTo>
                    <a:pt x="912469" y="296160"/>
                  </a:lnTo>
                  <a:cubicBezTo>
                    <a:pt x="912469" y="309621"/>
                    <a:pt x="901557" y="320533"/>
                    <a:pt x="888096" y="320533"/>
                  </a:cubicBezTo>
                  <a:lnTo>
                    <a:pt x="24374" y="320533"/>
                  </a:lnTo>
                  <a:cubicBezTo>
                    <a:pt x="10912" y="320533"/>
                    <a:pt x="0" y="309621"/>
                    <a:pt x="0" y="296160"/>
                  </a:cubicBezTo>
                  <a:lnTo>
                    <a:pt x="0" y="24374"/>
                  </a:lnTo>
                  <a:cubicBezTo>
                    <a:pt x="0" y="10912"/>
                    <a:pt x="10912" y="0"/>
                    <a:pt x="24374" y="0"/>
                  </a:cubicBezTo>
                  <a:close/>
                </a:path>
              </a:pathLst>
            </a:custGeom>
            <a:solidFill>
              <a:srgbClr val="FFFFFF"/>
            </a:solidFill>
            <a:ln w="28575">
              <a:solidFill>
                <a:srgbClr val="A1CCD1"/>
              </a:solidFill>
            </a:ln>
          </p:spPr>
          <p:txBody>
            <a:bodyPr/>
            <a:lstStyle/>
            <a:p>
              <a:pPr algn="r" rtl="1"/>
              <a:endParaRPr lang="ar-SA">
                <a:cs typeface="PT Bold Heading" panose="02010400000000000000" pitchFamily="2" charset="-78"/>
              </a:endParaRPr>
            </a:p>
          </p:txBody>
        </p:sp>
        <p:sp>
          <p:nvSpPr>
            <p:cNvPr id="10" name="Freeform 10"/>
            <p:cNvSpPr/>
            <p:nvPr/>
          </p:nvSpPr>
          <p:spPr>
            <a:xfrm>
              <a:off x="391895" y="0"/>
              <a:ext cx="11594314" cy="1636503"/>
            </a:xfrm>
            <a:custGeom>
              <a:avLst/>
              <a:gdLst/>
              <a:ahLst/>
              <a:cxnLst/>
              <a:rect l="l" t="t" r="r" b="b"/>
              <a:pathLst>
                <a:path w="2270918" h="320533">
                  <a:moveTo>
                    <a:pt x="9793" y="0"/>
                  </a:moveTo>
                  <a:lnTo>
                    <a:pt x="2261124" y="0"/>
                  </a:lnTo>
                  <a:cubicBezTo>
                    <a:pt x="2263722" y="0"/>
                    <a:pt x="2266213" y="1032"/>
                    <a:pt x="2268049" y="2868"/>
                  </a:cubicBezTo>
                  <a:cubicBezTo>
                    <a:pt x="2269886" y="4705"/>
                    <a:pt x="2270918" y="7196"/>
                    <a:pt x="2270918" y="9793"/>
                  </a:cubicBezTo>
                  <a:lnTo>
                    <a:pt x="2270918" y="310740"/>
                  </a:lnTo>
                  <a:cubicBezTo>
                    <a:pt x="2270918" y="313337"/>
                    <a:pt x="2269886" y="315828"/>
                    <a:pt x="2268049" y="317665"/>
                  </a:cubicBezTo>
                  <a:cubicBezTo>
                    <a:pt x="2266213" y="319501"/>
                    <a:pt x="2263722" y="320533"/>
                    <a:pt x="2261124" y="320533"/>
                  </a:cubicBezTo>
                  <a:lnTo>
                    <a:pt x="9793" y="320533"/>
                  </a:lnTo>
                  <a:cubicBezTo>
                    <a:pt x="7196" y="320533"/>
                    <a:pt x="4705" y="319501"/>
                    <a:pt x="2868" y="317665"/>
                  </a:cubicBezTo>
                  <a:cubicBezTo>
                    <a:pt x="1032" y="315828"/>
                    <a:pt x="0" y="313337"/>
                    <a:pt x="0" y="310740"/>
                  </a:cubicBezTo>
                  <a:lnTo>
                    <a:pt x="0" y="9793"/>
                  </a:lnTo>
                  <a:cubicBezTo>
                    <a:pt x="0" y="7196"/>
                    <a:pt x="1032" y="4705"/>
                    <a:pt x="2868" y="2868"/>
                  </a:cubicBezTo>
                  <a:cubicBezTo>
                    <a:pt x="4705" y="1032"/>
                    <a:pt x="7196" y="0"/>
                    <a:pt x="9793" y="0"/>
                  </a:cubicBezTo>
                  <a:close/>
                </a:path>
              </a:pathLst>
            </a:custGeom>
            <a:solidFill>
              <a:srgbClr val="FFE194">
                <a:alpha val="35686"/>
              </a:srgbClr>
            </a:solidFill>
            <a:ln>
              <a:noFill/>
            </a:ln>
          </p:spPr>
          <p:txBody>
            <a:bodyPr/>
            <a:lstStyle/>
            <a:p>
              <a:pPr algn="r" rtl="1"/>
              <a:endParaRPr lang="ar-SA">
                <a:cs typeface="PT Bold Heading" panose="02010400000000000000" pitchFamily="2" charset="-78"/>
              </a:endParaRPr>
            </a:p>
          </p:txBody>
        </p:sp>
        <p:sp>
          <p:nvSpPr>
            <p:cNvPr id="12" name="TextBox 12"/>
            <p:cNvSpPr txBox="1"/>
            <p:nvPr/>
          </p:nvSpPr>
          <p:spPr>
            <a:xfrm>
              <a:off x="11524972" y="426526"/>
              <a:ext cx="5758610" cy="873265"/>
            </a:xfrm>
            <a:prstGeom prst="rect">
              <a:avLst/>
            </a:prstGeom>
          </p:spPr>
          <p:txBody>
            <a:bodyPr lIns="0" tIns="0" rIns="0" bIns="0" rtlCol="0" anchor="t">
              <a:spAutoFit/>
            </a:bodyPr>
            <a:lstStyle/>
            <a:p>
              <a:pPr algn="ctr" rtl="1">
                <a:lnSpc>
                  <a:spcPts val="4778"/>
                </a:lnSpc>
              </a:pPr>
              <a:r>
                <a:rPr lang="en-US" sz="4875" dirty="0" err="1">
                  <a:solidFill>
                    <a:srgbClr val="28443B"/>
                  </a:solidFill>
                  <a:cs typeface="PT Bold Heading" panose="02010400000000000000" pitchFamily="2" charset="-78"/>
                </a:rPr>
                <a:t>الدرس</a:t>
              </a:r>
              <a:r>
                <a:rPr lang="en-US" sz="4875" dirty="0">
                  <a:solidFill>
                    <a:srgbClr val="28443B"/>
                  </a:solidFill>
                  <a:cs typeface="PT Bold Heading" panose="02010400000000000000" pitchFamily="2" charset="-78"/>
                </a:rPr>
                <a:t> </a:t>
              </a:r>
              <a:r>
                <a:rPr lang="en-US" sz="4875" dirty="0" err="1">
                  <a:solidFill>
                    <a:srgbClr val="28443B"/>
                  </a:solidFill>
                  <a:cs typeface="PT Bold Heading" panose="02010400000000000000" pitchFamily="2" charset="-78"/>
                </a:rPr>
                <a:t>الثالث</a:t>
              </a:r>
              <a:r>
                <a:rPr lang="en-US" sz="4875" dirty="0">
                  <a:solidFill>
                    <a:srgbClr val="28443B"/>
                  </a:solidFill>
                  <a:cs typeface="PT Bold Heading" panose="02010400000000000000" pitchFamily="2" charset="-78"/>
                </a:rPr>
                <a:t> </a:t>
              </a:r>
            </a:p>
          </p:txBody>
        </p:sp>
        <p:sp>
          <p:nvSpPr>
            <p:cNvPr id="13" name="TextBox 13"/>
            <p:cNvSpPr txBox="1"/>
            <p:nvPr/>
          </p:nvSpPr>
          <p:spPr>
            <a:xfrm>
              <a:off x="195947" y="362175"/>
              <a:ext cx="11986208" cy="982605"/>
            </a:xfrm>
            <a:prstGeom prst="rect">
              <a:avLst/>
            </a:prstGeom>
          </p:spPr>
          <p:txBody>
            <a:bodyPr lIns="0" tIns="0" rIns="0" bIns="0" rtlCol="0" anchor="t">
              <a:spAutoFit/>
            </a:bodyPr>
            <a:lstStyle/>
            <a:p>
              <a:pPr algn="ctr" rtl="1">
                <a:lnSpc>
                  <a:spcPts val="5385"/>
                </a:lnSpc>
              </a:pPr>
              <a:r>
                <a:rPr lang="en-US" sz="5495" dirty="0" err="1">
                  <a:solidFill>
                    <a:srgbClr val="000000"/>
                  </a:solidFill>
                  <a:cs typeface="PT Bold Heading" panose="02010400000000000000" pitchFamily="2" charset="-78"/>
                </a:rPr>
                <a:t>الأمن</a:t>
              </a:r>
              <a:r>
                <a:rPr lang="en-US" sz="5495" dirty="0">
                  <a:solidFill>
                    <a:srgbClr val="000000"/>
                  </a:solidFill>
                  <a:cs typeface="PT Bold Heading" panose="02010400000000000000" pitchFamily="2" charset="-78"/>
                </a:rPr>
                <a:t> </a:t>
              </a:r>
              <a:r>
                <a:rPr lang="en-US" sz="5495" dirty="0" err="1">
                  <a:solidFill>
                    <a:srgbClr val="000000"/>
                  </a:solidFill>
                  <a:cs typeface="PT Bold Heading" panose="02010400000000000000" pitchFamily="2" charset="-78"/>
                </a:rPr>
                <a:t>السيبراني</a:t>
              </a:r>
              <a:endParaRPr lang="en-US" sz="5495" dirty="0">
                <a:solidFill>
                  <a:srgbClr val="000000"/>
                </a:solidFill>
                <a:cs typeface="PT Bold Heading" panose="02010400000000000000" pitchFamily="2" charset="-78"/>
              </a:endParaRPr>
            </a:p>
          </p:txBody>
        </p:sp>
      </p:grpSp>
      <p:grpSp>
        <p:nvGrpSpPr>
          <p:cNvPr id="14" name="Group 14"/>
          <p:cNvGrpSpPr/>
          <p:nvPr/>
        </p:nvGrpSpPr>
        <p:grpSpPr>
          <a:xfrm>
            <a:off x="1095029" y="3114622"/>
            <a:ext cx="17192970" cy="5479909"/>
            <a:chOff x="12673" y="0"/>
            <a:chExt cx="22923960" cy="7306545"/>
          </a:xfrm>
        </p:grpSpPr>
        <p:sp>
          <p:nvSpPr>
            <p:cNvPr id="16" name="Freeform 16"/>
            <p:cNvSpPr/>
            <p:nvPr/>
          </p:nvSpPr>
          <p:spPr>
            <a:xfrm>
              <a:off x="2685119" y="0"/>
              <a:ext cx="16610232" cy="7306545"/>
            </a:xfrm>
            <a:custGeom>
              <a:avLst/>
              <a:gdLst/>
              <a:ahLst/>
              <a:cxnLst/>
              <a:rect l="l" t="t" r="r" b="b"/>
              <a:pathLst>
                <a:path w="3281033" h="1443268">
                  <a:moveTo>
                    <a:pt x="5593" y="0"/>
                  </a:moveTo>
                  <a:lnTo>
                    <a:pt x="3275440" y="0"/>
                  </a:lnTo>
                  <a:cubicBezTo>
                    <a:pt x="3276924" y="0"/>
                    <a:pt x="3278346" y="589"/>
                    <a:pt x="3279395" y="1638"/>
                  </a:cubicBezTo>
                  <a:cubicBezTo>
                    <a:pt x="3280444" y="2687"/>
                    <a:pt x="3281033" y="4110"/>
                    <a:pt x="3281033" y="5593"/>
                  </a:cubicBezTo>
                  <a:lnTo>
                    <a:pt x="3281033" y="1437675"/>
                  </a:lnTo>
                  <a:cubicBezTo>
                    <a:pt x="3281033" y="1440764"/>
                    <a:pt x="3278529" y="1443268"/>
                    <a:pt x="3275440" y="1443268"/>
                  </a:cubicBezTo>
                  <a:lnTo>
                    <a:pt x="5593" y="1443268"/>
                  </a:lnTo>
                  <a:cubicBezTo>
                    <a:pt x="2504" y="1443268"/>
                    <a:pt x="0" y="1440764"/>
                    <a:pt x="0" y="1437675"/>
                  </a:cubicBezTo>
                  <a:lnTo>
                    <a:pt x="0" y="5593"/>
                  </a:lnTo>
                  <a:cubicBezTo>
                    <a:pt x="0" y="2504"/>
                    <a:pt x="2504" y="0"/>
                    <a:pt x="5593"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9" name="Freeform 19"/>
            <p:cNvSpPr/>
            <p:nvPr/>
          </p:nvSpPr>
          <p:spPr>
            <a:xfrm>
              <a:off x="18392129" y="1522165"/>
              <a:ext cx="4544504" cy="3285681"/>
            </a:xfrm>
            <a:custGeom>
              <a:avLst/>
              <a:gdLst/>
              <a:ahLst/>
              <a:cxnLst/>
              <a:rect l="l" t="t" r="r" b="b"/>
              <a:pathLst>
                <a:path w="1087517" h="643549">
                  <a:moveTo>
                    <a:pt x="20450" y="0"/>
                  </a:moveTo>
                  <a:lnTo>
                    <a:pt x="1067067" y="0"/>
                  </a:lnTo>
                  <a:cubicBezTo>
                    <a:pt x="1072491" y="0"/>
                    <a:pt x="1077692" y="2155"/>
                    <a:pt x="1081527" y="5990"/>
                  </a:cubicBezTo>
                  <a:cubicBezTo>
                    <a:pt x="1085363" y="9825"/>
                    <a:pt x="1087517" y="15027"/>
                    <a:pt x="1087517" y="20450"/>
                  </a:cubicBezTo>
                  <a:lnTo>
                    <a:pt x="1087517" y="623099"/>
                  </a:lnTo>
                  <a:cubicBezTo>
                    <a:pt x="1087517" y="628523"/>
                    <a:pt x="1085363" y="633724"/>
                    <a:pt x="1081527" y="637560"/>
                  </a:cubicBezTo>
                  <a:cubicBezTo>
                    <a:pt x="1077692" y="641395"/>
                    <a:pt x="1072491" y="643549"/>
                    <a:pt x="1067067" y="643549"/>
                  </a:cubicBezTo>
                  <a:lnTo>
                    <a:pt x="20450" y="643549"/>
                  </a:lnTo>
                  <a:cubicBezTo>
                    <a:pt x="15027" y="643549"/>
                    <a:pt x="9825" y="641395"/>
                    <a:pt x="5990" y="637560"/>
                  </a:cubicBezTo>
                  <a:cubicBezTo>
                    <a:pt x="2155" y="633724"/>
                    <a:pt x="0" y="628523"/>
                    <a:pt x="0" y="623099"/>
                  </a:cubicBezTo>
                  <a:lnTo>
                    <a:pt x="0" y="20450"/>
                  </a:lnTo>
                  <a:cubicBezTo>
                    <a:pt x="0" y="15027"/>
                    <a:pt x="2155" y="9825"/>
                    <a:pt x="5990" y="5990"/>
                  </a:cubicBezTo>
                  <a:cubicBezTo>
                    <a:pt x="9825" y="2155"/>
                    <a:pt x="15027" y="0"/>
                    <a:pt x="20450" y="0"/>
                  </a:cubicBezTo>
                  <a:close/>
                </a:path>
              </a:pathLst>
            </a:custGeom>
            <a:solidFill>
              <a:srgbClr val="2A8D87"/>
            </a:solidFill>
            <a:ln>
              <a:noFill/>
            </a:ln>
          </p:spPr>
          <p:txBody>
            <a:bodyPr/>
            <a:lstStyle/>
            <a:p>
              <a:pPr algn="r" rtl="1"/>
              <a:endParaRPr lang="ar-SA" dirty="0">
                <a:cs typeface="PT Bold Heading" panose="02010400000000000000" pitchFamily="2" charset="-78"/>
              </a:endParaRPr>
            </a:p>
          </p:txBody>
        </p:sp>
        <p:sp>
          <p:nvSpPr>
            <p:cNvPr id="21" name="TextBox 21"/>
            <p:cNvSpPr txBox="1"/>
            <p:nvPr/>
          </p:nvSpPr>
          <p:spPr>
            <a:xfrm>
              <a:off x="19343208" y="2274851"/>
              <a:ext cx="2575951" cy="1780312"/>
            </a:xfrm>
            <a:prstGeom prst="rect">
              <a:avLst/>
            </a:prstGeom>
          </p:spPr>
          <p:txBody>
            <a:bodyPr lIns="0" tIns="0" rIns="0" bIns="0" rtlCol="0" anchor="t">
              <a:spAutoFit/>
            </a:bodyPr>
            <a:lstStyle/>
            <a:p>
              <a:pPr algn="ctr" rtl="1">
                <a:lnSpc>
                  <a:spcPts val="5072"/>
                </a:lnSpc>
              </a:pPr>
              <a:r>
                <a:rPr lang="en-US" sz="5175" dirty="0" err="1">
                  <a:solidFill>
                    <a:srgbClr val="FFFFFF"/>
                  </a:solidFill>
                  <a:cs typeface="PT Bold Heading" panose="02010400000000000000" pitchFamily="2" charset="-78"/>
                </a:rPr>
                <a:t>الهدف</a:t>
              </a:r>
              <a:r>
                <a:rPr lang="en-US" sz="5175" dirty="0">
                  <a:solidFill>
                    <a:srgbClr val="FFFFFF"/>
                  </a:solidFill>
                  <a:cs typeface="PT Bold Heading" panose="02010400000000000000" pitchFamily="2" charset="-78"/>
                </a:rPr>
                <a:t> </a:t>
              </a:r>
              <a:r>
                <a:rPr lang="en-US" sz="5175" dirty="0" err="1">
                  <a:solidFill>
                    <a:srgbClr val="FFFFFF"/>
                  </a:solidFill>
                  <a:cs typeface="PT Bold Heading" panose="02010400000000000000" pitchFamily="2" charset="-78"/>
                </a:rPr>
                <a:t>العام</a:t>
              </a:r>
              <a:endParaRPr lang="en-US" sz="5175" dirty="0">
                <a:solidFill>
                  <a:srgbClr val="FFFFFF"/>
                </a:solidFill>
                <a:cs typeface="PT Bold Heading" panose="02010400000000000000" pitchFamily="2" charset="-78"/>
              </a:endParaRPr>
            </a:p>
          </p:txBody>
        </p:sp>
        <p:sp>
          <p:nvSpPr>
            <p:cNvPr id="23" name="Freeform 23"/>
            <p:cNvSpPr/>
            <p:nvPr/>
          </p:nvSpPr>
          <p:spPr>
            <a:xfrm>
              <a:off x="12673" y="901508"/>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25" name="Freeform 25"/>
            <p:cNvSpPr/>
            <p:nvPr/>
          </p:nvSpPr>
          <p:spPr>
            <a:xfrm>
              <a:off x="560175" y="1498184"/>
              <a:ext cx="4561058" cy="4561058"/>
            </a:xfrm>
            <a:custGeom>
              <a:avLst/>
              <a:gdLst/>
              <a:ahLst/>
              <a:cxnLst/>
              <a:rect l="l" t="t" r="r" b="b"/>
              <a:pathLst>
                <a:path w="4561058" h="4561058">
                  <a:moveTo>
                    <a:pt x="0" y="0"/>
                  </a:moveTo>
                  <a:lnTo>
                    <a:pt x="4561058" y="0"/>
                  </a:lnTo>
                  <a:lnTo>
                    <a:pt x="4561058" y="4561058"/>
                  </a:lnTo>
                  <a:lnTo>
                    <a:pt x="0" y="45610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6" name="Group 26"/>
          <p:cNvGrpSpPr/>
          <p:nvPr/>
        </p:nvGrpSpPr>
        <p:grpSpPr>
          <a:xfrm>
            <a:off x="5783149" y="3833931"/>
            <a:ext cx="8949450" cy="978889"/>
            <a:chOff x="0" y="0"/>
            <a:chExt cx="11932599" cy="1305185"/>
          </a:xfrm>
        </p:grpSpPr>
        <p:sp>
          <p:nvSpPr>
            <p:cNvPr id="27" name="Freeform 27"/>
            <p:cNvSpPr/>
            <p:nvPr/>
          </p:nvSpPr>
          <p:spPr>
            <a:xfrm>
              <a:off x="11454121" y="161064"/>
              <a:ext cx="478478" cy="478478"/>
            </a:xfrm>
            <a:custGeom>
              <a:avLst/>
              <a:gdLst/>
              <a:ahLst/>
              <a:cxnLst/>
              <a:rect l="l" t="t" r="r" b="b"/>
              <a:pathLst>
                <a:path w="478478" h="478478">
                  <a:moveTo>
                    <a:pt x="0" y="0"/>
                  </a:moveTo>
                  <a:lnTo>
                    <a:pt x="478478" y="0"/>
                  </a:lnTo>
                  <a:lnTo>
                    <a:pt x="478478" y="478478"/>
                  </a:lnTo>
                  <a:lnTo>
                    <a:pt x="0" y="4784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28" name="TextBox 28"/>
            <p:cNvSpPr txBox="1"/>
            <p:nvPr/>
          </p:nvSpPr>
          <p:spPr>
            <a:xfrm>
              <a:off x="0" y="9525"/>
              <a:ext cx="11304764" cy="1295660"/>
            </a:xfrm>
            <a:prstGeom prst="rect">
              <a:avLst/>
            </a:prstGeom>
          </p:spPr>
          <p:txBody>
            <a:bodyPr lIns="0" tIns="0" rIns="0" bIns="0" rtlCol="0" anchor="t">
              <a:spAutoFit/>
            </a:bodyPr>
            <a:lstStyle/>
            <a:p>
              <a:pPr algn="r" rtl="1">
                <a:lnSpc>
                  <a:spcPts val="3839"/>
                </a:lnSpc>
              </a:pP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أن</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يتعرف</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الطلبة</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على</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خطوات</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دمج</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الأمن</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السيبراني</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في</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دورة</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حياة</a:t>
              </a:r>
              <a:r>
                <a:rPr lang="en-US" sz="3281" dirty="0">
                  <a:solidFill>
                    <a:srgbClr val="091B31"/>
                  </a:solidFill>
                  <a:latin typeface="PT Bold Heading"/>
                  <a:cs typeface="PT Bold Heading" panose="02010400000000000000" pitchFamily="2" charset="-78"/>
                </a:rPr>
                <a:t> </a:t>
              </a:r>
              <a:r>
                <a:rPr lang="en-US" sz="3281" dirty="0" err="1">
                  <a:solidFill>
                    <a:srgbClr val="091B31"/>
                  </a:solidFill>
                  <a:latin typeface="PT Bold Heading"/>
                  <a:cs typeface="PT Bold Heading" panose="02010400000000000000" pitchFamily="2" charset="-78"/>
                </a:rPr>
                <a:t>النظام</a:t>
              </a:r>
              <a:r>
                <a:rPr lang="en-US" sz="3281" dirty="0">
                  <a:solidFill>
                    <a:srgbClr val="091B31"/>
                  </a:solidFill>
                  <a:latin typeface="PT Bold Heading"/>
                  <a:cs typeface="PT Bold Heading" panose="02010400000000000000" pitchFamily="2" charset="-78"/>
                </a:rPr>
                <a:t> .</a:t>
              </a:r>
            </a:p>
          </p:txBody>
        </p:sp>
      </p:grpSp>
      <p:grpSp>
        <p:nvGrpSpPr>
          <p:cNvPr id="29" name="Group 29"/>
          <p:cNvGrpSpPr/>
          <p:nvPr/>
        </p:nvGrpSpPr>
        <p:grpSpPr>
          <a:xfrm>
            <a:off x="5691657" y="4968364"/>
            <a:ext cx="9040942" cy="952917"/>
            <a:chOff x="0" y="0"/>
            <a:chExt cx="12054589" cy="1270556"/>
          </a:xfrm>
        </p:grpSpPr>
        <p:sp>
          <p:nvSpPr>
            <p:cNvPr id="30" name="Freeform 30"/>
            <p:cNvSpPr/>
            <p:nvPr/>
          </p:nvSpPr>
          <p:spPr>
            <a:xfrm>
              <a:off x="11580904" y="150341"/>
              <a:ext cx="473684" cy="473684"/>
            </a:xfrm>
            <a:custGeom>
              <a:avLst/>
              <a:gdLst/>
              <a:ahLst/>
              <a:cxnLst/>
              <a:rect l="l" t="t" r="r" b="b"/>
              <a:pathLst>
                <a:path w="473684" h="473684">
                  <a:moveTo>
                    <a:pt x="0" y="0"/>
                  </a:moveTo>
                  <a:lnTo>
                    <a:pt x="473685" y="0"/>
                  </a:lnTo>
                  <a:lnTo>
                    <a:pt x="473685" y="473685"/>
                  </a:lnTo>
                  <a:lnTo>
                    <a:pt x="0" y="4736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1" name="TextBox 31"/>
            <p:cNvSpPr txBox="1"/>
            <p:nvPr/>
          </p:nvSpPr>
          <p:spPr>
            <a:xfrm>
              <a:off x="0" y="28575"/>
              <a:ext cx="11433043" cy="1241981"/>
            </a:xfrm>
            <a:prstGeom prst="rect">
              <a:avLst/>
            </a:prstGeom>
          </p:spPr>
          <p:txBody>
            <a:bodyPr lIns="0" tIns="0" rIns="0" bIns="0" rtlCol="0" anchor="t">
              <a:spAutoFit/>
            </a:bodyPr>
            <a:lstStyle/>
            <a:p>
              <a:pPr algn="r" rtl="1">
                <a:lnSpc>
                  <a:spcPts val="3638"/>
                </a:lnSpc>
              </a:pPr>
              <a:r>
                <a:rPr lang="en-US" sz="3249">
                  <a:solidFill>
                    <a:srgbClr val="091B31"/>
                  </a:solidFill>
                  <a:cs typeface="PT Bold Heading" panose="02010400000000000000" pitchFamily="2" charset="-78"/>
                </a:rPr>
                <a:t>شرح البصمة الرقمية ، وتمييز البصمات الرقمية النشطة وغير النشطة، وتأثيراتها على دورة حياة النظام .</a:t>
              </a:r>
            </a:p>
          </p:txBody>
        </p:sp>
      </p:grpSp>
      <p:grpSp>
        <p:nvGrpSpPr>
          <p:cNvPr id="32" name="Group 32"/>
          <p:cNvGrpSpPr/>
          <p:nvPr/>
        </p:nvGrpSpPr>
        <p:grpSpPr>
          <a:xfrm>
            <a:off x="5489455" y="6082095"/>
            <a:ext cx="9235584" cy="956544"/>
            <a:chOff x="0" y="28575"/>
            <a:chExt cx="12314112" cy="1275393"/>
          </a:xfrm>
        </p:grpSpPr>
        <p:sp>
          <p:nvSpPr>
            <p:cNvPr id="33" name="Freeform 33"/>
            <p:cNvSpPr/>
            <p:nvPr/>
          </p:nvSpPr>
          <p:spPr>
            <a:xfrm>
              <a:off x="11835634" y="99116"/>
              <a:ext cx="478478" cy="478478"/>
            </a:xfrm>
            <a:custGeom>
              <a:avLst/>
              <a:gdLst/>
              <a:ahLst/>
              <a:cxnLst/>
              <a:rect l="l" t="t" r="r" b="b"/>
              <a:pathLst>
                <a:path w="478478" h="478478">
                  <a:moveTo>
                    <a:pt x="0" y="0"/>
                  </a:moveTo>
                  <a:lnTo>
                    <a:pt x="478478" y="0"/>
                  </a:lnTo>
                  <a:lnTo>
                    <a:pt x="478478" y="478478"/>
                  </a:lnTo>
                  <a:lnTo>
                    <a:pt x="0" y="4784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4" name="TextBox 34"/>
            <p:cNvSpPr txBox="1"/>
            <p:nvPr/>
          </p:nvSpPr>
          <p:spPr>
            <a:xfrm>
              <a:off x="0" y="28575"/>
              <a:ext cx="11670732" cy="1275393"/>
            </a:xfrm>
            <a:prstGeom prst="rect">
              <a:avLst/>
            </a:prstGeom>
          </p:spPr>
          <p:txBody>
            <a:bodyPr lIns="0" tIns="0" rIns="0" bIns="0" rtlCol="0" anchor="t">
              <a:spAutoFit/>
            </a:bodyPr>
            <a:lstStyle/>
            <a:p>
              <a:pPr algn="r" rtl="1">
                <a:lnSpc>
                  <a:spcPts val="3675"/>
                </a:lnSpc>
              </a:pPr>
              <a:r>
                <a:rPr lang="en-US" sz="3281">
                  <a:solidFill>
                    <a:srgbClr val="091B31"/>
                  </a:solidFill>
                  <a:cs typeface="PT Bold Heading" panose="02010400000000000000" pitchFamily="2" charset="-78"/>
                </a:rPr>
                <a:t>معرفة آثار التعقب الرقمية ، وتبعات تداول المعلومات الشخصية .</a:t>
              </a:r>
            </a:p>
          </p:txBody>
        </p:sp>
      </p:grpSp>
      <p:grpSp>
        <p:nvGrpSpPr>
          <p:cNvPr id="35" name="Group 35"/>
          <p:cNvGrpSpPr/>
          <p:nvPr/>
        </p:nvGrpSpPr>
        <p:grpSpPr>
          <a:xfrm>
            <a:off x="5331171" y="7193329"/>
            <a:ext cx="9393867" cy="956544"/>
            <a:chOff x="0" y="28575"/>
            <a:chExt cx="12525156" cy="1275393"/>
          </a:xfrm>
        </p:grpSpPr>
        <p:sp>
          <p:nvSpPr>
            <p:cNvPr id="36" name="Freeform 36"/>
            <p:cNvSpPr/>
            <p:nvPr/>
          </p:nvSpPr>
          <p:spPr>
            <a:xfrm>
              <a:off x="12046678" y="171503"/>
              <a:ext cx="478478" cy="478478"/>
            </a:xfrm>
            <a:custGeom>
              <a:avLst/>
              <a:gdLst/>
              <a:ahLst/>
              <a:cxnLst/>
              <a:rect l="l" t="t" r="r" b="b"/>
              <a:pathLst>
                <a:path w="478478" h="478478">
                  <a:moveTo>
                    <a:pt x="0" y="0"/>
                  </a:moveTo>
                  <a:lnTo>
                    <a:pt x="478478" y="0"/>
                  </a:lnTo>
                  <a:lnTo>
                    <a:pt x="478478" y="478478"/>
                  </a:lnTo>
                  <a:lnTo>
                    <a:pt x="0" y="4784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7" name="TextBox 37"/>
            <p:cNvSpPr txBox="1"/>
            <p:nvPr/>
          </p:nvSpPr>
          <p:spPr>
            <a:xfrm>
              <a:off x="0" y="28575"/>
              <a:ext cx="11865915" cy="1275393"/>
            </a:xfrm>
            <a:prstGeom prst="rect">
              <a:avLst/>
            </a:prstGeom>
          </p:spPr>
          <p:txBody>
            <a:bodyPr lIns="0" tIns="0" rIns="0" bIns="0" rtlCol="0" anchor="t">
              <a:spAutoFit/>
            </a:bodyPr>
            <a:lstStyle/>
            <a:p>
              <a:pPr algn="r" rtl="1">
                <a:lnSpc>
                  <a:spcPts val="3675"/>
                </a:lnSpc>
              </a:pPr>
              <a:r>
                <a:rPr lang="en-US" sz="3281">
                  <a:solidFill>
                    <a:srgbClr val="091B31"/>
                  </a:solidFill>
                  <a:cs typeface="PT Bold Heading" panose="02010400000000000000" pitchFamily="2" charset="-78"/>
                </a:rPr>
                <a:t>توظيف برامج جدار الحماية ومكافحة الفيروسات في الحماية من التهديدات السيبرانية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1000"/>
                                        <p:tgtEl>
                                          <p:spTgt spid="35"/>
                                        </p:tgtEl>
                                      </p:cBhvr>
                                    </p:animEffect>
                                    <p:anim calcmode="lin" valueType="num">
                                      <p:cBhvr>
                                        <p:cTn id="29" dur="1000" fill="hold"/>
                                        <p:tgtEl>
                                          <p:spTgt spid="35"/>
                                        </p:tgtEl>
                                        <p:attrNameLst>
                                          <p:attrName>ppt_x</p:attrName>
                                        </p:attrNameLst>
                                      </p:cBhvr>
                                      <p:tavLst>
                                        <p:tav tm="0">
                                          <p:val>
                                            <p:strVal val="#ppt_x"/>
                                          </p:val>
                                        </p:tav>
                                        <p:tav tm="100000">
                                          <p:val>
                                            <p:strVal val="#ppt_x"/>
                                          </p:val>
                                        </p:tav>
                                      </p:tavLst>
                                    </p:anim>
                                    <p:anim calcmode="lin" valueType="num">
                                      <p:cBhvr>
                                        <p:cTn id="30"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3194" y="2917902"/>
            <a:ext cx="17880606" cy="5815258"/>
            <a:chOff x="12673" y="0"/>
            <a:chExt cx="23840809" cy="7753678"/>
          </a:xfrm>
        </p:grpSpPr>
        <p:sp>
          <p:nvSpPr>
            <p:cNvPr id="4" name="Freeform 4"/>
            <p:cNvSpPr/>
            <p:nvPr/>
          </p:nvSpPr>
          <p:spPr>
            <a:xfrm>
              <a:off x="2594084" y="4003102"/>
              <a:ext cx="17436334" cy="3750576"/>
            </a:xfrm>
            <a:custGeom>
              <a:avLst/>
              <a:gdLst/>
              <a:ahLst/>
              <a:cxnLst/>
              <a:rect l="l" t="t" r="r" b="b"/>
              <a:pathLst>
                <a:path w="3023758" h="650414">
                  <a:moveTo>
                    <a:pt x="6512" y="0"/>
                  </a:moveTo>
                  <a:lnTo>
                    <a:pt x="3017246" y="0"/>
                  </a:lnTo>
                  <a:cubicBezTo>
                    <a:pt x="3020843" y="0"/>
                    <a:pt x="3023758" y="2916"/>
                    <a:pt x="3023758" y="6512"/>
                  </a:cubicBezTo>
                  <a:lnTo>
                    <a:pt x="3023758" y="643902"/>
                  </a:lnTo>
                  <a:cubicBezTo>
                    <a:pt x="3023758" y="647499"/>
                    <a:pt x="3020843" y="650414"/>
                    <a:pt x="3017246" y="650414"/>
                  </a:cubicBezTo>
                  <a:lnTo>
                    <a:pt x="6512" y="650414"/>
                  </a:lnTo>
                  <a:cubicBezTo>
                    <a:pt x="4785" y="650414"/>
                    <a:pt x="3129" y="649728"/>
                    <a:pt x="1907" y="648507"/>
                  </a:cubicBezTo>
                  <a:cubicBezTo>
                    <a:pt x="686" y="647285"/>
                    <a:pt x="0" y="645629"/>
                    <a:pt x="0" y="643902"/>
                  </a:cubicBezTo>
                  <a:lnTo>
                    <a:pt x="0" y="6512"/>
                  </a:lnTo>
                  <a:cubicBezTo>
                    <a:pt x="0" y="4785"/>
                    <a:pt x="686" y="3129"/>
                    <a:pt x="1907" y="1907"/>
                  </a:cubicBezTo>
                  <a:cubicBezTo>
                    <a:pt x="3129" y="686"/>
                    <a:pt x="4785" y="0"/>
                    <a:pt x="6512" y="0"/>
                  </a:cubicBezTo>
                  <a:close/>
                </a:path>
              </a:pathLst>
            </a:custGeom>
            <a:solidFill>
              <a:srgbClr val="A1CCD1">
                <a:alpha val="28627"/>
              </a:srgbClr>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594084" y="0"/>
              <a:ext cx="17436334" cy="4015229"/>
            </a:xfrm>
            <a:custGeom>
              <a:avLst/>
              <a:gdLst/>
              <a:ahLst/>
              <a:cxnLst/>
              <a:rect l="l" t="t" r="r" b="b"/>
              <a:pathLst>
                <a:path w="3023758" h="696309">
                  <a:moveTo>
                    <a:pt x="6512" y="0"/>
                  </a:moveTo>
                  <a:lnTo>
                    <a:pt x="3017246" y="0"/>
                  </a:lnTo>
                  <a:cubicBezTo>
                    <a:pt x="3020843" y="0"/>
                    <a:pt x="3023758" y="2916"/>
                    <a:pt x="3023758" y="6512"/>
                  </a:cubicBezTo>
                  <a:lnTo>
                    <a:pt x="3023758" y="689797"/>
                  </a:lnTo>
                  <a:cubicBezTo>
                    <a:pt x="3023758" y="691524"/>
                    <a:pt x="3023072" y="693181"/>
                    <a:pt x="3021851" y="694402"/>
                  </a:cubicBezTo>
                  <a:cubicBezTo>
                    <a:pt x="3020629" y="695623"/>
                    <a:pt x="3018973" y="696309"/>
                    <a:pt x="3017246" y="696309"/>
                  </a:cubicBezTo>
                  <a:lnTo>
                    <a:pt x="6512" y="696309"/>
                  </a:lnTo>
                  <a:cubicBezTo>
                    <a:pt x="2916" y="696309"/>
                    <a:pt x="0" y="693394"/>
                    <a:pt x="0" y="689797"/>
                  </a:cubicBezTo>
                  <a:lnTo>
                    <a:pt x="0" y="6512"/>
                  </a:lnTo>
                  <a:cubicBezTo>
                    <a:pt x="0" y="4785"/>
                    <a:pt x="686" y="3129"/>
                    <a:pt x="1907" y="1907"/>
                  </a:cubicBezTo>
                  <a:cubicBezTo>
                    <a:pt x="3129" y="686"/>
                    <a:pt x="4785" y="0"/>
                    <a:pt x="6512" y="0"/>
                  </a:cubicBezTo>
                  <a:close/>
                </a:path>
              </a:pathLst>
            </a:custGeom>
            <a:solidFill>
              <a:srgbClr val="FFE194">
                <a:alpha val="55686"/>
              </a:srgbClr>
            </a:solidFill>
            <a:ln>
              <a:noFill/>
            </a:ln>
          </p:spPr>
          <p:txBody>
            <a:bodyPr/>
            <a:lstStyle/>
            <a:p>
              <a:pPr algn="r" rtl="1"/>
              <a:endParaRPr lang="ar-SA">
                <a:cs typeface="PT Bold Heading" panose="02010400000000000000" pitchFamily="2" charset="-78"/>
              </a:endParaRPr>
            </a:p>
          </p:txBody>
        </p:sp>
        <p:sp>
          <p:nvSpPr>
            <p:cNvPr id="10" name="Freeform 10"/>
            <p:cNvSpPr/>
            <p:nvPr/>
          </p:nvSpPr>
          <p:spPr>
            <a:xfrm>
              <a:off x="2594084" y="580512"/>
              <a:ext cx="16610232" cy="6606288"/>
            </a:xfrm>
            <a:custGeom>
              <a:avLst/>
              <a:gdLst/>
              <a:ahLst/>
              <a:cxnLst/>
              <a:rect l="l" t="t" r="r" b="b"/>
              <a:pathLst>
                <a:path w="3281033" h="1304946">
                  <a:moveTo>
                    <a:pt x="5593" y="0"/>
                  </a:moveTo>
                  <a:lnTo>
                    <a:pt x="3275440" y="0"/>
                  </a:lnTo>
                  <a:cubicBezTo>
                    <a:pt x="3276924" y="0"/>
                    <a:pt x="3278346" y="589"/>
                    <a:pt x="3279395" y="1638"/>
                  </a:cubicBezTo>
                  <a:cubicBezTo>
                    <a:pt x="3280444" y="2687"/>
                    <a:pt x="3281033" y="4110"/>
                    <a:pt x="3281033" y="5593"/>
                  </a:cubicBezTo>
                  <a:lnTo>
                    <a:pt x="3281033" y="1299352"/>
                  </a:lnTo>
                  <a:cubicBezTo>
                    <a:pt x="3281033" y="1302441"/>
                    <a:pt x="3278529" y="1304946"/>
                    <a:pt x="3275440" y="1304946"/>
                  </a:cubicBezTo>
                  <a:lnTo>
                    <a:pt x="5593" y="1304946"/>
                  </a:lnTo>
                  <a:cubicBezTo>
                    <a:pt x="4110" y="1304946"/>
                    <a:pt x="2687" y="1304356"/>
                    <a:pt x="1638" y="1303307"/>
                  </a:cubicBezTo>
                  <a:cubicBezTo>
                    <a:pt x="589" y="1302258"/>
                    <a:pt x="0" y="1300836"/>
                    <a:pt x="0" y="1299352"/>
                  </a:cubicBezTo>
                  <a:lnTo>
                    <a:pt x="0" y="5593"/>
                  </a:lnTo>
                  <a:cubicBezTo>
                    <a:pt x="0" y="2504"/>
                    <a:pt x="2504" y="0"/>
                    <a:pt x="5593"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3" name="Freeform 13"/>
            <p:cNvSpPr/>
            <p:nvPr/>
          </p:nvSpPr>
          <p:spPr>
            <a:xfrm>
              <a:off x="15800171" y="0"/>
              <a:ext cx="8053311" cy="1646892"/>
            </a:xfrm>
            <a:custGeom>
              <a:avLst/>
              <a:gdLst/>
              <a:ahLst/>
              <a:cxnLst/>
              <a:rect l="l" t="t" r="r" b="b"/>
              <a:pathLst>
                <a:path w="1577360" h="322568">
                  <a:moveTo>
                    <a:pt x="14100" y="0"/>
                  </a:moveTo>
                  <a:lnTo>
                    <a:pt x="1563260" y="0"/>
                  </a:lnTo>
                  <a:cubicBezTo>
                    <a:pt x="1567000" y="0"/>
                    <a:pt x="1570586" y="1485"/>
                    <a:pt x="1573230" y="4130"/>
                  </a:cubicBezTo>
                  <a:cubicBezTo>
                    <a:pt x="1575874" y="6774"/>
                    <a:pt x="1577360" y="10360"/>
                    <a:pt x="1577360" y="14100"/>
                  </a:cubicBezTo>
                  <a:lnTo>
                    <a:pt x="1577360" y="308469"/>
                  </a:lnTo>
                  <a:cubicBezTo>
                    <a:pt x="1577360" y="312208"/>
                    <a:pt x="1575874" y="315794"/>
                    <a:pt x="1573230" y="318438"/>
                  </a:cubicBezTo>
                  <a:cubicBezTo>
                    <a:pt x="1570586" y="321083"/>
                    <a:pt x="1567000" y="322568"/>
                    <a:pt x="1563260" y="322568"/>
                  </a:cubicBezTo>
                  <a:lnTo>
                    <a:pt x="14100" y="322568"/>
                  </a:lnTo>
                  <a:cubicBezTo>
                    <a:pt x="10360" y="322568"/>
                    <a:pt x="6774" y="321083"/>
                    <a:pt x="4130" y="318438"/>
                  </a:cubicBezTo>
                  <a:cubicBezTo>
                    <a:pt x="1485" y="315794"/>
                    <a:pt x="0" y="312208"/>
                    <a:pt x="0" y="308469"/>
                  </a:cubicBezTo>
                  <a:lnTo>
                    <a:pt x="0" y="14100"/>
                  </a:lnTo>
                  <a:cubicBezTo>
                    <a:pt x="0" y="10360"/>
                    <a:pt x="1485" y="6774"/>
                    <a:pt x="4130" y="4130"/>
                  </a:cubicBezTo>
                  <a:cubicBezTo>
                    <a:pt x="6774" y="1485"/>
                    <a:pt x="10360" y="0"/>
                    <a:pt x="14100" y="0"/>
                  </a:cubicBez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16" name="Freeform 16"/>
            <p:cNvSpPr/>
            <p:nvPr/>
          </p:nvSpPr>
          <p:spPr>
            <a:xfrm>
              <a:off x="12673" y="942913"/>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18" name="Freeform 18"/>
            <p:cNvSpPr/>
            <p:nvPr/>
          </p:nvSpPr>
          <p:spPr>
            <a:xfrm>
              <a:off x="703978" y="1646892"/>
              <a:ext cx="4273452" cy="4273452"/>
            </a:xfrm>
            <a:custGeom>
              <a:avLst/>
              <a:gdLst/>
              <a:ahLst/>
              <a:cxnLst/>
              <a:rect l="l" t="t" r="r" b="b"/>
              <a:pathLst>
                <a:path w="4273452" h="4273452">
                  <a:moveTo>
                    <a:pt x="0" y="0"/>
                  </a:moveTo>
                  <a:lnTo>
                    <a:pt x="4273452" y="0"/>
                  </a:lnTo>
                  <a:lnTo>
                    <a:pt x="4273452" y="4273452"/>
                  </a:lnTo>
                  <a:lnTo>
                    <a:pt x="0" y="42734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9" name="TextBox 19"/>
            <p:cNvSpPr txBox="1"/>
            <p:nvPr/>
          </p:nvSpPr>
          <p:spPr>
            <a:xfrm>
              <a:off x="17006996" y="388152"/>
              <a:ext cx="4906685" cy="892844"/>
            </a:xfrm>
            <a:prstGeom prst="rect">
              <a:avLst/>
            </a:prstGeom>
          </p:spPr>
          <p:txBody>
            <a:bodyPr lIns="0" tIns="0" rIns="0" bIns="0" rtlCol="0" anchor="t">
              <a:spAutoFit/>
            </a:bodyPr>
            <a:lstStyle/>
            <a:p>
              <a:pPr algn="ctr" rtl="1">
                <a:lnSpc>
                  <a:spcPts val="4861"/>
                </a:lnSpc>
              </a:pPr>
              <a:r>
                <a:rPr lang="en-US" sz="4961" dirty="0" err="1">
                  <a:solidFill>
                    <a:srgbClr val="FFFFFF"/>
                  </a:solidFill>
                  <a:cs typeface="PT Bold Heading" panose="02010400000000000000" pitchFamily="2" charset="-78"/>
                </a:rPr>
                <a:t>نواتج</a:t>
              </a:r>
              <a:r>
                <a:rPr lang="en-US" sz="4961" dirty="0">
                  <a:solidFill>
                    <a:srgbClr val="FFFFFF"/>
                  </a:solidFill>
                  <a:cs typeface="PT Bold Heading" panose="02010400000000000000" pitchFamily="2" charset="-78"/>
                </a:rPr>
                <a:t> </a:t>
              </a:r>
              <a:r>
                <a:rPr lang="en-US" sz="4961" dirty="0" err="1">
                  <a:solidFill>
                    <a:srgbClr val="FFFFFF"/>
                  </a:solidFill>
                  <a:cs typeface="PT Bold Heading" panose="02010400000000000000" pitchFamily="2" charset="-78"/>
                </a:rPr>
                <a:t>التعلم</a:t>
              </a:r>
              <a:r>
                <a:rPr lang="en-US" sz="4961" dirty="0">
                  <a:solidFill>
                    <a:srgbClr val="FFFFFF"/>
                  </a:solidFill>
                  <a:cs typeface="PT Bold Heading" panose="02010400000000000000" pitchFamily="2" charset="-78"/>
                </a:rPr>
                <a:t> </a:t>
              </a:r>
            </a:p>
          </p:txBody>
        </p:sp>
      </p:grpSp>
      <p:grpSp>
        <p:nvGrpSpPr>
          <p:cNvPr id="29" name="Group 29"/>
          <p:cNvGrpSpPr/>
          <p:nvPr/>
        </p:nvGrpSpPr>
        <p:grpSpPr>
          <a:xfrm>
            <a:off x="6173995" y="4367225"/>
            <a:ext cx="8534494" cy="1008481"/>
            <a:chOff x="0" y="38100"/>
            <a:chExt cx="11379326" cy="1344641"/>
          </a:xfrm>
        </p:grpSpPr>
        <p:sp>
          <p:nvSpPr>
            <p:cNvPr id="31" name="Freeform 31"/>
            <p:cNvSpPr/>
            <p:nvPr/>
          </p:nvSpPr>
          <p:spPr>
            <a:xfrm>
              <a:off x="10792071" y="138876"/>
              <a:ext cx="587255" cy="510875"/>
            </a:xfrm>
            <a:custGeom>
              <a:avLst/>
              <a:gdLst/>
              <a:ahLst/>
              <a:cxnLst/>
              <a:rect l="l" t="t" r="r" b="b"/>
              <a:pathLst>
                <a:path w="131321" h="114241">
                  <a:moveTo>
                    <a:pt x="57120" y="0"/>
                  </a:moveTo>
                  <a:lnTo>
                    <a:pt x="74200" y="0"/>
                  </a:lnTo>
                  <a:cubicBezTo>
                    <a:pt x="105747" y="0"/>
                    <a:pt x="131321" y="25574"/>
                    <a:pt x="131321" y="57120"/>
                  </a:cubicBezTo>
                  <a:lnTo>
                    <a:pt x="131321" y="57120"/>
                  </a:lnTo>
                  <a:cubicBezTo>
                    <a:pt x="131321" y="72270"/>
                    <a:pt x="125303" y="86798"/>
                    <a:pt x="114590" y="97510"/>
                  </a:cubicBezTo>
                  <a:cubicBezTo>
                    <a:pt x="103878" y="108223"/>
                    <a:pt x="89350" y="114241"/>
                    <a:pt x="74200" y="114241"/>
                  </a:cubicBezTo>
                  <a:lnTo>
                    <a:pt x="57120" y="114241"/>
                  </a:lnTo>
                  <a:cubicBezTo>
                    <a:pt x="41971" y="114241"/>
                    <a:pt x="27442" y="108223"/>
                    <a:pt x="16730" y="97510"/>
                  </a:cubicBezTo>
                  <a:cubicBezTo>
                    <a:pt x="6018" y="86798"/>
                    <a:pt x="0" y="72270"/>
                    <a:pt x="0" y="57120"/>
                  </a:cubicBezTo>
                  <a:lnTo>
                    <a:pt x="0" y="57120"/>
                  </a:lnTo>
                  <a:cubicBezTo>
                    <a:pt x="0" y="41971"/>
                    <a:pt x="6018" y="27442"/>
                    <a:pt x="16730" y="16730"/>
                  </a:cubicBezTo>
                  <a:cubicBezTo>
                    <a:pt x="27442" y="6018"/>
                    <a:pt x="41971" y="0"/>
                    <a:pt x="57120" y="0"/>
                  </a:cubicBezTo>
                  <a:close/>
                </a:path>
              </a:pathLst>
            </a:custGeom>
            <a:solidFill>
              <a:srgbClr val="A1CCD1"/>
            </a:solidFill>
            <a:ln>
              <a:noFill/>
            </a:ln>
          </p:spPr>
          <p:txBody>
            <a:bodyPr/>
            <a:lstStyle/>
            <a:p>
              <a:pPr algn="r" rtl="1"/>
              <a:endParaRPr lang="ar-SA">
                <a:solidFill>
                  <a:srgbClr val="FF0000"/>
                </a:solidFill>
                <a:cs typeface="PT Bold Heading" panose="02010400000000000000" pitchFamily="2" charset="-78"/>
              </a:endParaRPr>
            </a:p>
          </p:txBody>
        </p:sp>
        <p:sp>
          <p:nvSpPr>
            <p:cNvPr id="33" name="Freeform 33"/>
            <p:cNvSpPr/>
            <p:nvPr/>
          </p:nvSpPr>
          <p:spPr>
            <a:xfrm>
              <a:off x="10944508" y="215997"/>
              <a:ext cx="282382" cy="344368"/>
            </a:xfrm>
            <a:custGeom>
              <a:avLst/>
              <a:gdLst/>
              <a:ahLst/>
              <a:cxnLst/>
              <a:rect l="l" t="t" r="r" b="b"/>
              <a:pathLst>
                <a:path w="282382" h="344368">
                  <a:moveTo>
                    <a:pt x="0" y="0"/>
                  </a:moveTo>
                  <a:lnTo>
                    <a:pt x="282382" y="0"/>
                  </a:lnTo>
                  <a:lnTo>
                    <a:pt x="282382" y="344368"/>
                  </a:lnTo>
                  <a:lnTo>
                    <a:pt x="0" y="3443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solidFill>
                  <a:srgbClr val="FF0000"/>
                </a:solidFill>
                <a:cs typeface="PT Bold Heading" panose="02010400000000000000" pitchFamily="2" charset="-78"/>
              </a:endParaRPr>
            </a:p>
          </p:txBody>
        </p:sp>
        <p:sp>
          <p:nvSpPr>
            <p:cNvPr id="34" name="TextBox 34"/>
            <p:cNvSpPr txBox="1"/>
            <p:nvPr/>
          </p:nvSpPr>
          <p:spPr>
            <a:xfrm>
              <a:off x="0" y="38100"/>
              <a:ext cx="10512638" cy="1344641"/>
            </a:xfrm>
            <a:prstGeom prst="rect">
              <a:avLst/>
            </a:prstGeom>
          </p:spPr>
          <p:txBody>
            <a:bodyPr lIns="0" tIns="0" rIns="0" bIns="0" rtlCol="0" anchor="t">
              <a:spAutoFit/>
            </a:bodyPr>
            <a:lstStyle/>
            <a:p>
              <a:pPr algn="r" rtl="1">
                <a:lnSpc>
                  <a:spcPts val="3879"/>
                </a:lnSpc>
              </a:pPr>
              <a:r>
                <a:rPr lang="en-US" sz="3464" dirty="0" err="1">
                  <a:solidFill>
                    <a:srgbClr val="FF0000"/>
                  </a:solidFill>
                  <a:cs typeface="PT Bold Heading" panose="02010400000000000000" pitchFamily="2" charset="-78"/>
                </a:rPr>
                <a:t>معرفة</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خطوات</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دمج</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الأمن</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السيبراني</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في</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دورة</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حياة</a:t>
              </a:r>
              <a:r>
                <a:rPr lang="en-US" sz="3464" dirty="0">
                  <a:solidFill>
                    <a:srgbClr val="FF0000"/>
                  </a:solidFill>
                  <a:cs typeface="PT Bold Heading" panose="02010400000000000000" pitchFamily="2" charset="-78"/>
                </a:rPr>
                <a:t> </a:t>
              </a:r>
              <a:r>
                <a:rPr lang="en-US" sz="3464" dirty="0" err="1">
                  <a:solidFill>
                    <a:srgbClr val="FF0000"/>
                  </a:solidFill>
                  <a:cs typeface="PT Bold Heading" panose="02010400000000000000" pitchFamily="2" charset="-78"/>
                </a:rPr>
                <a:t>النظام</a:t>
              </a:r>
              <a:r>
                <a:rPr lang="en-US" sz="3464" dirty="0">
                  <a:solidFill>
                    <a:srgbClr val="FF0000"/>
                  </a:solidFill>
                  <a:cs typeface="PT Bold Heading" panose="02010400000000000000" pitchFamily="2" charset="-78"/>
                </a:rPr>
                <a:t>.</a:t>
              </a:r>
            </a:p>
          </p:txBody>
        </p:sp>
      </p:grpSp>
      <p:grpSp>
        <p:nvGrpSpPr>
          <p:cNvPr id="35" name="Group 35"/>
          <p:cNvGrpSpPr/>
          <p:nvPr/>
        </p:nvGrpSpPr>
        <p:grpSpPr>
          <a:xfrm>
            <a:off x="6193045" y="6113565"/>
            <a:ext cx="8534494" cy="461119"/>
            <a:chOff x="0" y="85725"/>
            <a:chExt cx="11379326" cy="614826"/>
          </a:xfrm>
        </p:grpSpPr>
        <p:sp>
          <p:nvSpPr>
            <p:cNvPr id="37" name="Freeform 37"/>
            <p:cNvSpPr/>
            <p:nvPr/>
          </p:nvSpPr>
          <p:spPr>
            <a:xfrm>
              <a:off x="10792071" y="111921"/>
              <a:ext cx="587255" cy="510875"/>
            </a:xfrm>
            <a:custGeom>
              <a:avLst/>
              <a:gdLst/>
              <a:ahLst/>
              <a:cxnLst/>
              <a:rect l="l" t="t" r="r" b="b"/>
              <a:pathLst>
                <a:path w="131321" h="114241">
                  <a:moveTo>
                    <a:pt x="57120" y="0"/>
                  </a:moveTo>
                  <a:lnTo>
                    <a:pt x="74200" y="0"/>
                  </a:lnTo>
                  <a:cubicBezTo>
                    <a:pt x="105747" y="0"/>
                    <a:pt x="131321" y="25574"/>
                    <a:pt x="131321" y="57120"/>
                  </a:cubicBezTo>
                  <a:lnTo>
                    <a:pt x="131321" y="57120"/>
                  </a:lnTo>
                  <a:cubicBezTo>
                    <a:pt x="131321" y="72270"/>
                    <a:pt x="125303" y="86798"/>
                    <a:pt x="114590" y="97510"/>
                  </a:cubicBezTo>
                  <a:cubicBezTo>
                    <a:pt x="103878" y="108223"/>
                    <a:pt x="89350" y="114241"/>
                    <a:pt x="74200" y="114241"/>
                  </a:cubicBezTo>
                  <a:lnTo>
                    <a:pt x="57120" y="114241"/>
                  </a:lnTo>
                  <a:cubicBezTo>
                    <a:pt x="41971" y="114241"/>
                    <a:pt x="27442" y="108223"/>
                    <a:pt x="16730" y="97510"/>
                  </a:cubicBezTo>
                  <a:cubicBezTo>
                    <a:pt x="6018" y="86798"/>
                    <a:pt x="0" y="72270"/>
                    <a:pt x="0" y="57120"/>
                  </a:cubicBezTo>
                  <a:lnTo>
                    <a:pt x="0" y="57120"/>
                  </a:lnTo>
                  <a:cubicBezTo>
                    <a:pt x="0" y="41971"/>
                    <a:pt x="6018" y="27442"/>
                    <a:pt x="16730" y="16730"/>
                  </a:cubicBezTo>
                  <a:cubicBezTo>
                    <a:pt x="27442" y="6018"/>
                    <a:pt x="41971" y="0"/>
                    <a:pt x="57120" y="0"/>
                  </a:cubicBezTo>
                  <a:close/>
                </a:path>
              </a:pathLst>
            </a:custGeom>
            <a:solidFill>
              <a:srgbClr val="A1CCD1"/>
            </a:solidFill>
            <a:ln>
              <a:noFill/>
            </a:ln>
          </p:spPr>
          <p:txBody>
            <a:bodyPr/>
            <a:lstStyle/>
            <a:p>
              <a:pPr algn="r" rtl="1"/>
              <a:endParaRPr lang="ar-SA">
                <a:cs typeface="PT Bold Heading" panose="02010400000000000000" pitchFamily="2" charset="-78"/>
              </a:endParaRPr>
            </a:p>
          </p:txBody>
        </p:sp>
        <p:sp>
          <p:nvSpPr>
            <p:cNvPr id="39" name="Freeform 39"/>
            <p:cNvSpPr/>
            <p:nvPr/>
          </p:nvSpPr>
          <p:spPr>
            <a:xfrm>
              <a:off x="10944508" y="189043"/>
              <a:ext cx="282382" cy="344368"/>
            </a:xfrm>
            <a:custGeom>
              <a:avLst/>
              <a:gdLst/>
              <a:ahLst/>
              <a:cxnLst/>
              <a:rect l="l" t="t" r="r" b="b"/>
              <a:pathLst>
                <a:path w="282382" h="344368">
                  <a:moveTo>
                    <a:pt x="0" y="0"/>
                  </a:moveTo>
                  <a:lnTo>
                    <a:pt x="282382" y="0"/>
                  </a:lnTo>
                  <a:lnTo>
                    <a:pt x="282382" y="344368"/>
                  </a:lnTo>
                  <a:lnTo>
                    <a:pt x="0" y="3443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40" name="TextBox 40"/>
            <p:cNvSpPr txBox="1"/>
            <p:nvPr/>
          </p:nvSpPr>
          <p:spPr>
            <a:xfrm>
              <a:off x="0" y="85725"/>
              <a:ext cx="10512637" cy="614826"/>
            </a:xfrm>
            <a:prstGeom prst="rect">
              <a:avLst/>
            </a:prstGeom>
          </p:spPr>
          <p:txBody>
            <a:bodyPr lIns="0" tIns="0" rIns="0" bIns="0" rtlCol="0" anchor="t">
              <a:spAutoFit/>
            </a:bodyPr>
            <a:lstStyle/>
            <a:p>
              <a:pPr algn="r" rtl="1">
                <a:lnSpc>
                  <a:spcPts val="3394"/>
                </a:lnSpc>
              </a:pPr>
              <a:r>
                <a:rPr lang="en-US" sz="3464" dirty="0" err="1">
                  <a:solidFill>
                    <a:srgbClr val="091B31"/>
                  </a:solidFill>
                  <a:cs typeface="PT Bold Heading" panose="02010400000000000000" pitchFamily="2" charset="-78"/>
                </a:rPr>
                <a:t>تمييز</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البصمات</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الرقمية</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النشطة</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وغير</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النشطة</a:t>
              </a:r>
              <a:r>
                <a:rPr lang="en-US" sz="3464" dirty="0">
                  <a:solidFill>
                    <a:srgbClr val="091B31"/>
                  </a:solidFill>
                  <a:cs typeface="PT Bold Heading" panose="02010400000000000000" pitchFamily="2" charset="-78"/>
                </a:rPr>
                <a:t> .</a:t>
              </a:r>
            </a:p>
          </p:txBody>
        </p:sp>
      </p:grpSp>
      <p:grpSp>
        <p:nvGrpSpPr>
          <p:cNvPr id="41" name="Group 41"/>
          <p:cNvGrpSpPr/>
          <p:nvPr/>
        </p:nvGrpSpPr>
        <p:grpSpPr>
          <a:xfrm>
            <a:off x="6173995" y="6976116"/>
            <a:ext cx="8534494" cy="461119"/>
            <a:chOff x="0" y="85725"/>
            <a:chExt cx="11379326" cy="614826"/>
          </a:xfrm>
        </p:grpSpPr>
        <p:sp>
          <p:nvSpPr>
            <p:cNvPr id="43" name="Freeform 43"/>
            <p:cNvSpPr/>
            <p:nvPr/>
          </p:nvSpPr>
          <p:spPr>
            <a:xfrm>
              <a:off x="10792071" y="120237"/>
              <a:ext cx="587255" cy="510875"/>
            </a:xfrm>
            <a:custGeom>
              <a:avLst/>
              <a:gdLst/>
              <a:ahLst/>
              <a:cxnLst/>
              <a:rect l="l" t="t" r="r" b="b"/>
              <a:pathLst>
                <a:path w="131321" h="114241">
                  <a:moveTo>
                    <a:pt x="57120" y="0"/>
                  </a:moveTo>
                  <a:lnTo>
                    <a:pt x="74200" y="0"/>
                  </a:lnTo>
                  <a:cubicBezTo>
                    <a:pt x="105747" y="0"/>
                    <a:pt x="131321" y="25574"/>
                    <a:pt x="131321" y="57120"/>
                  </a:cubicBezTo>
                  <a:lnTo>
                    <a:pt x="131321" y="57120"/>
                  </a:lnTo>
                  <a:cubicBezTo>
                    <a:pt x="131321" y="72270"/>
                    <a:pt x="125303" y="86798"/>
                    <a:pt x="114590" y="97510"/>
                  </a:cubicBezTo>
                  <a:cubicBezTo>
                    <a:pt x="103878" y="108223"/>
                    <a:pt x="89350" y="114241"/>
                    <a:pt x="74200" y="114241"/>
                  </a:cubicBezTo>
                  <a:lnTo>
                    <a:pt x="57120" y="114241"/>
                  </a:lnTo>
                  <a:cubicBezTo>
                    <a:pt x="41971" y="114241"/>
                    <a:pt x="27442" y="108223"/>
                    <a:pt x="16730" y="97510"/>
                  </a:cubicBezTo>
                  <a:cubicBezTo>
                    <a:pt x="6018" y="86798"/>
                    <a:pt x="0" y="72270"/>
                    <a:pt x="0" y="57120"/>
                  </a:cubicBezTo>
                  <a:lnTo>
                    <a:pt x="0" y="57120"/>
                  </a:lnTo>
                  <a:cubicBezTo>
                    <a:pt x="0" y="41971"/>
                    <a:pt x="6018" y="27442"/>
                    <a:pt x="16730" y="16730"/>
                  </a:cubicBezTo>
                  <a:cubicBezTo>
                    <a:pt x="27442" y="6018"/>
                    <a:pt x="41971" y="0"/>
                    <a:pt x="57120" y="0"/>
                  </a:cubicBezTo>
                  <a:close/>
                </a:path>
              </a:pathLst>
            </a:custGeom>
            <a:solidFill>
              <a:srgbClr val="A1CCD1"/>
            </a:solidFill>
            <a:ln>
              <a:noFill/>
            </a:ln>
          </p:spPr>
          <p:txBody>
            <a:bodyPr/>
            <a:lstStyle/>
            <a:p>
              <a:pPr algn="r" rtl="1"/>
              <a:endParaRPr lang="ar-SA">
                <a:cs typeface="PT Bold Heading" panose="02010400000000000000" pitchFamily="2" charset="-78"/>
              </a:endParaRPr>
            </a:p>
          </p:txBody>
        </p:sp>
        <p:sp>
          <p:nvSpPr>
            <p:cNvPr id="45" name="Freeform 45"/>
            <p:cNvSpPr/>
            <p:nvPr/>
          </p:nvSpPr>
          <p:spPr>
            <a:xfrm>
              <a:off x="10944508" y="197359"/>
              <a:ext cx="282382" cy="344368"/>
            </a:xfrm>
            <a:custGeom>
              <a:avLst/>
              <a:gdLst/>
              <a:ahLst/>
              <a:cxnLst/>
              <a:rect l="l" t="t" r="r" b="b"/>
              <a:pathLst>
                <a:path w="282382" h="344368">
                  <a:moveTo>
                    <a:pt x="0" y="0"/>
                  </a:moveTo>
                  <a:lnTo>
                    <a:pt x="282382" y="0"/>
                  </a:lnTo>
                  <a:lnTo>
                    <a:pt x="282382" y="344368"/>
                  </a:lnTo>
                  <a:lnTo>
                    <a:pt x="0" y="3443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46" name="TextBox 46"/>
            <p:cNvSpPr txBox="1"/>
            <p:nvPr/>
          </p:nvSpPr>
          <p:spPr>
            <a:xfrm>
              <a:off x="0" y="85725"/>
              <a:ext cx="10512637" cy="614826"/>
            </a:xfrm>
            <a:prstGeom prst="rect">
              <a:avLst/>
            </a:prstGeom>
          </p:spPr>
          <p:txBody>
            <a:bodyPr lIns="0" tIns="0" rIns="0" bIns="0" rtlCol="0" anchor="t">
              <a:spAutoFit/>
            </a:bodyPr>
            <a:lstStyle/>
            <a:p>
              <a:pPr algn="r" rtl="1">
                <a:lnSpc>
                  <a:spcPts val="3394"/>
                </a:lnSpc>
              </a:pPr>
              <a:r>
                <a:rPr lang="en-US" sz="3464" dirty="0" err="1">
                  <a:solidFill>
                    <a:srgbClr val="091B31"/>
                  </a:solidFill>
                  <a:cs typeface="PT Bold Heading" panose="02010400000000000000" pitchFamily="2" charset="-78"/>
                </a:rPr>
                <a:t>معرفة</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آثار</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التعقب</a:t>
              </a:r>
              <a:r>
                <a:rPr lang="en-US" sz="3464" dirty="0">
                  <a:solidFill>
                    <a:srgbClr val="091B31"/>
                  </a:solidFill>
                  <a:cs typeface="PT Bold Heading" panose="02010400000000000000" pitchFamily="2" charset="-78"/>
                </a:rPr>
                <a:t> </a:t>
              </a:r>
              <a:r>
                <a:rPr lang="en-US" sz="3464" dirty="0" err="1">
                  <a:solidFill>
                    <a:srgbClr val="091B31"/>
                  </a:solidFill>
                  <a:cs typeface="PT Bold Heading" panose="02010400000000000000" pitchFamily="2" charset="-78"/>
                </a:rPr>
                <a:t>الرقمية</a:t>
              </a:r>
              <a:r>
                <a:rPr lang="en-US" sz="3464" dirty="0">
                  <a:solidFill>
                    <a:srgbClr val="091B31"/>
                  </a:solidFill>
                  <a:cs typeface="PT Bold Heading" panose="02010400000000000000" pitchFamily="2" charset="-78"/>
                </a:rPr>
                <a:t> .</a:t>
              </a:r>
            </a:p>
          </p:txBody>
        </p:sp>
      </p:grpSp>
      <p:grpSp>
        <p:nvGrpSpPr>
          <p:cNvPr id="3" name="Group 35">
            <a:extLst>
              <a:ext uri="{FF2B5EF4-FFF2-40B4-BE49-F238E27FC236}">
                <a16:creationId xmlns:a16="http://schemas.microsoft.com/office/drawing/2014/main" id="{F9BA75AE-0DB6-7FB9-8644-3219EEDC30A1}"/>
              </a:ext>
            </a:extLst>
          </p:cNvPr>
          <p:cNvGrpSpPr/>
          <p:nvPr/>
        </p:nvGrpSpPr>
        <p:grpSpPr>
          <a:xfrm>
            <a:off x="4210478" y="5446853"/>
            <a:ext cx="10517061" cy="880369"/>
            <a:chOff x="0" y="85725"/>
            <a:chExt cx="11379326" cy="1173827"/>
          </a:xfrm>
        </p:grpSpPr>
        <p:sp>
          <p:nvSpPr>
            <p:cNvPr id="5" name="Freeform 37">
              <a:extLst>
                <a:ext uri="{FF2B5EF4-FFF2-40B4-BE49-F238E27FC236}">
                  <a16:creationId xmlns:a16="http://schemas.microsoft.com/office/drawing/2014/main" id="{E58C2D69-2D81-B544-4945-959506A320C6}"/>
                </a:ext>
              </a:extLst>
            </p:cNvPr>
            <p:cNvSpPr/>
            <p:nvPr/>
          </p:nvSpPr>
          <p:spPr>
            <a:xfrm>
              <a:off x="10792071" y="111921"/>
              <a:ext cx="587255" cy="510875"/>
            </a:xfrm>
            <a:custGeom>
              <a:avLst/>
              <a:gdLst/>
              <a:ahLst/>
              <a:cxnLst/>
              <a:rect l="l" t="t" r="r" b="b"/>
              <a:pathLst>
                <a:path w="131321" h="114241">
                  <a:moveTo>
                    <a:pt x="57120" y="0"/>
                  </a:moveTo>
                  <a:lnTo>
                    <a:pt x="74200" y="0"/>
                  </a:lnTo>
                  <a:cubicBezTo>
                    <a:pt x="105747" y="0"/>
                    <a:pt x="131321" y="25574"/>
                    <a:pt x="131321" y="57120"/>
                  </a:cubicBezTo>
                  <a:lnTo>
                    <a:pt x="131321" y="57120"/>
                  </a:lnTo>
                  <a:cubicBezTo>
                    <a:pt x="131321" y="72270"/>
                    <a:pt x="125303" y="86798"/>
                    <a:pt x="114590" y="97510"/>
                  </a:cubicBezTo>
                  <a:cubicBezTo>
                    <a:pt x="103878" y="108223"/>
                    <a:pt x="89350" y="114241"/>
                    <a:pt x="74200" y="114241"/>
                  </a:cubicBezTo>
                  <a:lnTo>
                    <a:pt x="57120" y="114241"/>
                  </a:lnTo>
                  <a:cubicBezTo>
                    <a:pt x="41971" y="114241"/>
                    <a:pt x="27442" y="108223"/>
                    <a:pt x="16730" y="97510"/>
                  </a:cubicBezTo>
                  <a:cubicBezTo>
                    <a:pt x="6018" y="86798"/>
                    <a:pt x="0" y="72270"/>
                    <a:pt x="0" y="57120"/>
                  </a:cubicBezTo>
                  <a:lnTo>
                    <a:pt x="0" y="57120"/>
                  </a:lnTo>
                  <a:cubicBezTo>
                    <a:pt x="0" y="41971"/>
                    <a:pt x="6018" y="27442"/>
                    <a:pt x="16730" y="16730"/>
                  </a:cubicBezTo>
                  <a:cubicBezTo>
                    <a:pt x="27442" y="6018"/>
                    <a:pt x="41971" y="0"/>
                    <a:pt x="57120" y="0"/>
                  </a:cubicBezTo>
                  <a:close/>
                </a:path>
              </a:pathLst>
            </a:custGeom>
            <a:solidFill>
              <a:srgbClr val="A1CCD1"/>
            </a:solidFill>
            <a:ln>
              <a:noFill/>
            </a:ln>
          </p:spPr>
          <p:txBody>
            <a:bodyPr/>
            <a:lstStyle/>
            <a:p>
              <a:pPr algn="r" rtl="1"/>
              <a:endParaRPr lang="ar-SA">
                <a:cs typeface="PT Bold Heading" panose="02010400000000000000" pitchFamily="2" charset="-78"/>
              </a:endParaRPr>
            </a:p>
          </p:txBody>
        </p:sp>
        <p:sp>
          <p:nvSpPr>
            <p:cNvPr id="6" name="Freeform 39">
              <a:extLst>
                <a:ext uri="{FF2B5EF4-FFF2-40B4-BE49-F238E27FC236}">
                  <a16:creationId xmlns:a16="http://schemas.microsoft.com/office/drawing/2014/main" id="{927204D5-0439-E40A-6E6D-350463B6AB07}"/>
                </a:ext>
              </a:extLst>
            </p:cNvPr>
            <p:cNvSpPr/>
            <p:nvPr/>
          </p:nvSpPr>
          <p:spPr>
            <a:xfrm>
              <a:off x="10944508" y="189043"/>
              <a:ext cx="282382" cy="344368"/>
            </a:xfrm>
            <a:custGeom>
              <a:avLst/>
              <a:gdLst/>
              <a:ahLst/>
              <a:cxnLst/>
              <a:rect l="l" t="t" r="r" b="b"/>
              <a:pathLst>
                <a:path w="282382" h="344368">
                  <a:moveTo>
                    <a:pt x="0" y="0"/>
                  </a:moveTo>
                  <a:lnTo>
                    <a:pt x="282382" y="0"/>
                  </a:lnTo>
                  <a:lnTo>
                    <a:pt x="282382" y="344368"/>
                  </a:lnTo>
                  <a:lnTo>
                    <a:pt x="0" y="3443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8" name="TextBox 40">
              <a:extLst>
                <a:ext uri="{FF2B5EF4-FFF2-40B4-BE49-F238E27FC236}">
                  <a16:creationId xmlns:a16="http://schemas.microsoft.com/office/drawing/2014/main" id="{39C7A752-53FE-7129-4460-29B42424CDCB}"/>
                </a:ext>
              </a:extLst>
            </p:cNvPr>
            <p:cNvSpPr txBox="1"/>
            <p:nvPr/>
          </p:nvSpPr>
          <p:spPr>
            <a:xfrm>
              <a:off x="0" y="85725"/>
              <a:ext cx="10512637" cy="1173827"/>
            </a:xfrm>
            <a:prstGeom prst="rect">
              <a:avLst/>
            </a:prstGeom>
          </p:spPr>
          <p:txBody>
            <a:bodyPr lIns="0" tIns="0" rIns="0" bIns="0" rtlCol="0" anchor="t">
              <a:spAutoFit/>
            </a:bodyPr>
            <a:lstStyle/>
            <a:p>
              <a:pPr algn="r" rtl="1">
                <a:lnSpc>
                  <a:spcPts val="3394"/>
                </a:lnSpc>
              </a:pPr>
              <a:r>
                <a:rPr lang="ar-SA" sz="3464" dirty="0">
                  <a:solidFill>
                    <a:srgbClr val="091B31"/>
                  </a:solidFill>
                  <a:cs typeface="PT Bold Heading" panose="02010400000000000000" pitchFamily="2" charset="-78"/>
                </a:rPr>
                <a:t>تتعرف على مفهوم البصمة الرقمية </a:t>
              </a:r>
              <a:r>
                <a:rPr lang="en-US" sz="3464" dirty="0">
                  <a:solidFill>
                    <a:srgbClr val="091B31"/>
                  </a:solidFill>
                  <a:cs typeface="PT Bold Heading" panose="02010400000000000000" pitchFamily="2" charset="-78"/>
                </a:rPr>
                <a:t>Digital footprint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12441" y="21070"/>
            <a:ext cx="16775559" cy="9187720"/>
            <a:chOff x="477682" y="-2916408"/>
            <a:chExt cx="22367413" cy="12250293"/>
          </a:xfrm>
        </p:grpSpPr>
        <p:sp>
          <p:nvSpPr>
            <p:cNvPr id="4" name="Freeform 4"/>
            <p:cNvSpPr/>
            <p:nvPr/>
          </p:nvSpPr>
          <p:spPr>
            <a:xfrm>
              <a:off x="2748628" y="4724432"/>
              <a:ext cx="18873050" cy="3481568"/>
            </a:xfrm>
            <a:custGeom>
              <a:avLst/>
              <a:gdLst/>
              <a:ahLst/>
              <a:cxnLst/>
              <a:rect l="l" t="t" r="r" b="b"/>
              <a:pathLst>
                <a:path w="3382548" h="623989">
                  <a:moveTo>
                    <a:pt x="0" y="0"/>
                  </a:moveTo>
                  <a:lnTo>
                    <a:pt x="3382548" y="0"/>
                  </a:lnTo>
                  <a:lnTo>
                    <a:pt x="3382548" y="623989"/>
                  </a:lnTo>
                  <a:lnTo>
                    <a:pt x="0" y="623989"/>
                  </a:lnTo>
                  <a:close/>
                </a:path>
              </a:pathLst>
            </a:custGeom>
            <a:solidFill>
              <a:srgbClr val="FFE194">
                <a:alpha val="55686"/>
              </a:srgbClr>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48628" y="1467947"/>
              <a:ext cx="18873050" cy="3256485"/>
            </a:xfrm>
            <a:custGeom>
              <a:avLst/>
              <a:gdLst/>
              <a:ahLst/>
              <a:cxnLst/>
              <a:rect l="l" t="t" r="r" b="b"/>
              <a:pathLst>
                <a:path w="3382548" h="583648">
                  <a:moveTo>
                    <a:pt x="0" y="0"/>
                  </a:moveTo>
                  <a:lnTo>
                    <a:pt x="3382548" y="0"/>
                  </a:lnTo>
                  <a:lnTo>
                    <a:pt x="3382548" y="583648"/>
                  </a:lnTo>
                  <a:lnTo>
                    <a:pt x="0" y="583648"/>
                  </a:lnTo>
                  <a:close/>
                </a:path>
              </a:pathLst>
            </a:custGeom>
            <a:solidFill>
              <a:schemeClr val="bg1">
                <a:lumMod val="75000"/>
              </a:schemeClr>
            </a:solidFill>
            <a:ln>
              <a:noFill/>
            </a:ln>
          </p:spPr>
          <p:txBody>
            <a:bodyPr/>
            <a:lstStyle/>
            <a:p>
              <a:pPr algn="r" rtl="1"/>
              <a:endParaRPr lang="ar-SA" dirty="0">
                <a:cs typeface="PT Bold Heading" panose="02010400000000000000" pitchFamily="2" charset="-78"/>
              </a:endParaRPr>
            </a:p>
          </p:txBody>
        </p:sp>
        <p:sp>
          <p:nvSpPr>
            <p:cNvPr id="10" name="Freeform 10"/>
            <p:cNvSpPr/>
            <p:nvPr/>
          </p:nvSpPr>
          <p:spPr>
            <a:xfrm>
              <a:off x="2748628" y="812083"/>
              <a:ext cx="18547275" cy="7093415"/>
            </a:xfrm>
            <a:custGeom>
              <a:avLst/>
              <a:gdLst/>
              <a:ahLst/>
              <a:cxnLst/>
              <a:rect l="l" t="t" r="r" b="b"/>
              <a:pathLst>
                <a:path w="3786387" h="1448106">
                  <a:moveTo>
                    <a:pt x="5009" y="0"/>
                  </a:moveTo>
                  <a:lnTo>
                    <a:pt x="3781378" y="0"/>
                  </a:lnTo>
                  <a:cubicBezTo>
                    <a:pt x="3784145" y="0"/>
                    <a:pt x="3786387" y="2243"/>
                    <a:pt x="3786387" y="5009"/>
                  </a:cubicBezTo>
                  <a:lnTo>
                    <a:pt x="3786387" y="1443097"/>
                  </a:lnTo>
                  <a:cubicBezTo>
                    <a:pt x="3786387" y="1445863"/>
                    <a:pt x="3784145" y="1448106"/>
                    <a:pt x="3781378" y="1448106"/>
                  </a:cubicBezTo>
                  <a:lnTo>
                    <a:pt x="5009" y="1448106"/>
                  </a:lnTo>
                  <a:cubicBezTo>
                    <a:pt x="2243" y="1448106"/>
                    <a:pt x="0" y="1445863"/>
                    <a:pt x="0" y="1443097"/>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3" name="Freeform 13"/>
            <p:cNvSpPr/>
            <p:nvPr/>
          </p:nvSpPr>
          <p:spPr>
            <a:xfrm>
              <a:off x="14550562" y="0"/>
              <a:ext cx="7071116" cy="1700365"/>
            </a:xfrm>
            <a:custGeom>
              <a:avLst/>
              <a:gdLst/>
              <a:ahLst/>
              <a:cxnLst/>
              <a:rect l="l" t="t" r="r" b="b"/>
              <a:pathLst>
                <a:path w="1267330" h="304750">
                  <a:moveTo>
                    <a:pt x="0" y="0"/>
                  </a:moveTo>
                  <a:lnTo>
                    <a:pt x="1267330" y="0"/>
                  </a:lnTo>
                  <a:lnTo>
                    <a:pt x="1267330" y="304750"/>
                  </a:lnTo>
                  <a:lnTo>
                    <a:pt x="0" y="304750"/>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16" name="Freeform 16"/>
            <p:cNvSpPr/>
            <p:nvPr/>
          </p:nvSpPr>
          <p:spPr>
            <a:xfrm>
              <a:off x="20473288" y="0"/>
              <a:ext cx="2371807" cy="1700365"/>
            </a:xfrm>
            <a:custGeom>
              <a:avLst/>
              <a:gdLst/>
              <a:ahLst/>
              <a:cxnLst/>
              <a:rect l="l" t="t" r="r" b="b"/>
              <a:pathLst>
                <a:path w="425090" h="304750">
                  <a:moveTo>
                    <a:pt x="0" y="0"/>
                  </a:moveTo>
                  <a:lnTo>
                    <a:pt x="425090" y="0"/>
                  </a:lnTo>
                  <a:lnTo>
                    <a:pt x="425090" y="304750"/>
                  </a:lnTo>
                  <a:lnTo>
                    <a:pt x="0" y="304750"/>
                  </a:lnTo>
                  <a:close/>
                </a:path>
              </a:pathLst>
            </a:custGeom>
            <a:solidFill>
              <a:srgbClr val="1DA8A7"/>
            </a:solidFill>
            <a:ln>
              <a:noFill/>
            </a:ln>
          </p:spPr>
          <p:txBody>
            <a:bodyPr/>
            <a:lstStyle/>
            <a:p>
              <a:pPr algn="r" rtl="1"/>
              <a:endParaRPr lang="ar-SA" dirty="0">
                <a:cs typeface="PT Bold Heading" panose="02010400000000000000" pitchFamily="2" charset="-78"/>
              </a:endParaRPr>
            </a:p>
          </p:txBody>
        </p:sp>
        <p:sp>
          <p:nvSpPr>
            <p:cNvPr id="18" name="TextBox 18"/>
            <p:cNvSpPr txBox="1"/>
            <p:nvPr/>
          </p:nvSpPr>
          <p:spPr>
            <a:xfrm>
              <a:off x="14757737" y="468211"/>
              <a:ext cx="5389776" cy="956759"/>
            </a:xfrm>
            <a:prstGeom prst="rect">
              <a:avLst/>
            </a:prstGeom>
          </p:spPr>
          <p:txBody>
            <a:bodyPr lIns="0" tIns="0" rIns="0" bIns="0" rtlCol="0" anchor="t">
              <a:spAutoFit/>
            </a:bodyPr>
            <a:lstStyle/>
            <a:p>
              <a:pPr algn="ctr" rtl="1">
                <a:lnSpc>
                  <a:spcPts val="5294"/>
                </a:lnSpc>
              </a:pPr>
              <a:r>
                <a:rPr lang="ar-SA" sz="5402" dirty="0">
                  <a:solidFill>
                    <a:srgbClr val="17383E"/>
                  </a:solidFill>
                  <a:cs typeface="PT Bold Heading" panose="02010400000000000000" pitchFamily="2" charset="-78"/>
                </a:rPr>
                <a:t>إثراء</a:t>
              </a:r>
              <a:endParaRPr lang="en-US" sz="5402" dirty="0">
                <a:solidFill>
                  <a:srgbClr val="17383E"/>
                </a:solidFill>
                <a:cs typeface="PT Bold Heading" panose="02010400000000000000" pitchFamily="2" charset="-78"/>
              </a:endParaRPr>
            </a:p>
          </p:txBody>
        </p:sp>
        <p:sp>
          <p:nvSpPr>
            <p:cNvPr id="20" name="Freeform 20"/>
            <p:cNvSpPr/>
            <p:nvPr/>
          </p:nvSpPr>
          <p:spPr>
            <a:xfrm>
              <a:off x="477682" y="3836629"/>
              <a:ext cx="5472726" cy="5497256"/>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22" name="Freeform 22"/>
            <p:cNvSpPr/>
            <p:nvPr/>
          </p:nvSpPr>
          <p:spPr>
            <a:xfrm>
              <a:off x="7241567" y="-2916408"/>
              <a:ext cx="4764072" cy="3609145"/>
            </a:xfrm>
            <a:custGeom>
              <a:avLst/>
              <a:gdLst/>
              <a:ahLst/>
              <a:cxnLst/>
              <a:rect l="l" t="t" r="r" b="b"/>
              <a:pathLst>
                <a:path w="4764072" h="3609145">
                  <a:moveTo>
                    <a:pt x="0" y="0"/>
                  </a:moveTo>
                  <a:lnTo>
                    <a:pt x="4764072" y="0"/>
                  </a:lnTo>
                  <a:lnTo>
                    <a:pt x="4764072" y="3609146"/>
                  </a:lnTo>
                  <a:lnTo>
                    <a:pt x="0" y="36091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3" name="Group 23"/>
          <p:cNvGrpSpPr/>
          <p:nvPr/>
        </p:nvGrpSpPr>
        <p:grpSpPr>
          <a:xfrm>
            <a:off x="5861317" y="3803869"/>
            <a:ext cx="10769993" cy="3584875"/>
            <a:chOff x="0" y="-1"/>
            <a:chExt cx="14359991" cy="2994038"/>
          </a:xfrm>
        </p:grpSpPr>
        <p:sp>
          <p:nvSpPr>
            <p:cNvPr id="25" name="Freeform 25"/>
            <p:cNvSpPr/>
            <p:nvPr/>
          </p:nvSpPr>
          <p:spPr>
            <a:xfrm>
              <a:off x="0" y="-1"/>
              <a:ext cx="14197103" cy="2799309"/>
            </a:xfrm>
            <a:custGeom>
              <a:avLst/>
              <a:gdLst/>
              <a:ahLst/>
              <a:cxnLst/>
              <a:rect l="l" t="t" r="r" b="b"/>
              <a:pathLst>
                <a:path w="2462020" h="441573">
                  <a:moveTo>
                    <a:pt x="0" y="0"/>
                  </a:moveTo>
                  <a:lnTo>
                    <a:pt x="2462020" y="0"/>
                  </a:lnTo>
                  <a:lnTo>
                    <a:pt x="2462020" y="441573"/>
                  </a:lnTo>
                  <a:lnTo>
                    <a:pt x="0" y="441573"/>
                  </a:lnTo>
                  <a:close/>
                </a:path>
              </a:pathLst>
            </a:custGeom>
            <a:solidFill>
              <a:srgbClr val="FFE194">
                <a:alpha val="20784"/>
              </a:srgbClr>
            </a:solidFill>
            <a:ln>
              <a:noFill/>
            </a:ln>
          </p:spPr>
          <p:txBody>
            <a:bodyPr/>
            <a:lstStyle/>
            <a:p>
              <a:pPr algn="r" rtl="1"/>
              <a:endParaRPr lang="ar-SA" dirty="0">
                <a:cs typeface="PT Bold Heading" panose="02010400000000000000" pitchFamily="2" charset="-78"/>
              </a:endParaRPr>
            </a:p>
          </p:txBody>
        </p:sp>
        <p:sp>
          <p:nvSpPr>
            <p:cNvPr id="27" name="TextBox 27"/>
            <p:cNvSpPr txBox="1"/>
            <p:nvPr/>
          </p:nvSpPr>
          <p:spPr>
            <a:xfrm>
              <a:off x="44591" y="315361"/>
              <a:ext cx="13782148" cy="396876"/>
            </a:xfrm>
            <a:prstGeom prst="rect">
              <a:avLst/>
            </a:prstGeom>
          </p:spPr>
          <p:txBody>
            <a:bodyPr wrap="square" lIns="0" tIns="0" rIns="0" bIns="0" rtlCol="0" anchor="t">
              <a:spAutoFit/>
            </a:bodyPr>
            <a:lstStyle/>
            <a:p>
              <a:pPr algn="r" rtl="1">
                <a:lnSpc>
                  <a:spcPts val="3530"/>
                </a:lnSpc>
              </a:pPr>
              <a:r>
                <a:rPr lang="ar-SA" sz="3603" dirty="0">
                  <a:solidFill>
                    <a:srgbClr val="050A30"/>
                  </a:solidFill>
                  <a:cs typeface="PT Bold Heading" panose="02010400000000000000" pitchFamily="2" charset="-78"/>
                </a:rPr>
                <a:t>معنى سيبراني :</a:t>
              </a:r>
              <a:endParaRPr lang="en-US" sz="3603" dirty="0">
                <a:solidFill>
                  <a:srgbClr val="050A30"/>
                </a:solidFill>
                <a:cs typeface="PT Bold Heading" panose="02010400000000000000" pitchFamily="2" charset="-78"/>
              </a:endParaRPr>
            </a:p>
          </p:txBody>
        </p:sp>
        <p:sp>
          <p:nvSpPr>
            <p:cNvPr id="28" name="TextBox 28"/>
            <p:cNvSpPr txBox="1"/>
            <p:nvPr/>
          </p:nvSpPr>
          <p:spPr>
            <a:xfrm>
              <a:off x="533252" y="1797042"/>
              <a:ext cx="13826739" cy="1196995"/>
            </a:xfrm>
            <a:prstGeom prst="rect">
              <a:avLst/>
            </a:prstGeom>
          </p:spPr>
          <p:txBody>
            <a:bodyPr lIns="0" tIns="0" rIns="0" bIns="0" rtlCol="0" anchor="t">
              <a:spAutoFit/>
            </a:bodyPr>
            <a:lstStyle/>
            <a:p>
              <a:pPr algn="ctr" rtl="1">
                <a:lnSpc>
                  <a:spcPts val="3432"/>
                </a:lnSpc>
              </a:pPr>
              <a:r>
                <a:rPr lang="ar-SA" sz="3503" dirty="0">
                  <a:solidFill>
                    <a:srgbClr val="2A8D87"/>
                  </a:solidFill>
                  <a:cs typeface="PT Bold Heading" panose="02010400000000000000" pitchFamily="2" charset="-78"/>
                </a:rPr>
                <a:t>كل </a:t>
              </a:r>
              <a:r>
                <a:rPr lang="ar-SA" sz="3503" dirty="0" err="1">
                  <a:solidFill>
                    <a:srgbClr val="2A8D87"/>
                  </a:solidFill>
                  <a:cs typeface="PT Bold Heading" panose="02010400000000000000" pitchFamily="2" charset="-78"/>
                </a:rPr>
                <a:t>مايتعلق</a:t>
              </a:r>
              <a:r>
                <a:rPr lang="ar-SA" sz="3503" dirty="0">
                  <a:solidFill>
                    <a:srgbClr val="2A8D87"/>
                  </a:solidFill>
                  <a:cs typeface="PT Bold Heading" panose="02010400000000000000" pitchFamily="2" charset="-78"/>
                </a:rPr>
                <a:t> بالأجهزة الرقمية وأنظمة التشغيل والبرمجيات والمستخدمين </a:t>
              </a:r>
            </a:p>
          </p:txBody>
        </p:sp>
      </p:grpSp>
      <p:pic>
        <p:nvPicPr>
          <p:cNvPr id="3" name="صورة 2">
            <a:extLst>
              <a:ext uri="{FF2B5EF4-FFF2-40B4-BE49-F238E27FC236}">
                <a16:creationId xmlns:a16="http://schemas.microsoft.com/office/drawing/2014/main" id="{F77354E4-57EB-BB8E-C47A-EFD3BEF3A196}"/>
              </a:ext>
            </a:extLst>
          </p:cNvPr>
          <p:cNvPicPr>
            <a:picLocks noChangeAspect="1"/>
          </p:cNvPicPr>
          <p:nvPr/>
        </p:nvPicPr>
        <p:blipFill>
          <a:blip r:embed="rId3">
            <a:extLst>
              <a:ext uri="{28A0092B-C50C-407E-A947-70E740481C1C}">
                <a14:useLocalDpi xmlns:a14="http://schemas.microsoft.com/office/drawing/2010/main" val="0"/>
              </a:ext>
            </a:extLst>
          </a:blip>
          <a:srcRect l="11141" r="19004" b="43880"/>
          <a:stretch>
            <a:fillRect/>
          </a:stretch>
        </p:blipFill>
        <p:spPr>
          <a:xfrm>
            <a:off x="729683" y="4611584"/>
            <a:ext cx="4483270" cy="4051775"/>
          </a:xfrm>
          <a:prstGeom prst="ellipse">
            <a:avLst/>
          </a:prstGeom>
          <a:ln>
            <a:noFill/>
          </a:ln>
          <a:effectLst>
            <a:softEdge rad="112500"/>
          </a:effectLst>
        </p:spPr>
      </p:pic>
      <p:sp>
        <p:nvSpPr>
          <p:cNvPr id="6" name="TextBox 27">
            <a:extLst>
              <a:ext uri="{FF2B5EF4-FFF2-40B4-BE49-F238E27FC236}">
                <a16:creationId xmlns:a16="http://schemas.microsoft.com/office/drawing/2014/main" id="{0B78ABEB-B886-938D-AE04-285ADB09461E}"/>
              </a:ext>
            </a:extLst>
          </p:cNvPr>
          <p:cNvSpPr txBox="1"/>
          <p:nvPr/>
        </p:nvSpPr>
        <p:spPr>
          <a:xfrm>
            <a:off x="5928203" y="4777413"/>
            <a:ext cx="10336611" cy="475195"/>
          </a:xfrm>
          <a:prstGeom prst="rect">
            <a:avLst/>
          </a:prstGeom>
        </p:spPr>
        <p:txBody>
          <a:bodyPr wrap="square" lIns="0" tIns="0" rIns="0" bIns="0" rtlCol="0" anchor="t">
            <a:spAutoFit/>
          </a:bodyPr>
          <a:lstStyle/>
          <a:p>
            <a:pPr algn="r" rtl="1">
              <a:lnSpc>
                <a:spcPts val="3530"/>
              </a:lnSpc>
            </a:pPr>
            <a:r>
              <a:rPr lang="ar-SA" sz="3603" dirty="0">
                <a:solidFill>
                  <a:srgbClr val="050A30"/>
                </a:solidFill>
                <a:cs typeface="PT Bold Heading" panose="02010400000000000000" pitchFamily="2" charset="-78"/>
              </a:rPr>
              <a:t>مأخوذة من كلمة </a:t>
            </a:r>
            <a:r>
              <a:rPr lang="en-US" sz="3603" dirty="0">
                <a:solidFill>
                  <a:srgbClr val="050A30"/>
                </a:solidFill>
                <a:cs typeface="PT Bold Heading" panose="02010400000000000000" pitchFamily="2" charset="-78"/>
              </a:rPr>
              <a:t>Cyber </a:t>
            </a:r>
            <a:r>
              <a:rPr lang="ar-SA" sz="3603" dirty="0">
                <a:solidFill>
                  <a:srgbClr val="050A30"/>
                </a:solidFill>
                <a:cs typeface="PT Bold Heading" panose="02010400000000000000" pitchFamily="2" charset="-78"/>
              </a:rPr>
              <a:t> والمراد بها ( فضاء) وهي كلمة معربة</a:t>
            </a:r>
            <a:endParaRPr lang="en-US" sz="3603" dirty="0">
              <a:solidFill>
                <a:srgbClr val="050A30"/>
              </a:solidFill>
              <a:cs typeface="PT Bold Heading" panose="02010400000000000000" pitchFamily="2" charset="-78"/>
            </a:endParaRPr>
          </a:p>
        </p:txBody>
      </p:sp>
    </p:spTree>
    <p:extLst>
      <p:ext uri="{BB962C8B-B14F-4D97-AF65-F5344CB8AC3E}">
        <p14:creationId xmlns:p14="http://schemas.microsoft.com/office/powerpoint/2010/main" val="203185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Scale>
                                      <p:cBhvr>
                                        <p:cTn id="7" dur="1000" decel="50000" fill="hold">
                                          <p:stCondLst>
                                            <p:cond delay="0"/>
                                          </p:stCondLst>
                                        </p:cTn>
                                        <p:tgtEl>
                                          <p:spTgt spid="2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7"/>
                                        </p:tgtEl>
                                        <p:attrNameLst>
                                          <p:attrName>ppt_x</p:attrName>
                                          <p:attrName>ppt_y</p:attrName>
                                        </p:attrNameLst>
                                      </p:cBhvr>
                                    </p:animMotion>
                                    <p:animEffect transition="in" filter="fade">
                                      <p:cBhvr>
                                        <p:cTn id="9" dur="10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Scale>
                                      <p:cBhvr>
                                        <p:cTn id="14"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6"/>
                                        </p:tgtEl>
                                        <p:attrNameLst>
                                          <p:attrName>ppt_x</p:attrName>
                                          <p:attrName>ppt_y</p:attrName>
                                        </p:attrNameLst>
                                      </p:cBhvr>
                                    </p:animMotion>
                                    <p:animEffect transition="in" filter="fade">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Scale>
                                      <p:cBhvr>
                                        <p:cTn id="21" dur="1000" decel="50000" fill="hold">
                                          <p:stCondLst>
                                            <p:cond delay="0"/>
                                          </p:stCondLst>
                                        </p:cTn>
                                        <p:tgtEl>
                                          <p:spTgt spid="2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28"/>
                                        </p:tgtEl>
                                        <p:attrNameLst>
                                          <p:attrName>ppt_x</p:attrName>
                                          <p:attrName>ppt_y</p:attrName>
                                        </p:attrNameLst>
                                      </p:cBhvr>
                                    </p:animMotion>
                                    <p:animEffect transition="in" filter="fade">
                                      <p:cBhvr>
                                        <p:cTn id="23"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9439" y="2651184"/>
            <a:ext cx="15185648" cy="4984632"/>
            <a:chOff x="12673" y="0"/>
            <a:chExt cx="20247531" cy="6646176"/>
          </a:xfrm>
        </p:grpSpPr>
        <p:sp>
          <p:nvSpPr>
            <p:cNvPr id="4" name="Freeform 4"/>
            <p:cNvSpPr/>
            <p:nvPr/>
          </p:nvSpPr>
          <p:spPr>
            <a:xfrm>
              <a:off x="3892357" y="1137055"/>
              <a:ext cx="16367847" cy="5509121"/>
            </a:xfrm>
            <a:custGeom>
              <a:avLst/>
              <a:gdLst/>
              <a:ahLst/>
              <a:cxnLst/>
              <a:rect l="l" t="t" r="r" b="b"/>
              <a:pathLst>
                <a:path w="2838464" h="955376">
                  <a:moveTo>
                    <a:pt x="6937" y="0"/>
                  </a:moveTo>
                  <a:lnTo>
                    <a:pt x="2831527" y="0"/>
                  </a:lnTo>
                  <a:cubicBezTo>
                    <a:pt x="2835359" y="0"/>
                    <a:pt x="2838464" y="3106"/>
                    <a:pt x="2838464" y="6937"/>
                  </a:cubicBezTo>
                  <a:lnTo>
                    <a:pt x="2838464" y="948438"/>
                  </a:lnTo>
                  <a:cubicBezTo>
                    <a:pt x="2838464" y="952270"/>
                    <a:pt x="2835359" y="955376"/>
                    <a:pt x="2831527" y="955376"/>
                  </a:cubicBezTo>
                  <a:lnTo>
                    <a:pt x="6937" y="955376"/>
                  </a:lnTo>
                  <a:cubicBezTo>
                    <a:pt x="3106" y="955376"/>
                    <a:pt x="0" y="952270"/>
                    <a:pt x="0" y="948438"/>
                  </a:cubicBezTo>
                  <a:lnTo>
                    <a:pt x="0" y="6937"/>
                  </a:lnTo>
                  <a:cubicBezTo>
                    <a:pt x="0" y="3106"/>
                    <a:pt x="3106" y="0"/>
                    <a:pt x="6937" y="0"/>
                  </a:cubicBez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37404" y="1015568"/>
              <a:ext cx="17301288" cy="5346071"/>
            </a:xfrm>
            <a:custGeom>
              <a:avLst/>
              <a:gdLst/>
              <a:ahLst/>
              <a:cxnLst/>
              <a:rect l="l" t="t" r="r" b="b"/>
              <a:pathLst>
                <a:path w="3417538" h="1056014">
                  <a:moveTo>
                    <a:pt x="5370" y="0"/>
                  </a:moveTo>
                  <a:lnTo>
                    <a:pt x="3412168" y="0"/>
                  </a:lnTo>
                  <a:cubicBezTo>
                    <a:pt x="3413593" y="0"/>
                    <a:pt x="3414959" y="566"/>
                    <a:pt x="3415966" y="1573"/>
                  </a:cubicBezTo>
                  <a:cubicBezTo>
                    <a:pt x="3416972" y="2580"/>
                    <a:pt x="3417538" y="3946"/>
                    <a:pt x="3417538" y="5370"/>
                  </a:cubicBezTo>
                  <a:lnTo>
                    <a:pt x="3417538" y="1050644"/>
                  </a:lnTo>
                  <a:cubicBezTo>
                    <a:pt x="3417538" y="1052068"/>
                    <a:pt x="3416972" y="1053434"/>
                    <a:pt x="3415966" y="1054441"/>
                  </a:cubicBezTo>
                  <a:cubicBezTo>
                    <a:pt x="3414959" y="1055448"/>
                    <a:pt x="3413593" y="1056014"/>
                    <a:pt x="3412168" y="1056014"/>
                  </a:cubicBezTo>
                  <a:lnTo>
                    <a:pt x="5370" y="1056014"/>
                  </a:lnTo>
                  <a:cubicBezTo>
                    <a:pt x="3946" y="1056014"/>
                    <a:pt x="2580" y="1055448"/>
                    <a:pt x="1573" y="1054441"/>
                  </a:cubicBezTo>
                  <a:cubicBezTo>
                    <a:pt x="566" y="1053434"/>
                    <a:pt x="0" y="1052068"/>
                    <a:pt x="0" y="1050644"/>
                  </a:cubicBezTo>
                  <a:lnTo>
                    <a:pt x="0" y="5370"/>
                  </a:lnTo>
                  <a:cubicBezTo>
                    <a:pt x="0" y="3946"/>
                    <a:pt x="566" y="2580"/>
                    <a:pt x="1573" y="1573"/>
                  </a:cubicBezTo>
                  <a:cubicBezTo>
                    <a:pt x="2580" y="566"/>
                    <a:pt x="3946" y="0"/>
                    <a:pt x="5370"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0" name="Freeform 10"/>
            <p:cNvSpPr/>
            <p:nvPr/>
          </p:nvSpPr>
          <p:spPr>
            <a:xfrm>
              <a:off x="6422955" y="0"/>
              <a:ext cx="12036059" cy="1473008"/>
            </a:xfrm>
            <a:custGeom>
              <a:avLst/>
              <a:gdLst/>
              <a:ahLst/>
              <a:cxnLst/>
              <a:rect l="l" t="t" r="r" b="b"/>
              <a:pathLst>
                <a:path w="2087258" h="255445">
                  <a:moveTo>
                    <a:pt x="9434" y="0"/>
                  </a:moveTo>
                  <a:lnTo>
                    <a:pt x="2077824" y="0"/>
                  </a:lnTo>
                  <a:cubicBezTo>
                    <a:pt x="2083034" y="0"/>
                    <a:pt x="2087258" y="4224"/>
                    <a:pt x="2087258" y="9434"/>
                  </a:cubicBezTo>
                  <a:lnTo>
                    <a:pt x="2087258" y="246011"/>
                  </a:lnTo>
                  <a:cubicBezTo>
                    <a:pt x="2087258" y="251221"/>
                    <a:pt x="2083034" y="255445"/>
                    <a:pt x="2077824" y="255445"/>
                  </a:cubicBezTo>
                  <a:lnTo>
                    <a:pt x="9434" y="255445"/>
                  </a:lnTo>
                  <a:cubicBezTo>
                    <a:pt x="6932" y="255445"/>
                    <a:pt x="4532" y="254451"/>
                    <a:pt x="2763" y="252682"/>
                  </a:cubicBezTo>
                  <a:cubicBezTo>
                    <a:pt x="994" y="250912"/>
                    <a:pt x="0" y="248513"/>
                    <a:pt x="0" y="246011"/>
                  </a:cubicBezTo>
                  <a:lnTo>
                    <a:pt x="0" y="9434"/>
                  </a:lnTo>
                  <a:cubicBezTo>
                    <a:pt x="0" y="6932"/>
                    <a:pt x="994" y="4532"/>
                    <a:pt x="2763" y="2763"/>
                  </a:cubicBezTo>
                  <a:cubicBezTo>
                    <a:pt x="4532" y="994"/>
                    <a:pt x="6932" y="0"/>
                    <a:pt x="9434" y="0"/>
                  </a:cubicBez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13" name="Freeform 13"/>
            <p:cNvSpPr/>
            <p:nvPr/>
          </p:nvSpPr>
          <p:spPr>
            <a:xfrm>
              <a:off x="12673" y="964768"/>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15" name="Freeform 15"/>
            <p:cNvSpPr/>
            <p:nvPr/>
          </p:nvSpPr>
          <p:spPr>
            <a:xfrm>
              <a:off x="635141" y="1642112"/>
              <a:ext cx="4204527" cy="4499007"/>
            </a:xfrm>
            <a:custGeom>
              <a:avLst/>
              <a:gdLst/>
              <a:ahLst/>
              <a:cxnLst/>
              <a:rect l="l" t="t" r="r" b="b"/>
              <a:pathLst>
                <a:path w="4204527" h="4499007">
                  <a:moveTo>
                    <a:pt x="0" y="0"/>
                  </a:moveTo>
                  <a:lnTo>
                    <a:pt x="4204527" y="0"/>
                  </a:lnTo>
                  <a:lnTo>
                    <a:pt x="4204527" y="4499008"/>
                  </a:lnTo>
                  <a:lnTo>
                    <a:pt x="0" y="4499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6" name="TextBox 16"/>
            <p:cNvSpPr txBox="1"/>
            <p:nvPr/>
          </p:nvSpPr>
          <p:spPr>
            <a:xfrm>
              <a:off x="7128113" y="267537"/>
              <a:ext cx="10625740" cy="869518"/>
            </a:xfrm>
            <a:prstGeom prst="rect">
              <a:avLst/>
            </a:prstGeom>
          </p:spPr>
          <p:txBody>
            <a:bodyPr lIns="0" tIns="0" rIns="0" bIns="0" rtlCol="0" anchor="t">
              <a:spAutoFit/>
            </a:bodyPr>
            <a:lstStyle/>
            <a:p>
              <a:pPr algn="ctr" rtl="1">
                <a:lnSpc>
                  <a:spcPts val="4665"/>
                </a:lnSpc>
              </a:pPr>
              <a:r>
                <a:rPr lang="en-US" sz="4761">
                  <a:solidFill>
                    <a:srgbClr val="FFFFFF"/>
                  </a:solidFill>
                  <a:cs typeface="PT Bold Heading" panose="02010400000000000000" pitchFamily="2" charset="-78"/>
                </a:rPr>
                <a:t>استراتيجية جدول التعلم KWL</a:t>
              </a:r>
            </a:p>
          </p:txBody>
        </p:sp>
        <p:sp>
          <p:nvSpPr>
            <p:cNvPr id="18" name="Freeform 18"/>
            <p:cNvSpPr/>
            <p:nvPr/>
          </p:nvSpPr>
          <p:spPr>
            <a:xfrm>
              <a:off x="18167568" y="0"/>
              <a:ext cx="2092635" cy="1473008"/>
            </a:xfrm>
            <a:custGeom>
              <a:avLst/>
              <a:gdLst/>
              <a:ahLst/>
              <a:cxnLst/>
              <a:rect l="l" t="t" r="r" b="b"/>
              <a:pathLst>
                <a:path w="362899" h="255445">
                  <a:moveTo>
                    <a:pt x="54261" y="0"/>
                  </a:moveTo>
                  <a:lnTo>
                    <a:pt x="308638" y="0"/>
                  </a:lnTo>
                  <a:cubicBezTo>
                    <a:pt x="338605" y="0"/>
                    <a:pt x="362899" y="24293"/>
                    <a:pt x="362899" y="54261"/>
                  </a:cubicBezTo>
                  <a:lnTo>
                    <a:pt x="362899" y="201184"/>
                  </a:lnTo>
                  <a:cubicBezTo>
                    <a:pt x="362899" y="231151"/>
                    <a:pt x="338605" y="255445"/>
                    <a:pt x="308638" y="255445"/>
                  </a:cubicBezTo>
                  <a:lnTo>
                    <a:pt x="54261" y="255445"/>
                  </a:lnTo>
                  <a:cubicBezTo>
                    <a:pt x="24293" y="255445"/>
                    <a:pt x="0" y="231151"/>
                    <a:pt x="0" y="201184"/>
                  </a:cubicBezTo>
                  <a:lnTo>
                    <a:pt x="0" y="54261"/>
                  </a:lnTo>
                  <a:cubicBezTo>
                    <a:pt x="0" y="24293"/>
                    <a:pt x="24293" y="0"/>
                    <a:pt x="54261" y="0"/>
                  </a:cubicBezTo>
                  <a:close/>
                </a:path>
              </a:pathLst>
            </a:custGeom>
            <a:solidFill>
              <a:srgbClr val="FFE194"/>
            </a:solidFill>
            <a:ln>
              <a:noFill/>
            </a:ln>
          </p:spPr>
          <p:txBody>
            <a:bodyPr/>
            <a:lstStyle/>
            <a:p>
              <a:pPr algn="r" rtl="1"/>
              <a:endParaRPr lang="ar-SA">
                <a:cs typeface="PT Bold Heading" panose="02010400000000000000" pitchFamily="2" charset="-78"/>
              </a:endParaRPr>
            </a:p>
          </p:txBody>
        </p:sp>
      </p:grpSp>
      <p:grpSp>
        <p:nvGrpSpPr>
          <p:cNvPr id="20" name="Group 20"/>
          <p:cNvGrpSpPr/>
          <p:nvPr/>
        </p:nvGrpSpPr>
        <p:grpSpPr>
          <a:xfrm>
            <a:off x="5775633" y="4206662"/>
            <a:ext cx="9750077" cy="596450"/>
            <a:chOff x="0" y="0"/>
            <a:chExt cx="13000102" cy="795267"/>
          </a:xfrm>
        </p:grpSpPr>
        <p:sp>
          <p:nvSpPr>
            <p:cNvPr id="21" name="Freeform 21"/>
            <p:cNvSpPr/>
            <p:nvPr/>
          </p:nvSpPr>
          <p:spPr>
            <a:xfrm>
              <a:off x="12225001" y="0"/>
              <a:ext cx="775102" cy="792390"/>
            </a:xfrm>
            <a:custGeom>
              <a:avLst/>
              <a:gdLst/>
              <a:ahLst/>
              <a:cxnLst/>
              <a:rect l="l" t="t" r="r" b="b"/>
              <a:pathLst>
                <a:path w="775102" h="792390">
                  <a:moveTo>
                    <a:pt x="0" y="0"/>
                  </a:moveTo>
                  <a:lnTo>
                    <a:pt x="775101" y="0"/>
                  </a:lnTo>
                  <a:lnTo>
                    <a:pt x="775101" y="792390"/>
                  </a:lnTo>
                  <a:lnTo>
                    <a:pt x="0" y="79239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22" name="TextBox 22"/>
            <p:cNvSpPr txBox="1"/>
            <p:nvPr/>
          </p:nvSpPr>
          <p:spPr>
            <a:xfrm>
              <a:off x="0" y="85725"/>
              <a:ext cx="12117617" cy="709542"/>
            </a:xfrm>
            <a:prstGeom prst="rect">
              <a:avLst/>
            </a:prstGeom>
          </p:spPr>
          <p:txBody>
            <a:bodyPr lIns="0" tIns="0" rIns="0" bIns="0" rtlCol="0" anchor="t">
              <a:spAutoFit/>
            </a:bodyPr>
            <a:lstStyle/>
            <a:p>
              <a:pPr algn="r" rtl="1">
                <a:lnSpc>
                  <a:spcPts val="3881"/>
                </a:lnSpc>
              </a:pPr>
              <a:r>
                <a:rPr lang="en-US" sz="3961">
                  <a:solidFill>
                    <a:srgbClr val="28443B"/>
                  </a:solidFill>
                  <a:cs typeface="PT Bold Heading" panose="02010400000000000000" pitchFamily="2" charset="-78"/>
                </a:rPr>
                <a:t>عزيزتي الطالبة اجيبي على  هذه الاسئلة  ؟</a:t>
              </a:r>
            </a:p>
          </p:txBody>
        </p:sp>
      </p:grpSp>
      <p:grpSp>
        <p:nvGrpSpPr>
          <p:cNvPr id="23" name="Group 23"/>
          <p:cNvGrpSpPr/>
          <p:nvPr/>
        </p:nvGrpSpPr>
        <p:grpSpPr>
          <a:xfrm>
            <a:off x="5896993" y="5301567"/>
            <a:ext cx="10150641" cy="1433210"/>
            <a:chOff x="0" y="0"/>
            <a:chExt cx="13534188" cy="1910946"/>
          </a:xfrm>
        </p:grpSpPr>
        <p:sp>
          <p:nvSpPr>
            <p:cNvPr id="25" name="Freeform 25"/>
            <p:cNvSpPr/>
            <p:nvPr/>
          </p:nvSpPr>
          <p:spPr>
            <a:xfrm>
              <a:off x="8956692" y="13695"/>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28" name="Freeform 28"/>
            <p:cNvSpPr/>
            <p:nvPr/>
          </p:nvSpPr>
          <p:spPr>
            <a:xfrm>
              <a:off x="4478347" y="13695"/>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31" name="Freeform 31"/>
            <p:cNvSpPr/>
            <p:nvPr/>
          </p:nvSpPr>
          <p:spPr>
            <a:xfrm>
              <a:off x="0" y="0"/>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34" name="Freeform 34"/>
            <p:cNvSpPr/>
            <p:nvPr/>
          </p:nvSpPr>
          <p:spPr>
            <a:xfrm>
              <a:off x="8956692" y="996559"/>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37" name="Freeform 37"/>
            <p:cNvSpPr/>
            <p:nvPr/>
          </p:nvSpPr>
          <p:spPr>
            <a:xfrm>
              <a:off x="4478347" y="996558"/>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40" name="Freeform 40"/>
            <p:cNvSpPr/>
            <p:nvPr/>
          </p:nvSpPr>
          <p:spPr>
            <a:xfrm>
              <a:off x="0" y="982862"/>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42" name="TextBox 42"/>
            <p:cNvSpPr txBox="1"/>
            <p:nvPr/>
          </p:nvSpPr>
          <p:spPr>
            <a:xfrm>
              <a:off x="8726663" y="67537"/>
              <a:ext cx="4807525" cy="693181"/>
            </a:xfrm>
            <a:prstGeom prst="rect">
              <a:avLst/>
            </a:prstGeom>
          </p:spPr>
          <p:txBody>
            <a:bodyPr lIns="0" tIns="0" rIns="0" bIns="0" rtlCol="0" anchor="t">
              <a:spAutoFit/>
            </a:bodyPr>
            <a:lstStyle/>
            <a:p>
              <a:pPr algn="ctr" rtl="1">
                <a:lnSpc>
                  <a:spcPts val="4217"/>
                </a:lnSpc>
              </a:pPr>
              <a:r>
                <a:rPr lang="en-US" sz="3012">
                  <a:solidFill>
                    <a:srgbClr val="FFFFFF"/>
                  </a:solidFill>
                  <a:cs typeface="PT Bold Heading" panose="02010400000000000000" pitchFamily="2" charset="-78"/>
                </a:rPr>
                <a:t>ماذا أعرف عن الدرس</a:t>
              </a:r>
            </a:p>
          </p:txBody>
        </p:sp>
        <p:sp>
          <p:nvSpPr>
            <p:cNvPr id="43" name="TextBox 43"/>
            <p:cNvSpPr txBox="1"/>
            <p:nvPr/>
          </p:nvSpPr>
          <p:spPr>
            <a:xfrm>
              <a:off x="4565501" y="67537"/>
              <a:ext cx="4262951" cy="741912"/>
            </a:xfrm>
            <a:prstGeom prst="rect">
              <a:avLst/>
            </a:prstGeom>
          </p:spPr>
          <p:txBody>
            <a:bodyPr lIns="0" tIns="0" rIns="0" bIns="0" rtlCol="0" anchor="t">
              <a:spAutoFit/>
            </a:bodyPr>
            <a:lstStyle/>
            <a:p>
              <a:pPr algn="ctr" rtl="1">
                <a:lnSpc>
                  <a:spcPts val="4497"/>
                </a:lnSpc>
              </a:pPr>
              <a:r>
                <a:rPr lang="en-US" sz="3212">
                  <a:solidFill>
                    <a:srgbClr val="FFFFFF"/>
                  </a:solidFill>
                  <a:cs typeface="PT Bold Heading" panose="02010400000000000000" pitchFamily="2" charset="-78"/>
                </a:rPr>
                <a:t>ماذا تريد أن تعرف</a:t>
              </a:r>
            </a:p>
          </p:txBody>
        </p:sp>
        <p:sp>
          <p:nvSpPr>
            <p:cNvPr id="44" name="TextBox 44"/>
            <p:cNvSpPr txBox="1"/>
            <p:nvPr/>
          </p:nvSpPr>
          <p:spPr>
            <a:xfrm>
              <a:off x="515979" y="48015"/>
              <a:ext cx="3377911" cy="741912"/>
            </a:xfrm>
            <a:prstGeom prst="rect">
              <a:avLst/>
            </a:prstGeom>
          </p:spPr>
          <p:txBody>
            <a:bodyPr lIns="0" tIns="0" rIns="0" bIns="0" rtlCol="0" anchor="t">
              <a:spAutoFit/>
            </a:bodyPr>
            <a:lstStyle/>
            <a:p>
              <a:pPr algn="ctr" rtl="1">
                <a:lnSpc>
                  <a:spcPts val="4497"/>
                </a:lnSpc>
              </a:pPr>
              <a:r>
                <a:rPr lang="en-US" sz="3212">
                  <a:solidFill>
                    <a:srgbClr val="FFFFFF"/>
                  </a:solidFill>
                  <a:cs typeface="PT Bold Heading" panose="02010400000000000000" pitchFamily="2" charset="-78"/>
                </a:rPr>
                <a:t>ماذا تعلمت</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1949" y="3763758"/>
            <a:ext cx="4104544" cy="4122942"/>
            <a:chOff x="12261" y="0"/>
            <a:chExt cx="5472725" cy="5497256"/>
          </a:xfrm>
        </p:grpSpPr>
        <p:sp>
          <p:nvSpPr>
            <p:cNvPr id="4" name="Freeform 4"/>
            <p:cNvSpPr/>
            <p:nvPr/>
          </p:nvSpPr>
          <p:spPr>
            <a:xfrm>
              <a:off x="12261" y="0"/>
              <a:ext cx="5472725" cy="5497256"/>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6" name="Freeform 6"/>
            <p:cNvSpPr/>
            <p:nvPr/>
          </p:nvSpPr>
          <p:spPr>
            <a:xfrm>
              <a:off x="410894" y="315395"/>
              <a:ext cx="4675468" cy="4593647"/>
            </a:xfrm>
            <a:custGeom>
              <a:avLst/>
              <a:gdLst/>
              <a:ahLst/>
              <a:cxnLst/>
              <a:rect l="l" t="t" r="r" b="b"/>
              <a:pathLst>
                <a:path w="4675468" h="4593647">
                  <a:moveTo>
                    <a:pt x="0" y="0"/>
                  </a:moveTo>
                  <a:lnTo>
                    <a:pt x="4675468" y="0"/>
                  </a:lnTo>
                  <a:lnTo>
                    <a:pt x="4675468" y="4593647"/>
                  </a:lnTo>
                  <a:lnTo>
                    <a:pt x="0" y="459364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dirty="0">
                <a:cs typeface="PT Bold Heading" panose="02010400000000000000" pitchFamily="2" charset="-78"/>
              </a:endParaRPr>
            </a:p>
          </p:txBody>
        </p:sp>
      </p:grpSp>
      <p:grpSp>
        <p:nvGrpSpPr>
          <p:cNvPr id="10" name="مجموعة 9">
            <a:extLst>
              <a:ext uri="{FF2B5EF4-FFF2-40B4-BE49-F238E27FC236}">
                <a16:creationId xmlns:a16="http://schemas.microsoft.com/office/drawing/2014/main" id="{DBE54932-7BEE-9833-032B-9ADEC7AB5331}"/>
              </a:ext>
            </a:extLst>
          </p:cNvPr>
          <p:cNvGrpSpPr/>
          <p:nvPr/>
        </p:nvGrpSpPr>
        <p:grpSpPr>
          <a:xfrm>
            <a:off x="5435468" y="4530289"/>
            <a:ext cx="11825443" cy="3416797"/>
            <a:chOff x="5435468" y="4530289"/>
            <a:chExt cx="11825443" cy="3416797"/>
          </a:xfrm>
        </p:grpSpPr>
        <p:sp>
          <p:nvSpPr>
            <p:cNvPr id="9" name="Freeform 9"/>
            <p:cNvSpPr/>
            <p:nvPr/>
          </p:nvSpPr>
          <p:spPr>
            <a:xfrm>
              <a:off x="5475349" y="6441823"/>
              <a:ext cx="11785562" cy="1505263"/>
            </a:xfrm>
            <a:custGeom>
              <a:avLst/>
              <a:gdLst/>
              <a:ahLst/>
              <a:cxnLst/>
              <a:rect l="l" t="t" r="r" b="b"/>
              <a:pathLst>
                <a:path w="2720496" h="262752">
                  <a:moveTo>
                    <a:pt x="0" y="0"/>
                  </a:moveTo>
                  <a:lnTo>
                    <a:pt x="2720496" y="0"/>
                  </a:lnTo>
                  <a:lnTo>
                    <a:pt x="2720496" y="262752"/>
                  </a:lnTo>
                  <a:lnTo>
                    <a:pt x="0" y="262752"/>
                  </a:lnTo>
                  <a:close/>
                </a:path>
              </a:pathLst>
            </a:custGeom>
            <a:solidFill>
              <a:srgbClr val="7C9D96">
                <a:alpha val="55686"/>
              </a:srgbClr>
            </a:solidFill>
            <a:ln>
              <a:noFill/>
            </a:ln>
          </p:spPr>
          <p:txBody>
            <a:bodyPr/>
            <a:lstStyle/>
            <a:p>
              <a:pPr algn="r" rtl="1"/>
              <a:endParaRPr lang="ar-SA" dirty="0">
                <a:cs typeface="PT Bold Heading" panose="02010400000000000000" pitchFamily="2" charset="-78"/>
              </a:endParaRPr>
            </a:p>
          </p:txBody>
        </p:sp>
        <p:sp>
          <p:nvSpPr>
            <p:cNvPr id="12" name="Freeform 12"/>
            <p:cNvSpPr/>
            <p:nvPr/>
          </p:nvSpPr>
          <p:spPr>
            <a:xfrm>
              <a:off x="5454939" y="5478291"/>
              <a:ext cx="11785562" cy="982932"/>
            </a:xfrm>
            <a:custGeom>
              <a:avLst/>
              <a:gdLst/>
              <a:ahLst/>
              <a:cxnLst/>
              <a:rect l="l" t="t" r="r" b="b"/>
              <a:pathLst>
                <a:path w="2720496" h="226893">
                  <a:moveTo>
                    <a:pt x="0" y="0"/>
                  </a:moveTo>
                  <a:lnTo>
                    <a:pt x="2720496" y="0"/>
                  </a:lnTo>
                  <a:lnTo>
                    <a:pt x="2720496" y="226893"/>
                  </a:lnTo>
                  <a:lnTo>
                    <a:pt x="0" y="226893"/>
                  </a:lnTo>
                  <a:close/>
                </a:path>
              </a:pathLst>
            </a:custGeom>
            <a:solidFill>
              <a:srgbClr val="FFE194">
                <a:alpha val="55686"/>
              </a:srgbClr>
            </a:solidFill>
            <a:ln>
              <a:noFill/>
            </a:ln>
          </p:spPr>
          <p:txBody>
            <a:bodyPr/>
            <a:lstStyle/>
            <a:p>
              <a:pPr algn="r" rtl="1"/>
              <a:endParaRPr lang="ar-SA" dirty="0">
                <a:cs typeface="PT Bold Heading" panose="02010400000000000000" pitchFamily="2" charset="-78"/>
              </a:endParaRPr>
            </a:p>
          </p:txBody>
        </p:sp>
        <p:sp>
          <p:nvSpPr>
            <p:cNvPr id="15" name="Freeform 15"/>
            <p:cNvSpPr/>
            <p:nvPr/>
          </p:nvSpPr>
          <p:spPr>
            <a:xfrm>
              <a:off x="5435468" y="4540025"/>
              <a:ext cx="11805032" cy="957988"/>
            </a:xfrm>
            <a:custGeom>
              <a:avLst/>
              <a:gdLst/>
              <a:ahLst/>
              <a:cxnLst/>
              <a:rect l="l" t="t" r="r" b="b"/>
              <a:pathLst>
                <a:path w="2724991" h="221135">
                  <a:moveTo>
                    <a:pt x="0" y="0"/>
                  </a:moveTo>
                  <a:lnTo>
                    <a:pt x="2724991" y="0"/>
                  </a:lnTo>
                  <a:lnTo>
                    <a:pt x="2724991" y="221135"/>
                  </a:lnTo>
                  <a:lnTo>
                    <a:pt x="0" y="221135"/>
                  </a:lnTo>
                  <a:close/>
                </a:path>
              </a:pathLst>
            </a:custGeom>
            <a:solidFill>
              <a:srgbClr val="5BC4BF">
                <a:alpha val="51765"/>
              </a:srgbClr>
            </a:solidFill>
            <a:ln>
              <a:noFill/>
            </a:ln>
          </p:spPr>
          <p:txBody>
            <a:bodyPr/>
            <a:lstStyle/>
            <a:p>
              <a:pPr algn="r" rtl="1"/>
              <a:endParaRPr lang="ar-SA">
                <a:cs typeface="PT Bold Heading" panose="02010400000000000000" pitchFamily="2" charset="-78"/>
              </a:endParaRPr>
            </a:p>
          </p:txBody>
        </p:sp>
        <p:sp>
          <p:nvSpPr>
            <p:cNvPr id="18" name="Freeform 18"/>
            <p:cNvSpPr/>
            <p:nvPr/>
          </p:nvSpPr>
          <p:spPr>
            <a:xfrm>
              <a:off x="5454939" y="4530289"/>
              <a:ext cx="11457119" cy="3407061"/>
            </a:xfrm>
            <a:custGeom>
              <a:avLst/>
              <a:gdLst/>
              <a:ahLst/>
              <a:cxnLst/>
              <a:rect l="l" t="t" r="r" b="b"/>
              <a:pathLst>
                <a:path w="3051184" h="814779">
                  <a:moveTo>
                    <a:pt x="6082" y="0"/>
                  </a:moveTo>
                  <a:lnTo>
                    <a:pt x="3045102" y="0"/>
                  </a:lnTo>
                  <a:cubicBezTo>
                    <a:pt x="3046715" y="0"/>
                    <a:pt x="3048262" y="641"/>
                    <a:pt x="3049402" y="1781"/>
                  </a:cubicBezTo>
                  <a:cubicBezTo>
                    <a:pt x="3050543" y="2922"/>
                    <a:pt x="3051184" y="4469"/>
                    <a:pt x="3051184" y="6082"/>
                  </a:cubicBezTo>
                  <a:lnTo>
                    <a:pt x="3051184" y="808697"/>
                  </a:lnTo>
                  <a:cubicBezTo>
                    <a:pt x="3051184" y="810310"/>
                    <a:pt x="3050543" y="811857"/>
                    <a:pt x="3049402" y="812998"/>
                  </a:cubicBezTo>
                  <a:cubicBezTo>
                    <a:pt x="3048262" y="814138"/>
                    <a:pt x="3046715" y="814779"/>
                    <a:pt x="3045102" y="814779"/>
                  </a:cubicBezTo>
                  <a:lnTo>
                    <a:pt x="6082" y="814779"/>
                  </a:lnTo>
                  <a:cubicBezTo>
                    <a:pt x="4469" y="814779"/>
                    <a:pt x="2922" y="814138"/>
                    <a:pt x="1781" y="812998"/>
                  </a:cubicBezTo>
                  <a:cubicBezTo>
                    <a:pt x="641" y="811857"/>
                    <a:pt x="0" y="810310"/>
                    <a:pt x="0" y="808697"/>
                  </a:cubicBezTo>
                  <a:lnTo>
                    <a:pt x="0" y="6082"/>
                  </a:lnTo>
                  <a:cubicBezTo>
                    <a:pt x="0" y="4469"/>
                    <a:pt x="641" y="2922"/>
                    <a:pt x="1781" y="1781"/>
                  </a:cubicBezTo>
                  <a:cubicBezTo>
                    <a:pt x="2922" y="641"/>
                    <a:pt x="4469" y="0"/>
                    <a:pt x="6082" y="0"/>
                  </a:cubicBezTo>
                  <a:close/>
                </a:path>
              </a:pathLst>
            </a:custGeom>
            <a:solidFill>
              <a:srgbClr val="FFFFFF"/>
            </a:solidFill>
            <a:ln w="38100">
              <a:solidFill>
                <a:srgbClr val="A1CCD1"/>
              </a:solidFill>
            </a:ln>
          </p:spPr>
          <p:txBody>
            <a:bodyPr/>
            <a:lstStyle/>
            <a:p>
              <a:pPr algn="r" rtl="1"/>
              <a:endParaRPr lang="ar-SA" dirty="0">
                <a:cs typeface="PT Bold Heading" panose="02010400000000000000" pitchFamily="2" charset="-78"/>
              </a:endParaRPr>
            </a:p>
          </p:txBody>
        </p:sp>
      </p:grpSp>
      <p:grpSp>
        <p:nvGrpSpPr>
          <p:cNvPr id="11" name="مجموعة 10">
            <a:extLst>
              <a:ext uri="{FF2B5EF4-FFF2-40B4-BE49-F238E27FC236}">
                <a16:creationId xmlns:a16="http://schemas.microsoft.com/office/drawing/2014/main" id="{51E23CDC-E0CB-378A-E1CB-2DE33CF0407A}"/>
              </a:ext>
            </a:extLst>
          </p:cNvPr>
          <p:cNvGrpSpPr/>
          <p:nvPr/>
        </p:nvGrpSpPr>
        <p:grpSpPr>
          <a:xfrm>
            <a:off x="5829972" y="5019019"/>
            <a:ext cx="10619296" cy="1193275"/>
            <a:chOff x="5829972" y="5019019"/>
            <a:chExt cx="10619296" cy="1193275"/>
          </a:xfrm>
        </p:grpSpPr>
        <p:sp>
          <p:nvSpPr>
            <p:cNvPr id="20" name="Freeform 20"/>
            <p:cNvSpPr/>
            <p:nvPr/>
          </p:nvSpPr>
          <p:spPr>
            <a:xfrm>
              <a:off x="15991553" y="5119333"/>
              <a:ext cx="457715" cy="457715"/>
            </a:xfrm>
            <a:custGeom>
              <a:avLst/>
              <a:gdLst/>
              <a:ahLst/>
              <a:cxnLst/>
              <a:rect l="l" t="t" r="r" b="b"/>
              <a:pathLst>
                <a:path w="610287" h="610287">
                  <a:moveTo>
                    <a:pt x="0" y="0"/>
                  </a:moveTo>
                  <a:lnTo>
                    <a:pt x="610287" y="0"/>
                  </a:lnTo>
                  <a:lnTo>
                    <a:pt x="610287" y="610288"/>
                  </a:lnTo>
                  <a:lnTo>
                    <a:pt x="0" y="610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cs typeface="PT Bold Heading" panose="02010400000000000000" pitchFamily="2" charset="-78"/>
              </a:endParaRPr>
            </a:p>
          </p:txBody>
        </p:sp>
        <p:sp>
          <p:nvSpPr>
            <p:cNvPr id="21" name="TextBox 21"/>
            <p:cNvSpPr txBox="1"/>
            <p:nvPr/>
          </p:nvSpPr>
          <p:spPr>
            <a:xfrm>
              <a:off x="5829972" y="5019019"/>
              <a:ext cx="9949962" cy="1193275"/>
            </a:xfrm>
            <a:prstGeom prst="rect">
              <a:avLst/>
            </a:prstGeom>
          </p:spPr>
          <p:txBody>
            <a:bodyPr wrap="square" lIns="0" tIns="0" rIns="0" bIns="0" rtlCol="0" anchor="t">
              <a:spAutoFit/>
            </a:bodyPr>
            <a:lstStyle/>
            <a:p>
              <a:pPr algn="r" rtl="1">
                <a:lnSpc>
                  <a:spcPts val="4705"/>
                </a:lnSpc>
              </a:pPr>
              <a:r>
                <a:rPr lang="en-US" sz="3600" dirty="0" err="1">
                  <a:solidFill>
                    <a:srgbClr val="28443B"/>
                  </a:solidFill>
                  <a:cs typeface="PT Bold Heading" panose="02010400000000000000" pitchFamily="2" charset="-78"/>
                </a:rPr>
                <a:t>ماذا</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تتوقعون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أن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يعرفه</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عنكم</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الآخرون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من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خلال</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الإنترنت</a:t>
              </a:r>
              <a:r>
                <a:rPr lang="en-US" sz="3600" dirty="0">
                  <a:solidFill>
                    <a:srgbClr val="28443B"/>
                  </a:solidFill>
                  <a:cs typeface="PT Bold Heading" panose="02010400000000000000" pitchFamily="2" charset="-78"/>
                </a:rPr>
                <a:t> ؟ </a:t>
              </a:r>
              <a:r>
                <a:rPr lang="en-US" sz="3600" dirty="0" err="1">
                  <a:solidFill>
                    <a:srgbClr val="28443B"/>
                  </a:solidFill>
                  <a:cs typeface="PT Bold Heading" panose="02010400000000000000" pitchFamily="2" charset="-78"/>
                </a:rPr>
                <a:t>ماذا</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يُطلق</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على</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هذه</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المعلومات</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المنتشرة</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عن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الأشخاص</a:t>
              </a:r>
              <a:r>
                <a:rPr lang="en-US" sz="3600" dirty="0">
                  <a:solidFill>
                    <a:srgbClr val="28443B"/>
                  </a:solidFill>
                  <a:cs typeface="PT Bold Heading" panose="02010400000000000000" pitchFamily="2" charset="-78"/>
                </a:rPr>
                <a:t>؟ </a:t>
              </a:r>
            </a:p>
          </p:txBody>
        </p:sp>
      </p:grpSp>
      <p:grpSp>
        <p:nvGrpSpPr>
          <p:cNvPr id="22" name="Group 22"/>
          <p:cNvGrpSpPr/>
          <p:nvPr/>
        </p:nvGrpSpPr>
        <p:grpSpPr>
          <a:xfrm>
            <a:off x="9103868" y="2774417"/>
            <a:ext cx="9184132" cy="1275274"/>
            <a:chOff x="0" y="0"/>
            <a:chExt cx="12245509" cy="1700365"/>
          </a:xfrm>
        </p:grpSpPr>
        <p:sp>
          <p:nvSpPr>
            <p:cNvPr id="24" name="Freeform 24"/>
            <p:cNvSpPr/>
            <p:nvPr/>
          </p:nvSpPr>
          <p:spPr>
            <a:xfrm>
              <a:off x="0" y="0"/>
              <a:ext cx="4747621" cy="1700365"/>
            </a:xfrm>
            <a:custGeom>
              <a:avLst/>
              <a:gdLst/>
              <a:ahLst/>
              <a:cxnLst/>
              <a:rect l="l" t="t" r="r" b="b"/>
              <a:pathLst>
                <a:path w="850899" h="304750">
                  <a:moveTo>
                    <a:pt x="0" y="0"/>
                  </a:moveTo>
                  <a:lnTo>
                    <a:pt x="850899" y="0"/>
                  </a:lnTo>
                  <a:lnTo>
                    <a:pt x="850899" y="304750"/>
                  </a:lnTo>
                  <a:lnTo>
                    <a:pt x="0" y="304750"/>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26" name="TextBox 26"/>
            <p:cNvSpPr txBox="1"/>
            <p:nvPr/>
          </p:nvSpPr>
          <p:spPr>
            <a:xfrm>
              <a:off x="159994" y="398783"/>
              <a:ext cx="4174647" cy="975979"/>
            </a:xfrm>
            <a:prstGeom prst="rect">
              <a:avLst/>
            </a:prstGeom>
          </p:spPr>
          <p:txBody>
            <a:bodyPr lIns="0" tIns="0" rIns="0" bIns="0" rtlCol="0" anchor="t">
              <a:spAutoFit/>
            </a:bodyPr>
            <a:lstStyle/>
            <a:p>
              <a:pPr algn="ctr" rtl="1">
                <a:lnSpc>
                  <a:spcPts val="5294"/>
                </a:lnSpc>
              </a:pPr>
              <a:r>
                <a:rPr lang="en-US" sz="5402">
                  <a:solidFill>
                    <a:srgbClr val="FEFEFE"/>
                  </a:solidFill>
                  <a:cs typeface="PT Bold Heading" panose="02010400000000000000" pitchFamily="2" charset="-78"/>
                </a:rPr>
                <a:t>تمهيد</a:t>
              </a:r>
            </a:p>
          </p:txBody>
        </p:sp>
        <p:sp>
          <p:nvSpPr>
            <p:cNvPr id="28" name="Freeform 28"/>
            <p:cNvSpPr/>
            <p:nvPr/>
          </p:nvSpPr>
          <p:spPr>
            <a:xfrm>
              <a:off x="8947137" y="0"/>
              <a:ext cx="3298372" cy="1700365"/>
            </a:xfrm>
            <a:custGeom>
              <a:avLst/>
              <a:gdLst/>
              <a:ahLst/>
              <a:cxnLst/>
              <a:rect l="l" t="t" r="r" b="b"/>
              <a:pathLst>
                <a:path w="571994" h="294872">
                  <a:moveTo>
                    <a:pt x="0" y="0"/>
                  </a:moveTo>
                  <a:lnTo>
                    <a:pt x="571994" y="0"/>
                  </a:lnTo>
                  <a:lnTo>
                    <a:pt x="571994" y="294872"/>
                  </a:lnTo>
                  <a:lnTo>
                    <a:pt x="0" y="294872"/>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31" name="Freeform 31"/>
            <p:cNvSpPr/>
            <p:nvPr/>
          </p:nvSpPr>
          <p:spPr>
            <a:xfrm>
              <a:off x="4497529" y="0"/>
              <a:ext cx="5449977" cy="1700365"/>
            </a:xfrm>
            <a:custGeom>
              <a:avLst/>
              <a:gdLst/>
              <a:ahLst/>
              <a:cxnLst/>
              <a:rect l="l" t="t" r="r" b="b"/>
              <a:pathLst>
                <a:path w="976780" h="304750">
                  <a:moveTo>
                    <a:pt x="0" y="0"/>
                  </a:moveTo>
                  <a:lnTo>
                    <a:pt x="976780" y="0"/>
                  </a:lnTo>
                  <a:lnTo>
                    <a:pt x="976780" y="304750"/>
                  </a:lnTo>
                  <a:lnTo>
                    <a:pt x="0" y="304750"/>
                  </a:lnTo>
                  <a:close/>
                </a:path>
              </a:pathLst>
            </a:custGeom>
            <a:solidFill>
              <a:srgbClr val="FFFFFF"/>
            </a:solidFill>
            <a:ln w="38100">
              <a:solidFill>
                <a:srgbClr val="2EB086"/>
              </a:solidFill>
            </a:ln>
          </p:spPr>
          <p:txBody>
            <a:bodyPr/>
            <a:lstStyle/>
            <a:p>
              <a:pPr algn="r" rtl="1"/>
              <a:endParaRPr lang="ar-SA">
                <a:cs typeface="PT Bold Heading" panose="02010400000000000000" pitchFamily="2" charset="-78"/>
              </a:endParaRPr>
            </a:p>
          </p:txBody>
        </p:sp>
        <p:sp>
          <p:nvSpPr>
            <p:cNvPr id="33" name="TextBox 33"/>
            <p:cNvSpPr txBox="1"/>
            <p:nvPr/>
          </p:nvSpPr>
          <p:spPr>
            <a:xfrm>
              <a:off x="4369630" y="343143"/>
              <a:ext cx="5389776" cy="975979"/>
            </a:xfrm>
            <a:prstGeom prst="rect">
              <a:avLst/>
            </a:prstGeom>
          </p:spPr>
          <p:txBody>
            <a:bodyPr lIns="0" tIns="0" rIns="0" bIns="0" rtlCol="0" anchor="t">
              <a:spAutoFit/>
            </a:bodyPr>
            <a:lstStyle/>
            <a:p>
              <a:pPr algn="ctr" rtl="1">
                <a:lnSpc>
                  <a:spcPts val="5294"/>
                </a:lnSpc>
              </a:pPr>
              <a:r>
                <a:rPr lang="en-US" sz="5402">
                  <a:solidFill>
                    <a:srgbClr val="000000"/>
                  </a:solidFill>
                  <a:cs typeface="PT Bold Heading" panose="02010400000000000000" pitchFamily="2" charset="-78"/>
                </a:rPr>
                <a:t>تقويم قبلي </a:t>
              </a:r>
            </a:p>
          </p:txBody>
        </p:sp>
      </p:grpSp>
      <p:grpSp>
        <p:nvGrpSpPr>
          <p:cNvPr id="8" name="مجموعة 7">
            <a:extLst>
              <a:ext uri="{FF2B5EF4-FFF2-40B4-BE49-F238E27FC236}">
                <a16:creationId xmlns:a16="http://schemas.microsoft.com/office/drawing/2014/main" id="{AEA5DF68-3963-E8BA-676C-C287E7DC7B3D}"/>
              </a:ext>
            </a:extLst>
          </p:cNvPr>
          <p:cNvGrpSpPr/>
          <p:nvPr/>
        </p:nvGrpSpPr>
        <p:grpSpPr>
          <a:xfrm>
            <a:off x="5864259" y="6563719"/>
            <a:ext cx="10619296" cy="991297"/>
            <a:chOff x="5864259" y="6563719"/>
            <a:chExt cx="10619296" cy="991297"/>
          </a:xfrm>
        </p:grpSpPr>
        <p:sp>
          <p:nvSpPr>
            <p:cNvPr id="3" name="Freeform 20">
              <a:extLst>
                <a:ext uri="{FF2B5EF4-FFF2-40B4-BE49-F238E27FC236}">
                  <a16:creationId xmlns:a16="http://schemas.microsoft.com/office/drawing/2014/main" id="{DE965D60-A352-963C-131A-68F4D739F319}"/>
                </a:ext>
              </a:extLst>
            </p:cNvPr>
            <p:cNvSpPr/>
            <p:nvPr/>
          </p:nvSpPr>
          <p:spPr>
            <a:xfrm>
              <a:off x="16025840" y="6591300"/>
              <a:ext cx="457715" cy="457715"/>
            </a:xfrm>
            <a:custGeom>
              <a:avLst/>
              <a:gdLst/>
              <a:ahLst/>
              <a:cxnLst/>
              <a:rect l="l" t="t" r="r" b="b"/>
              <a:pathLst>
                <a:path w="610287" h="610287">
                  <a:moveTo>
                    <a:pt x="0" y="0"/>
                  </a:moveTo>
                  <a:lnTo>
                    <a:pt x="610287" y="0"/>
                  </a:lnTo>
                  <a:lnTo>
                    <a:pt x="610287" y="610288"/>
                  </a:lnTo>
                  <a:lnTo>
                    <a:pt x="0" y="6102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cs typeface="PT Bold Heading" panose="02010400000000000000" pitchFamily="2" charset="-78"/>
              </a:endParaRPr>
            </a:p>
          </p:txBody>
        </p:sp>
        <p:sp>
          <p:nvSpPr>
            <p:cNvPr id="5" name="TextBox 21">
              <a:extLst>
                <a:ext uri="{FF2B5EF4-FFF2-40B4-BE49-F238E27FC236}">
                  <a16:creationId xmlns:a16="http://schemas.microsoft.com/office/drawing/2014/main" id="{AFAFC9A8-C8F8-5331-E71D-0D79046A642E}"/>
                </a:ext>
              </a:extLst>
            </p:cNvPr>
            <p:cNvSpPr txBox="1"/>
            <p:nvPr/>
          </p:nvSpPr>
          <p:spPr>
            <a:xfrm>
              <a:off x="5864259" y="6563719"/>
              <a:ext cx="9949962" cy="991297"/>
            </a:xfrm>
            <a:prstGeom prst="rect">
              <a:avLst/>
            </a:prstGeom>
          </p:spPr>
          <p:txBody>
            <a:bodyPr wrap="square" lIns="0" tIns="0" rIns="0" bIns="0" rtlCol="0" anchor="t">
              <a:spAutoFit/>
            </a:bodyPr>
            <a:lstStyle/>
            <a:p>
              <a:pPr algn="r" rtl="1">
                <a:lnSpc>
                  <a:spcPts val="3831"/>
                </a:lnSpc>
              </a:pPr>
              <a:r>
                <a:rPr lang="en-US" sz="3600" dirty="0" err="1">
                  <a:solidFill>
                    <a:srgbClr val="28443B"/>
                  </a:solidFill>
                  <a:cs typeface="PT Bold Heading" panose="02010400000000000000" pitchFamily="2" charset="-78"/>
                </a:rPr>
                <a:t>هل</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يمكن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تكوين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فكرة</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كاملة</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عن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شخص</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من</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خلال</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تغريداته</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في</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تويتر</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ومنشوراته</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في</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سناب</a:t>
              </a:r>
              <a:r>
                <a:rPr lang="en-US" sz="3600" dirty="0">
                  <a:solidFill>
                    <a:srgbClr val="28443B"/>
                  </a:solidFill>
                  <a:cs typeface="PT Bold Heading" panose="02010400000000000000" pitchFamily="2" charset="-78"/>
                </a:rPr>
                <a:t> </a:t>
              </a:r>
              <a:r>
                <a:rPr lang="en-US" sz="3600" dirty="0" err="1">
                  <a:solidFill>
                    <a:srgbClr val="28443B"/>
                  </a:solidFill>
                  <a:cs typeface="PT Bold Heading" panose="02010400000000000000" pitchFamily="2" charset="-78"/>
                </a:rPr>
                <a:t>شات</a:t>
              </a:r>
              <a:r>
                <a:rPr lang="en-US" sz="3600" dirty="0">
                  <a:solidFill>
                    <a:srgbClr val="28443B"/>
                  </a:solidFill>
                  <a:cs typeface="PT Bold Heading" panose="02010400000000000000" pitchFamily="2" charset="-78"/>
                </a:rPr>
                <a:t> ؟</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1">
            <a:extLst>
              <a:ext uri="{FF2B5EF4-FFF2-40B4-BE49-F238E27FC236}">
                <a16:creationId xmlns:a16="http://schemas.microsoft.com/office/drawing/2014/main" id="{5A3F4BF8-9EC2-D0F3-122B-3C22D7C2E8FF}"/>
              </a:ext>
            </a:extLst>
          </p:cNvPr>
          <p:cNvGrpSpPr/>
          <p:nvPr/>
        </p:nvGrpSpPr>
        <p:grpSpPr>
          <a:xfrm>
            <a:off x="1217178" y="2283265"/>
            <a:ext cx="16173420" cy="6289235"/>
            <a:chOff x="1348477" y="2312029"/>
            <a:chExt cx="16173420" cy="6289235"/>
          </a:xfrm>
        </p:grpSpPr>
        <p:grpSp>
          <p:nvGrpSpPr>
            <p:cNvPr id="3" name="Group 2">
              <a:extLst>
                <a:ext uri="{FF2B5EF4-FFF2-40B4-BE49-F238E27FC236}">
                  <a16:creationId xmlns:a16="http://schemas.microsoft.com/office/drawing/2014/main" id="{E675F4C3-F965-BA7D-A09A-BF457C298C53}"/>
                </a:ext>
              </a:extLst>
            </p:cNvPr>
            <p:cNvGrpSpPr/>
            <p:nvPr/>
          </p:nvGrpSpPr>
          <p:grpSpPr>
            <a:xfrm>
              <a:off x="1348477" y="3909557"/>
              <a:ext cx="16173420" cy="4691707"/>
              <a:chOff x="426369" y="-1"/>
              <a:chExt cx="21564560" cy="6255609"/>
            </a:xfrm>
          </p:grpSpPr>
          <p:sp>
            <p:nvSpPr>
              <p:cNvPr id="25" name="Freeform 4">
                <a:extLst>
                  <a:ext uri="{FF2B5EF4-FFF2-40B4-BE49-F238E27FC236}">
                    <a16:creationId xmlns:a16="http://schemas.microsoft.com/office/drawing/2014/main" id="{62D490B1-320B-6553-557E-F0F9FD5644AE}"/>
                  </a:ext>
                </a:extLst>
              </p:cNvPr>
              <p:cNvSpPr/>
              <p:nvPr/>
            </p:nvSpPr>
            <p:spPr>
              <a:xfrm>
                <a:off x="3117875" y="-1"/>
                <a:ext cx="18873054" cy="6255609"/>
              </a:xfrm>
              <a:custGeom>
                <a:avLst/>
                <a:gdLst/>
                <a:ahLst/>
                <a:cxnLst/>
                <a:rect l="l" t="t" r="r" b="b"/>
                <a:pathLst>
                  <a:path w="3344970" h="961940">
                    <a:moveTo>
                      <a:pt x="0" y="0"/>
                    </a:moveTo>
                    <a:lnTo>
                      <a:pt x="3344970" y="0"/>
                    </a:lnTo>
                    <a:lnTo>
                      <a:pt x="3344970" y="961940"/>
                    </a:lnTo>
                    <a:lnTo>
                      <a:pt x="0" y="961940"/>
                    </a:lnTo>
                    <a:close/>
                  </a:path>
                </a:pathLst>
              </a:custGeom>
              <a:solidFill>
                <a:srgbClr val="959E9D"/>
              </a:solidFill>
              <a:ln>
                <a:noFill/>
              </a:ln>
            </p:spPr>
            <p:txBody>
              <a:bodyPr/>
              <a:lstStyle/>
              <a:p>
                <a:pPr algn="r" rtl="1"/>
                <a:endParaRPr lang="ar-SA" dirty="0">
                  <a:cs typeface="PT Bold Heading" panose="02010400000000000000" pitchFamily="2" charset="-78"/>
                </a:endParaRPr>
              </a:p>
            </p:txBody>
          </p:sp>
          <p:sp>
            <p:nvSpPr>
              <p:cNvPr id="26" name="Freeform 7">
                <a:extLst>
                  <a:ext uri="{FF2B5EF4-FFF2-40B4-BE49-F238E27FC236}">
                    <a16:creationId xmlns:a16="http://schemas.microsoft.com/office/drawing/2014/main" id="{05AB3E52-B092-00CE-A5FB-E2E06A129E74}"/>
                  </a:ext>
                </a:extLst>
              </p:cNvPr>
              <p:cNvSpPr/>
              <p:nvPr/>
            </p:nvSpPr>
            <p:spPr>
              <a:xfrm>
                <a:off x="3117875" y="7814"/>
                <a:ext cx="18547274" cy="5905173"/>
              </a:xfrm>
              <a:custGeom>
                <a:avLst/>
                <a:gdLst/>
                <a:ahLst/>
                <a:cxnLst/>
                <a:rect l="l" t="t" r="r" b="b"/>
                <a:pathLst>
                  <a:path w="3786387" h="1038511">
                    <a:moveTo>
                      <a:pt x="5009" y="0"/>
                    </a:moveTo>
                    <a:lnTo>
                      <a:pt x="3781378" y="0"/>
                    </a:lnTo>
                    <a:cubicBezTo>
                      <a:pt x="3784145" y="0"/>
                      <a:pt x="3786387" y="2243"/>
                      <a:pt x="3786387" y="5009"/>
                    </a:cubicBezTo>
                    <a:lnTo>
                      <a:pt x="3786387" y="1033502"/>
                    </a:lnTo>
                    <a:cubicBezTo>
                      <a:pt x="3786387" y="1036268"/>
                      <a:pt x="3784145" y="1038511"/>
                      <a:pt x="3781378" y="1038511"/>
                    </a:cubicBezTo>
                    <a:lnTo>
                      <a:pt x="5009" y="1038511"/>
                    </a:lnTo>
                    <a:cubicBezTo>
                      <a:pt x="2243" y="1038511"/>
                      <a:pt x="0" y="1036268"/>
                      <a:pt x="0" y="1033502"/>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27" name="Freeform 10">
                <a:extLst>
                  <a:ext uri="{FF2B5EF4-FFF2-40B4-BE49-F238E27FC236}">
                    <a16:creationId xmlns:a16="http://schemas.microsoft.com/office/drawing/2014/main" id="{E3DDD453-EB44-FBF1-42D7-7BB450E56DB6}"/>
                  </a:ext>
                </a:extLst>
              </p:cNvPr>
              <p:cNvSpPr/>
              <p:nvPr/>
            </p:nvSpPr>
            <p:spPr>
              <a:xfrm>
                <a:off x="426369" y="211772"/>
                <a:ext cx="5472725" cy="549725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grpSp>
        <p:grpSp>
          <p:nvGrpSpPr>
            <p:cNvPr id="4" name="Group 13">
              <a:extLst>
                <a:ext uri="{FF2B5EF4-FFF2-40B4-BE49-F238E27FC236}">
                  <a16:creationId xmlns:a16="http://schemas.microsoft.com/office/drawing/2014/main" id="{920E4623-4F35-151C-FA97-D130FB19C277}"/>
                </a:ext>
              </a:extLst>
            </p:cNvPr>
            <p:cNvGrpSpPr/>
            <p:nvPr/>
          </p:nvGrpSpPr>
          <p:grpSpPr>
            <a:xfrm>
              <a:off x="6018873" y="4365622"/>
              <a:ext cx="11101701" cy="1068948"/>
              <a:chOff x="0" y="0"/>
              <a:chExt cx="14802268" cy="1425263"/>
            </a:xfrm>
          </p:grpSpPr>
          <p:sp>
            <p:nvSpPr>
              <p:cNvPr id="22" name="Freeform 15">
                <a:extLst>
                  <a:ext uri="{FF2B5EF4-FFF2-40B4-BE49-F238E27FC236}">
                    <a16:creationId xmlns:a16="http://schemas.microsoft.com/office/drawing/2014/main" id="{EAEA73D4-6C3B-5B21-7464-C36A054F2562}"/>
                  </a:ext>
                </a:extLst>
              </p:cNvPr>
              <p:cNvSpPr/>
              <p:nvPr/>
            </p:nvSpPr>
            <p:spPr>
              <a:xfrm>
                <a:off x="0" y="0"/>
                <a:ext cx="14229756" cy="142526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3" name="Freeform 18">
                <a:extLst>
                  <a:ext uri="{FF2B5EF4-FFF2-40B4-BE49-F238E27FC236}">
                    <a16:creationId xmlns:a16="http://schemas.microsoft.com/office/drawing/2014/main" id="{1FCC6CB9-88B6-40EC-F421-72783AC1EB05}"/>
                  </a:ext>
                </a:extLst>
              </p:cNvPr>
              <p:cNvSpPr/>
              <p:nvPr/>
            </p:nvSpPr>
            <p:spPr>
              <a:xfrm>
                <a:off x="14205179" y="0"/>
                <a:ext cx="597089" cy="1425263"/>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TextBox 20">
                <a:extLst>
                  <a:ext uri="{FF2B5EF4-FFF2-40B4-BE49-F238E27FC236}">
                    <a16:creationId xmlns:a16="http://schemas.microsoft.com/office/drawing/2014/main" id="{6C0AF9F2-63A8-CD18-A742-451F55CB24CE}"/>
                  </a:ext>
                </a:extLst>
              </p:cNvPr>
              <p:cNvSpPr txBox="1"/>
              <p:nvPr/>
            </p:nvSpPr>
            <p:spPr>
              <a:xfrm>
                <a:off x="582701" y="386634"/>
                <a:ext cx="13296703" cy="688889"/>
              </a:xfrm>
              <a:prstGeom prst="rect">
                <a:avLst/>
              </a:prstGeom>
            </p:spPr>
            <p:txBody>
              <a:bodyPr wrap="square" lIns="0" tIns="0" rIns="0" bIns="0" rtlCol="0" anchor="t">
                <a:spAutoFit/>
              </a:bodyPr>
              <a:lstStyle/>
              <a:p>
                <a:pPr algn="r" rtl="1">
                  <a:lnSpc>
                    <a:spcPts val="3661"/>
                  </a:lnSpc>
                </a:pPr>
                <a:r>
                  <a:rPr lang="ar-SA" sz="3736" dirty="0">
                    <a:solidFill>
                      <a:srgbClr val="FFFFFF"/>
                    </a:solidFill>
                    <a:cs typeface="PT Bold Heading" panose="02010400000000000000" pitchFamily="2" charset="-78"/>
                  </a:rPr>
                  <a:t>من خلال مشاهدة الفيديو</a:t>
                </a:r>
                <a:r>
                  <a:rPr lang="en-US" sz="3736" dirty="0">
                    <a:solidFill>
                      <a:srgbClr val="FFFFFF"/>
                    </a:solidFill>
                    <a:cs typeface="PT Bold Heading" panose="02010400000000000000" pitchFamily="2" charset="-78"/>
                  </a:rPr>
                  <a:t> </a:t>
                </a:r>
                <a:r>
                  <a:rPr lang="en-US" sz="4000" dirty="0">
                    <a:solidFill>
                      <a:srgbClr val="FFFFFF"/>
                    </a:solidFill>
                    <a:cs typeface="PT Bold Heading" panose="02010400000000000000" pitchFamily="2" charset="-78"/>
                  </a:rPr>
                  <a:t> </a:t>
                </a:r>
                <a:r>
                  <a:rPr lang="en-US" sz="3736" dirty="0" err="1">
                    <a:solidFill>
                      <a:srgbClr val="FFFFFF"/>
                    </a:solidFill>
                    <a:cs typeface="PT Bold Heading" panose="02010400000000000000" pitchFamily="2" charset="-78"/>
                  </a:rPr>
                  <a:t>اجيبي</a:t>
                </a:r>
                <a:r>
                  <a:rPr lang="en-US" sz="3736" dirty="0">
                    <a:solidFill>
                      <a:srgbClr val="FFFFFF"/>
                    </a:solidFill>
                    <a:cs typeface="PT Bold Heading" panose="02010400000000000000" pitchFamily="2" charset="-78"/>
                  </a:rPr>
                  <a:t> </a:t>
                </a:r>
                <a:r>
                  <a:rPr lang="en-US" sz="3736" dirty="0" err="1">
                    <a:solidFill>
                      <a:srgbClr val="FFFFFF"/>
                    </a:solidFill>
                    <a:cs typeface="PT Bold Heading" panose="02010400000000000000" pitchFamily="2" charset="-78"/>
                  </a:rPr>
                  <a:t>عن</a:t>
                </a:r>
                <a:r>
                  <a:rPr lang="en-US" sz="3736" dirty="0">
                    <a:solidFill>
                      <a:srgbClr val="FFFFFF"/>
                    </a:solidFill>
                    <a:cs typeface="PT Bold Heading" panose="02010400000000000000" pitchFamily="2" charset="-78"/>
                  </a:rPr>
                  <a:t> </a:t>
                </a:r>
                <a:r>
                  <a:rPr lang="ar-SA" sz="3736" dirty="0">
                    <a:solidFill>
                      <a:srgbClr val="FFFFFF"/>
                    </a:solidFill>
                    <a:cs typeface="PT Bold Heading" panose="02010400000000000000" pitchFamily="2" charset="-78"/>
                  </a:rPr>
                  <a:t>الأسئلة </a:t>
                </a:r>
                <a:r>
                  <a:rPr lang="en-US" sz="3736" dirty="0" err="1">
                    <a:solidFill>
                      <a:srgbClr val="FFFFFF"/>
                    </a:solidFill>
                    <a:cs typeface="PT Bold Heading" panose="02010400000000000000" pitchFamily="2" charset="-78"/>
                  </a:rPr>
                  <a:t>التالي</a:t>
                </a:r>
                <a:r>
                  <a:rPr lang="en-US" sz="3736" dirty="0">
                    <a:solidFill>
                      <a:srgbClr val="FFFFFF"/>
                    </a:solidFill>
                    <a:cs typeface="PT Bold Heading" panose="02010400000000000000" pitchFamily="2" charset="-78"/>
                  </a:rPr>
                  <a:t> :</a:t>
                </a:r>
              </a:p>
            </p:txBody>
          </p:sp>
        </p:grpSp>
        <p:sp>
          <p:nvSpPr>
            <p:cNvPr id="5" name="Freeform 22">
              <a:extLst>
                <a:ext uri="{FF2B5EF4-FFF2-40B4-BE49-F238E27FC236}">
                  <a16:creationId xmlns:a16="http://schemas.microsoft.com/office/drawing/2014/main" id="{D6BBCB0A-BBA2-59A6-AA19-7E3F7F7C1DEA}"/>
                </a:ext>
              </a:extLst>
            </p:cNvPr>
            <p:cNvSpPr/>
            <p:nvPr/>
          </p:nvSpPr>
          <p:spPr>
            <a:xfrm>
              <a:off x="6018873" y="2312029"/>
              <a:ext cx="11503024" cy="1597528"/>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6" name="Freeform 25">
              <a:extLst>
                <a:ext uri="{FF2B5EF4-FFF2-40B4-BE49-F238E27FC236}">
                  <a16:creationId xmlns:a16="http://schemas.microsoft.com/office/drawing/2014/main" id="{2F8F0562-7255-2B19-0C83-AFA15D6083DF}"/>
                </a:ext>
              </a:extLst>
            </p:cNvPr>
            <p:cNvSpPr/>
            <p:nvPr/>
          </p:nvSpPr>
          <p:spPr>
            <a:xfrm>
              <a:off x="14849617"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7" name="Freeform 28">
              <a:extLst>
                <a:ext uri="{FF2B5EF4-FFF2-40B4-BE49-F238E27FC236}">
                  <a16:creationId xmlns:a16="http://schemas.microsoft.com/office/drawing/2014/main" id="{B0CED885-8950-562B-7119-193F1A04802E}"/>
                </a:ext>
              </a:extLst>
            </p:cNvPr>
            <p:cNvSpPr/>
            <p:nvPr/>
          </p:nvSpPr>
          <p:spPr>
            <a:xfrm>
              <a:off x="14849617"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8" name="Freeform 31">
              <a:extLst>
                <a:ext uri="{FF2B5EF4-FFF2-40B4-BE49-F238E27FC236}">
                  <a16:creationId xmlns:a16="http://schemas.microsoft.com/office/drawing/2014/main" id="{22CA9BA5-50C8-CAED-9C9F-712D1CC74C03}"/>
                </a:ext>
              </a:extLst>
            </p:cNvPr>
            <p:cNvSpPr/>
            <p:nvPr/>
          </p:nvSpPr>
          <p:spPr>
            <a:xfrm>
              <a:off x="13277553" y="2471737"/>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9" name="Freeform 34">
              <a:extLst>
                <a:ext uri="{FF2B5EF4-FFF2-40B4-BE49-F238E27FC236}">
                  <a16:creationId xmlns:a16="http://schemas.microsoft.com/office/drawing/2014/main" id="{FBA33350-BB24-F46A-E1D5-033C6A29A8CD}"/>
                </a:ext>
              </a:extLst>
            </p:cNvPr>
            <p:cNvSpPr/>
            <p:nvPr/>
          </p:nvSpPr>
          <p:spPr>
            <a:xfrm>
              <a:off x="13277553" y="3138634"/>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0" name="TextBox 36">
              <a:extLst>
                <a:ext uri="{FF2B5EF4-FFF2-40B4-BE49-F238E27FC236}">
                  <a16:creationId xmlns:a16="http://schemas.microsoft.com/office/drawing/2014/main" id="{B2DD10CB-CD1B-B6BC-09D4-0CE7E2E12AC5}"/>
                </a:ext>
              </a:extLst>
            </p:cNvPr>
            <p:cNvSpPr txBox="1"/>
            <p:nvPr/>
          </p:nvSpPr>
          <p:spPr>
            <a:xfrm>
              <a:off x="14789516" y="25642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رقم</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1" name="TextBox 37">
              <a:extLst>
                <a:ext uri="{FF2B5EF4-FFF2-40B4-BE49-F238E27FC236}">
                  <a16:creationId xmlns:a16="http://schemas.microsoft.com/office/drawing/2014/main" id="{A952472B-1AD0-82F1-D5C7-884D867D5D03}"/>
                </a:ext>
              </a:extLst>
            </p:cNvPr>
            <p:cNvSpPr txBox="1"/>
            <p:nvPr/>
          </p:nvSpPr>
          <p:spPr>
            <a:xfrm>
              <a:off x="14832717"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مدة</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2" name="TextBox 38">
              <a:extLst>
                <a:ext uri="{FF2B5EF4-FFF2-40B4-BE49-F238E27FC236}">
                  <a16:creationId xmlns:a16="http://schemas.microsoft.com/office/drawing/2014/main" id="{F05D3232-B778-017E-AF53-34C099A5C3A6}"/>
                </a:ext>
              </a:extLst>
            </p:cNvPr>
            <p:cNvSpPr txBox="1"/>
            <p:nvPr/>
          </p:nvSpPr>
          <p:spPr>
            <a:xfrm>
              <a:off x="13629209" y="2580398"/>
              <a:ext cx="882808" cy="445699"/>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1</a:t>
              </a:r>
            </a:p>
          </p:txBody>
        </p:sp>
        <p:sp>
          <p:nvSpPr>
            <p:cNvPr id="13" name="TextBox 39">
              <a:extLst>
                <a:ext uri="{FF2B5EF4-FFF2-40B4-BE49-F238E27FC236}">
                  <a16:creationId xmlns:a16="http://schemas.microsoft.com/office/drawing/2014/main" id="{71D7FED4-94E5-E8A5-C898-91D246F5C104}"/>
                </a:ext>
              </a:extLst>
            </p:cNvPr>
            <p:cNvSpPr txBox="1"/>
            <p:nvPr/>
          </p:nvSpPr>
          <p:spPr>
            <a:xfrm>
              <a:off x="13583373" y="3205309"/>
              <a:ext cx="882808" cy="444481"/>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3</a:t>
              </a:r>
              <a:r>
                <a:rPr lang="ar-SA" sz="3336" dirty="0">
                  <a:solidFill>
                    <a:srgbClr val="000000"/>
                  </a:solidFill>
                  <a:latin typeface="PT Bold Heading"/>
                  <a:cs typeface="PT Bold Heading" panose="02010400000000000000" pitchFamily="2" charset="-78"/>
                </a:rPr>
                <a:t> </a:t>
              </a:r>
              <a:r>
                <a:rPr lang="en-US" sz="3336" dirty="0">
                  <a:solidFill>
                    <a:srgbClr val="000000"/>
                  </a:solidFill>
                  <a:latin typeface="PT Bold Heading"/>
                  <a:cs typeface="PT Bold Heading" panose="02010400000000000000" pitchFamily="2" charset="-78"/>
                </a:rPr>
                <a:t>د</a:t>
              </a:r>
            </a:p>
          </p:txBody>
        </p:sp>
        <p:sp>
          <p:nvSpPr>
            <p:cNvPr id="14" name="Freeform 41">
              <a:extLst>
                <a:ext uri="{FF2B5EF4-FFF2-40B4-BE49-F238E27FC236}">
                  <a16:creationId xmlns:a16="http://schemas.microsoft.com/office/drawing/2014/main" id="{322C26DF-A7CF-70E5-16DA-BA3E9CFFC39A}"/>
                </a:ext>
              </a:extLst>
            </p:cNvPr>
            <p:cNvSpPr/>
            <p:nvPr/>
          </p:nvSpPr>
          <p:spPr>
            <a:xfrm>
              <a:off x="10410174"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5" name="Freeform 44">
              <a:extLst>
                <a:ext uri="{FF2B5EF4-FFF2-40B4-BE49-F238E27FC236}">
                  <a16:creationId xmlns:a16="http://schemas.microsoft.com/office/drawing/2014/main" id="{B7C0A108-C44C-D270-1385-3C891859D84F}"/>
                </a:ext>
              </a:extLst>
            </p:cNvPr>
            <p:cNvSpPr/>
            <p:nvPr/>
          </p:nvSpPr>
          <p:spPr>
            <a:xfrm>
              <a:off x="10410174"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6" name="Freeform 47">
              <a:extLst>
                <a:ext uri="{FF2B5EF4-FFF2-40B4-BE49-F238E27FC236}">
                  <a16:creationId xmlns:a16="http://schemas.microsoft.com/office/drawing/2014/main" id="{3308A33A-B006-F85F-E6C5-335AC0597C1E}"/>
                </a:ext>
              </a:extLst>
            </p:cNvPr>
            <p:cNvSpPr/>
            <p:nvPr/>
          </p:nvSpPr>
          <p:spPr>
            <a:xfrm>
              <a:off x="6249654" y="247173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7" name="Freeform 50">
              <a:extLst>
                <a:ext uri="{FF2B5EF4-FFF2-40B4-BE49-F238E27FC236}">
                  <a16:creationId xmlns:a16="http://schemas.microsoft.com/office/drawing/2014/main" id="{90AD527D-F89A-FCE3-0EB5-CD36D37179E4}"/>
                </a:ext>
              </a:extLst>
            </p:cNvPr>
            <p:cNvSpPr/>
            <p:nvPr/>
          </p:nvSpPr>
          <p:spPr>
            <a:xfrm>
              <a:off x="6249654" y="3138634"/>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8" name="TextBox 52">
              <a:extLst>
                <a:ext uri="{FF2B5EF4-FFF2-40B4-BE49-F238E27FC236}">
                  <a16:creationId xmlns:a16="http://schemas.microsoft.com/office/drawing/2014/main" id="{FDAE3534-D553-2A94-77F0-2BBC54091026}"/>
                </a:ext>
              </a:extLst>
            </p:cNvPr>
            <p:cNvSpPr txBox="1"/>
            <p:nvPr/>
          </p:nvSpPr>
          <p:spPr>
            <a:xfrm>
              <a:off x="10351744" y="2591131"/>
              <a:ext cx="2495904" cy="418769"/>
            </a:xfrm>
            <a:prstGeom prst="rect">
              <a:avLst/>
            </a:prstGeom>
          </p:spPr>
          <p:txBody>
            <a:bodyPr lIns="0" tIns="0" rIns="0" bIns="0" rtlCol="0" anchor="t">
              <a:spAutoFit/>
            </a:bodyPr>
            <a:lstStyle/>
            <a:p>
              <a:pPr algn="ctr" rtl="1">
                <a:lnSpc>
                  <a:spcPts val="3073"/>
                </a:lnSpc>
              </a:pPr>
              <a:r>
                <a:rPr lang="en-US" sz="3136" dirty="0" err="1">
                  <a:solidFill>
                    <a:srgbClr val="17383E"/>
                  </a:solidFill>
                  <a:cs typeface="PT Bold Heading" panose="02010400000000000000" pitchFamily="2" charset="-78"/>
                </a:rPr>
                <a:t>موضوع</a:t>
              </a:r>
              <a:r>
                <a:rPr lang="en-US" sz="3136" dirty="0">
                  <a:solidFill>
                    <a:srgbClr val="17383E"/>
                  </a:solidFill>
                  <a:cs typeface="PT Bold Heading" panose="02010400000000000000" pitchFamily="2" charset="-78"/>
                </a:rPr>
                <a:t> </a:t>
              </a:r>
              <a:r>
                <a:rPr lang="en-US" sz="3136" dirty="0" err="1">
                  <a:solidFill>
                    <a:srgbClr val="17383E"/>
                  </a:solidFill>
                  <a:cs typeface="PT Bold Heading" panose="02010400000000000000" pitchFamily="2" charset="-78"/>
                </a:rPr>
                <a:t>النشاط</a:t>
              </a:r>
              <a:endParaRPr lang="en-US" sz="3136" dirty="0">
                <a:solidFill>
                  <a:srgbClr val="17383E"/>
                </a:solidFill>
                <a:cs typeface="PT Bold Heading" panose="02010400000000000000" pitchFamily="2" charset="-78"/>
              </a:endParaRPr>
            </a:p>
          </p:txBody>
        </p:sp>
        <p:sp>
          <p:nvSpPr>
            <p:cNvPr id="19" name="TextBox 53">
              <a:extLst>
                <a:ext uri="{FF2B5EF4-FFF2-40B4-BE49-F238E27FC236}">
                  <a16:creationId xmlns:a16="http://schemas.microsoft.com/office/drawing/2014/main" id="{34E30D81-24A2-BDB8-BA43-9603CF425C74}"/>
                </a:ext>
              </a:extLst>
            </p:cNvPr>
            <p:cNvSpPr txBox="1"/>
            <p:nvPr/>
          </p:nvSpPr>
          <p:spPr>
            <a:xfrm>
              <a:off x="10398214"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نوع</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20" name="TextBox 54">
              <a:extLst>
                <a:ext uri="{FF2B5EF4-FFF2-40B4-BE49-F238E27FC236}">
                  <a16:creationId xmlns:a16="http://schemas.microsoft.com/office/drawing/2014/main" id="{0BBEBF49-9D0D-E78C-784B-431927A498AA}"/>
                </a:ext>
              </a:extLst>
            </p:cNvPr>
            <p:cNvSpPr txBox="1"/>
            <p:nvPr/>
          </p:nvSpPr>
          <p:spPr>
            <a:xfrm>
              <a:off x="6226148" y="2591131"/>
              <a:ext cx="4184027" cy="418769"/>
            </a:xfrm>
            <a:prstGeom prst="rect">
              <a:avLst/>
            </a:prstGeom>
          </p:spPr>
          <p:txBody>
            <a:bodyPr lIns="0" tIns="0" rIns="0" bIns="0" rtlCol="0" anchor="t">
              <a:spAutoFit/>
            </a:bodyPr>
            <a:lstStyle/>
            <a:p>
              <a:pPr algn="ctr" rtl="1">
                <a:lnSpc>
                  <a:spcPts val="3073"/>
                </a:lnSpc>
              </a:pPr>
              <a:r>
                <a:rPr lang="ar-SA" sz="3136" dirty="0">
                  <a:solidFill>
                    <a:srgbClr val="17383E"/>
                  </a:solidFill>
                  <a:cs typeface="PT Bold Heading" panose="02010400000000000000" pitchFamily="2" charset="-78"/>
                </a:rPr>
                <a:t>الآمن السيبراني</a:t>
              </a:r>
              <a:endParaRPr lang="en-US" sz="3136" dirty="0">
                <a:solidFill>
                  <a:srgbClr val="17383E"/>
                </a:solidFill>
                <a:cs typeface="PT Bold Heading" panose="02010400000000000000" pitchFamily="2" charset="-78"/>
              </a:endParaRPr>
            </a:p>
          </p:txBody>
        </p:sp>
        <p:sp>
          <p:nvSpPr>
            <p:cNvPr id="21" name="TextBox 55">
              <a:extLst>
                <a:ext uri="{FF2B5EF4-FFF2-40B4-BE49-F238E27FC236}">
                  <a16:creationId xmlns:a16="http://schemas.microsoft.com/office/drawing/2014/main" id="{06B61B46-0E3C-8112-616F-00C80EA04E51}"/>
                </a:ext>
              </a:extLst>
            </p:cNvPr>
            <p:cNvSpPr txBox="1"/>
            <p:nvPr/>
          </p:nvSpPr>
          <p:spPr>
            <a:xfrm>
              <a:off x="6574232" y="3250001"/>
              <a:ext cx="3452507"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جماعي</a:t>
              </a:r>
              <a:endParaRPr lang="en-US" sz="3336" dirty="0">
                <a:solidFill>
                  <a:srgbClr val="17383E"/>
                </a:solidFill>
                <a:cs typeface="PT Bold Heading" panose="02010400000000000000" pitchFamily="2" charset="-78"/>
              </a:endParaRPr>
            </a:p>
          </p:txBody>
        </p:sp>
      </p:grpSp>
      <p:sp>
        <p:nvSpPr>
          <p:cNvPr id="34" name="TextBox 28">
            <a:extLst>
              <a:ext uri="{FF2B5EF4-FFF2-40B4-BE49-F238E27FC236}">
                <a16:creationId xmlns:a16="http://schemas.microsoft.com/office/drawing/2014/main" id="{0695264A-F818-A8C7-8749-3D222E16F3DC}"/>
              </a:ext>
            </a:extLst>
          </p:cNvPr>
          <p:cNvSpPr txBox="1"/>
          <p:nvPr/>
        </p:nvSpPr>
        <p:spPr>
          <a:xfrm>
            <a:off x="6634346" y="6952165"/>
            <a:ext cx="9839369" cy="1051570"/>
          </a:xfrm>
          <a:prstGeom prst="rect">
            <a:avLst/>
          </a:prstGeom>
        </p:spPr>
        <p:txBody>
          <a:bodyPr lIns="0" tIns="0" rIns="0" bIns="0" rtlCol="0" anchor="t">
            <a:spAutoFit/>
          </a:bodyPr>
          <a:lstStyle/>
          <a:p>
            <a:pPr marL="457200" indent="-457200" algn="r" rtl="1">
              <a:lnSpc>
                <a:spcPts val="4100"/>
              </a:lnSpc>
              <a:buFont typeface="Arial" panose="020B0604020202020204" pitchFamily="34" charset="0"/>
              <a:buChar char="•"/>
            </a:pPr>
            <a:r>
              <a:rPr lang="en-US" sz="3361" dirty="0">
                <a:solidFill>
                  <a:srgbClr val="28443B"/>
                </a:solidFill>
                <a:latin typeface="PT Bold Heading"/>
                <a:cs typeface="PT Bold Heading" panose="02010400000000000000" pitchFamily="2" charset="-78"/>
              </a:rPr>
              <a:t> </a:t>
            </a:r>
            <a:r>
              <a:rPr lang="en-US" sz="3361" dirty="0" err="1">
                <a:solidFill>
                  <a:srgbClr val="28443B"/>
                </a:solidFill>
                <a:cs typeface="PT Bold Heading" panose="02010400000000000000" pitchFamily="2" charset="-78"/>
              </a:rPr>
              <a:t>كيف</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يمكن</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حماية</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المعلومات</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الشخصية</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من</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السرقة</a:t>
            </a:r>
            <a:r>
              <a:rPr lang="en-US" sz="3361" dirty="0">
                <a:solidFill>
                  <a:srgbClr val="28443B"/>
                </a:solidFill>
                <a:cs typeface="PT Bold Heading" panose="02010400000000000000" pitchFamily="2" charset="-78"/>
              </a:rPr>
              <a:t> </a:t>
            </a:r>
            <a:r>
              <a:rPr lang="en-US" sz="3361" dirty="0" err="1">
                <a:solidFill>
                  <a:srgbClr val="28443B"/>
                </a:solidFill>
                <a:cs typeface="PT Bold Heading" panose="02010400000000000000" pitchFamily="2" charset="-78"/>
              </a:rPr>
              <a:t>والاستخدام</a:t>
            </a:r>
            <a:r>
              <a:rPr lang="en-US" sz="3361" dirty="0">
                <a:solidFill>
                  <a:srgbClr val="28443B"/>
                </a:solidFill>
                <a:cs typeface="PT Bold Heading" panose="02010400000000000000" pitchFamily="2" charset="-78"/>
              </a:rPr>
              <a:t> غير </a:t>
            </a:r>
            <a:r>
              <a:rPr lang="en-US" sz="3361" dirty="0" err="1">
                <a:solidFill>
                  <a:srgbClr val="28443B"/>
                </a:solidFill>
                <a:cs typeface="PT Bold Heading" panose="02010400000000000000" pitchFamily="2" charset="-78"/>
              </a:rPr>
              <a:t>المسؤول</a:t>
            </a:r>
            <a:r>
              <a:rPr lang="en-US" sz="3361" dirty="0">
                <a:solidFill>
                  <a:srgbClr val="28443B"/>
                </a:solidFill>
                <a:cs typeface="PT Bold Heading" panose="02010400000000000000" pitchFamily="2" charset="-78"/>
              </a:rPr>
              <a:t> ؟</a:t>
            </a:r>
          </a:p>
        </p:txBody>
      </p:sp>
      <p:sp>
        <p:nvSpPr>
          <p:cNvPr id="39" name="TextBox 28">
            <a:extLst>
              <a:ext uri="{FF2B5EF4-FFF2-40B4-BE49-F238E27FC236}">
                <a16:creationId xmlns:a16="http://schemas.microsoft.com/office/drawing/2014/main" id="{E8DCF078-0BEC-CCCE-2854-978FDFBFB0AF}"/>
              </a:ext>
            </a:extLst>
          </p:cNvPr>
          <p:cNvSpPr txBox="1"/>
          <p:nvPr/>
        </p:nvSpPr>
        <p:spPr>
          <a:xfrm>
            <a:off x="6619478" y="5717636"/>
            <a:ext cx="9839369" cy="984885"/>
          </a:xfrm>
          <a:prstGeom prst="rect">
            <a:avLst/>
          </a:prstGeom>
        </p:spPr>
        <p:txBody>
          <a:bodyPr lIns="0" tIns="0" rIns="0" bIns="0" rtlCol="0" anchor="t">
            <a:spAutoFit/>
          </a:bodyPr>
          <a:lstStyle/>
          <a:p>
            <a:pPr marL="457200" indent="-457200" algn="r" rtl="1">
              <a:buFont typeface="Arial" panose="020B0604020202020204" pitchFamily="34" charset="0"/>
              <a:buChar char="•"/>
            </a:pPr>
            <a:r>
              <a:rPr lang="ar-SA" sz="3200" dirty="0" err="1">
                <a:solidFill>
                  <a:srgbClr val="28443B"/>
                </a:solidFill>
                <a:latin typeface="PT Bold Heading"/>
                <a:cs typeface="PT Bold Heading" panose="02010400000000000000" pitchFamily="2" charset="-78"/>
              </a:rPr>
              <a:t>ماهو</a:t>
            </a:r>
            <a:r>
              <a:rPr lang="ar-SA" sz="3200" dirty="0">
                <a:solidFill>
                  <a:srgbClr val="28443B"/>
                </a:solidFill>
                <a:latin typeface="PT Bold Heading"/>
                <a:cs typeface="PT Bold Heading" panose="02010400000000000000" pitchFamily="2" charset="-78"/>
              </a:rPr>
              <a:t> المهم </a:t>
            </a:r>
            <a:r>
              <a:rPr lang="en-US" sz="3200" dirty="0" err="1">
                <a:solidFill>
                  <a:srgbClr val="28443B"/>
                </a:solidFill>
                <a:latin typeface="PT Bold Heading"/>
                <a:cs typeface="PT Bold Heading" panose="02010400000000000000" pitchFamily="2" charset="-78"/>
              </a:rPr>
              <a:t>في</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دورة</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حياة</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النظام</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لضمان</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كون</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النظام</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آمنًا</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ومحميا</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من</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التهديدات</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المختلفة</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طوال</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دورة</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حياة</a:t>
            </a:r>
            <a:r>
              <a:rPr lang="en-US" sz="3200" dirty="0">
                <a:solidFill>
                  <a:srgbClr val="28443B"/>
                </a:solidFill>
                <a:latin typeface="PT Bold Heading"/>
                <a:cs typeface="PT Bold Heading" panose="02010400000000000000" pitchFamily="2" charset="-78"/>
              </a:rPr>
              <a:t> </a:t>
            </a:r>
            <a:r>
              <a:rPr lang="en-US" sz="3200" dirty="0" err="1">
                <a:solidFill>
                  <a:srgbClr val="28443B"/>
                </a:solidFill>
                <a:latin typeface="PT Bold Heading"/>
                <a:cs typeface="PT Bold Heading" panose="02010400000000000000" pitchFamily="2" charset="-78"/>
              </a:rPr>
              <a:t>النظام</a:t>
            </a:r>
            <a:r>
              <a:rPr lang="en-US" sz="3200" dirty="0">
                <a:solidFill>
                  <a:srgbClr val="28443B"/>
                </a:solidFill>
                <a:latin typeface="PT Bold Heading"/>
                <a:cs typeface="PT Bold Heading" panose="02010400000000000000" pitchFamily="2" charset="-78"/>
              </a:rPr>
              <a:t>?</a:t>
            </a:r>
            <a:endParaRPr lang="ar-SA" sz="3200" dirty="0"/>
          </a:p>
        </p:txBody>
      </p:sp>
      <p:sp>
        <p:nvSpPr>
          <p:cNvPr id="29" name="Freeform 19">
            <a:extLst>
              <a:ext uri="{FF2B5EF4-FFF2-40B4-BE49-F238E27FC236}">
                <a16:creationId xmlns:a16="http://schemas.microsoft.com/office/drawing/2014/main" id="{58AA6CA7-5F91-B3E1-1730-A02940FC3606}"/>
              </a:ext>
            </a:extLst>
          </p:cNvPr>
          <p:cNvSpPr/>
          <p:nvPr/>
        </p:nvSpPr>
        <p:spPr>
          <a:xfrm>
            <a:off x="1754096" y="4210905"/>
            <a:ext cx="3030707" cy="3770709"/>
          </a:xfrm>
          <a:custGeom>
            <a:avLst/>
            <a:gdLst/>
            <a:ahLst/>
            <a:cxnLst/>
            <a:rect l="l" t="t" r="r" b="b"/>
            <a:pathLst>
              <a:path w="4040943" h="5027612">
                <a:moveTo>
                  <a:pt x="0" y="0"/>
                </a:moveTo>
                <a:lnTo>
                  <a:pt x="4040944" y="0"/>
                </a:lnTo>
                <a:lnTo>
                  <a:pt x="4040944" y="5027613"/>
                </a:lnTo>
                <a:lnTo>
                  <a:pt x="0" y="50276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dirty="0">
              <a:cs typeface="PT Bold Heading" panose="02010400000000000000" pitchFamily="2" charset="-78"/>
            </a:endParaRPr>
          </a:p>
        </p:txBody>
      </p:sp>
    </p:spTree>
    <p:extLst>
      <p:ext uri="{BB962C8B-B14F-4D97-AF65-F5344CB8AC3E}">
        <p14:creationId xmlns:p14="http://schemas.microsoft.com/office/powerpoint/2010/main" val="677255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مجموعة 5">
            <a:extLst>
              <a:ext uri="{FF2B5EF4-FFF2-40B4-BE49-F238E27FC236}">
                <a16:creationId xmlns:a16="http://schemas.microsoft.com/office/drawing/2014/main" id="{76B36263-0A62-679D-5CF3-537027BFBE26}"/>
              </a:ext>
            </a:extLst>
          </p:cNvPr>
          <p:cNvGrpSpPr/>
          <p:nvPr/>
        </p:nvGrpSpPr>
        <p:grpSpPr>
          <a:xfrm>
            <a:off x="3593149" y="420995"/>
            <a:ext cx="11101701" cy="1068948"/>
            <a:chOff x="6553200" y="1943100"/>
            <a:chExt cx="11101701" cy="1068948"/>
          </a:xfrm>
        </p:grpSpPr>
        <p:sp>
          <p:nvSpPr>
            <p:cNvPr id="2" name="Freeform 15">
              <a:extLst>
                <a:ext uri="{FF2B5EF4-FFF2-40B4-BE49-F238E27FC236}">
                  <a16:creationId xmlns:a16="http://schemas.microsoft.com/office/drawing/2014/main" id="{28F95F28-ABB2-9E2C-3886-5E1DAFD58C10}"/>
                </a:ext>
              </a:extLst>
            </p:cNvPr>
            <p:cNvSpPr/>
            <p:nvPr/>
          </p:nvSpPr>
          <p:spPr>
            <a:xfrm>
              <a:off x="6553200" y="1943100"/>
              <a:ext cx="10672317" cy="1068948"/>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3" name="Freeform 18">
              <a:extLst>
                <a:ext uri="{FF2B5EF4-FFF2-40B4-BE49-F238E27FC236}">
                  <a16:creationId xmlns:a16="http://schemas.microsoft.com/office/drawing/2014/main" id="{781ACC4C-2351-A6B9-45FF-F3F156F65721}"/>
                </a:ext>
              </a:extLst>
            </p:cNvPr>
            <p:cNvSpPr/>
            <p:nvPr/>
          </p:nvSpPr>
          <p:spPr>
            <a:xfrm>
              <a:off x="17207084" y="1943100"/>
              <a:ext cx="447817" cy="1068948"/>
            </a:xfrm>
            <a:custGeom>
              <a:avLst/>
              <a:gdLst/>
              <a:ahLst/>
              <a:cxnLst/>
              <a:rect l="l" t="t" r="r" b="b"/>
              <a:pathLst>
                <a:path w="107014" h="255445">
                  <a:moveTo>
                    <a:pt x="0" y="0"/>
                  </a:moveTo>
                  <a:lnTo>
                    <a:pt x="107014" y="0"/>
                  </a:lnTo>
                  <a:lnTo>
                    <a:pt x="107014" y="255445"/>
                  </a:lnTo>
                  <a:lnTo>
                    <a:pt x="0" y="255445"/>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4" name="TextBox 20">
              <a:extLst>
                <a:ext uri="{FF2B5EF4-FFF2-40B4-BE49-F238E27FC236}">
                  <a16:creationId xmlns:a16="http://schemas.microsoft.com/office/drawing/2014/main" id="{6B491B98-5A46-78D2-9718-183C47139455}"/>
                </a:ext>
              </a:extLst>
            </p:cNvPr>
            <p:cNvSpPr txBox="1"/>
            <p:nvPr/>
          </p:nvSpPr>
          <p:spPr>
            <a:xfrm>
              <a:off x="6805173" y="2219240"/>
              <a:ext cx="9972527" cy="516667"/>
            </a:xfrm>
            <a:prstGeom prst="rect">
              <a:avLst/>
            </a:prstGeom>
          </p:spPr>
          <p:txBody>
            <a:bodyPr wrap="square" lIns="0" tIns="0" rIns="0" bIns="0" rtlCol="0" anchor="t">
              <a:spAutoFit/>
            </a:bodyPr>
            <a:lstStyle/>
            <a:p>
              <a:pPr algn="r" rtl="1">
                <a:lnSpc>
                  <a:spcPts val="3661"/>
                </a:lnSpc>
              </a:pPr>
              <a:r>
                <a:rPr lang="ar-SA" sz="3736" dirty="0">
                  <a:solidFill>
                    <a:srgbClr val="FFFFFF"/>
                  </a:solidFill>
                  <a:cs typeface="PT Bold Heading" panose="02010400000000000000" pitchFamily="2" charset="-78"/>
                </a:rPr>
                <a:t>من خلال مشاهدة الفيديو</a:t>
              </a:r>
              <a:r>
                <a:rPr lang="en-US" sz="3736" dirty="0">
                  <a:solidFill>
                    <a:srgbClr val="FFFFFF"/>
                  </a:solidFill>
                  <a:cs typeface="PT Bold Heading" panose="02010400000000000000" pitchFamily="2" charset="-78"/>
                </a:rPr>
                <a:t> </a:t>
              </a:r>
              <a:r>
                <a:rPr lang="en-US" sz="4000" dirty="0">
                  <a:solidFill>
                    <a:srgbClr val="FFFFFF"/>
                  </a:solidFill>
                  <a:cs typeface="PT Bold Heading" panose="02010400000000000000" pitchFamily="2" charset="-78"/>
                </a:rPr>
                <a:t> </a:t>
              </a:r>
              <a:r>
                <a:rPr lang="en-US" sz="3736" dirty="0" err="1">
                  <a:solidFill>
                    <a:srgbClr val="FFFFFF"/>
                  </a:solidFill>
                  <a:cs typeface="PT Bold Heading" panose="02010400000000000000" pitchFamily="2" charset="-78"/>
                </a:rPr>
                <a:t>اجيبي</a:t>
              </a:r>
              <a:r>
                <a:rPr lang="en-US" sz="3736" dirty="0">
                  <a:solidFill>
                    <a:srgbClr val="FFFFFF"/>
                  </a:solidFill>
                  <a:cs typeface="PT Bold Heading" panose="02010400000000000000" pitchFamily="2" charset="-78"/>
                </a:rPr>
                <a:t> </a:t>
              </a:r>
              <a:r>
                <a:rPr lang="en-US" sz="3736" dirty="0" err="1">
                  <a:solidFill>
                    <a:srgbClr val="FFFFFF"/>
                  </a:solidFill>
                  <a:cs typeface="PT Bold Heading" panose="02010400000000000000" pitchFamily="2" charset="-78"/>
                </a:rPr>
                <a:t>عن</a:t>
              </a:r>
              <a:r>
                <a:rPr lang="en-US" sz="3736" dirty="0">
                  <a:solidFill>
                    <a:srgbClr val="FFFFFF"/>
                  </a:solidFill>
                  <a:cs typeface="PT Bold Heading" panose="02010400000000000000" pitchFamily="2" charset="-78"/>
                </a:rPr>
                <a:t> </a:t>
              </a:r>
              <a:r>
                <a:rPr lang="ar-SA" sz="3736" dirty="0">
                  <a:solidFill>
                    <a:srgbClr val="FFFFFF"/>
                  </a:solidFill>
                  <a:cs typeface="PT Bold Heading" panose="02010400000000000000" pitchFamily="2" charset="-78"/>
                </a:rPr>
                <a:t> الأسئلة السابقة</a:t>
              </a:r>
              <a:r>
                <a:rPr lang="en-US" sz="3736" dirty="0">
                  <a:solidFill>
                    <a:srgbClr val="FFFFFF"/>
                  </a:solidFill>
                  <a:cs typeface="PT Bold Heading" panose="02010400000000000000" pitchFamily="2" charset="-78"/>
                </a:rPr>
                <a:t> :</a:t>
              </a:r>
            </a:p>
          </p:txBody>
        </p:sp>
      </p:grpSp>
      <p:pic>
        <p:nvPicPr>
          <p:cNvPr id="5" name="ماهو الأمن السيبراني؟">
            <a:hlinkClick r:id="" action="ppaction://media"/>
            <a:extLst>
              <a:ext uri="{FF2B5EF4-FFF2-40B4-BE49-F238E27FC236}">
                <a16:creationId xmlns:a16="http://schemas.microsoft.com/office/drawing/2014/main" id="{517A178A-F871-098B-D610-A3BD603E64E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08235" y="1648218"/>
            <a:ext cx="14452702" cy="8129645"/>
          </a:xfrm>
          <a:prstGeom prst="rect">
            <a:avLst/>
          </a:prstGeom>
          <a:ln w="38100">
            <a:solidFill>
              <a:srgbClr val="2A8D87"/>
            </a:solidFill>
          </a:ln>
        </p:spPr>
      </p:pic>
    </p:spTree>
    <p:extLst>
      <p:ext uri="{BB962C8B-B14F-4D97-AF65-F5344CB8AC3E}">
        <p14:creationId xmlns:p14="http://schemas.microsoft.com/office/powerpoint/2010/main" val="34687619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fullScrn="1">
              <p:cMediaNode vol="80000">
                <p:cTn id="7" fill="hold" display="0">
                  <p:stCondLst>
                    <p:cond delay="indefinite"/>
                  </p:stCondLst>
                </p:cTn>
                <p:tgtEl>
                  <p:spTgt spid="5"/>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83931" y="3508916"/>
            <a:ext cx="13304069" cy="3994266"/>
            <a:chOff x="0" y="0"/>
            <a:chExt cx="17738759" cy="5325688"/>
          </a:xfrm>
        </p:grpSpPr>
        <p:sp>
          <p:nvSpPr>
            <p:cNvPr id="4" name="Freeform 4"/>
            <p:cNvSpPr/>
            <p:nvPr/>
          </p:nvSpPr>
          <p:spPr>
            <a:xfrm>
              <a:off x="0" y="4935673"/>
              <a:ext cx="17738759" cy="390015"/>
            </a:xfrm>
            <a:custGeom>
              <a:avLst/>
              <a:gdLst/>
              <a:ahLst/>
              <a:cxnLst/>
              <a:rect l="l" t="t" r="r" b="b"/>
              <a:pathLst>
                <a:path w="2987700" h="109977">
                  <a:moveTo>
                    <a:pt x="0" y="0"/>
                  </a:moveTo>
                  <a:lnTo>
                    <a:pt x="2987700" y="0"/>
                  </a:lnTo>
                  <a:lnTo>
                    <a:pt x="2987700" y="109977"/>
                  </a:lnTo>
                  <a:lnTo>
                    <a:pt x="0" y="109977"/>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7" name="Freeform 7"/>
            <p:cNvSpPr/>
            <p:nvPr/>
          </p:nvSpPr>
          <p:spPr>
            <a:xfrm>
              <a:off x="0" y="0"/>
              <a:ext cx="17700340" cy="4935673"/>
            </a:xfrm>
            <a:custGeom>
              <a:avLst/>
              <a:gdLst/>
              <a:ahLst/>
              <a:cxnLst/>
              <a:rect l="l" t="t" r="r" b="b"/>
              <a:pathLst>
                <a:path w="3069541" h="855930">
                  <a:moveTo>
                    <a:pt x="0" y="0"/>
                  </a:moveTo>
                  <a:lnTo>
                    <a:pt x="3069541" y="0"/>
                  </a:lnTo>
                  <a:lnTo>
                    <a:pt x="3069541" y="855930"/>
                  </a:lnTo>
                  <a:lnTo>
                    <a:pt x="0" y="855930"/>
                  </a:lnTo>
                  <a:close/>
                </a:path>
              </a:pathLst>
            </a:custGeom>
            <a:solidFill>
              <a:srgbClr val="5BC4BF">
                <a:alpha val="43922"/>
              </a:srgbClr>
            </a:solidFill>
            <a:ln>
              <a:noFill/>
            </a:ln>
          </p:spPr>
          <p:txBody>
            <a:bodyPr/>
            <a:lstStyle/>
            <a:p>
              <a:pPr algn="r" rtl="1"/>
              <a:endParaRPr lang="ar-SA">
                <a:cs typeface="PT Bold Heading" panose="02010400000000000000" pitchFamily="2" charset="-78"/>
              </a:endParaRPr>
            </a:p>
          </p:txBody>
        </p:sp>
        <p:sp>
          <p:nvSpPr>
            <p:cNvPr id="10" name="Freeform 10"/>
            <p:cNvSpPr/>
            <p:nvPr/>
          </p:nvSpPr>
          <p:spPr>
            <a:xfrm>
              <a:off x="0" y="221817"/>
              <a:ext cx="16678196" cy="4713856"/>
            </a:xfrm>
            <a:custGeom>
              <a:avLst/>
              <a:gdLst/>
              <a:ahLst/>
              <a:cxnLst/>
              <a:rect l="l" t="t" r="r" b="b"/>
              <a:pathLst>
                <a:path w="3294459" h="931132">
                  <a:moveTo>
                    <a:pt x="5570" y="0"/>
                  </a:moveTo>
                  <a:lnTo>
                    <a:pt x="3288889" y="0"/>
                  </a:lnTo>
                  <a:cubicBezTo>
                    <a:pt x="3291965" y="0"/>
                    <a:pt x="3294459" y="2494"/>
                    <a:pt x="3294459" y="5570"/>
                  </a:cubicBezTo>
                  <a:lnTo>
                    <a:pt x="3294459" y="925562"/>
                  </a:lnTo>
                  <a:cubicBezTo>
                    <a:pt x="3294459" y="928638"/>
                    <a:pt x="3291965" y="931132"/>
                    <a:pt x="3288889" y="931132"/>
                  </a:cubicBezTo>
                  <a:lnTo>
                    <a:pt x="5570" y="931132"/>
                  </a:lnTo>
                  <a:cubicBezTo>
                    <a:pt x="2494" y="931132"/>
                    <a:pt x="0" y="928638"/>
                    <a:pt x="0" y="925562"/>
                  </a:cubicBezTo>
                  <a:lnTo>
                    <a:pt x="0" y="5570"/>
                  </a:lnTo>
                  <a:cubicBezTo>
                    <a:pt x="0" y="2494"/>
                    <a:pt x="2494" y="0"/>
                    <a:pt x="5570"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2" name="TextBox 12"/>
            <p:cNvSpPr txBox="1"/>
            <p:nvPr/>
          </p:nvSpPr>
          <p:spPr>
            <a:xfrm>
              <a:off x="458941" y="742453"/>
              <a:ext cx="16314617" cy="3206605"/>
            </a:xfrm>
            <a:prstGeom prst="rect">
              <a:avLst/>
            </a:prstGeom>
          </p:spPr>
          <p:txBody>
            <a:bodyPr wrap="square" lIns="0" tIns="0" rIns="0" bIns="0" rtlCol="0" anchor="t">
              <a:spAutoFit/>
            </a:bodyPr>
            <a:lstStyle/>
            <a:p>
              <a:pPr marL="812036" lvl="1" indent="-406018" algn="r" rtl="1">
                <a:lnSpc>
                  <a:spcPts val="4739"/>
                </a:lnSpc>
                <a:buFont typeface="Arial"/>
                <a:buChar char="•"/>
              </a:pPr>
              <a:r>
                <a:rPr lang="en-US" sz="3761" dirty="0" err="1">
                  <a:solidFill>
                    <a:srgbClr val="28443B"/>
                  </a:solidFill>
                  <a:cs typeface="PT Bold Heading" panose="02010400000000000000" pitchFamily="2" charset="-78"/>
                </a:rPr>
                <a:t>يعد</a:t>
              </a:r>
              <a:r>
                <a:rPr lang="en-US" sz="3761" dirty="0">
                  <a:solidFill>
                    <a:srgbClr val="BD2424"/>
                  </a:solidFill>
                  <a:latin typeface="PT Bold Heading"/>
                  <a:cs typeface="PT Bold Heading" panose="02010400000000000000" pitchFamily="2" charset="-78"/>
                </a:rPr>
                <a:t> </a:t>
              </a:r>
              <a:r>
                <a:rPr lang="en-US" sz="3761" dirty="0" err="1">
                  <a:solidFill>
                    <a:srgbClr val="BD2424"/>
                  </a:solidFill>
                  <a:latin typeface="PT Bold Heading"/>
                  <a:cs typeface="PT Bold Heading" panose="02010400000000000000" pitchFamily="2" charset="-78"/>
                </a:rPr>
                <a:t>دمج</a:t>
              </a:r>
              <a:r>
                <a:rPr lang="en-US" sz="3761" dirty="0">
                  <a:solidFill>
                    <a:srgbClr val="BD2424"/>
                  </a:solidFill>
                  <a:latin typeface="PT Bold Heading"/>
                  <a:cs typeface="PT Bold Heading" panose="02010400000000000000" pitchFamily="2" charset="-78"/>
                </a:rPr>
                <a:t> </a:t>
              </a:r>
              <a:r>
                <a:rPr lang="en-US" sz="3761" dirty="0" err="1">
                  <a:solidFill>
                    <a:srgbClr val="BD2424"/>
                  </a:solidFill>
                  <a:latin typeface="PT Bold Heading"/>
                  <a:cs typeface="PT Bold Heading" panose="02010400000000000000" pitchFamily="2" charset="-78"/>
                </a:rPr>
                <a:t>الأمن</a:t>
              </a:r>
              <a:r>
                <a:rPr lang="en-US" sz="3761" dirty="0">
                  <a:solidFill>
                    <a:srgbClr val="BD2424"/>
                  </a:solidFill>
                  <a:latin typeface="PT Bold Heading"/>
                  <a:cs typeface="PT Bold Heading" panose="02010400000000000000" pitchFamily="2" charset="-78"/>
                </a:rPr>
                <a:t> </a:t>
              </a:r>
              <a:r>
                <a:rPr lang="en-US" sz="3761" dirty="0" err="1">
                  <a:solidFill>
                    <a:srgbClr val="BD2424"/>
                  </a:solidFill>
                  <a:latin typeface="PT Bold Heading"/>
                  <a:cs typeface="PT Bold Heading" panose="02010400000000000000" pitchFamily="2" charset="-78"/>
                </a:rPr>
                <a:t>السيبراني</a:t>
              </a:r>
              <a:r>
                <a:rPr lang="en-US" sz="3761" dirty="0">
                  <a:solidFill>
                    <a:srgbClr val="BD2424"/>
                  </a:solidFill>
                  <a:latin typeface="PT Bold Heading"/>
                  <a:cs typeface="PT Bold Heading" panose="02010400000000000000" pitchFamily="2" charset="-78"/>
                </a:rPr>
                <a:t> </a:t>
              </a:r>
              <a:r>
                <a:rPr lang="en-US" sz="3761" dirty="0">
                  <a:solidFill>
                    <a:srgbClr val="BD2424"/>
                  </a:solidFill>
                  <a:latin typeface="Abadi" panose="020B0604020104020204" pitchFamily="34" charset="0"/>
                  <a:cs typeface="PT Bold Heading" panose="02010400000000000000" pitchFamily="2" charset="-78"/>
                </a:rPr>
                <a:t>Cybersecurity</a:t>
              </a:r>
              <a:r>
                <a:rPr lang="en-US" sz="3761" dirty="0">
                  <a:solidFill>
                    <a:srgbClr val="28443B"/>
                  </a:solidFill>
                  <a:latin typeface="PT Bold Heading"/>
                  <a:cs typeface="PT Bold Heading" panose="02010400000000000000" pitchFamily="2" charset="-78"/>
                </a:rPr>
                <a:t> </a:t>
              </a:r>
              <a:r>
                <a:rPr lang="ar-SA"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في</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دورة</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حياة</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النظام</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مهما</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لضمان</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كون</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النظام</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آمنًا</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ومحميا</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من</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التهديدات</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المختلفة</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طوال</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دورة</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حياة</a:t>
              </a:r>
              <a:r>
                <a:rPr lang="en-US" sz="3761" dirty="0">
                  <a:solidFill>
                    <a:srgbClr val="28443B"/>
                  </a:solidFill>
                  <a:latin typeface="PT Bold Heading"/>
                  <a:cs typeface="PT Bold Heading" panose="02010400000000000000" pitchFamily="2" charset="-78"/>
                </a:rPr>
                <a:t> </a:t>
              </a:r>
              <a:r>
                <a:rPr lang="en-US" sz="3761" dirty="0" err="1">
                  <a:solidFill>
                    <a:srgbClr val="28443B"/>
                  </a:solidFill>
                  <a:latin typeface="PT Bold Heading"/>
                  <a:cs typeface="PT Bold Heading" panose="02010400000000000000" pitchFamily="2" charset="-78"/>
                </a:rPr>
                <a:t>النظام</a:t>
              </a:r>
              <a:r>
                <a:rPr lang="en-US" sz="3761" dirty="0">
                  <a:solidFill>
                    <a:srgbClr val="28443B"/>
                  </a:solidFill>
                  <a:latin typeface="PT Bold Heading"/>
                  <a:cs typeface="PT Bold Heading" panose="02010400000000000000" pitchFamily="2" charset="-78"/>
                </a:rPr>
                <a:t>، </a:t>
              </a:r>
              <a:r>
                <a:rPr lang="en-US" sz="3761" dirty="0" err="1">
                  <a:solidFill>
                    <a:srgbClr val="2654A4"/>
                  </a:solidFill>
                  <a:cs typeface="PT Bold Heading" panose="02010400000000000000" pitchFamily="2" charset="-78"/>
                </a:rPr>
                <a:t>ويمكن</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للمؤسسات</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ضمان</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تصميم</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أنظمتها</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وتطويرها</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وصيانتها</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مع</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أخذ</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الأمن</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السيبراني</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في</a:t>
              </a:r>
              <a:r>
                <a:rPr lang="en-US" sz="3761" dirty="0">
                  <a:solidFill>
                    <a:srgbClr val="2654A4"/>
                  </a:solidFill>
                  <a:cs typeface="PT Bold Heading" panose="02010400000000000000" pitchFamily="2" charset="-78"/>
                </a:rPr>
                <a:t> </a:t>
              </a:r>
              <a:r>
                <a:rPr lang="en-US" sz="3761" dirty="0" err="1">
                  <a:solidFill>
                    <a:srgbClr val="2654A4"/>
                  </a:solidFill>
                  <a:cs typeface="PT Bold Heading" panose="02010400000000000000" pitchFamily="2" charset="-78"/>
                </a:rPr>
                <a:t>الاعتبار</a:t>
              </a:r>
              <a:r>
                <a:rPr lang="en-US" sz="3761" dirty="0">
                  <a:solidFill>
                    <a:srgbClr val="2654A4"/>
                  </a:solidFill>
                  <a:cs typeface="PT Bold Heading" panose="02010400000000000000" pitchFamily="2" charset="-78"/>
                </a:rPr>
                <a:t> .</a:t>
              </a:r>
            </a:p>
          </p:txBody>
        </p:sp>
      </p:grpSp>
      <p:grpSp>
        <p:nvGrpSpPr>
          <p:cNvPr id="13" name="Group 13"/>
          <p:cNvGrpSpPr/>
          <p:nvPr/>
        </p:nvGrpSpPr>
        <p:grpSpPr>
          <a:xfrm>
            <a:off x="4585578" y="1028700"/>
            <a:ext cx="9116845" cy="1104756"/>
            <a:chOff x="0" y="0"/>
            <a:chExt cx="12155793" cy="1473008"/>
          </a:xfrm>
        </p:grpSpPr>
        <p:sp>
          <p:nvSpPr>
            <p:cNvPr id="15" name="Freeform 15"/>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8" name="Freeform 18"/>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20" name="TextBox 20"/>
            <p:cNvSpPr txBox="1"/>
            <p:nvPr/>
          </p:nvSpPr>
          <p:spPr>
            <a:xfrm>
              <a:off x="1352616" y="312036"/>
              <a:ext cx="9135802" cy="838505"/>
            </a:xfrm>
            <a:prstGeom prst="rect">
              <a:avLst/>
            </a:prstGeom>
          </p:spPr>
          <p:txBody>
            <a:bodyPr lIns="0" tIns="0" rIns="0" bIns="0" rtlCol="0" anchor="t">
              <a:spAutoFit/>
            </a:bodyPr>
            <a:lstStyle/>
            <a:p>
              <a:pPr algn="ctr" rtl="1">
                <a:lnSpc>
                  <a:spcPts val="4518"/>
                </a:lnSpc>
              </a:pPr>
              <a:r>
                <a:rPr lang="en-US" sz="4610" dirty="0" err="1">
                  <a:solidFill>
                    <a:srgbClr val="17383E"/>
                  </a:solidFill>
                  <a:cs typeface="PT Bold Heading" panose="02010400000000000000" pitchFamily="2" charset="-78"/>
                </a:rPr>
                <a:t>الأمن</a:t>
              </a:r>
              <a:r>
                <a:rPr lang="en-US" sz="4610" dirty="0">
                  <a:solidFill>
                    <a:srgbClr val="17383E"/>
                  </a:solidFill>
                  <a:cs typeface="PT Bold Heading" panose="02010400000000000000" pitchFamily="2" charset="-78"/>
                </a:rPr>
                <a:t> </a:t>
              </a:r>
              <a:r>
                <a:rPr lang="en-US" sz="4610" dirty="0" err="1">
                  <a:solidFill>
                    <a:srgbClr val="17383E"/>
                  </a:solidFill>
                  <a:cs typeface="PT Bold Heading" panose="02010400000000000000" pitchFamily="2" charset="-78"/>
                </a:rPr>
                <a:t>السيبراني</a:t>
              </a:r>
              <a:endParaRPr lang="en-US" sz="4610" dirty="0">
                <a:solidFill>
                  <a:srgbClr val="17383E"/>
                </a:solidFill>
                <a:cs typeface="PT Bold Heading" panose="02010400000000000000" pitchFamily="2" charset="-78"/>
              </a:endParaRPr>
            </a:p>
          </p:txBody>
        </p:sp>
      </p:grpSp>
      <p:grpSp>
        <p:nvGrpSpPr>
          <p:cNvPr id="21" name="Group 21"/>
          <p:cNvGrpSpPr/>
          <p:nvPr/>
        </p:nvGrpSpPr>
        <p:grpSpPr>
          <a:xfrm>
            <a:off x="314305" y="3229265"/>
            <a:ext cx="4242042" cy="4340592"/>
            <a:chOff x="12673" y="0"/>
            <a:chExt cx="5656056" cy="5787456"/>
          </a:xfrm>
        </p:grpSpPr>
        <p:sp>
          <p:nvSpPr>
            <p:cNvPr id="23" name="Freeform 23"/>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5" name="Freeform 25"/>
            <p:cNvSpPr/>
            <p:nvPr/>
          </p:nvSpPr>
          <p:spPr>
            <a:xfrm>
              <a:off x="378682" y="301056"/>
              <a:ext cx="4924044" cy="5486400"/>
            </a:xfrm>
            <a:custGeom>
              <a:avLst/>
              <a:gdLst/>
              <a:ahLst/>
              <a:cxnLst/>
              <a:rect l="l" t="t" r="r" b="b"/>
              <a:pathLst>
                <a:path w="4924044" h="5486400">
                  <a:moveTo>
                    <a:pt x="0" y="0"/>
                  </a:moveTo>
                  <a:lnTo>
                    <a:pt x="4924044" y="0"/>
                  </a:lnTo>
                  <a:lnTo>
                    <a:pt x="4924044" y="5486400"/>
                  </a:lnTo>
                  <a:lnTo>
                    <a:pt x="0" y="5486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par>
                                <p:cTn id="8" presetID="16" presetClass="entr" presetSubtype="2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1352616" y="312036"/>
              <a:ext cx="9135802" cy="838505"/>
            </a:xfrm>
            <a:prstGeom prst="rect">
              <a:avLst/>
            </a:prstGeom>
          </p:spPr>
          <p:txBody>
            <a:bodyPr lIns="0" tIns="0" rIns="0" bIns="0" rtlCol="0" anchor="t">
              <a:spAutoFit/>
            </a:bodyPr>
            <a:lstStyle/>
            <a:p>
              <a:pPr algn="ctr" rtl="1">
                <a:lnSpc>
                  <a:spcPts val="4518"/>
                </a:lnSpc>
              </a:pPr>
              <a:r>
                <a:rPr lang="en-US" sz="4610">
                  <a:solidFill>
                    <a:srgbClr val="17383E"/>
                  </a:solidFill>
                  <a:cs typeface="PT Bold Heading" panose="02010400000000000000" pitchFamily="2" charset="-78"/>
                </a:rPr>
                <a:t>الأمن السيبراني</a:t>
              </a:r>
            </a:p>
          </p:txBody>
        </p:sp>
      </p:grpSp>
      <p:grpSp>
        <p:nvGrpSpPr>
          <p:cNvPr id="10" name="Group 10"/>
          <p:cNvGrpSpPr/>
          <p:nvPr/>
        </p:nvGrpSpPr>
        <p:grpSpPr>
          <a:xfrm>
            <a:off x="1319559" y="3229265"/>
            <a:ext cx="4242042" cy="4261056"/>
            <a:chOff x="12673" y="0"/>
            <a:chExt cx="5656056" cy="5681408"/>
          </a:xfrm>
        </p:grpSpPr>
        <p:sp>
          <p:nvSpPr>
            <p:cNvPr id="12" name="Freeform 12"/>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648126" y="0"/>
              <a:ext cx="4385156" cy="5486400"/>
            </a:xfrm>
            <a:custGeom>
              <a:avLst/>
              <a:gdLst/>
              <a:ahLst/>
              <a:cxnLst/>
              <a:rect l="l" t="t" r="r" b="b"/>
              <a:pathLst>
                <a:path w="4385156" h="5486400">
                  <a:moveTo>
                    <a:pt x="0" y="0"/>
                  </a:moveTo>
                  <a:lnTo>
                    <a:pt x="4385156" y="0"/>
                  </a:lnTo>
                  <a:lnTo>
                    <a:pt x="4385156" y="5486400"/>
                  </a:lnTo>
                  <a:lnTo>
                    <a:pt x="0" y="5486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6213188" y="3675279"/>
            <a:ext cx="12074812" cy="3815043"/>
            <a:chOff x="0" y="0"/>
            <a:chExt cx="16099749" cy="5086724"/>
          </a:xfrm>
        </p:grpSpPr>
        <p:sp>
          <p:nvSpPr>
            <p:cNvPr id="17" name="Freeform 17"/>
            <p:cNvSpPr/>
            <p:nvPr/>
          </p:nvSpPr>
          <p:spPr>
            <a:xfrm>
              <a:off x="970471" y="151051"/>
              <a:ext cx="15129278" cy="4935673"/>
            </a:xfrm>
            <a:custGeom>
              <a:avLst/>
              <a:gdLst/>
              <a:ahLst/>
              <a:cxnLst/>
              <a:rect l="l" t="t" r="r" b="b"/>
              <a:pathLst>
                <a:path w="2623675" h="855930">
                  <a:moveTo>
                    <a:pt x="0" y="0"/>
                  </a:moveTo>
                  <a:lnTo>
                    <a:pt x="2623675" y="0"/>
                  </a:lnTo>
                  <a:lnTo>
                    <a:pt x="2623675" y="855930"/>
                  </a:lnTo>
                  <a:lnTo>
                    <a:pt x="0" y="855930"/>
                  </a:lnTo>
                  <a:close/>
                </a:path>
              </a:pathLst>
            </a:custGeom>
            <a:solidFill>
              <a:srgbClr val="E6E9EE">
                <a:alpha val="88627"/>
              </a:srgbClr>
            </a:solidFill>
            <a:ln>
              <a:noFill/>
            </a:ln>
          </p:spPr>
          <p:txBody>
            <a:bodyPr/>
            <a:lstStyle/>
            <a:p>
              <a:pPr algn="r" rtl="1"/>
              <a:endParaRPr lang="ar-SA">
                <a:cs typeface="PT Bold Heading" panose="02010400000000000000" pitchFamily="2" charset="-78"/>
              </a:endParaRPr>
            </a:p>
          </p:txBody>
        </p:sp>
        <p:sp>
          <p:nvSpPr>
            <p:cNvPr id="20" name="Freeform 20"/>
            <p:cNvSpPr/>
            <p:nvPr/>
          </p:nvSpPr>
          <p:spPr>
            <a:xfrm>
              <a:off x="0" y="0"/>
              <a:ext cx="15152638" cy="4713856"/>
            </a:xfrm>
            <a:custGeom>
              <a:avLst/>
              <a:gdLst/>
              <a:ahLst/>
              <a:cxnLst/>
              <a:rect l="l" t="t" r="r" b="b"/>
              <a:pathLst>
                <a:path w="2993114" h="931132">
                  <a:moveTo>
                    <a:pt x="6131" y="0"/>
                  </a:moveTo>
                  <a:lnTo>
                    <a:pt x="2986983" y="0"/>
                  </a:lnTo>
                  <a:cubicBezTo>
                    <a:pt x="2990369" y="0"/>
                    <a:pt x="2993114" y="2745"/>
                    <a:pt x="2993114" y="6131"/>
                  </a:cubicBezTo>
                  <a:lnTo>
                    <a:pt x="2993114" y="925001"/>
                  </a:lnTo>
                  <a:cubicBezTo>
                    <a:pt x="2993114" y="928387"/>
                    <a:pt x="2990369" y="931132"/>
                    <a:pt x="2986983" y="931132"/>
                  </a:cubicBezTo>
                  <a:lnTo>
                    <a:pt x="6131" y="931132"/>
                  </a:lnTo>
                  <a:cubicBezTo>
                    <a:pt x="2745" y="931132"/>
                    <a:pt x="0" y="928387"/>
                    <a:pt x="0" y="925001"/>
                  </a:cubicBezTo>
                  <a:lnTo>
                    <a:pt x="0" y="6131"/>
                  </a:lnTo>
                  <a:cubicBezTo>
                    <a:pt x="0" y="2745"/>
                    <a:pt x="2745" y="0"/>
                    <a:pt x="6131"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22" name="TextBox 22"/>
            <p:cNvSpPr txBox="1"/>
            <p:nvPr/>
          </p:nvSpPr>
          <p:spPr>
            <a:xfrm>
              <a:off x="260267" y="504615"/>
              <a:ext cx="14632104" cy="3457956"/>
            </a:xfrm>
            <a:prstGeom prst="rect">
              <a:avLst/>
            </a:prstGeom>
          </p:spPr>
          <p:txBody>
            <a:bodyPr lIns="0" tIns="0" rIns="0" bIns="0" rtlCol="0" anchor="t">
              <a:spAutoFit/>
            </a:bodyPr>
            <a:lstStyle/>
            <a:p>
              <a:pPr marL="790447" lvl="1" indent="-395223" algn="r" rtl="1">
                <a:lnSpc>
                  <a:spcPts val="5125"/>
                </a:lnSpc>
                <a:buFont typeface="Arial"/>
                <a:buChar char="•"/>
              </a:pPr>
              <a:r>
                <a:rPr lang="en-US" sz="3661">
                  <a:solidFill>
                    <a:srgbClr val="28443B"/>
                  </a:solidFill>
                  <a:latin typeface="PT Bold Heading"/>
                  <a:cs typeface="PT Bold Heading" panose="02010400000000000000" pitchFamily="2" charset="-78"/>
                </a:rPr>
                <a:t> </a:t>
              </a:r>
              <a:r>
                <a:rPr lang="en-US" sz="3661">
                  <a:solidFill>
                    <a:srgbClr val="28443B"/>
                  </a:solidFill>
                  <a:cs typeface="PT Bold Heading" panose="02010400000000000000" pitchFamily="2" charset="-78"/>
                </a:rPr>
                <a:t>سيساعد هذا في </a:t>
              </a:r>
              <a:r>
                <a:rPr lang="en-US" sz="3661">
                  <a:solidFill>
                    <a:srgbClr val="2A8D87"/>
                  </a:solidFill>
                  <a:cs typeface="PT Bold Heading" panose="02010400000000000000" pitchFamily="2" charset="-78"/>
                </a:rPr>
                <a:t>تقليل أخطار الهجمات الإلكترونية وحماية البيانات والأنظمة الحساسة من الوصول غير المصرح به</a:t>
              </a:r>
              <a:r>
                <a:rPr lang="en-US" sz="3661">
                  <a:solidFill>
                    <a:srgbClr val="28443B"/>
                  </a:solidFill>
                  <a:cs typeface="PT Bold Heading" panose="02010400000000000000" pitchFamily="2" charset="-78"/>
                </a:rPr>
                <a:t>، </a:t>
              </a:r>
              <a:r>
                <a:rPr lang="en-US" sz="3661">
                  <a:solidFill>
                    <a:srgbClr val="BD2424"/>
                  </a:solidFill>
                  <a:cs typeface="PT Bold Heading" panose="02010400000000000000" pitchFamily="2" charset="-78"/>
                </a:rPr>
                <a:t>وفي هذا الدرس ستتعرف على صور الأمان للإبقاء على نظام الحاسب آمنًا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جدول 6">
            <a:extLst>
              <a:ext uri="{FF2B5EF4-FFF2-40B4-BE49-F238E27FC236}">
                <a16:creationId xmlns:a16="http://schemas.microsoft.com/office/drawing/2014/main" id="{29E514CD-82B2-D381-EEF8-2E79E0CDE6C4}"/>
              </a:ext>
            </a:extLst>
          </p:cNvPr>
          <p:cNvGraphicFramePr>
            <a:graphicFrameLocks noGrp="1"/>
          </p:cNvGraphicFramePr>
          <p:nvPr>
            <p:ph idx="1"/>
            <p:extLst>
              <p:ext uri="{D42A27DB-BD31-4B8C-83A1-F6EECF244321}">
                <p14:modId xmlns:p14="http://schemas.microsoft.com/office/powerpoint/2010/main" val="2211040080"/>
              </p:ext>
            </p:extLst>
          </p:nvPr>
        </p:nvGraphicFramePr>
        <p:xfrm>
          <a:off x="457660" y="3167012"/>
          <a:ext cx="17049191" cy="6446520"/>
        </p:xfrm>
        <a:graphic>
          <a:graphicData uri="http://schemas.openxmlformats.org/drawingml/2006/table">
            <a:tbl>
              <a:tblPr rtl="1" firstRow="1" bandRow="1">
                <a:tableStyleId>{5C22544A-7EE6-4342-B048-85BDC9FD1C3A}</a:tableStyleId>
              </a:tblPr>
              <a:tblGrid>
                <a:gridCol w="520591">
                  <a:extLst>
                    <a:ext uri="{9D8B030D-6E8A-4147-A177-3AD203B41FA5}">
                      <a16:colId xmlns:a16="http://schemas.microsoft.com/office/drawing/2014/main" val="920449357"/>
                    </a:ext>
                  </a:extLst>
                </a:gridCol>
                <a:gridCol w="3415648">
                  <a:extLst>
                    <a:ext uri="{9D8B030D-6E8A-4147-A177-3AD203B41FA5}">
                      <a16:colId xmlns:a16="http://schemas.microsoft.com/office/drawing/2014/main" val="4058117668"/>
                    </a:ext>
                  </a:extLst>
                </a:gridCol>
                <a:gridCol w="2080799">
                  <a:extLst>
                    <a:ext uri="{9D8B030D-6E8A-4147-A177-3AD203B41FA5}">
                      <a16:colId xmlns:a16="http://schemas.microsoft.com/office/drawing/2014/main" val="2576588502"/>
                    </a:ext>
                  </a:extLst>
                </a:gridCol>
                <a:gridCol w="11032153">
                  <a:extLst>
                    <a:ext uri="{9D8B030D-6E8A-4147-A177-3AD203B41FA5}">
                      <a16:colId xmlns:a16="http://schemas.microsoft.com/office/drawing/2014/main" val="4154568007"/>
                    </a:ext>
                  </a:extLst>
                </a:gridCol>
              </a:tblGrid>
              <a:tr h="1051560">
                <a:tc gridSpan="2">
                  <a:txBody>
                    <a:bodyPr/>
                    <a:lstStyle/>
                    <a:p>
                      <a:pPr algn="ctr" rtl="1"/>
                      <a:r>
                        <a:rPr lang="ar-SA" sz="3000" b="1" dirty="0">
                          <a:solidFill>
                            <a:schemeClr val="accent2">
                              <a:lumMod val="75000"/>
                            </a:schemeClr>
                          </a:solidFill>
                          <a:latin typeface="Calibri (النص الأساسي)"/>
                          <a:cs typeface="Adobe Arabic" panose="02040503050201020203" pitchFamily="18" charset="-78"/>
                        </a:rPr>
                        <a:t>مراحل دورة حياة النظام</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solidFill>
                      <a:schemeClr val="accent1">
                        <a:lumMod val="20000"/>
                        <a:lumOff val="80000"/>
                      </a:schemeClr>
                    </a:solidFill>
                  </a:tcPr>
                </a:tc>
                <a:tc hMerge="1">
                  <a:txBody>
                    <a:bodyPr/>
                    <a:lstStyle/>
                    <a:p>
                      <a:pPr rtl="1"/>
                      <a:endParaRPr lang="ar-SA" dirty="0"/>
                    </a:p>
                  </a:txBody>
                  <a:tcPr/>
                </a:tc>
                <a:tc>
                  <a:txBody>
                    <a:bodyPr/>
                    <a:lstStyle/>
                    <a:p>
                      <a:pPr algn="ctr" rtl="1"/>
                      <a:r>
                        <a:rPr lang="ar-SA" sz="3000" b="1" dirty="0">
                          <a:solidFill>
                            <a:schemeClr val="accent2">
                              <a:lumMod val="75000"/>
                            </a:schemeClr>
                          </a:solidFill>
                          <a:latin typeface="Calibri (النص الأساسي)"/>
                          <a:cs typeface="Adobe Arabic" panose="02040503050201020203" pitchFamily="18" charset="-78"/>
                        </a:rPr>
                        <a:t>الرقم المناسب</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solidFill>
                      <a:schemeClr val="accent1">
                        <a:lumMod val="20000"/>
                        <a:lumOff val="80000"/>
                      </a:schemeClr>
                    </a:solidFill>
                  </a:tcPr>
                </a:tc>
                <a:tc>
                  <a:txBody>
                    <a:bodyPr/>
                    <a:lstStyle/>
                    <a:p>
                      <a:pPr algn="ctr" rtl="1"/>
                      <a:r>
                        <a:rPr lang="ar-SA" sz="3000" b="1" dirty="0">
                          <a:solidFill>
                            <a:schemeClr val="accent2">
                              <a:lumMod val="75000"/>
                            </a:schemeClr>
                          </a:solidFill>
                          <a:latin typeface="Calibri (النص الأساسي)"/>
                          <a:cs typeface="Adobe Arabic" panose="02040503050201020203" pitchFamily="18" charset="-78"/>
                        </a:rPr>
                        <a:t>كيفية دمج الأمن السيبراني </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62941460"/>
                  </a:ext>
                </a:extLst>
              </a:tr>
              <a:tr h="1051560">
                <a:tc>
                  <a:txBody>
                    <a:bodyPr/>
                    <a:lstStyle/>
                    <a:p>
                      <a:pPr rtl="1"/>
                      <a:r>
                        <a:rPr lang="ar-SA" sz="3000" b="1" kern="1200" dirty="0">
                          <a:solidFill>
                            <a:schemeClr val="tx1"/>
                          </a:solidFill>
                          <a:latin typeface="Calibri (النص الأساسي)"/>
                          <a:ea typeface="+mn-ea"/>
                          <a:cs typeface="Adobe Arabic" panose="02040503050201020203" pitchFamily="18" charset="-78"/>
                        </a:rPr>
                        <a:t>1</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التحليل (</a:t>
                      </a:r>
                      <a:r>
                        <a:rPr lang="en-US" sz="3000" b="1" kern="1200" dirty="0">
                          <a:solidFill>
                            <a:schemeClr val="tx1"/>
                          </a:solidFill>
                          <a:latin typeface="Calibri (النص الأساسي)"/>
                          <a:ea typeface="+mn-ea"/>
                          <a:cs typeface="Adobe Arabic" panose="02040503050201020203" pitchFamily="18" charset="-78"/>
                        </a:rPr>
                        <a:t>Analysis</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اتباع نظام التشفير الآمن، وإجراء مراجعات على التعليمات البرمجية لتحديد الثغرات الأمنية وإصلاحها.</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3091001077"/>
                  </a:ext>
                </a:extLst>
              </a:tr>
              <a:tr h="594360">
                <a:tc>
                  <a:txBody>
                    <a:bodyPr/>
                    <a:lstStyle/>
                    <a:p>
                      <a:pPr rtl="1"/>
                      <a:r>
                        <a:rPr lang="ar-SA" sz="3000" b="1" kern="1200" dirty="0">
                          <a:solidFill>
                            <a:schemeClr val="tx1"/>
                          </a:solidFill>
                          <a:latin typeface="Calibri (النص الأساسي)"/>
                          <a:ea typeface="+mn-ea"/>
                          <a:cs typeface="Adobe Arabic" panose="02040503050201020203" pitchFamily="18" charset="-78"/>
                        </a:rPr>
                        <a:t>2</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التصميم (</a:t>
                      </a:r>
                      <a:r>
                        <a:rPr lang="en-US" sz="3000" b="1" kern="1200" dirty="0">
                          <a:solidFill>
                            <a:schemeClr val="tx1"/>
                          </a:solidFill>
                          <a:latin typeface="Calibri (النص الأساسي)"/>
                          <a:ea typeface="+mn-ea"/>
                          <a:cs typeface="Adobe Arabic" panose="02040503050201020203" pitchFamily="18" charset="-78"/>
                        </a:rPr>
                        <a:t>Design</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تطبيق الضوابط الأمنية للتأكد من أن النظام آمن عند نشره.</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3233245669"/>
                  </a:ext>
                </a:extLst>
              </a:tr>
              <a:tr h="1051560">
                <a:tc>
                  <a:txBody>
                    <a:bodyPr/>
                    <a:lstStyle/>
                    <a:p>
                      <a:pPr rtl="1"/>
                      <a:r>
                        <a:rPr lang="ar-SA" sz="3000" b="1" kern="1200" dirty="0">
                          <a:solidFill>
                            <a:schemeClr val="tx1"/>
                          </a:solidFill>
                          <a:latin typeface="Calibri (النص الأساسي)"/>
                          <a:ea typeface="+mn-ea"/>
                          <a:cs typeface="Adobe Arabic" panose="02040503050201020203" pitchFamily="18" charset="-78"/>
                        </a:rPr>
                        <a:t>3</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التطوير (</a:t>
                      </a:r>
                      <a:r>
                        <a:rPr lang="en-US" sz="3000" b="1" kern="1200" dirty="0">
                          <a:solidFill>
                            <a:schemeClr val="tx1"/>
                          </a:solidFill>
                          <a:latin typeface="Calibri (النص الأساسي)"/>
                          <a:ea typeface="+mn-ea"/>
                          <a:cs typeface="Adobe Arabic" panose="02040503050201020203" pitchFamily="18" charset="-78"/>
                        </a:rPr>
                        <a:t>Development</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يجب تحديد وتوثيق متطلبات الأمن السيبراني، حيث سيساعد ذلك في إنشاء نظام بأقصى درجات الأمان.</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2879694012"/>
                  </a:ext>
                </a:extLst>
              </a:tr>
              <a:tr h="594360">
                <a:tc>
                  <a:txBody>
                    <a:bodyPr/>
                    <a:lstStyle/>
                    <a:p>
                      <a:pPr rtl="1"/>
                      <a:r>
                        <a:rPr lang="ar-SA" sz="3000" b="1" kern="1200" dirty="0">
                          <a:solidFill>
                            <a:schemeClr val="tx1"/>
                          </a:solidFill>
                          <a:latin typeface="Calibri (النص الأساسي)"/>
                          <a:ea typeface="+mn-ea"/>
                          <a:cs typeface="Adobe Arabic" panose="02040503050201020203" pitchFamily="18" charset="-78"/>
                        </a:rPr>
                        <a:t>4</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الاختبارات (</a:t>
                      </a:r>
                      <a:r>
                        <a:rPr lang="en-US" sz="3000" b="1" kern="1200" dirty="0">
                          <a:solidFill>
                            <a:schemeClr val="tx1"/>
                          </a:solidFill>
                          <a:latin typeface="Calibri (النص الأساسي)"/>
                          <a:ea typeface="+mn-ea"/>
                          <a:cs typeface="Adobe Arabic" panose="02040503050201020203" pitchFamily="18" charset="-78"/>
                        </a:rPr>
                        <a:t>Testing</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mn-lt"/>
                          <a:ea typeface="+mn-ea"/>
                          <a:cs typeface="Adobe Arabic" panose="02040503050201020203" pitchFamily="18" charset="-78"/>
                        </a:rPr>
                        <a:t>إجراء تقييمات أمنية منتظمة بالإضافة إلى تحديث ضوابط الأمان حسب الحاجة.</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1423522603"/>
                  </a:ext>
                </a:extLst>
              </a:tr>
              <a:tr h="1051560">
                <a:tc>
                  <a:txBody>
                    <a:bodyPr/>
                    <a:lstStyle/>
                    <a:p>
                      <a:pPr rtl="1"/>
                      <a:r>
                        <a:rPr lang="ar-SA" sz="3000" b="1" kern="1200" dirty="0">
                          <a:solidFill>
                            <a:schemeClr val="tx1"/>
                          </a:solidFill>
                          <a:latin typeface="Calibri (النص الأساسي)"/>
                          <a:ea typeface="+mn-ea"/>
                          <a:cs typeface="Adobe Arabic" panose="02040503050201020203" pitchFamily="18" charset="-78"/>
                        </a:rPr>
                        <a:t>5</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التنفيذ </a:t>
                      </a:r>
                      <a:r>
                        <a:rPr lang="en-US" sz="3000" b="1" kern="1200" dirty="0">
                          <a:solidFill>
                            <a:schemeClr val="tx1"/>
                          </a:solidFill>
                          <a:latin typeface="Calibri (النص الأساسي)"/>
                          <a:ea typeface="+mn-ea"/>
                          <a:cs typeface="Adobe Arabic" panose="02040503050201020203" pitchFamily="18" charset="-78"/>
                        </a:rPr>
                        <a:t>Implementation)</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mn-lt"/>
                          <a:ea typeface="+mn-ea"/>
                          <a:cs typeface="Adobe Arabic" panose="02040503050201020203" pitchFamily="18" charset="-78"/>
                        </a:rPr>
                        <a:t>إجراء اختبار الأمن السيبراني واختبار الاختراق ومسح الثغرات الأمنية وتقنيات اختبار الأمان الأخرى.</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4187421691"/>
                  </a:ext>
                </a:extLst>
              </a:tr>
              <a:tr h="1051560">
                <a:tc>
                  <a:txBody>
                    <a:bodyPr/>
                    <a:lstStyle/>
                    <a:p>
                      <a:pPr rtl="1"/>
                      <a:r>
                        <a:rPr lang="ar-SA" sz="3000" b="1" kern="1200" dirty="0">
                          <a:solidFill>
                            <a:schemeClr val="tx1"/>
                          </a:solidFill>
                          <a:latin typeface="Calibri (النص الأساسي)"/>
                          <a:ea typeface="+mn-ea"/>
                          <a:cs typeface="Adobe Arabic" panose="02040503050201020203" pitchFamily="18" charset="-78"/>
                        </a:rPr>
                        <a:t>6</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الصيانة (</a:t>
                      </a:r>
                      <a:r>
                        <a:rPr lang="en-US" sz="3000" b="1" kern="1200" dirty="0">
                          <a:solidFill>
                            <a:schemeClr val="tx1"/>
                          </a:solidFill>
                          <a:latin typeface="Calibri (النص الأساسي)"/>
                          <a:ea typeface="+mn-ea"/>
                          <a:cs typeface="Adobe Arabic" panose="02040503050201020203" pitchFamily="18" charset="-78"/>
                        </a:rPr>
                        <a:t>Maintenance</a:t>
                      </a:r>
                      <a:r>
                        <a:rPr lang="ar-SA" sz="3000" b="1" kern="1200" dirty="0">
                          <a:solidFill>
                            <a:schemeClr val="tx1"/>
                          </a:solidFill>
                          <a:latin typeface="Calibri (النص الأساسي)"/>
                          <a:ea typeface="+mn-ea"/>
                          <a:cs typeface="Adobe Arabic" panose="02040503050201020203" pitchFamily="18" charset="-78"/>
                        </a:rPr>
                        <a:t>)</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endParaRPr lang="ar-SA" sz="3000" b="1" kern="1200" dirty="0">
                        <a:solidFill>
                          <a:schemeClr val="tx1"/>
                        </a:solidFill>
                        <a:latin typeface="Calibri (النص الأساسي)"/>
                        <a:ea typeface="+mn-ea"/>
                        <a:cs typeface="Adobe Arabic" panose="02040503050201020203" pitchFamily="18" charset="-78"/>
                      </a:endParaRP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tc>
                  <a:txBody>
                    <a:bodyPr/>
                    <a:lstStyle/>
                    <a:p>
                      <a:pPr rtl="1"/>
                      <a:r>
                        <a:rPr lang="ar-SA" sz="3000" b="1" kern="1200" dirty="0">
                          <a:solidFill>
                            <a:schemeClr val="tx1"/>
                          </a:solidFill>
                          <a:latin typeface="Calibri (النص الأساسي)"/>
                          <a:ea typeface="+mn-ea"/>
                          <a:cs typeface="Adobe Arabic" panose="02040503050201020203" pitchFamily="18" charset="-78"/>
                        </a:rPr>
                        <a:t>التأكد من أن النظام مصمم ليكون مرناً في مواجهة الهجمات الإلكترونية.</a:t>
                      </a:r>
                    </a:p>
                  </a:txBody>
                  <a:tcPr marL="137160" marR="137160" marT="68580" marB="68580" anchor="ctr">
                    <a:lnL w="12700" cap="flat" cmpd="sng" algn="ctr">
                      <a:solidFill>
                        <a:srgbClr val="5C9933"/>
                      </a:solidFill>
                      <a:prstDash val="sysDashDot"/>
                      <a:round/>
                      <a:headEnd type="none" w="med" len="med"/>
                      <a:tailEnd type="none" w="med" len="med"/>
                    </a:lnL>
                    <a:lnR w="12700" cap="flat" cmpd="sng" algn="ctr">
                      <a:solidFill>
                        <a:srgbClr val="5C9933"/>
                      </a:solidFill>
                      <a:prstDash val="sysDashDot"/>
                      <a:round/>
                      <a:headEnd type="none" w="med" len="med"/>
                      <a:tailEnd type="none" w="med" len="med"/>
                    </a:lnR>
                    <a:lnT w="12700" cap="flat" cmpd="sng" algn="ctr">
                      <a:solidFill>
                        <a:srgbClr val="5C9933"/>
                      </a:solidFill>
                      <a:prstDash val="sysDashDot"/>
                      <a:round/>
                      <a:headEnd type="none" w="med" len="med"/>
                      <a:tailEnd type="none" w="med" len="med"/>
                    </a:lnT>
                    <a:lnB w="12700" cap="flat" cmpd="sng" algn="ctr">
                      <a:solidFill>
                        <a:srgbClr val="5C9933"/>
                      </a:solidFill>
                      <a:prstDash val="sysDashDot"/>
                      <a:round/>
                      <a:headEnd type="none" w="med" len="med"/>
                      <a:tailEnd type="none" w="med" len="med"/>
                    </a:lnB>
                    <a:noFill/>
                  </a:tcPr>
                </a:tc>
                <a:extLst>
                  <a:ext uri="{0D108BD9-81ED-4DB2-BD59-A6C34878D82A}">
                    <a16:rowId xmlns:a16="http://schemas.microsoft.com/office/drawing/2014/main" val="3961851248"/>
                  </a:ext>
                </a:extLst>
              </a:tr>
            </a:tbl>
          </a:graphicData>
        </a:graphic>
      </p:graphicFrame>
      <p:sp>
        <p:nvSpPr>
          <p:cNvPr id="2" name="مستطيل 1">
            <a:extLst>
              <a:ext uri="{FF2B5EF4-FFF2-40B4-BE49-F238E27FC236}">
                <a16:creationId xmlns:a16="http://schemas.microsoft.com/office/drawing/2014/main" id="{AF267967-5C6B-7F21-AC7A-9BA009B0D298}"/>
              </a:ext>
            </a:extLst>
          </p:cNvPr>
          <p:cNvSpPr/>
          <p:nvPr/>
        </p:nvSpPr>
        <p:spPr>
          <a:xfrm>
            <a:off x="12267839" y="6142589"/>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1</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3" name="مستطيل 2">
            <a:extLst>
              <a:ext uri="{FF2B5EF4-FFF2-40B4-BE49-F238E27FC236}">
                <a16:creationId xmlns:a16="http://schemas.microsoft.com/office/drawing/2014/main" id="{742DB50D-93E4-FFEF-1974-1BAC2B1970F2}"/>
              </a:ext>
            </a:extLst>
          </p:cNvPr>
          <p:cNvSpPr/>
          <p:nvPr/>
        </p:nvSpPr>
        <p:spPr>
          <a:xfrm>
            <a:off x="12237365" y="8920789"/>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2</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5" name="مستطيل 4">
            <a:extLst>
              <a:ext uri="{FF2B5EF4-FFF2-40B4-BE49-F238E27FC236}">
                <a16:creationId xmlns:a16="http://schemas.microsoft.com/office/drawing/2014/main" id="{7E4534CD-B1C8-3B56-CB9A-1BF3EBD63202}"/>
              </a:ext>
            </a:extLst>
          </p:cNvPr>
          <p:cNvSpPr/>
          <p:nvPr/>
        </p:nvSpPr>
        <p:spPr>
          <a:xfrm>
            <a:off x="12262235" y="4524822"/>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3</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10" name="مستطيل 9">
            <a:extLst>
              <a:ext uri="{FF2B5EF4-FFF2-40B4-BE49-F238E27FC236}">
                <a16:creationId xmlns:a16="http://schemas.microsoft.com/office/drawing/2014/main" id="{2296F152-018B-99CD-34A4-E6E708384A9D}"/>
              </a:ext>
            </a:extLst>
          </p:cNvPr>
          <p:cNvSpPr/>
          <p:nvPr/>
        </p:nvSpPr>
        <p:spPr>
          <a:xfrm>
            <a:off x="12262235" y="7836477"/>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4</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11" name="مستطيل 10">
            <a:extLst>
              <a:ext uri="{FF2B5EF4-FFF2-40B4-BE49-F238E27FC236}">
                <a16:creationId xmlns:a16="http://schemas.microsoft.com/office/drawing/2014/main" id="{5F4ABCFE-9C6A-24D0-30C7-C7C7B4B3DC97}"/>
              </a:ext>
            </a:extLst>
          </p:cNvPr>
          <p:cNvSpPr/>
          <p:nvPr/>
        </p:nvSpPr>
        <p:spPr>
          <a:xfrm>
            <a:off x="12262235" y="5352936"/>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5</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12" name="مستطيل 11">
            <a:extLst>
              <a:ext uri="{FF2B5EF4-FFF2-40B4-BE49-F238E27FC236}">
                <a16:creationId xmlns:a16="http://schemas.microsoft.com/office/drawing/2014/main" id="{923DDDFB-C6AF-0180-F298-9C765803A58A}"/>
              </a:ext>
            </a:extLst>
          </p:cNvPr>
          <p:cNvSpPr/>
          <p:nvPr/>
        </p:nvSpPr>
        <p:spPr>
          <a:xfrm>
            <a:off x="12262235" y="6970703"/>
            <a:ext cx="670968" cy="45564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latin typeface="Adobe Arabic" panose="02040503050201020203" pitchFamily="18" charset="-78"/>
                <a:cs typeface="Adobe Arabic" panose="02040503050201020203" pitchFamily="18" charset="-78"/>
              </a:rPr>
              <a:t>6</a:t>
            </a:r>
            <a:endParaRPr lang="ar-SA" sz="4800" dirty="0">
              <a:solidFill>
                <a:schemeClr val="tx1"/>
              </a:solidFill>
              <a:latin typeface="Adobe Arabic" panose="02040503050201020203" pitchFamily="18" charset="-78"/>
              <a:cs typeface="Adobe Arabic" panose="02040503050201020203" pitchFamily="18" charset="-78"/>
            </a:endParaRPr>
          </a:p>
        </p:txBody>
      </p:sp>
      <p:sp>
        <p:nvSpPr>
          <p:cNvPr id="9" name="مربع نص 8">
            <a:extLst>
              <a:ext uri="{FF2B5EF4-FFF2-40B4-BE49-F238E27FC236}">
                <a16:creationId xmlns:a16="http://schemas.microsoft.com/office/drawing/2014/main" id="{C438F38D-2E2B-622A-0BB7-DB56932A11AB}"/>
              </a:ext>
            </a:extLst>
          </p:cNvPr>
          <p:cNvSpPr txBox="1"/>
          <p:nvPr/>
        </p:nvSpPr>
        <p:spPr>
          <a:xfrm>
            <a:off x="781149" y="2290864"/>
            <a:ext cx="15859026" cy="954107"/>
          </a:xfrm>
          <a:prstGeom prst="rect">
            <a:avLst/>
          </a:prstGeom>
          <a:noFill/>
        </p:spPr>
        <p:txBody>
          <a:bodyPr wrap="square">
            <a:spAutoFit/>
          </a:bodyPr>
          <a:lstStyle/>
          <a:p>
            <a:pPr algn="r" rtl="1"/>
            <a:r>
              <a:rPr lang="ar-SA" sz="2800" dirty="0">
                <a:solidFill>
                  <a:srgbClr val="28443B"/>
                </a:solidFill>
                <a:cs typeface="PT Bold Heading" panose="02010400000000000000" pitchFamily="2" charset="-78"/>
              </a:rPr>
              <a:t>طالبتي العزيزة .. اقرئي المادة العلمية في الكتاب صفحة ٩٢ , ثم صلي بين كل مرحلة من مراحل دورة حياة النظام وكيفية دمج الأمن السيبراني بها</a:t>
            </a:r>
            <a:endParaRPr lang="en-US" sz="2800" dirty="0">
              <a:solidFill>
                <a:srgbClr val="28443B"/>
              </a:solidFill>
              <a:cs typeface="PT Bold Heading" panose="02010400000000000000" pitchFamily="2" charset="-78"/>
            </a:endParaRPr>
          </a:p>
        </p:txBody>
      </p:sp>
      <p:grpSp>
        <p:nvGrpSpPr>
          <p:cNvPr id="41" name="مجموعة 40">
            <a:extLst>
              <a:ext uri="{FF2B5EF4-FFF2-40B4-BE49-F238E27FC236}">
                <a16:creationId xmlns:a16="http://schemas.microsoft.com/office/drawing/2014/main" id="{9483AB80-99BE-7A6D-41B4-74B920D3C133}"/>
              </a:ext>
            </a:extLst>
          </p:cNvPr>
          <p:cNvGrpSpPr/>
          <p:nvPr/>
        </p:nvGrpSpPr>
        <p:grpSpPr>
          <a:xfrm>
            <a:off x="2051753" y="210905"/>
            <a:ext cx="14428927" cy="1962718"/>
            <a:chOff x="4931845" y="2312028"/>
            <a:chExt cx="12650199" cy="3317602"/>
          </a:xfrm>
        </p:grpSpPr>
        <p:grpSp>
          <p:nvGrpSpPr>
            <p:cNvPr id="42" name="Group 13">
              <a:extLst>
                <a:ext uri="{FF2B5EF4-FFF2-40B4-BE49-F238E27FC236}">
                  <a16:creationId xmlns:a16="http://schemas.microsoft.com/office/drawing/2014/main" id="{8814EC59-54E3-20AA-9A19-2A9F24A87042}"/>
                </a:ext>
              </a:extLst>
            </p:cNvPr>
            <p:cNvGrpSpPr/>
            <p:nvPr/>
          </p:nvGrpSpPr>
          <p:grpSpPr>
            <a:xfrm>
              <a:off x="6018873" y="4668545"/>
              <a:ext cx="11116663" cy="961085"/>
              <a:chOff x="0" y="403898"/>
              <a:chExt cx="14822217" cy="1281446"/>
            </a:xfrm>
          </p:grpSpPr>
          <p:sp>
            <p:nvSpPr>
              <p:cNvPr id="60" name="Freeform 15">
                <a:extLst>
                  <a:ext uri="{FF2B5EF4-FFF2-40B4-BE49-F238E27FC236}">
                    <a16:creationId xmlns:a16="http://schemas.microsoft.com/office/drawing/2014/main" id="{0523475D-2C3C-42C2-4BE6-F066FF7C27D6}"/>
                  </a:ext>
                </a:extLst>
              </p:cNvPr>
              <p:cNvSpPr/>
              <p:nvPr/>
            </p:nvSpPr>
            <p:spPr>
              <a:xfrm>
                <a:off x="0" y="473030"/>
                <a:ext cx="14229757" cy="1212314"/>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61" name="Freeform 18">
                <a:extLst>
                  <a:ext uri="{FF2B5EF4-FFF2-40B4-BE49-F238E27FC236}">
                    <a16:creationId xmlns:a16="http://schemas.microsoft.com/office/drawing/2014/main" id="{0868D066-B6F1-D111-3311-BB5B697CC461}"/>
                  </a:ext>
                </a:extLst>
              </p:cNvPr>
              <p:cNvSpPr/>
              <p:nvPr/>
            </p:nvSpPr>
            <p:spPr>
              <a:xfrm>
                <a:off x="14225128" y="403898"/>
                <a:ext cx="597089" cy="1224872"/>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62" name="TextBox 20">
                <a:extLst>
                  <a:ext uri="{FF2B5EF4-FFF2-40B4-BE49-F238E27FC236}">
                    <a16:creationId xmlns:a16="http://schemas.microsoft.com/office/drawing/2014/main" id="{D80A93E2-8453-714B-A58D-98E2FEFCFEE7}"/>
                  </a:ext>
                </a:extLst>
              </p:cNvPr>
              <p:cNvSpPr txBox="1"/>
              <p:nvPr/>
            </p:nvSpPr>
            <p:spPr>
              <a:xfrm>
                <a:off x="5950477" y="516434"/>
                <a:ext cx="7200703" cy="1079493"/>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 فكر – زاوج - شارك</a:t>
                </a:r>
                <a:endParaRPr lang="en-US" sz="3200" dirty="0">
                  <a:solidFill>
                    <a:srgbClr val="FFFFFF"/>
                  </a:solidFill>
                  <a:cs typeface="PT Bold Heading" panose="02010400000000000000" pitchFamily="2" charset="-78"/>
                </a:endParaRPr>
              </a:p>
            </p:txBody>
          </p:sp>
        </p:grpSp>
        <p:sp>
          <p:nvSpPr>
            <p:cNvPr id="43" name="Freeform 22">
              <a:extLst>
                <a:ext uri="{FF2B5EF4-FFF2-40B4-BE49-F238E27FC236}">
                  <a16:creationId xmlns:a16="http://schemas.microsoft.com/office/drawing/2014/main" id="{6BFF0B21-67F0-1F17-C66B-929CF2F6EE9D}"/>
                </a:ext>
              </a:extLst>
            </p:cNvPr>
            <p:cNvSpPr/>
            <p:nvPr/>
          </p:nvSpPr>
          <p:spPr>
            <a:xfrm>
              <a:off x="6018873" y="2312028"/>
              <a:ext cx="11503024" cy="231408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44" name="Freeform 25">
              <a:extLst>
                <a:ext uri="{FF2B5EF4-FFF2-40B4-BE49-F238E27FC236}">
                  <a16:creationId xmlns:a16="http://schemas.microsoft.com/office/drawing/2014/main" id="{AEB609E2-489D-1111-17A0-39647534A73F}"/>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45" name="Freeform 28">
              <a:extLst>
                <a:ext uri="{FF2B5EF4-FFF2-40B4-BE49-F238E27FC236}">
                  <a16:creationId xmlns:a16="http://schemas.microsoft.com/office/drawing/2014/main" id="{8E92E871-9185-14A2-88E6-50E5DF4BC3C4}"/>
                </a:ext>
              </a:extLst>
            </p:cNvPr>
            <p:cNvSpPr/>
            <p:nvPr/>
          </p:nvSpPr>
          <p:spPr>
            <a:xfrm>
              <a:off x="15384091" y="3904929"/>
              <a:ext cx="1860306" cy="624821"/>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46" name="Freeform 31">
              <a:extLst>
                <a:ext uri="{FF2B5EF4-FFF2-40B4-BE49-F238E27FC236}">
                  <a16:creationId xmlns:a16="http://schemas.microsoft.com/office/drawing/2014/main" id="{8C9A45CA-EE99-A414-1475-BAFB458C9E69}"/>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7" name="Freeform 34">
              <a:extLst>
                <a:ext uri="{FF2B5EF4-FFF2-40B4-BE49-F238E27FC236}">
                  <a16:creationId xmlns:a16="http://schemas.microsoft.com/office/drawing/2014/main" id="{C0F2C72F-EEDE-D3EE-B944-EF7088762B9E}"/>
                </a:ext>
              </a:extLst>
            </p:cNvPr>
            <p:cNvSpPr/>
            <p:nvPr/>
          </p:nvSpPr>
          <p:spPr>
            <a:xfrm>
              <a:off x="13769349" y="385353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8" name="TextBox 36">
              <a:extLst>
                <a:ext uri="{FF2B5EF4-FFF2-40B4-BE49-F238E27FC236}">
                  <a16:creationId xmlns:a16="http://schemas.microsoft.com/office/drawing/2014/main" id="{0F8E6385-6D8D-4344-FC04-DE3DFE81D633}"/>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49" name="TextBox 37">
              <a:extLst>
                <a:ext uri="{FF2B5EF4-FFF2-40B4-BE49-F238E27FC236}">
                  <a16:creationId xmlns:a16="http://schemas.microsoft.com/office/drawing/2014/main" id="{983FDECC-0372-F8B2-DEFD-0B47E0910610}"/>
                </a:ext>
              </a:extLst>
            </p:cNvPr>
            <p:cNvSpPr txBox="1"/>
            <p:nvPr/>
          </p:nvSpPr>
          <p:spPr>
            <a:xfrm>
              <a:off x="15086140" y="3737422"/>
              <a:ext cx="2495904" cy="720567"/>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50" name="TextBox 38">
              <a:extLst>
                <a:ext uri="{FF2B5EF4-FFF2-40B4-BE49-F238E27FC236}">
                  <a16:creationId xmlns:a16="http://schemas.microsoft.com/office/drawing/2014/main" id="{F255CEE6-2278-BBBC-E3D1-1E87CCA0662A}"/>
                </a:ext>
              </a:extLst>
            </p:cNvPr>
            <p:cNvSpPr txBox="1"/>
            <p:nvPr/>
          </p:nvSpPr>
          <p:spPr>
            <a:xfrm>
              <a:off x="14075170" y="2424585"/>
              <a:ext cx="882808" cy="720568"/>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1</a:t>
              </a:r>
            </a:p>
          </p:txBody>
        </p:sp>
        <p:sp>
          <p:nvSpPr>
            <p:cNvPr id="51" name="TextBox 39">
              <a:extLst>
                <a:ext uri="{FF2B5EF4-FFF2-40B4-BE49-F238E27FC236}">
                  <a16:creationId xmlns:a16="http://schemas.microsoft.com/office/drawing/2014/main" id="{9C42DB5F-BB03-192E-6263-5A9F287B55EA}"/>
                </a:ext>
              </a:extLst>
            </p:cNvPr>
            <p:cNvSpPr txBox="1"/>
            <p:nvPr/>
          </p:nvSpPr>
          <p:spPr>
            <a:xfrm>
              <a:off x="14101222" y="3756031"/>
              <a:ext cx="882808" cy="743456"/>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3</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52" name="Freeform 41">
              <a:extLst>
                <a:ext uri="{FF2B5EF4-FFF2-40B4-BE49-F238E27FC236}">
                  <a16:creationId xmlns:a16="http://schemas.microsoft.com/office/drawing/2014/main" id="{9AAFBE0E-1B77-BABE-BDE4-7FB1C781BFB9}"/>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53" name="Freeform 44">
              <a:extLst>
                <a:ext uri="{FF2B5EF4-FFF2-40B4-BE49-F238E27FC236}">
                  <a16:creationId xmlns:a16="http://schemas.microsoft.com/office/drawing/2014/main" id="{082965F6-111C-E2B7-DAC0-AA850E56B78D}"/>
                </a:ext>
              </a:extLst>
            </p:cNvPr>
            <p:cNvSpPr/>
            <p:nvPr/>
          </p:nvSpPr>
          <p:spPr>
            <a:xfrm>
              <a:off x="11440604" y="3882917"/>
              <a:ext cx="1936166" cy="57341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54" name="Freeform 47">
              <a:extLst>
                <a:ext uri="{FF2B5EF4-FFF2-40B4-BE49-F238E27FC236}">
                  <a16:creationId xmlns:a16="http://schemas.microsoft.com/office/drawing/2014/main" id="{A944082E-928A-DEFE-4D95-A09AF659E463}"/>
                </a:ext>
              </a:extLst>
            </p:cNvPr>
            <p:cNvSpPr/>
            <p:nvPr/>
          </p:nvSpPr>
          <p:spPr>
            <a:xfrm>
              <a:off x="6164367" y="2471738"/>
              <a:ext cx="5133210" cy="1196705"/>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55" name="Freeform 50">
              <a:extLst>
                <a:ext uri="{FF2B5EF4-FFF2-40B4-BE49-F238E27FC236}">
                  <a16:creationId xmlns:a16="http://schemas.microsoft.com/office/drawing/2014/main" id="{5F0B7CA6-78FB-DBF2-0839-C758E979DB34}"/>
                </a:ext>
              </a:extLst>
            </p:cNvPr>
            <p:cNvSpPr/>
            <p:nvPr/>
          </p:nvSpPr>
          <p:spPr>
            <a:xfrm>
              <a:off x="6960576" y="3883852"/>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56" name="TextBox 52">
              <a:extLst>
                <a:ext uri="{FF2B5EF4-FFF2-40B4-BE49-F238E27FC236}">
                  <a16:creationId xmlns:a16="http://schemas.microsoft.com/office/drawing/2014/main" id="{874090AF-969D-F469-0C39-08CF7B6B0681}"/>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57" name="TextBox 53">
              <a:extLst>
                <a:ext uri="{FF2B5EF4-FFF2-40B4-BE49-F238E27FC236}">
                  <a16:creationId xmlns:a16="http://schemas.microsoft.com/office/drawing/2014/main" id="{E8BBC4AE-36DC-C2D8-DFF9-CE11E023885D}"/>
                </a:ext>
              </a:extLst>
            </p:cNvPr>
            <p:cNvSpPr txBox="1"/>
            <p:nvPr/>
          </p:nvSpPr>
          <p:spPr>
            <a:xfrm>
              <a:off x="11077156" y="3710873"/>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58" name="TextBox 54">
              <a:extLst>
                <a:ext uri="{FF2B5EF4-FFF2-40B4-BE49-F238E27FC236}">
                  <a16:creationId xmlns:a16="http://schemas.microsoft.com/office/drawing/2014/main" id="{D50DF144-E9F9-1AB6-E464-30E7520F2A4F}"/>
                </a:ext>
              </a:extLst>
            </p:cNvPr>
            <p:cNvSpPr txBox="1"/>
            <p:nvPr/>
          </p:nvSpPr>
          <p:spPr>
            <a:xfrm>
              <a:off x="4931845" y="2382113"/>
              <a:ext cx="7598255" cy="1293008"/>
            </a:xfrm>
            <a:prstGeom prst="rect">
              <a:avLst/>
            </a:prstGeom>
          </p:spPr>
          <p:txBody>
            <a:bodyPr wrap="square" lIns="0" tIns="0" rIns="0" bIns="0" rtlCol="0" anchor="t">
              <a:spAutoFit/>
            </a:bodyPr>
            <a:lstStyle/>
            <a:p>
              <a:pPr algn="ctr" rtl="1">
                <a:lnSpc>
                  <a:spcPts val="3073"/>
                </a:lnSpc>
              </a:pPr>
              <a:r>
                <a:rPr lang="ar-SA" dirty="0">
                  <a:solidFill>
                    <a:srgbClr val="17383E"/>
                  </a:solidFill>
                  <a:cs typeface="PT Bold Heading" panose="02010400000000000000" pitchFamily="2" charset="-78"/>
                </a:rPr>
                <a:t>أن تربط الطالبة بين مراحل دورة النظام والخطوة التي يجب اتخاذها </a:t>
              </a:r>
            </a:p>
            <a:p>
              <a:pPr algn="ctr" rtl="1">
                <a:lnSpc>
                  <a:spcPts val="3073"/>
                </a:lnSpc>
              </a:pPr>
              <a:r>
                <a:rPr lang="ar-SA" dirty="0">
                  <a:solidFill>
                    <a:srgbClr val="17383E"/>
                  </a:solidFill>
                  <a:cs typeface="PT Bold Heading" panose="02010400000000000000" pitchFamily="2" charset="-78"/>
                </a:rPr>
                <a:t>لدمج الأمن السيبراني</a:t>
              </a:r>
              <a:endParaRPr lang="en-US" dirty="0">
                <a:solidFill>
                  <a:srgbClr val="17383E"/>
                </a:solidFill>
                <a:cs typeface="PT Bold Heading" panose="02010400000000000000" pitchFamily="2" charset="-78"/>
              </a:endParaRPr>
            </a:p>
          </p:txBody>
        </p:sp>
        <p:sp>
          <p:nvSpPr>
            <p:cNvPr id="59" name="TextBox 55">
              <a:extLst>
                <a:ext uri="{FF2B5EF4-FFF2-40B4-BE49-F238E27FC236}">
                  <a16:creationId xmlns:a16="http://schemas.microsoft.com/office/drawing/2014/main" id="{106CCFDF-EE0F-E866-3283-290339E80325}"/>
                </a:ext>
              </a:extLst>
            </p:cNvPr>
            <p:cNvSpPr txBox="1"/>
            <p:nvPr/>
          </p:nvSpPr>
          <p:spPr>
            <a:xfrm>
              <a:off x="7213567" y="3768803"/>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جماعي</a:t>
              </a:r>
              <a:endParaRPr lang="en-US" dirty="0">
                <a:solidFill>
                  <a:srgbClr val="17383E"/>
                </a:solidFill>
                <a:cs typeface="PT Bold Heading" panose="02010400000000000000" pitchFamily="2" charset="-78"/>
              </a:endParaRPr>
            </a:p>
          </p:txBody>
        </p:sp>
      </p:grpSp>
    </p:spTree>
    <p:extLst>
      <p:ext uri="{BB962C8B-B14F-4D97-AF65-F5344CB8AC3E}">
        <p14:creationId xmlns:p14="http://schemas.microsoft.com/office/powerpoint/2010/main" val="236897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10"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1352616" y="312036"/>
              <a:ext cx="9135802" cy="838505"/>
            </a:xfrm>
            <a:prstGeom prst="rect">
              <a:avLst/>
            </a:prstGeom>
          </p:spPr>
          <p:txBody>
            <a:bodyPr lIns="0" tIns="0" rIns="0" bIns="0" rtlCol="0" anchor="t">
              <a:spAutoFit/>
            </a:bodyPr>
            <a:lstStyle/>
            <a:p>
              <a:pPr algn="ctr" rtl="1">
                <a:lnSpc>
                  <a:spcPts val="4518"/>
                </a:lnSpc>
              </a:pPr>
              <a:r>
                <a:rPr lang="en-US" sz="4610">
                  <a:solidFill>
                    <a:srgbClr val="17383E"/>
                  </a:solidFill>
                  <a:cs typeface="PT Bold Heading" panose="02010400000000000000" pitchFamily="2" charset="-78"/>
                </a:rPr>
                <a:t>الأمن السيبراني</a:t>
              </a:r>
            </a:p>
          </p:txBody>
        </p:sp>
      </p:grpSp>
      <p:grpSp>
        <p:nvGrpSpPr>
          <p:cNvPr id="10" name="Group 10"/>
          <p:cNvGrpSpPr/>
          <p:nvPr/>
        </p:nvGrpSpPr>
        <p:grpSpPr>
          <a:xfrm>
            <a:off x="4876800" y="2844167"/>
            <a:ext cx="13438810" cy="742588"/>
            <a:chOff x="0" y="0"/>
            <a:chExt cx="17918414" cy="990117"/>
          </a:xfrm>
        </p:grpSpPr>
        <p:sp>
          <p:nvSpPr>
            <p:cNvPr id="12" name="Freeform 12"/>
            <p:cNvSpPr/>
            <p:nvPr/>
          </p:nvSpPr>
          <p:spPr>
            <a:xfrm>
              <a:off x="360711" y="0"/>
              <a:ext cx="679096" cy="990117"/>
            </a:xfrm>
            <a:custGeom>
              <a:avLst/>
              <a:gdLst/>
              <a:ahLst/>
              <a:cxnLst/>
              <a:rect l="l" t="t" r="r" b="b"/>
              <a:pathLst>
                <a:path w="117767" h="171703">
                  <a:moveTo>
                    <a:pt x="0" y="0"/>
                  </a:moveTo>
                  <a:lnTo>
                    <a:pt x="117767" y="0"/>
                  </a:lnTo>
                  <a:lnTo>
                    <a:pt x="117767"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15" name="Freeform 15"/>
            <p:cNvSpPr/>
            <p:nvPr/>
          </p:nvSpPr>
          <p:spPr>
            <a:xfrm>
              <a:off x="686777" y="0"/>
              <a:ext cx="17231637" cy="990117"/>
            </a:xfrm>
            <a:custGeom>
              <a:avLst/>
              <a:gdLst/>
              <a:ahLst/>
              <a:cxnLst/>
              <a:rect l="l" t="t" r="r" b="b"/>
              <a:pathLst>
                <a:path w="2988260" h="171703">
                  <a:moveTo>
                    <a:pt x="0" y="0"/>
                  </a:moveTo>
                  <a:lnTo>
                    <a:pt x="2988260" y="0"/>
                  </a:lnTo>
                  <a:lnTo>
                    <a:pt x="2988260"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17" name="TextBox 17"/>
            <p:cNvSpPr txBox="1"/>
            <p:nvPr/>
          </p:nvSpPr>
          <p:spPr>
            <a:xfrm>
              <a:off x="0" y="97458"/>
              <a:ext cx="16571597"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الخطوات</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اتخاذها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لدمج</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الأمن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السيبراني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في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18" name="Group 18"/>
          <p:cNvGrpSpPr/>
          <p:nvPr/>
        </p:nvGrpSpPr>
        <p:grpSpPr>
          <a:xfrm>
            <a:off x="12118179" y="3907384"/>
            <a:ext cx="5256915" cy="5384155"/>
            <a:chOff x="0" y="0"/>
            <a:chExt cx="7009220" cy="7178875"/>
          </a:xfrm>
        </p:grpSpPr>
        <p:sp>
          <p:nvSpPr>
            <p:cNvPr id="20" name="Freeform 20"/>
            <p:cNvSpPr/>
            <p:nvPr/>
          </p:nvSpPr>
          <p:spPr>
            <a:xfrm>
              <a:off x="1115709" y="2108466"/>
              <a:ext cx="4768576" cy="4789951"/>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3" name="Freeform 23"/>
            <p:cNvSpPr/>
            <p:nvPr/>
          </p:nvSpPr>
          <p:spPr>
            <a:xfrm>
              <a:off x="0" y="0"/>
              <a:ext cx="7009220" cy="5444049"/>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6" name="Freeform 26"/>
            <p:cNvSpPr/>
            <p:nvPr/>
          </p:nvSpPr>
          <p:spPr>
            <a:xfrm>
              <a:off x="849537" y="408327"/>
              <a:ext cx="5310147" cy="897825"/>
            </a:xfrm>
            <a:custGeom>
              <a:avLst/>
              <a:gdLst/>
              <a:ahLst/>
              <a:cxnLst/>
              <a:rect l="l" t="t" r="r" b="b"/>
              <a:pathLst>
                <a:path w="1015532" h="171703">
                  <a:moveTo>
                    <a:pt x="0" y="0"/>
                  </a:moveTo>
                  <a:lnTo>
                    <a:pt x="1015532" y="0"/>
                  </a:lnTo>
                  <a:lnTo>
                    <a:pt x="1015532"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28" name="Freeform 28"/>
            <p:cNvSpPr/>
            <p:nvPr/>
          </p:nvSpPr>
          <p:spPr>
            <a:xfrm>
              <a:off x="2328379" y="5077657"/>
              <a:ext cx="2117096" cy="2101218"/>
            </a:xfrm>
            <a:custGeom>
              <a:avLst/>
              <a:gdLst/>
              <a:ahLst/>
              <a:cxnLst/>
              <a:rect l="l" t="t" r="r" b="b"/>
              <a:pathLst>
                <a:path w="2117096" h="2101218">
                  <a:moveTo>
                    <a:pt x="0" y="0"/>
                  </a:moveTo>
                  <a:lnTo>
                    <a:pt x="2117096" y="0"/>
                  </a:lnTo>
                  <a:lnTo>
                    <a:pt x="2117096" y="2101218"/>
                  </a:lnTo>
                  <a:lnTo>
                    <a:pt x="0" y="210121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29" name="TextBox 29"/>
            <p:cNvSpPr txBox="1"/>
            <p:nvPr/>
          </p:nvSpPr>
          <p:spPr>
            <a:xfrm>
              <a:off x="216089" y="1609281"/>
              <a:ext cx="6577043" cy="2992272"/>
            </a:xfrm>
            <a:prstGeom prst="rect">
              <a:avLst/>
            </a:prstGeom>
          </p:spPr>
          <p:txBody>
            <a:bodyPr lIns="0" tIns="0" rIns="0" bIns="0" rtlCol="0" anchor="t">
              <a:spAutoFit/>
            </a:bodyPr>
            <a:lstStyle/>
            <a:p>
              <a:pPr algn="ctr" rtl="1">
                <a:lnSpc>
                  <a:spcPts val="3492"/>
                </a:lnSpc>
              </a:pP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خلال</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عملية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جمع</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المتطلبات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بمرحلة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التحليل</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يجب</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تحديد</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وتوثيق</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متطلبات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الأمن</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السيبراني</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حيث</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سيساعد</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ذلك</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على</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تأكيد</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إنشاء</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النظام</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بأقصى</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درجات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الأمان</a:t>
              </a:r>
              <a:r>
                <a:rPr lang="en-US" sz="2771" dirty="0">
                  <a:solidFill>
                    <a:srgbClr val="191C1C"/>
                  </a:solidFill>
                  <a:latin typeface="PT Bold Heading"/>
                  <a:cs typeface="PT Bold Heading" panose="02010400000000000000" pitchFamily="2" charset="-78"/>
                </a:rPr>
                <a:t> .</a:t>
              </a:r>
            </a:p>
          </p:txBody>
        </p:sp>
        <p:sp>
          <p:nvSpPr>
            <p:cNvPr id="30" name="TextBox 30"/>
            <p:cNvSpPr txBox="1"/>
            <p:nvPr/>
          </p:nvSpPr>
          <p:spPr>
            <a:xfrm>
              <a:off x="1790344" y="556056"/>
              <a:ext cx="3428531" cy="591017"/>
            </a:xfrm>
            <a:prstGeom prst="rect">
              <a:avLst/>
            </a:prstGeom>
          </p:spPr>
          <p:txBody>
            <a:bodyPr lIns="0" tIns="0" rIns="0" bIns="0" rtlCol="0" anchor="t">
              <a:spAutoFit/>
            </a:bodyPr>
            <a:lstStyle/>
            <a:p>
              <a:pPr algn="ctr" rtl="1">
                <a:lnSpc>
                  <a:spcPts val="3492"/>
                </a:lnSpc>
              </a:pPr>
              <a:r>
                <a:rPr lang="en-US" sz="2771" dirty="0">
                  <a:solidFill>
                    <a:srgbClr val="FFFFFF"/>
                  </a:solidFill>
                  <a:latin typeface="PT Bold Heading"/>
                  <a:cs typeface="PT Bold Heading" panose="02010400000000000000" pitchFamily="2" charset="-78"/>
                </a:rPr>
                <a:t> </a:t>
              </a:r>
              <a:r>
                <a:rPr lang="en-US" sz="2771" dirty="0" err="1">
                  <a:solidFill>
                    <a:srgbClr val="FFFFFF"/>
                  </a:solidFill>
                  <a:latin typeface="PT Bold Heading"/>
                  <a:cs typeface="PT Bold Heading" panose="02010400000000000000" pitchFamily="2" charset="-78"/>
                </a:rPr>
                <a:t>التحليل</a:t>
              </a:r>
              <a:r>
                <a:rPr lang="en-US" sz="2771" dirty="0">
                  <a:solidFill>
                    <a:srgbClr val="FFFFFF"/>
                  </a:solidFill>
                  <a:latin typeface="PT Bold Heading"/>
                  <a:cs typeface="PT Bold Heading" panose="02010400000000000000" pitchFamily="2" charset="-78"/>
                </a:rPr>
                <a:t> </a:t>
              </a:r>
              <a:r>
                <a:rPr lang="en-US" sz="2771" dirty="0">
                  <a:solidFill>
                    <a:srgbClr val="FFFFFF"/>
                  </a:solidFill>
                  <a:latin typeface="Abadi" panose="020B0604020104020204" pitchFamily="34" charset="0"/>
                  <a:cs typeface="PT Bold Heading" panose="02010400000000000000" pitchFamily="2" charset="-78"/>
                </a:rPr>
                <a:t>Analysis</a:t>
              </a:r>
            </a:p>
          </p:txBody>
        </p:sp>
      </p:grpSp>
      <p:grpSp>
        <p:nvGrpSpPr>
          <p:cNvPr id="31" name="Group 31"/>
          <p:cNvGrpSpPr/>
          <p:nvPr/>
        </p:nvGrpSpPr>
        <p:grpSpPr>
          <a:xfrm>
            <a:off x="6677579" y="3907384"/>
            <a:ext cx="5256915" cy="5675487"/>
            <a:chOff x="0" y="0"/>
            <a:chExt cx="7009220" cy="7567317"/>
          </a:xfrm>
        </p:grpSpPr>
        <p:sp>
          <p:nvSpPr>
            <p:cNvPr id="33" name="Freeform 33"/>
            <p:cNvSpPr/>
            <p:nvPr/>
          </p:nvSpPr>
          <p:spPr>
            <a:xfrm>
              <a:off x="1115709" y="2108466"/>
              <a:ext cx="4768576" cy="4789951"/>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36" name="Freeform 36"/>
            <p:cNvSpPr/>
            <p:nvPr/>
          </p:nvSpPr>
          <p:spPr>
            <a:xfrm>
              <a:off x="0" y="0"/>
              <a:ext cx="7009220" cy="5444049"/>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39" name="Freeform 39"/>
            <p:cNvSpPr/>
            <p:nvPr/>
          </p:nvSpPr>
          <p:spPr>
            <a:xfrm>
              <a:off x="849537" y="408327"/>
              <a:ext cx="5310147" cy="897825"/>
            </a:xfrm>
            <a:custGeom>
              <a:avLst/>
              <a:gdLst/>
              <a:ahLst/>
              <a:cxnLst/>
              <a:rect l="l" t="t" r="r" b="b"/>
              <a:pathLst>
                <a:path w="1015532" h="171703">
                  <a:moveTo>
                    <a:pt x="0" y="0"/>
                  </a:moveTo>
                  <a:lnTo>
                    <a:pt x="1015532" y="0"/>
                  </a:lnTo>
                  <a:lnTo>
                    <a:pt x="1015532"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41" name="Freeform 41"/>
            <p:cNvSpPr/>
            <p:nvPr/>
          </p:nvSpPr>
          <p:spPr>
            <a:xfrm>
              <a:off x="2036231" y="5541567"/>
              <a:ext cx="2868319" cy="2025750"/>
            </a:xfrm>
            <a:custGeom>
              <a:avLst/>
              <a:gdLst/>
              <a:ahLst/>
              <a:cxnLst/>
              <a:rect l="l" t="t" r="r" b="b"/>
              <a:pathLst>
                <a:path w="2868318" h="2025750">
                  <a:moveTo>
                    <a:pt x="0" y="0"/>
                  </a:moveTo>
                  <a:lnTo>
                    <a:pt x="2868318" y="0"/>
                  </a:lnTo>
                  <a:lnTo>
                    <a:pt x="2868318" y="2025750"/>
                  </a:lnTo>
                  <a:lnTo>
                    <a:pt x="0" y="202575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42" name="TextBox 42"/>
            <p:cNvSpPr txBox="1"/>
            <p:nvPr/>
          </p:nvSpPr>
          <p:spPr>
            <a:xfrm>
              <a:off x="216089" y="1570599"/>
              <a:ext cx="6577043" cy="3583290"/>
            </a:xfrm>
            <a:prstGeom prst="rect">
              <a:avLst/>
            </a:prstGeom>
          </p:spPr>
          <p:txBody>
            <a:bodyPr lIns="0" tIns="0" rIns="0" bIns="0" rtlCol="0" anchor="t">
              <a:spAutoFit/>
            </a:bodyPr>
            <a:lstStyle/>
            <a:p>
              <a:pPr algn="ctr" rtl="1">
                <a:lnSpc>
                  <a:spcPts val="3492"/>
                </a:lnSpc>
              </a:pPr>
              <a:r>
                <a:rPr lang="en-US" sz="2771">
                  <a:solidFill>
                    <a:srgbClr val="191C1C"/>
                  </a:solidFill>
                  <a:cs typeface="PT Bold Heading" panose="02010400000000000000" pitchFamily="2" charset="-78"/>
                </a:rPr>
                <a:t>خلال مرحلة التصميم، يجب دمج الأمن السيبراني مع عملية التصميم، ويتضمن ذلك ضمان تنفيذ ضوابط الأمن السيبراني، وأن النظام مصمم ليكون مرنا في مواجهة الهجمات الإلكترونية .</a:t>
              </a:r>
            </a:p>
          </p:txBody>
        </p:sp>
        <p:sp>
          <p:nvSpPr>
            <p:cNvPr id="43" name="TextBox 43"/>
            <p:cNvSpPr txBox="1"/>
            <p:nvPr/>
          </p:nvSpPr>
          <p:spPr>
            <a:xfrm>
              <a:off x="1064452" y="556056"/>
              <a:ext cx="4369339" cy="598455"/>
            </a:xfrm>
            <a:prstGeom prst="rect">
              <a:avLst/>
            </a:prstGeom>
          </p:spPr>
          <p:txBody>
            <a:bodyPr lIns="0" tIns="0" rIns="0" bIns="0" rtlCol="0" anchor="t">
              <a:spAutoFit/>
            </a:bodyPr>
            <a:lstStyle/>
            <a:p>
              <a:pPr algn="ctr" rtl="1">
                <a:lnSpc>
                  <a:spcPts val="3492"/>
                </a:lnSpc>
              </a:pPr>
              <a:r>
                <a:rPr lang="en-US" sz="2771" dirty="0">
                  <a:solidFill>
                    <a:srgbClr val="FFFFFF"/>
                  </a:solidFill>
                  <a:latin typeface="PT Bold Heading"/>
                  <a:cs typeface="PT Bold Heading" panose="02010400000000000000" pitchFamily="2" charset="-78"/>
                </a:rPr>
                <a:t> </a:t>
              </a:r>
              <a:r>
                <a:rPr lang="en-US" sz="2771" dirty="0" err="1">
                  <a:solidFill>
                    <a:srgbClr val="FFFFFF"/>
                  </a:solidFill>
                  <a:latin typeface="PT Bold Heading"/>
                  <a:cs typeface="PT Bold Heading" panose="02010400000000000000" pitchFamily="2" charset="-78"/>
                </a:rPr>
                <a:t>التصميم</a:t>
              </a:r>
              <a:r>
                <a:rPr lang="en-US" sz="2771" dirty="0">
                  <a:solidFill>
                    <a:srgbClr val="FFFFFF"/>
                  </a:solidFill>
                  <a:latin typeface="PT Bold Heading"/>
                  <a:cs typeface="PT Bold Heading" panose="02010400000000000000" pitchFamily="2" charset="-78"/>
                </a:rPr>
                <a:t>  </a:t>
              </a:r>
              <a:r>
                <a:rPr lang="en-US" sz="2771" dirty="0">
                  <a:solidFill>
                    <a:srgbClr val="FFFFFF"/>
                  </a:solidFill>
                  <a:latin typeface="Abadi" panose="020B0604020104020204" pitchFamily="34" charset="0"/>
                  <a:cs typeface="PT Bold Heading" panose="02010400000000000000" pitchFamily="2" charset="-78"/>
                </a:rPr>
                <a:t>Design</a:t>
              </a:r>
            </a:p>
          </p:txBody>
        </p:sp>
      </p:grpSp>
      <p:grpSp>
        <p:nvGrpSpPr>
          <p:cNvPr id="44" name="Group 44"/>
          <p:cNvGrpSpPr/>
          <p:nvPr/>
        </p:nvGrpSpPr>
        <p:grpSpPr>
          <a:xfrm>
            <a:off x="1232696" y="3907384"/>
            <a:ext cx="5256915" cy="5665568"/>
            <a:chOff x="0" y="0"/>
            <a:chExt cx="7009220" cy="7554091"/>
          </a:xfrm>
        </p:grpSpPr>
        <p:sp>
          <p:nvSpPr>
            <p:cNvPr id="46" name="Freeform 46"/>
            <p:cNvSpPr/>
            <p:nvPr/>
          </p:nvSpPr>
          <p:spPr>
            <a:xfrm>
              <a:off x="1115709" y="2108466"/>
              <a:ext cx="4768576" cy="4789951"/>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49" name="Freeform 49"/>
            <p:cNvSpPr/>
            <p:nvPr/>
          </p:nvSpPr>
          <p:spPr>
            <a:xfrm>
              <a:off x="0" y="0"/>
              <a:ext cx="7009220" cy="5444047"/>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52" name="Freeform 52"/>
            <p:cNvSpPr/>
            <p:nvPr/>
          </p:nvSpPr>
          <p:spPr>
            <a:xfrm>
              <a:off x="844928" y="408327"/>
              <a:ext cx="5310147" cy="897825"/>
            </a:xfrm>
            <a:custGeom>
              <a:avLst/>
              <a:gdLst/>
              <a:ahLst/>
              <a:cxnLst/>
              <a:rect l="l" t="t" r="r" b="b"/>
              <a:pathLst>
                <a:path w="1015532" h="171703">
                  <a:moveTo>
                    <a:pt x="0" y="0"/>
                  </a:moveTo>
                  <a:lnTo>
                    <a:pt x="1015532" y="0"/>
                  </a:lnTo>
                  <a:lnTo>
                    <a:pt x="1015532"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54" name="Freeform 54"/>
            <p:cNvSpPr/>
            <p:nvPr/>
          </p:nvSpPr>
          <p:spPr>
            <a:xfrm>
              <a:off x="2038204" y="4894619"/>
              <a:ext cx="2546444" cy="2659472"/>
            </a:xfrm>
            <a:custGeom>
              <a:avLst/>
              <a:gdLst/>
              <a:ahLst/>
              <a:cxnLst/>
              <a:rect l="l" t="t" r="r" b="b"/>
              <a:pathLst>
                <a:path w="2546444" h="2659472">
                  <a:moveTo>
                    <a:pt x="0" y="0"/>
                  </a:moveTo>
                  <a:lnTo>
                    <a:pt x="2546444" y="0"/>
                  </a:lnTo>
                  <a:lnTo>
                    <a:pt x="2546444" y="2659472"/>
                  </a:lnTo>
                  <a:lnTo>
                    <a:pt x="0" y="265947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algn="r" rtl="1"/>
              <a:endParaRPr lang="ar-SA">
                <a:cs typeface="PT Bold Heading" panose="02010400000000000000" pitchFamily="2" charset="-78"/>
              </a:endParaRPr>
            </a:p>
          </p:txBody>
        </p:sp>
        <p:sp>
          <p:nvSpPr>
            <p:cNvPr id="55" name="TextBox 55"/>
            <p:cNvSpPr txBox="1"/>
            <p:nvPr/>
          </p:nvSpPr>
          <p:spPr>
            <a:xfrm>
              <a:off x="216089" y="1558180"/>
              <a:ext cx="6577043" cy="3583290"/>
            </a:xfrm>
            <a:prstGeom prst="rect">
              <a:avLst/>
            </a:prstGeom>
          </p:spPr>
          <p:txBody>
            <a:bodyPr lIns="0" tIns="0" rIns="0" bIns="0" rtlCol="0" anchor="t">
              <a:spAutoFit/>
            </a:bodyPr>
            <a:lstStyle/>
            <a:p>
              <a:pPr algn="ctr" rtl="1">
                <a:lnSpc>
                  <a:spcPts val="3492"/>
                </a:lnSpc>
              </a:pPr>
              <a:r>
                <a:rPr lang="en-US" sz="2771">
                  <a:solidFill>
                    <a:srgbClr val="191C1C"/>
                  </a:solidFill>
                  <a:cs typeface="PT Bold Heading" panose="02010400000000000000" pitchFamily="2" charset="-78"/>
                </a:rPr>
                <a:t>أثناء مرحلة التطوير، يجب اتباع نظام التشفير الأمن لضمان تطوير النظام بشكل آمن، ويتضمن ذلك استخدام معايير التشفير الآمنة وإجراء مراجعات على التعليمات البرمجية لتحديد الثغرات الأمنية وإصلاحها .</a:t>
              </a:r>
            </a:p>
          </p:txBody>
        </p:sp>
        <p:sp>
          <p:nvSpPr>
            <p:cNvPr id="56" name="TextBox 56"/>
            <p:cNvSpPr txBox="1"/>
            <p:nvPr/>
          </p:nvSpPr>
          <p:spPr>
            <a:xfrm>
              <a:off x="870863" y="543637"/>
              <a:ext cx="5258275" cy="591017"/>
            </a:xfrm>
            <a:prstGeom prst="rect">
              <a:avLst/>
            </a:prstGeom>
          </p:spPr>
          <p:txBody>
            <a:bodyPr lIns="0" tIns="0" rIns="0" bIns="0" rtlCol="0" anchor="t">
              <a:spAutoFit/>
            </a:bodyPr>
            <a:lstStyle/>
            <a:p>
              <a:pPr algn="ctr" rtl="1">
                <a:lnSpc>
                  <a:spcPts val="3492"/>
                </a:lnSpc>
              </a:pPr>
              <a:r>
                <a:rPr lang="en-US" sz="2771" dirty="0">
                  <a:solidFill>
                    <a:srgbClr val="FFFFFF"/>
                  </a:solidFill>
                  <a:latin typeface="PT Bold Heading"/>
                  <a:cs typeface="PT Bold Heading" panose="02010400000000000000" pitchFamily="2" charset="-78"/>
                </a:rPr>
                <a:t> </a:t>
              </a:r>
              <a:r>
                <a:rPr lang="en-US" sz="2771" dirty="0" err="1">
                  <a:solidFill>
                    <a:srgbClr val="FFFFFF"/>
                  </a:solidFill>
                  <a:latin typeface="PT Bold Heading"/>
                  <a:cs typeface="PT Bold Heading" panose="02010400000000000000" pitchFamily="2" charset="-78"/>
                </a:rPr>
                <a:t>التطوير</a:t>
              </a:r>
              <a:r>
                <a:rPr lang="en-US" sz="2771" dirty="0">
                  <a:solidFill>
                    <a:srgbClr val="FFFFFF"/>
                  </a:solidFill>
                  <a:latin typeface="PT Bold Heading"/>
                  <a:cs typeface="PT Bold Heading" panose="02010400000000000000" pitchFamily="2" charset="-78"/>
                </a:rPr>
                <a:t> </a:t>
              </a:r>
              <a:r>
                <a:rPr lang="en-US" sz="2771" dirty="0">
                  <a:solidFill>
                    <a:srgbClr val="FFFFFF"/>
                  </a:solidFill>
                  <a:latin typeface="Abadi" panose="020B0604020104020204" pitchFamily="34" charset="0"/>
                  <a:cs typeface="PT Bold Heading" panose="02010400000000000000" pitchFamily="2" charset="-78"/>
                </a:rPr>
                <a:t>Development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1352616" y="312036"/>
              <a:ext cx="9135802" cy="838505"/>
            </a:xfrm>
            <a:prstGeom prst="rect">
              <a:avLst/>
            </a:prstGeom>
          </p:spPr>
          <p:txBody>
            <a:bodyPr lIns="0" tIns="0" rIns="0" bIns="0" rtlCol="0" anchor="t">
              <a:spAutoFit/>
            </a:bodyPr>
            <a:lstStyle/>
            <a:p>
              <a:pPr algn="ctr" rtl="1">
                <a:lnSpc>
                  <a:spcPts val="4518"/>
                </a:lnSpc>
              </a:pPr>
              <a:r>
                <a:rPr lang="en-US" sz="4610">
                  <a:solidFill>
                    <a:srgbClr val="17383E"/>
                  </a:solidFill>
                  <a:cs typeface="PT Bold Heading" panose="02010400000000000000" pitchFamily="2" charset="-78"/>
                </a:rPr>
                <a:t>الأمن السيبراني</a:t>
              </a:r>
            </a:p>
          </p:txBody>
        </p:sp>
      </p:grpSp>
      <p:grpSp>
        <p:nvGrpSpPr>
          <p:cNvPr id="10" name="Group 10"/>
          <p:cNvGrpSpPr/>
          <p:nvPr/>
        </p:nvGrpSpPr>
        <p:grpSpPr>
          <a:xfrm>
            <a:off x="4876800" y="2844167"/>
            <a:ext cx="13438810" cy="742588"/>
            <a:chOff x="0" y="0"/>
            <a:chExt cx="17918414" cy="990117"/>
          </a:xfrm>
        </p:grpSpPr>
        <p:sp>
          <p:nvSpPr>
            <p:cNvPr id="12" name="Freeform 12"/>
            <p:cNvSpPr/>
            <p:nvPr/>
          </p:nvSpPr>
          <p:spPr>
            <a:xfrm>
              <a:off x="360711" y="0"/>
              <a:ext cx="679096" cy="990117"/>
            </a:xfrm>
            <a:custGeom>
              <a:avLst/>
              <a:gdLst/>
              <a:ahLst/>
              <a:cxnLst/>
              <a:rect l="l" t="t" r="r" b="b"/>
              <a:pathLst>
                <a:path w="117767" h="171703">
                  <a:moveTo>
                    <a:pt x="0" y="0"/>
                  </a:moveTo>
                  <a:lnTo>
                    <a:pt x="117767" y="0"/>
                  </a:lnTo>
                  <a:lnTo>
                    <a:pt x="117767"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15" name="Freeform 15"/>
            <p:cNvSpPr/>
            <p:nvPr/>
          </p:nvSpPr>
          <p:spPr>
            <a:xfrm>
              <a:off x="686777" y="0"/>
              <a:ext cx="17231637" cy="990117"/>
            </a:xfrm>
            <a:custGeom>
              <a:avLst/>
              <a:gdLst/>
              <a:ahLst/>
              <a:cxnLst/>
              <a:rect l="l" t="t" r="r" b="b"/>
              <a:pathLst>
                <a:path w="2988260" h="171703">
                  <a:moveTo>
                    <a:pt x="0" y="0"/>
                  </a:moveTo>
                  <a:lnTo>
                    <a:pt x="2988260" y="0"/>
                  </a:lnTo>
                  <a:lnTo>
                    <a:pt x="2988260"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17" name="TextBox 17"/>
            <p:cNvSpPr txBox="1"/>
            <p:nvPr/>
          </p:nvSpPr>
          <p:spPr>
            <a:xfrm>
              <a:off x="0" y="97458"/>
              <a:ext cx="16571597"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الخطوات</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اتخاذها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لدمج</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الأمن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السيبراني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في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18" name="Group 18"/>
          <p:cNvGrpSpPr/>
          <p:nvPr/>
        </p:nvGrpSpPr>
        <p:grpSpPr>
          <a:xfrm>
            <a:off x="12118179" y="3907384"/>
            <a:ext cx="5256915" cy="5808817"/>
            <a:chOff x="0" y="0"/>
            <a:chExt cx="7009220" cy="7745089"/>
          </a:xfrm>
        </p:grpSpPr>
        <p:sp>
          <p:nvSpPr>
            <p:cNvPr id="20" name="Freeform 20"/>
            <p:cNvSpPr/>
            <p:nvPr/>
          </p:nvSpPr>
          <p:spPr>
            <a:xfrm>
              <a:off x="1115709" y="2108467"/>
              <a:ext cx="4768576" cy="478995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3" name="Freeform 23"/>
            <p:cNvSpPr/>
            <p:nvPr/>
          </p:nvSpPr>
          <p:spPr>
            <a:xfrm>
              <a:off x="0" y="0"/>
              <a:ext cx="7009220" cy="5444048"/>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6" name="Freeform 26"/>
            <p:cNvSpPr/>
            <p:nvPr/>
          </p:nvSpPr>
          <p:spPr>
            <a:xfrm>
              <a:off x="849537" y="408327"/>
              <a:ext cx="5310147" cy="897825"/>
            </a:xfrm>
            <a:custGeom>
              <a:avLst/>
              <a:gdLst/>
              <a:ahLst/>
              <a:cxnLst/>
              <a:rect l="l" t="t" r="r" b="b"/>
              <a:pathLst>
                <a:path w="1015532" h="171703">
                  <a:moveTo>
                    <a:pt x="0" y="0"/>
                  </a:moveTo>
                  <a:lnTo>
                    <a:pt x="1015532" y="0"/>
                  </a:lnTo>
                  <a:lnTo>
                    <a:pt x="1015532"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28" name="Freeform 28"/>
            <p:cNvSpPr/>
            <p:nvPr/>
          </p:nvSpPr>
          <p:spPr>
            <a:xfrm>
              <a:off x="1984329" y="5336517"/>
              <a:ext cx="3040562" cy="2408572"/>
            </a:xfrm>
            <a:custGeom>
              <a:avLst/>
              <a:gdLst/>
              <a:ahLst/>
              <a:cxnLst/>
              <a:rect l="l" t="t" r="r" b="b"/>
              <a:pathLst>
                <a:path w="3040562" h="2408572">
                  <a:moveTo>
                    <a:pt x="0" y="0"/>
                  </a:moveTo>
                  <a:lnTo>
                    <a:pt x="3040562" y="0"/>
                  </a:lnTo>
                  <a:lnTo>
                    <a:pt x="3040562" y="2408572"/>
                  </a:lnTo>
                  <a:lnTo>
                    <a:pt x="0" y="2408572"/>
                  </a:lnTo>
                  <a:lnTo>
                    <a:pt x="0" y="0"/>
                  </a:lnTo>
                  <a:close/>
                </a:path>
              </a:pathLst>
            </a:custGeom>
            <a:blipFill>
              <a:blip r:embed="rId2"/>
              <a:stretch>
                <a:fillRect b="-16613"/>
              </a:stretch>
            </a:blipFill>
          </p:spPr>
          <p:txBody>
            <a:bodyPr/>
            <a:lstStyle/>
            <a:p>
              <a:pPr algn="r" rtl="1"/>
              <a:endParaRPr lang="ar-SA">
                <a:cs typeface="PT Bold Heading" panose="02010400000000000000" pitchFamily="2" charset="-78"/>
              </a:endParaRPr>
            </a:p>
          </p:txBody>
        </p:sp>
        <p:sp>
          <p:nvSpPr>
            <p:cNvPr id="29" name="TextBox 29"/>
            <p:cNvSpPr txBox="1"/>
            <p:nvPr/>
          </p:nvSpPr>
          <p:spPr>
            <a:xfrm>
              <a:off x="216089" y="1609283"/>
              <a:ext cx="6577043" cy="3590727"/>
            </a:xfrm>
            <a:prstGeom prst="rect">
              <a:avLst/>
            </a:prstGeom>
          </p:spPr>
          <p:txBody>
            <a:bodyPr lIns="0" tIns="0" rIns="0" bIns="0" rtlCol="0" anchor="t">
              <a:spAutoFit/>
            </a:bodyPr>
            <a:lstStyle/>
            <a:p>
              <a:pPr algn="ctr" rtl="1">
                <a:lnSpc>
                  <a:spcPts val="3492"/>
                </a:lnSpc>
              </a:pP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أثناء</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مرحلة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الاختبارات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يجب</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إجراء</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اختبار</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الأمن</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السيبراني</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لتحديد</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أي</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ثغرات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أمنية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قد</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تكون</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مفقودة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أثناء</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التطوير</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يتضمن</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ذلك</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اختبار</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الاختراق</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ومسح</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الثغرات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الأمنية</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وتقنيات</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اختبار</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الأمان</a:t>
              </a:r>
              <a:r>
                <a:rPr lang="en-US" sz="2771" dirty="0">
                  <a:solidFill>
                    <a:srgbClr val="191C1C"/>
                  </a:solidFill>
                  <a:latin typeface="PT Bold Heading"/>
                  <a:cs typeface="PT Bold Heading" panose="02010400000000000000" pitchFamily="2" charset="-78"/>
                </a:rPr>
                <a:t> </a:t>
              </a:r>
              <a:r>
                <a:rPr lang="en-US" sz="2771" dirty="0" err="1">
                  <a:solidFill>
                    <a:srgbClr val="191C1C"/>
                  </a:solidFill>
                  <a:latin typeface="PT Bold Heading"/>
                  <a:cs typeface="PT Bold Heading" panose="02010400000000000000" pitchFamily="2" charset="-78"/>
                </a:rPr>
                <a:t>الأخرى</a:t>
              </a:r>
              <a:r>
                <a:rPr lang="en-US" sz="2771" dirty="0">
                  <a:solidFill>
                    <a:srgbClr val="191C1C"/>
                  </a:solidFill>
                  <a:latin typeface="PT Bold Heading"/>
                  <a:cs typeface="PT Bold Heading" panose="02010400000000000000" pitchFamily="2" charset="-78"/>
                </a:rPr>
                <a:t> .  </a:t>
              </a:r>
            </a:p>
          </p:txBody>
        </p:sp>
        <p:sp>
          <p:nvSpPr>
            <p:cNvPr id="30" name="TextBox 30"/>
            <p:cNvSpPr txBox="1"/>
            <p:nvPr/>
          </p:nvSpPr>
          <p:spPr>
            <a:xfrm>
              <a:off x="1105025" y="556056"/>
              <a:ext cx="4369339" cy="598455"/>
            </a:xfrm>
            <a:prstGeom prst="rect">
              <a:avLst/>
            </a:prstGeom>
          </p:spPr>
          <p:txBody>
            <a:bodyPr lIns="0" tIns="0" rIns="0" bIns="0" rtlCol="0" anchor="t">
              <a:spAutoFit/>
            </a:bodyPr>
            <a:lstStyle/>
            <a:p>
              <a:pPr algn="ctr" rtl="1">
                <a:lnSpc>
                  <a:spcPts val="3492"/>
                </a:lnSpc>
              </a:pPr>
              <a:r>
                <a:rPr lang="en-US" sz="2771" dirty="0">
                  <a:solidFill>
                    <a:srgbClr val="FFFFFF"/>
                  </a:solidFill>
                  <a:latin typeface="PT Bold Heading"/>
                  <a:cs typeface="PT Bold Heading" panose="02010400000000000000" pitchFamily="2" charset="-78"/>
                </a:rPr>
                <a:t> </a:t>
              </a:r>
              <a:r>
                <a:rPr lang="en-US" sz="2771" dirty="0" err="1">
                  <a:solidFill>
                    <a:srgbClr val="FFFFFF"/>
                  </a:solidFill>
                  <a:latin typeface="PT Bold Heading"/>
                  <a:cs typeface="PT Bold Heading" panose="02010400000000000000" pitchFamily="2" charset="-78"/>
                </a:rPr>
                <a:t>الاختبارات</a:t>
              </a:r>
              <a:r>
                <a:rPr lang="en-US" sz="2771" dirty="0">
                  <a:solidFill>
                    <a:srgbClr val="FFFFFF"/>
                  </a:solidFill>
                  <a:latin typeface="PT Bold Heading"/>
                  <a:cs typeface="PT Bold Heading" panose="02010400000000000000" pitchFamily="2" charset="-78"/>
                </a:rPr>
                <a:t> </a:t>
              </a:r>
              <a:r>
                <a:rPr lang="en-US" sz="2771" dirty="0">
                  <a:solidFill>
                    <a:srgbClr val="FFFFFF"/>
                  </a:solidFill>
                  <a:latin typeface="Abadi" panose="020B0604020104020204" pitchFamily="34" charset="0"/>
                  <a:cs typeface="PT Bold Heading" panose="02010400000000000000" pitchFamily="2" charset="-78"/>
                </a:rPr>
                <a:t>Testing</a:t>
              </a:r>
            </a:p>
          </p:txBody>
        </p:sp>
      </p:grpSp>
      <p:grpSp>
        <p:nvGrpSpPr>
          <p:cNvPr id="31" name="Group 31"/>
          <p:cNvGrpSpPr/>
          <p:nvPr/>
        </p:nvGrpSpPr>
        <p:grpSpPr>
          <a:xfrm>
            <a:off x="6677579" y="3907384"/>
            <a:ext cx="5256915" cy="5711695"/>
            <a:chOff x="0" y="0"/>
            <a:chExt cx="7009220" cy="7615593"/>
          </a:xfrm>
        </p:grpSpPr>
        <p:sp>
          <p:nvSpPr>
            <p:cNvPr id="33" name="Freeform 33"/>
            <p:cNvSpPr/>
            <p:nvPr/>
          </p:nvSpPr>
          <p:spPr>
            <a:xfrm>
              <a:off x="1115709" y="2108467"/>
              <a:ext cx="4768576" cy="478995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36" name="Freeform 36"/>
            <p:cNvSpPr/>
            <p:nvPr/>
          </p:nvSpPr>
          <p:spPr>
            <a:xfrm>
              <a:off x="0" y="0"/>
              <a:ext cx="7009220" cy="5444048"/>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39" name="Freeform 39"/>
            <p:cNvSpPr/>
            <p:nvPr/>
          </p:nvSpPr>
          <p:spPr>
            <a:xfrm>
              <a:off x="724491" y="408327"/>
              <a:ext cx="5560239" cy="897825"/>
            </a:xfrm>
            <a:custGeom>
              <a:avLst/>
              <a:gdLst/>
              <a:ahLst/>
              <a:cxnLst/>
              <a:rect l="l" t="t" r="r" b="b"/>
              <a:pathLst>
                <a:path w="1063360" h="171703">
                  <a:moveTo>
                    <a:pt x="0" y="0"/>
                  </a:moveTo>
                  <a:lnTo>
                    <a:pt x="1063360" y="0"/>
                  </a:lnTo>
                  <a:lnTo>
                    <a:pt x="1063360"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41" name="Freeform 41"/>
            <p:cNvSpPr/>
            <p:nvPr/>
          </p:nvSpPr>
          <p:spPr>
            <a:xfrm>
              <a:off x="2208875" y="5207262"/>
              <a:ext cx="2736739" cy="2408331"/>
            </a:xfrm>
            <a:custGeom>
              <a:avLst/>
              <a:gdLst/>
              <a:ahLst/>
              <a:cxnLst/>
              <a:rect l="l" t="t" r="r" b="b"/>
              <a:pathLst>
                <a:path w="2736738" h="2408330">
                  <a:moveTo>
                    <a:pt x="0" y="0"/>
                  </a:moveTo>
                  <a:lnTo>
                    <a:pt x="2736738" y="0"/>
                  </a:lnTo>
                  <a:lnTo>
                    <a:pt x="2736738" y="2408330"/>
                  </a:lnTo>
                  <a:lnTo>
                    <a:pt x="0" y="24083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42" name="TextBox 42"/>
            <p:cNvSpPr txBox="1"/>
            <p:nvPr/>
          </p:nvSpPr>
          <p:spPr>
            <a:xfrm>
              <a:off x="211480" y="2144352"/>
              <a:ext cx="6577043" cy="1787927"/>
            </a:xfrm>
            <a:prstGeom prst="rect">
              <a:avLst/>
            </a:prstGeom>
          </p:spPr>
          <p:txBody>
            <a:bodyPr lIns="0" tIns="0" rIns="0" bIns="0" rtlCol="0" anchor="t">
              <a:spAutoFit/>
            </a:bodyPr>
            <a:lstStyle/>
            <a:p>
              <a:pPr algn="ctr" rtl="1">
                <a:lnSpc>
                  <a:spcPts val="3492"/>
                </a:lnSpc>
              </a:pPr>
              <a:r>
                <a:rPr lang="en-US" sz="2771" dirty="0" err="1">
                  <a:solidFill>
                    <a:srgbClr val="191C1C"/>
                  </a:solidFill>
                  <a:cs typeface="PT Bold Heading" panose="02010400000000000000" pitchFamily="2" charset="-78"/>
                </a:rPr>
                <a:t>أثناء</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مرحلة</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التنفيذ</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يجب</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تنفيذ</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الضوابط</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الأمنية</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للتأكد</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من</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أن</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النظام</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أمن</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عند</a:t>
              </a:r>
              <a:r>
                <a:rPr lang="en-US" sz="2771" dirty="0">
                  <a:solidFill>
                    <a:srgbClr val="191C1C"/>
                  </a:solidFill>
                  <a:cs typeface="PT Bold Heading" panose="02010400000000000000" pitchFamily="2" charset="-78"/>
                </a:rPr>
                <a:t> </a:t>
              </a:r>
              <a:r>
                <a:rPr lang="en-US" sz="2771" dirty="0" err="1">
                  <a:solidFill>
                    <a:srgbClr val="191C1C"/>
                  </a:solidFill>
                  <a:cs typeface="PT Bold Heading" panose="02010400000000000000" pitchFamily="2" charset="-78"/>
                </a:rPr>
                <a:t>نشره</a:t>
              </a:r>
              <a:r>
                <a:rPr lang="en-US" sz="2771" dirty="0">
                  <a:solidFill>
                    <a:srgbClr val="191C1C"/>
                  </a:solidFill>
                  <a:cs typeface="PT Bold Heading" panose="02010400000000000000" pitchFamily="2" charset="-78"/>
                </a:rPr>
                <a:t> .</a:t>
              </a:r>
            </a:p>
          </p:txBody>
        </p:sp>
        <p:sp>
          <p:nvSpPr>
            <p:cNvPr id="43" name="TextBox 43"/>
            <p:cNvSpPr txBox="1"/>
            <p:nvPr/>
          </p:nvSpPr>
          <p:spPr>
            <a:xfrm>
              <a:off x="787715" y="556056"/>
              <a:ext cx="5433791" cy="591017"/>
            </a:xfrm>
            <a:prstGeom prst="rect">
              <a:avLst/>
            </a:prstGeom>
          </p:spPr>
          <p:txBody>
            <a:bodyPr lIns="0" tIns="0" rIns="0" bIns="0" rtlCol="0" anchor="t">
              <a:spAutoFit/>
            </a:bodyPr>
            <a:lstStyle/>
            <a:p>
              <a:pPr algn="ctr" rtl="1">
                <a:lnSpc>
                  <a:spcPts val="3492"/>
                </a:lnSpc>
              </a:pPr>
              <a:r>
                <a:rPr lang="en-US" sz="2771" dirty="0">
                  <a:solidFill>
                    <a:srgbClr val="FFFFFF"/>
                  </a:solidFill>
                  <a:latin typeface="PT Bold Heading"/>
                  <a:cs typeface="PT Bold Heading" panose="02010400000000000000" pitchFamily="2" charset="-78"/>
                </a:rPr>
                <a:t> </a:t>
              </a:r>
              <a:r>
                <a:rPr lang="en-US" sz="2771" dirty="0" err="1">
                  <a:solidFill>
                    <a:srgbClr val="FFFFFF"/>
                  </a:solidFill>
                  <a:latin typeface="PT Bold Heading"/>
                  <a:cs typeface="PT Bold Heading" panose="02010400000000000000" pitchFamily="2" charset="-78"/>
                </a:rPr>
                <a:t>التنفيذ</a:t>
              </a:r>
              <a:r>
                <a:rPr lang="en-US" sz="2771" dirty="0">
                  <a:solidFill>
                    <a:srgbClr val="FFFFFF"/>
                  </a:solidFill>
                  <a:latin typeface="PT Bold Heading"/>
                  <a:cs typeface="PT Bold Heading" panose="02010400000000000000" pitchFamily="2" charset="-78"/>
                </a:rPr>
                <a:t>  </a:t>
              </a:r>
              <a:r>
                <a:rPr lang="en-US" sz="2771" dirty="0">
                  <a:solidFill>
                    <a:srgbClr val="FFFFFF"/>
                  </a:solidFill>
                  <a:latin typeface="Abadi" panose="020B0604020104020204" pitchFamily="34" charset="0"/>
                  <a:cs typeface="PT Bold Heading" panose="02010400000000000000" pitchFamily="2" charset="-78"/>
                </a:rPr>
                <a:t>Implementation</a:t>
              </a:r>
            </a:p>
          </p:txBody>
        </p:sp>
      </p:grpSp>
      <p:grpSp>
        <p:nvGrpSpPr>
          <p:cNvPr id="44" name="Group 44"/>
          <p:cNvGrpSpPr/>
          <p:nvPr/>
        </p:nvGrpSpPr>
        <p:grpSpPr>
          <a:xfrm>
            <a:off x="1232696" y="3907384"/>
            <a:ext cx="5256915" cy="5490511"/>
            <a:chOff x="0" y="0"/>
            <a:chExt cx="7009220" cy="7320681"/>
          </a:xfrm>
        </p:grpSpPr>
        <p:sp>
          <p:nvSpPr>
            <p:cNvPr id="46" name="Freeform 46"/>
            <p:cNvSpPr/>
            <p:nvPr/>
          </p:nvSpPr>
          <p:spPr>
            <a:xfrm>
              <a:off x="1115709" y="2108467"/>
              <a:ext cx="4768576" cy="478995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49" name="Freeform 49"/>
            <p:cNvSpPr/>
            <p:nvPr/>
          </p:nvSpPr>
          <p:spPr>
            <a:xfrm>
              <a:off x="0" y="0"/>
              <a:ext cx="7009220" cy="5444048"/>
            </a:xfrm>
            <a:custGeom>
              <a:avLst/>
              <a:gdLst/>
              <a:ahLst/>
              <a:cxnLst/>
              <a:rect l="l" t="t" r="r" b="b"/>
              <a:pathLst>
                <a:path w="1827253" h="1419224">
                  <a:moveTo>
                    <a:pt x="13254" y="0"/>
                  </a:moveTo>
                  <a:lnTo>
                    <a:pt x="1813999" y="0"/>
                  </a:lnTo>
                  <a:cubicBezTo>
                    <a:pt x="1821319" y="0"/>
                    <a:pt x="1827253" y="5934"/>
                    <a:pt x="1827253" y="13254"/>
                  </a:cubicBezTo>
                  <a:lnTo>
                    <a:pt x="1827253" y="1405970"/>
                  </a:lnTo>
                  <a:cubicBezTo>
                    <a:pt x="1827253" y="1413290"/>
                    <a:pt x="1821319" y="1419224"/>
                    <a:pt x="1813999" y="1419224"/>
                  </a:cubicBezTo>
                  <a:lnTo>
                    <a:pt x="13254" y="1419224"/>
                  </a:lnTo>
                  <a:cubicBezTo>
                    <a:pt x="5934" y="1419224"/>
                    <a:pt x="0" y="1413290"/>
                    <a:pt x="0" y="1405970"/>
                  </a:cubicBezTo>
                  <a:lnTo>
                    <a:pt x="0" y="13254"/>
                  </a:lnTo>
                  <a:cubicBezTo>
                    <a:pt x="0" y="5934"/>
                    <a:pt x="5934" y="0"/>
                    <a:pt x="13254"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52" name="Freeform 52"/>
            <p:cNvSpPr/>
            <p:nvPr/>
          </p:nvSpPr>
          <p:spPr>
            <a:xfrm>
              <a:off x="844928" y="408327"/>
              <a:ext cx="5310147" cy="897825"/>
            </a:xfrm>
            <a:custGeom>
              <a:avLst/>
              <a:gdLst/>
              <a:ahLst/>
              <a:cxnLst/>
              <a:rect l="l" t="t" r="r" b="b"/>
              <a:pathLst>
                <a:path w="1015532" h="171703">
                  <a:moveTo>
                    <a:pt x="0" y="0"/>
                  </a:moveTo>
                  <a:lnTo>
                    <a:pt x="1015532" y="0"/>
                  </a:lnTo>
                  <a:lnTo>
                    <a:pt x="1015532"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54" name="Freeform 54"/>
            <p:cNvSpPr/>
            <p:nvPr/>
          </p:nvSpPr>
          <p:spPr>
            <a:xfrm>
              <a:off x="2075434" y="4909540"/>
              <a:ext cx="2720611" cy="2411141"/>
            </a:xfrm>
            <a:custGeom>
              <a:avLst/>
              <a:gdLst/>
              <a:ahLst/>
              <a:cxnLst/>
              <a:rect l="l" t="t" r="r" b="b"/>
              <a:pathLst>
                <a:path w="2720611" h="2411141">
                  <a:moveTo>
                    <a:pt x="0" y="0"/>
                  </a:moveTo>
                  <a:lnTo>
                    <a:pt x="2720610" y="0"/>
                  </a:lnTo>
                  <a:lnTo>
                    <a:pt x="2720610" y="2411141"/>
                  </a:lnTo>
                  <a:lnTo>
                    <a:pt x="0" y="24111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algn="r" rtl="1"/>
              <a:endParaRPr lang="ar-SA">
                <a:cs typeface="PT Bold Heading" panose="02010400000000000000" pitchFamily="2" charset="-78"/>
              </a:endParaRPr>
            </a:p>
          </p:txBody>
        </p:sp>
        <p:sp>
          <p:nvSpPr>
            <p:cNvPr id="55" name="TextBox 55"/>
            <p:cNvSpPr txBox="1"/>
            <p:nvPr/>
          </p:nvSpPr>
          <p:spPr>
            <a:xfrm>
              <a:off x="216089" y="1558180"/>
              <a:ext cx="6577043" cy="2984835"/>
            </a:xfrm>
            <a:prstGeom prst="rect">
              <a:avLst/>
            </a:prstGeom>
          </p:spPr>
          <p:txBody>
            <a:bodyPr lIns="0" tIns="0" rIns="0" bIns="0" rtlCol="0" anchor="t">
              <a:spAutoFit/>
            </a:bodyPr>
            <a:lstStyle/>
            <a:p>
              <a:pPr algn="ctr" rtl="1">
                <a:lnSpc>
                  <a:spcPts val="3492"/>
                </a:lnSpc>
              </a:pPr>
              <a:r>
                <a:rPr lang="en-US" sz="2771">
                  <a:solidFill>
                    <a:srgbClr val="191C1C"/>
                  </a:solidFill>
                  <a:cs typeface="PT Bold Heading" panose="02010400000000000000" pitchFamily="2" charset="-78"/>
                </a:rPr>
                <a:t>خلال مرحلة الصيانة، يجب دمج الأمن السيبراني مع الصيانة المستمرة للنظام، ويتضمن ذلك إجراء تقييمات أمنية منتظمة بالإضافة إلى تحديث ضوابط الأمان حسب الحاجة .</a:t>
              </a:r>
            </a:p>
          </p:txBody>
        </p:sp>
        <p:sp>
          <p:nvSpPr>
            <p:cNvPr id="56" name="TextBox 56"/>
            <p:cNvSpPr txBox="1"/>
            <p:nvPr/>
          </p:nvSpPr>
          <p:spPr>
            <a:xfrm>
              <a:off x="870863" y="543637"/>
              <a:ext cx="5258275" cy="591017"/>
            </a:xfrm>
            <a:prstGeom prst="rect">
              <a:avLst/>
            </a:prstGeom>
          </p:spPr>
          <p:txBody>
            <a:bodyPr lIns="0" tIns="0" rIns="0" bIns="0" rtlCol="0" anchor="t">
              <a:spAutoFit/>
            </a:bodyPr>
            <a:lstStyle/>
            <a:p>
              <a:pPr algn="ctr" rtl="1">
                <a:lnSpc>
                  <a:spcPts val="3492"/>
                </a:lnSpc>
              </a:pPr>
              <a:r>
                <a:rPr lang="en-US" sz="2771">
                  <a:solidFill>
                    <a:srgbClr val="FFFFFF"/>
                  </a:solidFill>
                  <a:cs typeface="PT Bold Heading" panose="02010400000000000000" pitchFamily="2" charset="-78"/>
                </a:rPr>
                <a:t>الصيانة Maintenance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DD5F517E-85B2-02D4-6DCC-4F58E94041F1}"/>
              </a:ext>
            </a:extLst>
          </p:cNvPr>
          <p:cNvSpPr txBox="1"/>
          <p:nvPr/>
        </p:nvSpPr>
        <p:spPr>
          <a:xfrm>
            <a:off x="2172885" y="2768601"/>
            <a:ext cx="14469195" cy="854080"/>
          </a:xfrm>
          <a:prstGeom prst="rect">
            <a:avLst/>
          </a:prstGeom>
          <a:noFill/>
        </p:spPr>
        <p:txBody>
          <a:bodyPr wrap="square">
            <a:spAutoFit/>
          </a:bodyPr>
          <a:lstStyle/>
          <a:p>
            <a:pPr indent="-54000" algn="r" defTabSz="1371600" rtl="1">
              <a:lnSpc>
                <a:spcPct val="150000"/>
              </a:lnSpc>
              <a:defRPr/>
            </a:pPr>
            <a:r>
              <a:rPr lang="ar-SA" sz="3600" b="1" dirty="0">
                <a:solidFill>
                  <a:srgbClr val="C31828"/>
                </a:solidFill>
                <a:latin typeface="Calibri" panose="020F0502020204030204" pitchFamily="34" charset="0"/>
                <a:cs typeface="Sakkal Majalla" panose="02000000000000000000" pitchFamily="2" charset="-78"/>
              </a:rPr>
              <a:t>طالبتي الرائعة،، باستخدام استراتيجية اكتشاف المغالطة وضحي الخطأ في العبارات التالية مع تصحيحه</a:t>
            </a:r>
            <a:endParaRPr lang="ar-SA" sz="3600" b="1" dirty="0">
              <a:latin typeface="Adobe Arabic" panose="02040503050201020203" pitchFamily="18" charset="-78"/>
              <a:cs typeface="Adobe Arabic" panose="02040503050201020203" pitchFamily="18" charset="-78"/>
            </a:endParaRPr>
          </a:p>
        </p:txBody>
      </p:sp>
      <p:sp>
        <p:nvSpPr>
          <p:cNvPr id="6" name="مربع نص 5">
            <a:extLst>
              <a:ext uri="{FF2B5EF4-FFF2-40B4-BE49-F238E27FC236}">
                <a16:creationId xmlns:a16="http://schemas.microsoft.com/office/drawing/2014/main" id="{89B7290D-B0E7-0544-1BBE-50555001A639}"/>
              </a:ext>
            </a:extLst>
          </p:cNvPr>
          <p:cNvSpPr txBox="1"/>
          <p:nvPr/>
        </p:nvSpPr>
        <p:spPr>
          <a:xfrm>
            <a:off x="1600201" y="4505291"/>
            <a:ext cx="15087599" cy="1862048"/>
          </a:xfrm>
          <a:prstGeom prst="rect">
            <a:avLst/>
          </a:prstGeom>
          <a:noFill/>
        </p:spPr>
        <p:txBody>
          <a:bodyPr wrap="square">
            <a:spAutoFit/>
          </a:bodyPr>
          <a:lstStyle/>
          <a:p>
            <a:pPr marL="460350" indent="-514350" algn="r" defTabSz="1371600" rtl="1">
              <a:lnSpc>
                <a:spcPct val="150000"/>
              </a:lnSpc>
              <a:buFont typeface="Arial" panose="020B0604020202020204" pitchFamily="34" charset="0"/>
              <a:buChar char="•"/>
              <a:defRPr/>
            </a:pPr>
            <a:r>
              <a:rPr lang="ar-SA" sz="4000" b="1" dirty="0">
                <a:latin typeface="Calibri" panose="020F0502020204030204" pitchFamily="34" charset="0"/>
                <a:cs typeface="Sakkal Majalla" panose="02000000000000000000" pitchFamily="2" charset="-78"/>
              </a:rPr>
              <a:t>في مرحلة التنفيذ يجب تحديد وتوثيق متطلبات الأمن السيبراني، حيث سيساعد ذلك على تأكيد إنشاء النظام بأقصى درجات الأمان.</a:t>
            </a:r>
            <a:endParaRPr lang="ar-SA" sz="4000" b="1" dirty="0">
              <a:latin typeface="Adobe Arabic" panose="02040503050201020203" pitchFamily="18" charset="-78"/>
              <a:cs typeface="Adobe Arabic" panose="02040503050201020203" pitchFamily="18" charset="-78"/>
            </a:endParaRPr>
          </a:p>
        </p:txBody>
      </p:sp>
      <p:sp>
        <p:nvSpPr>
          <p:cNvPr id="7" name="مربع نص 6">
            <a:extLst>
              <a:ext uri="{FF2B5EF4-FFF2-40B4-BE49-F238E27FC236}">
                <a16:creationId xmlns:a16="http://schemas.microsoft.com/office/drawing/2014/main" id="{BE70506F-BE89-2E67-2739-E31862E86A35}"/>
              </a:ext>
            </a:extLst>
          </p:cNvPr>
          <p:cNvSpPr txBox="1"/>
          <p:nvPr/>
        </p:nvSpPr>
        <p:spPr>
          <a:xfrm>
            <a:off x="1600200" y="4496657"/>
            <a:ext cx="15087599" cy="1862048"/>
          </a:xfrm>
          <a:prstGeom prst="rect">
            <a:avLst/>
          </a:prstGeom>
          <a:solidFill>
            <a:schemeClr val="bg1"/>
          </a:solidFill>
        </p:spPr>
        <p:txBody>
          <a:bodyPr wrap="square">
            <a:spAutoFit/>
          </a:bodyPr>
          <a:lstStyle/>
          <a:p>
            <a:pPr marL="460350" indent="-514350" algn="r" defTabSz="1371600" rtl="1">
              <a:lnSpc>
                <a:spcPct val="150000"/>
              </a:lnSpc>
              <a:buFont typeface="Arial" panose="020B0604020202020204" pitchFamily="34" charset="0"/>
              <a:buChar char="•"/>
              <a:defRPr/>
            </a:pPr>
            <a:r>
              <a:rPr lang="ar-SA" sz="4000" b="1" dirty="0">
                <a:latin typeface="Calibri" panose="020F0502020204030204" pitchFamily="34" charset="0"/>
                <a:cs typeface="Sakkal Majalla" panose="02000000000000000000" pitchFamily="2" charset="-78"/>
              </a:rPr>
              <a:t>في مرحلة </a:t>
            </a:r>
            <a:r>
              <a:rPr lang="ar-SA" sz="4000" b="1" dirty="0">
                <a:solidFill>
                  <a:srgbClr val="C31828"/>
                </a:solidFill>
                <a:latin typeface="Calibri" panose="020F0502020204030204" pitchFamily="34" charset="0"/>
                <a:cs typeface="Sakkal Majalla" panose="02000000000000000000" pitchFamily="2" charset="-78"/>
              </a:rPr>
              <a:t>التحليل</a:t>
            </a:r>
            <a:r>
              <a:rPr lang="ar-SA" sz="4000" b="1" dirty="0">
                <a:latin typeface="Calibri" panose="020F0502020204030204" pitchFamily="34" charset="0"/>
                <a:cs typeface="Sakkal Majalla" panose="02000000000000000000" pitchFamily="2" charset="-78"/>
              </a:rPr>
              <a:t> يجب تحديد وتوثيق متطلبات الأمن السيبراني، حيث سيساعد ذلك على تأكيد إنشاء النظام بأقصى درجات الأمان.</a:t>
            </a:r>
            <a:endParaRPr lang="ar-SA" sz="4000" b="1" dirty="0">
              <a:latin typeface="Bahnschrift" panose="020B0502040204020203" pitchFamily="34" charset="0"/>
              <a:cs typeface="Adobe Arabic" panose="02040503050201020203" pitchFamily="18" charset="-78"/>
            </a:endParaRPr>
          </a:p>
        </p:txBody>
      </p:sp>
      <p:sp>
        <p:nvSpPr>
          <p:cNvPr id="9" name="مربع نص 8">
            <a:extLst>
              <a:ext uri="{FF2B5EF4-FFF2-40B4-BE49-F238E27FC236}">
                <a16:creationId xmlns:a16="http://schemas.microsoft.com/office/drawing/2014/main" id="{A3D8FB20-E1BA-B4C8-B83A-DEF4ECB0BD88}"/>
              </a:ext>
            </a:extLst>
          </p:cNvPr>
          <p:cNvSpPr txBox="1"/>
          <p:nvPr/>
        </p:nvSpPr>
        <p:spPr>
          <a:xfrm>
            <a:off x="2183130" y="6627924"/>
            <a:ext cx="14504669" cy="1862048"/>
          </a:xfrm>
          <a:prstGeom prst="rect">
            <a:avLst/>
          </a:prstGeom>
          <a:solidFill>
            <a:schemeClr val="bg1"/>
          </a:solidFill>
        </p:spPr>
        <p:txBody>
          <a:bodyPr wrap="square">
            <a:spAutoFit/>
          </a:bodyPr>
          <a:lstStyle>
            <a:defPPr>
              <a:defRPr lang="en-US"/>
            </a:defPPr>
            <a:lvl1pPr marL="306900" indent="-342900" algn="r" defTabSz="914400" rtl="1">
              <a:lnSpc>
                <a:spcPct val="150000"/>
              </a:lnSpc>
              <a:buFont typeface="Arial" panose="020B0604020202020204" pitchFamily="34" charset="0"/>
              <a:buChar char="•"/>
              <a:defRPr sz="2000" b="1">
                <a:latin typeface="Calibri" panose="020F0502020204030204" pitchFamily="34" charset="0"/>
                <a:cs typeface="Sakkal Majalla" panose="02000000000000000000" pitchFamily="2" charset="-78"/>
              </a:defRPr>
            </a:lvl1pPr>
          </a:lstStyle>
          <a:p>
            <a:r>
              <a:rPr lang="ar-SA" sz="4000" dirty="0"/>
              <a:t>يعد دمج الأمن السيبراني في دورة حياة النظام أمراً اختيارياً لكون النظام آمناً ومحمياً من التهديدات المختلفة. </a:t>
            </a:r>
          </a:p>
        </p:txBody>
      </p:sp>
      <p:sp>
        <p:nvSpPr>
          <p:cNvPr id="10" name="مربع نص 9">
            <a:extLst>
              <a:ext uri="{FF2B5EF4-FFF2-40B4-BE49-F238E27FC236}">
                <a16:creationId xmlns:a16="http://schemas.microsoft.com/office/drawing/2014/main" id="{9756C9B1-0945-B2E2-B2FA-66141AF51300}"/>
              </a:ext>
            </a:extLst>
          </p:cNvPr>
          <p:cNvSpPr txBox="1"/>
          <p:nvPr/>
        </p:nvSpPr>
        <p:spPr>
          <a:xfrm>
            <a:off x="2172885" y="6627924"/>
            <a:ext cx="14504669" cy="1862048"/>
          </a:xfrm>
          <a:prstGeom prst="rect">
            <a:avLst/>
          </a:prstGeom>
          <a:solidFill>
            <a:schemeClr val="bg1"/>
          </a:solidFill>
        </p:spPr>
        <p:txBody>
          <a:bodyPr wrap="square">
            <a:spAutoFit/>
          </a:bodyPr>
          <a:lstStyle>
            <a:defPPr>
              <a:defRPr lang="en-US"/>
            </a:defPPr>
            <a:lvl1pPr marL="306900" indent="-342900" algn="r" defTabSz="914400" rtl="1">
              <a:lnSpc>
                <a:spcPct val="150000"/>
              </a:lnSpc>
              <a:buFont typeface="Arial" panose="020B0604020202020204" pitchFamily="34" charset="0"/>
              <a:buChar char="•"/>
              <a:defRPr sz="2000" b="1">
                <a:latin typeface="Calibri" panose="020F0502020204030204" pitchFamily="34" charset="0"/>
                <a:cs typeface="Sakkal Majalla" panose="02000000000000000000" pitchFamily="2" charset="-78"/>
              </a:defRPr>
            </a:lvl1pPr>
          </a:lstStyle>
          <a:p>
            <a:r>
              <a:rPr lang="ar-SA" sz="4000" dirty="0"/>
              <a:t>يعد دمج الأمن السيبراني في دورة حياة النظام </a:t>
            </a:r>
            <a:r>
              <a:rPr lang="ar-SA" sz="4000" dirty="0">
                <a:solidFill>
                  <a:srgbClr val="C31828"/>
                </a:solidFill>
              </a:rPr>
              <a:t>أمراً مهماً لضمان كون</a:t>
            </a:r>
            <a:r>
              <a:rPr lang="ar-SA" sz="4000" dirty="0"/>
              <a:t> النظام آمناً ومحمياً من التهديدات المختلفة. </a:t>
            </a:r>
          </a:p>
        </p:txBody>
      </p:sp>
      <p:grpSp>
        <p:nvGrpSpPr>
          <p:cNvPr id="2" name="مجموعة 1">
            <a:extLst>
              <a:ext uri="{FF2B5EF4-FFF2-40B4-BE49-F238E27FC236}">
                <a16:creationId xmlns:a16="http://schemas.microsoft.com/office/drawing/2014/main" id="{E4EC793D-D333-9E4A-941A-F8C46D46E5E2}"/>
              </a:ext>
            </a:extLst>
          </p:cNvPr>
          <p:cNvGrpSpPr/>
          <p:nvPr/>
        </p:nvGrpSpPr>
        <p:grpSpPr>
          <a:xfrm>
            <a:off x="1858407" y="368566"/>
            <a:ext cx="14665433" cy="2107438"/>
            <a:chOff x="4721019" y="2312028"/>
            <a:chExt cx="12857550" cy="3122542"/>
          </a:xfrm>
        </p:grpSpPr>
        <p:grpSp>
          <p:nvGrpSpPr>
            <p:cNvPr id="3" name="Group 13">
              <a:extLst>
                <a:ext uri="{FF2B5EF4-FFF2-40B4-BE49-F238E27FC236}">
                  <a16:creationId xmlns:a16="http://schemas.microsoft.com/office/drawing/2014/main" id="{FE2C54B8-D945-034C-7FB6-77CD3EE3A6DA}"/>
                </a:ext>
              </a:extLst>
            </p:cNvPr>
            <p:cNvGrpSpPr/>
            <p:nvPr/>
          </p:nvGrpSpPr>
          <p:grpSpPr>
            <a:xfrm>
              <a:off x="6018873" y="4515916"/>
              <a:ext cx="11101701" cy="918654"/>
              <a:chOff x="0" y="200392"/>
              <a:chExt cx="14802268" cy="1224871"/>
            </a:xfrm>
          </p:grpSpPr>
          <p:sp>
            <p:nvSpPr>
              <p:cNvPr id="28" name="Freeform 15">
                <a:extLst>
                  <a:ext uri="{FF2B5EF4-FFF2-40B4-BE49-F238E27FC236}">
                    <a16:creationId xmlns:a16="http://schemas.microsoft.com/office/drawing/2014/main" id="{2DCA095D-1465-941C-09DC-5A1BB5BD9610}"/>
                  </a:ext>
                </a:extLst>
              </p:cNvPr>
              <p:cNvSpPr/>
              <p:nvPr/>
            </p:nvSpPr>
            <p:spPr>
              <a:xfrm>
                <a:off x="0" y="212950"/>
                <a:ext cx="14229757" cy="121231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9" name="Freeform 18">
                <a:extLst>
                  <a:ext uri="{FF2B5EF4-FFF2-40B4-BE49-F238E27FC236}">
                    <a16:creationId xmlns:a16="http://schemas.microsoft.com/office/drawing/2014/main" id="{D3E96E3B-FBBC-8EC9-D1EE-A762385B3545}"/>
                  </a:ext>
                </a:extLst>
              </p:cNvPr>
              <p:cNvSpPr/>
              <p:nvPr/>
            </p:nvSpPr>
            <p:spPr>
              <a:xfrm>
                <a:off x="14205179" y="200392"/>
                <a:ext cx="597089" cy="1224871"/>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0" name="TextBox 20">
                <a:extLst>
                  <a:ext uri="{FF2B5EF4-FFF2-40B4-BE49-F238E27FC236}">
                    <a16:creationId xmlns:a16="http://schemas.microsoft.com/office/drawing/2014/main" id="{D11BFC3E-A24F-B0E2-572F-9F5ED8507C57}"/>
                  </a:ext>
                </a:extLst>
              </p:cNvPr>
              <p:cNvSpPr txBox="1"/>
              <p:nvPr/>
            </p:nvSpPr>
            <p:spPr>
              <a:xfrm>
                <a:off x="5844133" y="258458"/>
                <a:ext cx="7200703" cy="946251"/>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a:t>
                </a:r>
                <a:r>
                  <a:rPr lang="ar-SA" sz="3200">
                    <a:solidFill>
                      <a:srgbClr val="FFFFFF"/>
                    </a:solidFill>
                    <a:cs typeface="PT Bold Heading" panose="02010400000000000000" pitchFamily="2" charset="-78"/>
                  </a:rPr>
                  <a:t>: اكتشاف المغالطة</a:t>
                </a:r>
                <a:endParaRPr lang="en-US" sz="3200" dirty="0">
                  <a:solidFill>
                    <a:srgbClr val="FFFFFF"/>
                  </a:solidFill>
                  <a:cs typeface="PT Bold Heading" panose="02010400000000000000" pitchFamily="2" charset="-78"/>
                </a:endParaRPr>
              </a:p>
            </p:txBody>
          </p:sp>
        </p:grpSp>
        <p:sp>
          <p:nvSpPr>
            <p:cNvPr id="4" name="Freeform 22">
              <a:extLst>
                <a:ext uri="{FF2B5EF4-FFF2-40B4-BE49-F238E27FC236}">
                  <a16:creationId xmlns:a16="http://schemas.microsoft.com/office/drawing/2014/main" id="{17E444CA-FDB4-1DB9-B32F-1D20A20AD7DF}"/>
                </a:ext>
              </a:extLst>
            </p:cNvPr>
            <p:cNvSpPr/>
            <p:nvPr/>
          </p:nvSpPr>
          <p:spPr>
            <a:xfrm>
              <a:off x="6018873" y="2312028"/>
              <a:ext cx="11503024" cy="181564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8" name="Freeform 25">
              <a:extLst>
                <a:ext uri="{FF2B5EF4-FFF2-40B4-BE49-F238E27FC236}">
                  <a16:creationId xmlns:a16="http://schemas.microsoft.com/office/drawing/2014/main" id="{9A354D59-D657-F760-E838-EC4D33F31067}"/>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1" name="Freeform 28">
              <a:extLst>
                <a:ext uri="{FF2B5EF4-FFF2-40B4-BE49-F238E27FC236}">
                  <a16:creationId xmlns:a16="http://schemas.microsoft.com/office/drawing/2014/main" id="{BDB77152-29B3-2471-79B1-BAD44939C65C}"/>
                </a:ext>
              </a:extLst>
            </p:cNvPr>
            <p:cNvSpPr/>
            <p:nvPr/>
          </p:nvSpPr>
          <p:spPr>
            <a:xfrm>
              <a:off x="15384091" y="3323646"/>
              <a:ext cx="1860306" cy="624822"/>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4" name="Freeform 31">
              <a:extLst>
                <a:ext uri="{FF2B5EF4-FFF2-40B4-BE49-F238E27FC236}">
                  <a16:creationId xmlns:a16="http://schemas.microsoft.com/office/drawing/2014/main" id="{CFD15612-7066-1E93-0F49-45F6C237D7BC}"/>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5" name="Freeform 34">
              <a:extLst>
                <a:ext uri="{FF2B5EF4-FFF2-40B4-BE49-F238E27FC236}">
                  <a16:creationId xmlns:a16="http://schemas.microsoft.com/office/drawing/2014/main" id="{ABDFC02F-F7BB-1080-396B-B08AC4A9DCC2}"/>
                </a:ext>
              </a:extLst>
            </p:cNvPr>
            <p:cNvSpPr/>
            <p:nvPr/>
          </p:nvSpPr>
          <p:spPr>
            <a:xfrm>
              <a:off x="13769349" y="3306693"/>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16" name="TextBox 36">
              <a:extLst>
                <a:ext uri="{FF2B5EF4-FFF2-40B4-BE49-F238E27FC236}">
                  <a16:creationId xmlns:a16="http://schemas.microsoft.com/office/drawing/2014/main" id="{BD9AABFA-BBAE-4BC9-2E9D-0314195A6F1C}"/>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17" name="TextBox 37">
              <a:extLst>
                <a:ext uri="{FF2B5EF4-FFF2-40B4-BE49-F238E27FC236}">
                  <a16:creationId xmlns:a16="http://schemas.microsoft.com/office/drawing/2014/main" id="{3C9C1812-97CF-5B28-8CFD-227AFCECCC01}"/>
                </a:ext>
              </a:extLst>
            </p:cNvPr>
            <p:cNvSpPr txBox="1"/>
            <p:nvPr/>
          </p:nvSpPr>
          <p:spPr>
            <a:xfrm>
              <a:off x="15082665" y="3254615"/>
              <a:ext cx="2495904" cy="720568"/>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18" name="TextBox 38">
              <a:extLst>
                <a:ext uri="{FF2B5EF4-FFF2-40B4-BE49-F238E27FC236}">
                  <a16:creationId xmlns:a16="http://schemas.microsoft.com/office/drawing/2014/main" id="{A7485D22-048B-AEAF-352E-035E48BCE226}"/>
                </a:ext>
              </a:extLst>
            </p:cNvPr>
            <p:cNvSpPr txBox="1"/>
            <p:nvPr/>
          </p:nvSpPr>
          <p:spPr>
            <a:xfrm>
              <a:off x="14075170" y="2424585"/>
              <a:ext cx="882808" cy="572882"/>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2</a:t>
              </a:r>
            </a:p>
          </p:txBody>
        </p:sp>
        <p:sp>
          <p:nvSpPr>
            <p:cNvPr id="19" name="TextBox 39">
              <a:extLst>
                <a:ext uri="{FF2B5EF4-FFF2-40B4-BE49-F238E27FC236}">
                  <a16:creationId xmlns:a16="http://schemas.microsoft.com/office/drawing/2014/main" id="{9FD57AAB-E9E7-2A89-5716-36E1833C3890}"/>
                </a:ext>
              </a:extLst>
            </p:cNvPr>
            <p:cNvSpPr txBox="1"/>
            <p:nvPr/>
          </p:nvSpPr>
          <p:spPr>
            <a:xfrm>
              <a:off x="14102509" y="3206466"/>
              <a:ext cx="882808" cy="572882"/>
            </a:xfrm>
            <a:prstGeom prst="rect">
              <a:avLst/>
            </a:prstGeom>
          </p:spPr>
          <p:txBody>
            <a:bodyPr lIns="0" tIns="0" rIns="0" bIns="0" rtlCol="0" anchor="t">
              <a:spAutoFit/>
            </a:bodyPr>
            <a:lstStyle/>
            <a:p>
              <a:pPr algn="ctr" rtl="1">
                <a:lnSpc>
                  <a:spcPts val="3269"/>
                </a:lnSpc>
              </a:pPr>
              <a:r>
                <a:rPr lang="en-GB" dirty="0">
                  <a:solidFill>
                    <a:srgbClr val="000000"/>
                  </a:solidFill>
                  <a:latin typeface="PT Bold Heading"/>
                  <a:cs typeface="PT Bold Heading" panose="02010400000000000000" pitchFamily="2" charset="-78"/>
                </a:rPr>
                <a:t>1</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20" name="Freeform 41">
              <a:extLst>
                <a:ext uri="{FF2B5EF4-FFF2-40B4-BE49-F238E27FC236}">
                  <a16:creationId xmlns:a16="http://schemas.microsoft.com/office/drawing/2014/main" id="{179EB0C8-0D0B-A4EF-936D-824A3A5B8417}"/>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21" name="Freeform 44">
              <a:extLst>
                <a:ext uri="{FF2B5EF4-FFF2-40B4-BE49-F238E27FC236}">
                  <a16:creationId xmlns:a16="http://schemas.microsoft.com/office/drawing/2014/main" id="{3972C4E6-5B49-510A-A421-FF67963941D9}"/>
                </a:ext>
              </a:extLst>
            </p:cNvPr>
            <p:cNvSpPr/>
            <p:nvPr/>
          </p:nvSpPr>
          <p:spPr>
            <a:xfrm>
              <a:off x="11426631" y="3402673"/>
              <a:ext cx="1936166" cy="573415"/>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22" name="Freeform 47">
              <a:extLst>
                <a:ext uri="{FF2B5EF4-FFF2-40B4-BE49-F238E27FC236}">
                  <a16:creationId xmlns:a16="http://schemas.microsoft.com/office/drawing/2014/main" id="{3AC54777-85BC-B154-AEE2-3B4F90505F97}"/>
                </a:ext>
              </a:extLst>
            </p:cNvPr>
            <p:cNvSpPr/>
            <p:nvPr/>
          </p:nvSpPr>
          <p:spPr>
            <a:xfrm>
              <a:off x="6164367" y="2471739"/>
              <a:ext cx="5133210" cy="733569"/>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3" name="Freeform 50">
              <a:extLst>
                <a:ext uri="{FF2B5EF4-FFF2-40B4-BE49-F238E27FC236}">
                  <a16:creationId xmlns:a16="http://schemas.microsoft.com/office/drawing/2014/main" id="{EAF0DAA8-F88C-9201-E035-83C1AB07E728}"/>
                </a:ext>
              </a:extLst>
            </p:cNvPr>
            <p:cNvSpPr/>
            <p:nvPr/>
          </p:nvSpPr>
          <p:spPr>
            <a:xfrm>
              <a:off x="6293682" y="339614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TextBox 52">
              <a:extLst>
                <a:ext uri="{FF2B5EF4-FFF2-40B4-BE49-F238E27FC236}">
                  <a16:creationId xmlns:a16="http://schemas.microsoft.com/office/drawing/2014/main" id="{95F3F0C2-9F1B-ACF8-60F2-C7D7854905EE}"/>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25" name="TextBox 53">
              <a:extLst>
                <a:ext uri="{FF2B5EF4-FFF2-40B4-BE49-F238E27FC236}">
                  <a16:creationId xmlns:a16="http://schemas.microsoft.com/office/drawing/2014/main" id="{D8B53A17-6C53-AE91-CC17-6FF0BC6C6D78}"/>
                </a:ext>
              </a:extLst>
            </p:cNvPr>
            <p:cNvSpPr txBox="1"/>
            <p:nvPr/>
          </p:nvSpPr>
          <p:spPr>
            <a:xfrm>
              <a:off x="11070169" y="3295029"/>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26" name="TextBox 54">
              <a:extLst>
                <a:ext uri="{FF2B5EF4-FFF2-40B4-BE49-F238E27FC236}">
                  <a16:creationId xmlns:a16="http://schemas.microsoft.com/office/drawing/2014/main" id="{5D228415-3884-F6D5-AD99-3B717BCBEEF8}"/>
                </a:ext>
              </a:extLst>
            </p:cNvPr>
            <p:cNvSpPr txBox="1"/>
            <p:nvPr/>
          </p:nvSpPr>
          <p:spPr>
            <a:xfrm>
              <a:off x="4721019" y="2465879"/>
              <a:ext cx="7844947" cy="544380"/>
            </a:xfrm>
            <a:prstGeom prst="rect">
              <a:avLst/>
            </a:prstGeom>
            <a:noFill/>
          </p:spPr>
          <p:txBody>
            <a:bodyPr wrap="square" lIns="0" tIns="0" rIns="0" bIns="0" rtlCol="0" anchor="t">
              <a:spAutoFit/>
            </a:bodyPr>
            <a:lstStyle/>
            <a:p>
              <a:pPr algn="ctr" rtl="1">
                <a:lnSpc>
                  <a:spcPts val="3073"/>
                </a:lnSpc>
              </a:pPr>
              <a:r>
                <a:rPr lang="ar-SA" dirty="0">
                  <a:solidFill>
                    <a:srgbClr val="17383E"/>
                  </a:solidFill>
                  <a:cs typeface="PT Bold Heading" panose="02010400000000000000" pitchFamily="2" charset="-78"/>
                </a:rPr>
                <a:t>أن تشرح الطالبة كيفية دمج الأمن السيبراني فر دورة مراحل النظام</a:t>
              </a:r>
              <a:endParaRPr lang="en-US" dirty="0">
                <a:solidFill>
                  <a:srgbClr val="17383E"/>
                </a:solidFill>
                <a:cs typeface="PT Bold Heading" panose="02010400000000000000" pitchFamily="2" charset="-78"/>
              </a:endParaRPr>
            </a:p>
          </p:txBody>
        </p:sp>
        <p:sp>
          <p:nvSpPr>
            <p:cNvPr id="27" name="TextBox 55">
              <a:extLst>
                <a:ext uri="{FF2B5EF4-FFF2-40B4-BE49-F238E27FC236}">
                  <a16:creationId xmlns:a16="http://schemas.microsoft.com/office/drawing/2014/main" id="{966CEF2B-693A-E702-17B6-A84790A1D849}"/>
                </a:ext>
              </a:extLst>
            </p:cNvPr>
            <p:cNvSpPr txBox="1"/>
            <p:nvPr/>
          </p:nvSpPr>
          <p:spPr>
            <a:xfrm>
              <a:off x="6598020" y="3263076"/>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فردي</a:t>
              </a:r>
              <a:endParaRPr lang="en-US" dirty="0">
                <a:solidFill>
                  <a:srgbClr val="17383E"/>
                </a:solidFill>
                <a:cs typeface="PT Bold Heading" panose="02010400000000000000" pitchFamily="2" charset="-78"/>
              </a:endParaRPr>
            </a:p>
          </p:txBody>
        </p:sp>
      </p:grpSp>
    </p:spTree>
    <p:extLst>
      <p:ext uri="{BB962C8B-B14F-4D97-AF65-F5344CB8AC3E}">
        <p14:creationId xmlns:p14="http://schemas.microsoft.com/office/powerpoint/2010/main" val="52976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3375" y="2208376"/>
            <a:ext cx="17124625" cy="6154500"/>
            <a:chOff x="12261" y="0"/>
            <a:chExt cx="22832834" cy="8206000"/>
          </a:xfrm>
        </p:grpSpPr>
        <p:sp>
          <p:nvSpPr>
            <p:cNvPr id="4" name="Freeform 4"/>
            <p:cNvSpPr/>
            <p:nvPr/>
          </p:nvSpPr>
          <p:spPr>
            <a:xfrm>
              <a:off x="2748628" y="4724432"/>
              <a:ext cx="18873050" cy="3481568"/>
            </a:xfrm>
            <a:custGeom>
              <a:avLst/>
              <a:gdLst/>
              <a:ahLst/>
              <a:cxnLst/>
              <a:rect l="l" t="t" r="r" b="b"/>
              <a:pathLst>
                <a:path w="3382548" h="623989">
                  <a:moveTo>
                    <a:pt x="0" y="0"/>
                  </a:moveTo>
                  <a:lnTo>
                    <a:pt x="3382548" y="0"/>
                  </a:lnTo>
                  <a:lnTo>
                    <a:pt x="3382548" y="623989"/>
                  </a:lnTo>
                  <a:lnTo>
                    <a:pt x="0" y="623989"/>
                  </a:lnTo>
                  <a:close/>
                </a:path>
              </a:pathLst>
            </a:custGeom>
            <a:solidFill>
              <a:srgbClr val="FFE194">
                <a:alpha val="55686"/>
              </a:srgbClr>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48628" y="1467947"/>
              <a:ext cx="18873050" cy="3256485"/>
            </a:xfrm>
            <a:custGeom>
              <a:avLst/>
              <a:gdLst/>
              <a:ahLst/>
              <a:cxnLst/>
              <a:rect l="l" t="t" r="r" b="b"/>
              <a:pathLst>
                <a:path w="3382548" h="583648">
                  <a:moveTo>
                    <a:pt x="0" y="0"/>
                  </a:moveTo>
                  <a:lnTo>
                    <a:pt x="3382548" y="0"/>
                  </a:lnTo>
                  <a:lnTo>
                    <a:pt x="3382548" y="583648"/>
                  </a:lnTo>
                  <a:lnTo>
                    <a:pt x="0" y="583648"/>
                  </a:lnTo>
                  <a:close/>
                </a:path>
              </a:pathLst>
            </a:custGeom>
            <a:solidFill>
              <a:schemeClr val="bg1">
                <a:lumMod val="75000"/>
              </a:schemeClr>
            </a:solidFill>
            <a:ln>
              <a:noFill/>
            </a:ln>
          </p:spPr>
          <p:txBody>
            <a:bodyPr/>
            <a:lstStyle/>
            <a:p>
              <a:pPr algn="r" rtl="1"/>
              <a:endParaRPr lang="ar-SA" dirty="0">
                <a:cs typeface="PT Bold Heading" panose="02010400000000000000" pitchFamily="2" charset="-78"/>
              </a:endParaRPr>
            </a:p>
          </p:txBody>
        </p:sp>
        <p:sp>
          <p:nvSpPr>
            <p:cNvPr id="10" name="Freeform 10"/>
            <p:cNvSpPr/>
            <p:nvPr/>
          </p:nvSpPr>
          <p:spPr>
            <a:xfrm>
              <a:off x="2748628" y="812083"/>
              <a:ext cx="18547275" cy="7093415"/>
            </a:xfrm>
            <a:custGeom>
              <a:avLst/>
              <a:gdLst/>
              <a:ahLst/>
              <a:cxnLst/>
              <a:rect l="l" t="t" r="r" b="b"/>
              <a:pathLst>
                <a:path w="3786387" h="1448106">
                  <a:moveTo>
                    <a:pt x="5009" y="0"/>
                  </a:moveTo>
                  <a:lnTo>
                    <a:pt x="3781378" y="0"/>
                  </a:lnTo>
                  <a:cubicBezTo>
                    <a:pt x="3784145" y="0"/>
                    <a:pt x="3786387" y="2243"/>
                    <a:pt x="3786387" y="5009"/>
                  </a:cubicBezTo>
                  <a:lnTo>
                    <a:pt x="3786387" y="1443097"/>
                  </a:lnTo>
                  <a:cubicBezTo>
                    <a:pt x="3786387" y="1445863"/>
                    <a:pt x="3784145" y="1448106"/>
                    <a:pt x="3781378" y="1448106"/>
                  </a:cubicBezTo>
                  <a:lnTo>
                    <a:pt x="5009" y="1448106"/>
                  </a:lnTo>
                  <a:cubicBezTo>
                    <a:pt x="2243" y="1448106"/>
                    <a:pt x="0" y="1445863"/>
                    <a:pt x="0" y="1443097"/>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3" name="Freeform 13"/>
            <p:cNvSpPr/>
            <p:nvPr/>
          </p:nvSpPr>
          <p:spPr>
            <a:xfrm>
              <a:off x="14550562" y="0"/>
              <a:ext cx="7071116" cy="1700365"/>
            </a:xfrm>
            <a:custGeom>
              <a:avLst/>
              <a:gdLst/>
              <a:ahLst/>
              <a:cxnLst/>
              <a:rect l="l" t="t" r="r" b="b"/>
              <a:pathLst>
                <a:path w="1267330" h="304750">
                  <a:moveTo>
                    <a:pt x="0" y="0"/>
                  </a:moveTo>
                  <a:lnTo>
                    <a:pt x="1267330" y="0"/>
                  </a:lnTo>
                  <a:lnTo>
                    <a:pt x="1267330" y="304750"/>
                  </a:lnTo>
                  <a:lnTo>
                    <a:pt x="0" y="304750"/>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16" name="Freeform 16"/>
            <p:cNvSpPr/>
            <p:nvPr/>
          </p:nvSpPr>
          <p:spPr>
            <a:xfrm>
              <a:off x="20473288" y="0"/>
              <a:ext cx="2371807" cy="1700365"/>
            </a:xfrm>
            <a:custGeom>
              <a:avLst/>
              <a:gdLst/>
              <a:ahLst/>
              <a:cxnLst/>
              <a:rect l="l" t="t" r="r" b="b"/>
              <a:pathLst>
                <a:path w="425090" h="304750">
                  <a:moveTo>
                    <a:pt x="0" y="0"/>
                  </a:moveTo>
                  <a:lnTo>
                    <a:pt x="425090" y="0"/>
                  </a:lnTo>
                  <a:lnTo>
                    <a:pt x="425090" y="304750"/>
                  </a:lnTo>
                  <a:lnTo>
                    <a:pt x="0" y="304750"/>
                  </a:lnTo>
                  <a:close/>
                </a:path>
              </a:pathLst>
            </a:custGeom>
            <a:solidFill>
              <a:srgbClr val="1DA8A7"/>
            </a:solidFill>
            <a:ln>
              <a:noFill/>
            </a:ln>
          </p:spPr>
          <p:txBody>
            <a:bodyPr/>
            <a:lstStyle/>
            <a:p>
              <a:pPr algn="r" rtl="1"/>
              <a:endParaRPr lang="ar-SA" dirty="0">
                <a:cs typeface="PT Bold Heading" panose="02010400000000000000" pitchFamily="2" charset="-78"/>
              </a:endParaRPr>
            </a:p>
          </p:txBody>
        </p:sp>
        <p:sp>
          <p:nvSpPr>
            <p:cNvPr id="18" name="TextBox 18"/>
            <p:cNvSpPr txBox="1"/>
            <p:nvPr/>
          </p:nvSpPr>
          <p:spPr>
            <a:xfrm>
              <a:off x="14757737" y="468211"/>
              <a:ext cx="5389776" cy="956759"/>
            </a:xfrm>
            <a:prstGeom prst="rect">
              <a:avLst/>
            </a:prstGeom>
          </p:spPr>
          <p:txBody>
            <a:bodyPr lIns="0" tIns="0" rIns="0" bIns="0" rtlCol="0" anchor="t">
              <a:spAutoFit/>
            </a:bodyPr>
            <a:lstStyle/>
            <a:p>
              <a:pPr algn="ctr" rtl="1">
                <a:lnSpc>
                  <a:spcPts val="5294"/>
                </a:lnSpc>
              </a:pPr>
              <a:r>
                <a:rPr lang="ar-SA" sz="5402" dirty="0">
                  <a:solidFill>
                    <a:srgbClr val="17383E"/>
                  </a:solidFill>
                  <a:cs typeface="PT Bold Heading" panose="02010400000000000000" pitchFamily="2" charset="-78"/>
                </a:rPr>
                <a:t>إثراء</a:t>
              </a:r>
              <a:endParaRPr lang="en-US" sz="5402" dirty="0">
                <a:solidFill>
                  <a:srgbClr val="17383E"/>
                </a:solidFill>
                <a:cs typeface="PT Bold Heading" panose="02010400000000000000" pitchFamily="2" charset="-78"/>
              </a:endParaRPr>
            </a:p>
          </p:txBody>
        </p:sp>
        <p:sp>
          <p:nvSpPr>
            <p:cNvPr id="20" name="Freeform 20"/>
            <p:cNvSpPr/>
            <p:nvPr/>
          </p:nvSpPr>
          <p:spPr>
            <a:xfrm>
              <a:off x="12261" y="1925004"/>
              <a:ext cx="5472725" cy="5497256"/>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dirty="0">
                <a:cs typeface="PT Bold Heading" panose="02010400000000000000" pitchFamily="2" charset="-78"/>
              </a:endParaRPr>
            </a:p>
          </p:txBody>
        </p:sp>
        <p:sp>
          <p:nvSpPr>
            <p:cNvPr id="22" name="Freeform 22"/>
            <p:cNvSpPr/>
            <p:nvPr/>
          </p:nvSpPr>
          <p:spPr>
            <a:xfrm>
              <a:off x="366592" y="2843522"/>
              <a:ext cx="4764072" cy="3609145"/>
            </a:xfrm>
            <a:custGeom>
              <a:avLst/>
              <a:gdLst/>
              <a:ahLst/>
              <a:cxnLst/>
              <a:rect l="l" t="t" r="r" b="b"/>
              <a:pathLst>
                <a:path w="4764072" h="3609145">
                  <a:moveTo>
                    <a:pt x="0" y="0"/>
                  </a:moveTo>
                  <a:lnTo>
                    <a:pt x="4764072" y="0"/>
                  </a:lnTo>
                  <a:lnTo>
                    <a:pt x="4764072" y="3609146"/>
                  </a:lnTo>
                  <a:lnTo>
                    <a:pt x="0" y="36091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3" name="Group 23"/>
          <p:cNvGrpSpPr/>
          <p:nvPr/>
        </p:nvGrpSpPr>
        <p:grpSpPr>
          <a:xfrm>
            <a:off x="5873099" y="4687784"/>
            <a:ext cx="10647827" cy="2817915"/>
            <a:chOff x="0" y="0"/>
            <a:chExt cx="14197103" cy="2546307"/>
          </a:xfrm>
        </p:grpSpPr>
        <p:sp>
          <p:nvSpPr>
            <p:cNvPr id="25" name="Freeform 25"/>
            <p:cNvSpPr/>
            <p:nvPr/>
          </p:nvSpPr>
          <p:spPr>
            <a:xfrm>
              <a:off x="0" y="0"/>
              <a:ext cx="14197103" cy="2546307"/>
            </a:xfrm>
            <a:custGeom>
              <a:avLst/>
              <a:gdLst/>
              <a:ahLst/>
              <a:cxnLst/>
              <a:rect l="l" t="t" r="r" b="b"/>
              <a:pathLst>
                <a:path w="2462020" h="441573">
                  <a:moveTo>
                    <a:pt x="0" y="0"/>
                  </a:moveTo>
                  <a:lnTo>
                    <a:pt x="2462020" y="0"/>
                  </a:lnTo>
                  <a:lnTo>
                    <a:pt x="2462020" y="441573"/>
                  </a:lnTo>
                  <a:lnTo>
                    <a:pt x="0" y="441573"/>
                  </a:lnTo>
                  <a:close/>
                </a:path>
              </a:pathLst>
            </a:custGeom>
            <a:solidFill>
              <a:srgbClr val="FFE194">
                <a:alpha val="20784"/>
              </a:srgbClr>
            </a:solidFill>
            <a:ln>
              <a:noFill/>
            </a:ln>
          </p:spPr>
          <p:txBody>
            <a:bodyPr/>
            <a:lstStyle/>
            <a:p>
              <a:pPr algn="r" rtl="1"/>
              <a:endParaRPr lang="ar-SA" dirty="0">
                <a:cs typeface="PT Bold Heading" panose="02010400000000000000" pitchFamily="2" charset="-78"/>
              </a:endParaRPr>
            </a:p>
          </p:txBody>
        </p:sp>
        <p:sp>
          <p:nvSpPr>
            <p:cNvPr id="27" name="TextBox 27"/>
            <p:cNvSpPr txBox="1"/>
            <p:nvPr/>
          </p:nvSpPr>
          <p:spPr>
            <a:xfrm>
              <a:off x="5697711" y="315361"/>
              <a:ext cx="8129028" cy="633593"/>
            </a:xfrm>
            <a:prstGeom prst="rect">
              <a:avLst/>
            </a:prstGeom>
          </p:spPr>
          <p:txBody>
            <a:bodyPr wrap="square" lIns="0" tIns="0" rIns="0" bIns="0" rtlCol="0" anchor="t">
              <a:spAutoFit/>
            </a:bodyPr>
            <a:lstStyle/>
            <a:p>
              <a:pPr algn="r" rtl="1">
                <a:lnSpc>
                  <a:spcPts val="3530"/>
                </a:lnSpc>
              </a:pPr>
              <a:r>
                <a:rPr lang="ar-SA" sz="3603" dirty="0">
                  <a:solidFill>
                    <a:srgbClr val="050A30"/>
                  </a:solidFill>
                  <a:cs typeface="PT Bold Heading" panose="02010400000000000000" pitchFamily="2" charset="-78"/>
                </a:rPr>
                <a:t>دعمت رؤية 2030 الأمن السيبراني</a:t>
              </a:r>
              <a:endParaRPr lang="en-US" sz="3603" dirty="0">
                <a:solidFill>
                  <a:srgbClr val="050A30"/>
                </a:solidFill>
                <a:cs typeface="PT Bold Heading" panose="02010400000000000000" pitchFamily="2" charset="-78"/>
              </a:endParaRPr>
            </a:p>
          </p:txBody>
        </p:sp>
        <p:sp>
          <p:nvSpPr>
            <p:cNvPr id="28" name="TextBox 28"/>
            <p:cNvSpPr txBox="1"/>
            <p:nvPr/>
          </p:nvSpPr>
          <p:spPr>
            <a:xfrm>
              <a:off x="134381" y="1148970"/>
              <a:ext cx="13826739" cy="1196995"/>
            </a:xfrm>
            <a:prstGeom prst="rect">
              <a:avLst/>
            </a:prstGeom>
          </p:spPr>
          <p:txBody>
            <a:bodyPr lIns="0" tIns="0" rIns="0" bIns="0" rtlCol="0" anchor="t">
              <a:spAutoFit/>
            </a:bodyPr>
            <a:lstStyle/>
            <a:p>
              <a:pPr algn="ctr" rtl="1">
                <a:lnSpc>
                  <a:spcPts val="3432"/>
                </a:lnSpc>
              </a:pPr>
              <a:r>
                <a:rPr lang="ar-SA" sz="3503" dirty="0">
                  <a:solidFill>
                    <a:srgbClr val="2A8D87"/>
                  </a:solidFill>
                  <a:cs typeface="PT Bold Heading" panose="02010400000000000000" pitchFamily="2" charset="-78"/>
                </a:rPr>
                <a:t>حيث أنشئت كلية الأمير محمد بن سلمان للأمن السيبراني </a:t>
              </a:r>
            </a:p>
            <a:p>
              <a:pPr algn="ctr" rtl="1">
                <a:lnSpc>
                  <a:spcPts val="3432"/>
                </a:lnSpc>
              </a:pPr>
              <a:r>
                <a:rPr lang="ar-SA" sz="3503" dirty="0">
                  <a:solidFill>
                    <a:srgbClr val="2A8D87"/>
                  </a:solidFill>
                  <a:cs typeface="PT Bold Heading" panose="02010400000000000000" pitchFamily="2" charset="-78"/>
                </a:rPr>
                <a:t>عام 2016</a:t>
              </a:r>
            </a:p>
            <a:p>
              <a:pPr algn="ctr" rtl="1">
                <a:lnSpc>
                  <a:spcPts val="3432"/>
                </a:lnSpc>
              </a:pPr>
              <a:r>
                <a:rPr lang="ar-SA" sz="3503" dirty="0">
                  <a:solidFill>
                    <a:srgbClr val="2A8D87"/>
                  </a:solidFill>
                  <a:cs typeface="PT Bold Heading" panose="02010400000000000000" pitchFamily="2" charset="-78"/>
                </a:rPr>
                <a:t>كما احتلت المملكة المركز الثاني سيبرانيا على مستوى العالم</a:t>
              </a:r>
              <a:endParaRPr lang="en-US" sz="3503" dirty="0">
                <a:solidFill>
                  <a:srgbClr val="2A8D87"/>
                </a:solidFill>
                <a:cs typeface="PT Bold Heading" panose="02010400000000000000" pitchFamily="2" charset="-78"/>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4B89AA33-5036-CC64-E0A3-BBADB002E978}"/>
              </a:ext>
            </a:extLst>
          </p:cNvPr>
          <p:cNvPicPr>
            <a:picLocks noChangeAspect="1"/>
          </p:cNvPicPr>
          <p:nvPr/>
        </p:nvPicPr>
        <p:blipFill>
          <a:blip r:embed="rId2"/>
          <a:stretch>
            <a:fillRect/>
          </a:stretch>
        </p:blipFill>
        <p:spPr>
          <a:xfrm>
            <a:off x="1169816" y="2324100"/>
            <a:ext cx="7844690" cy="6150312"/>
          </a:xfrm>
          <a:prstGeom prst="rect">
            <a:avLst/>
          </a:prstGeom>
        </p:spPr>
      </p:pic>
      <p:grpSp>
        <p:nvGrpSpPr>
          <p:cNvPr id="6" name="مجموعة 5">
            <a:extLst>
              <a:ext uri="{FF2B5EF4-FFF2-40B4-BE49-F238E27FC236}">
                <a16:creationId xmlns:a16="http://schemas.microsoft.com/office/drawing/2014/main" id="{D379DA34-0090-D923-F9F9-9AD0D4D7B69B}"/>
              </a:ext>
            </a:extLst>
          </p:cNvPr>
          <p:cNvGrpSpPr/>
          <p:nvPr/>
        </p:nvGrpSpPr>
        <p:grpSpPr>
          <a:xfrm>
            <a:off x="9917284" y="4000500"/>
            <a:ext cx="8370716" cy="2209800"/>
            <a:chOff x="9917284" y="4000500"/>
            <a:chExt cx="8370716" cy="2209800"/>
          </a:xfrm>
        </p:grpSpPr>
        <p:sp>
          <p:nvSpPr>
            <p:cNvPr id="4" name="مخطط انسيابي: معالجة 3">
              <a:extLst>
                <a:ext uri="{FF2B5EF4-FFF2-40B4-BE49-F238E27FC236}">
                  <a16:creationId xmlns:a16="http://schemas.microsoft.com/office/drawing/2014/main" id="{9AD187DC-D3D7-2F47-646D-0C3E262827CA}"/>
                </a:ext>
              </a:extLst>
            </p:cNvPr>
            <p:cNvSpPr/>
            <p:nvPr/>
          </p:nvSpPr>
          <p:spPr>
            <a:xfrm>
              <a:off x="16764001" y="4762500"/>
              <a:ext cx="1523999" cy="762000"/>
            </a:xfrm>
            <a:prstGeom prst="flowChartProcess">
              <a:avLst/>
            </a:prstGeom>
            <a:solidFill>
              <a:srgbClr val="2A8D87"/>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مخطط انسيابي: معالجة 1">
              <a:extLst>
                <a:ext uri="{FF2B5EF4-FFF2-40B4-BE49-F238E27FC236}">
                  <a16:creationId xmlns:a16="http://schemas.microsoft.com/office/drawing/2014/main" id="{0A835242-235F-3CCB-E83D-D1FEFDC4D76F}"/>
                </a:ext>
              </a:extLst>
            </p:cNvPr>
            <p:cNvSpPr/>
            <p:nvPr/>
          </p:nvSpPr>
          <p:spPr>
            <a:xfrm>
              <a:off x="9917284" y="4000500"/>
              <a:ext cx="7239000" cy="2209800"/>
            </a:xfrm>
            <a:prstGeom prst="flowChartProcess">
              <a:avLst/>
            </a:prstGeom>
            <a:solidFill>
              <a:schemeClr val="bg1"/>
            </a:solidFill>
            <a:ln w="76200">
              <a:solidFill>
                <a:srgbClr val="FFE194"/>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 name="مربع نص 2">
              <a:extLst>
                <a:ext uri="{FF2B5EF4-FFF2-40B4-BE49-F238E27FC236}">
                  <a16:creationId xmlns:a16="http://schemas.microsoft.com/office/drawing/2014/main" id="{5E9A1090-9A68-8B14-D617-18C4C39CC105}"/>
                </a:ext>
              </a:extLst>
            </p:cNvPr>
            <p:cNvSpPr txBox="1"/>
            <p:nvPr/>
          </p:nvSpPr>
          <p:spPr>
            <a:xfrm>
              <a:off x="10161077" y="4358670"/>
              <a:ext cx="6751413" cy="1569660"/>
            </a:xfrm>
            <a:prstGeom prst="rect">
              <a:avLst/>
            </a:prstGeom>
            <a:noFill/>
          </p:spPr>
          <p:txBody>
            <a:bodyPr wrap="square">
              <a:spAutoFit/>
            </a:bodyPr>
            <a:lstStyle/>
            <a:p>
              <a:pPr algn="ctr" rtl="1"/>
              <a:r>
                <a:rPr lang="ar-SA" sz="4800" dirty="0">
                  <a:solidFill>
                    <a:srgbClr val="28443B"/>
                  </a:solidFill>
                  <a:cs typeface="PT Bold Heading" panose="02010400000000000000" pitchFamily="2" charset="-78"/>
                </a:rPr>
                <a:t>قومي بقراءة الصورة لنتعرف على المصطلح ؟ </a:t>
              </a:r>
              <a:endParaRPr lang="en-US" sz="4800" dirty="0">
                <a:solidFill>
                  <a:srgbClr val="28443B"/>
                </a:solidFill>
                <a:cs typeface="PT Bold Heading" panose="02010400000000000000" pitchFamily="2" charset="-78"/>
              </a:endParaRPr>
            </a:p>
          </p:txBody>
        </p:sp>
      </p:grpSp>
    </p:spTree>
    <p:extLst>
      <p:ext uri="{BB962C8B-B14F-4D97-AF65-F5344CB8AC3E}">
        <p14:creationId xmlns:p14="http://schemas.microsoft.com/office/powerpoint/2010/main" val="3985220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4B89AA33-5036-CC64-E0A3-BBADB002E978}"/>
              </a:ext>
            </a:extLst>
          </p:cNvPr>
          <p:cNvPicPr>
            <a:picLocks noChangeAspect="1"/>
          </p:cNvPicPr>
          <p:nvPr/>
        </p:nvPicPr>
        <p:blipFill>
          <a:blip r:embed="rId2"/>
          <a:stretch>
            <a:fillRect/>
          </a:stretch>
        </p:blipFill>
        <p:spPr>
          <a:xfrm>
            <a:off x="1169816" y="2324100"/>
            <a:ext cx="7844690" cy="6150312"/>
          </a:xfrm>
          <a:prstGeom prst="rect">
            <a:avLst/>
          </a:prstGeom>
        </p:spPr>
      </p:pic>
      <p:grpSp>
        <p:nvGrpSpPr>
          <p:cNvPr id="6" name="مجموعة 5">
            <a:extLst>
              <a:ext uri="{FF2B5EF4-FFF2-40B4-BE49-F238E27FC236}">
                <a16:creationId xmlns:a16="http://schemas.microsoft.com/office/drawing/2014/main" id="{D379DA34-0090-D923-F9F9-9AD0D4D7B69B}"/>
              </a:ext>
            </a:extLst>
          </p:cNvPr>
          <p:cNvGrpSpPr/>
          <p:nvPr/>
        </p:nvGrpSpPr>
        <p:grpSpPr>
          <a:xfrm>
            <a:off x="9917284" y="4000500"/>
            <a:ext cx="8370716" cy="2209800"/>
            <a:chOff x="9917284" y="4000500"/>
            <a:chExt cx="8370716" cy="2209800"/>
          </a:xfrm>
        </p:grpSpPr>
        <p:sp>
          <p:nvSpPr>
            <p:cNvPr id="4" name="مخطط انسيابي: معالجة 3">
              <a:extLst>
                <a:ext uri="{FF2B5EF4-FFF2-40B4-BE49-F238E27FC236}">
                  <a16:creationId xmlns:a16="http://schemas.microsoft.com/office/drawing/2014/main" id="{9AD187DC-D3D7-2F47-646D-0C3E262827CA}"/>
                </a:ext>
              </a:extLst>
            </p:cNvPr>
            <p:cNvSpPr/>
            <p:nvPr/>
          </p:nvSpPr>
          <p:spPr>
            <a:xfrm>
              <a:off x="16764001" y="4762500"/>
              <a:ext cx="1523999" cy="762000"/>
            </a:xfrm>
            <a:prstGeom prst="flowChartProcess">
              <a:avLst/>
            </a:prstGeom>
            <a:solidFill>
              <a:srgbClr val="2A8D87"/>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2" name="مخطط انسيابي: معالجة 1">
              <a:extLst>
                <a:ext uri="{FF2B5EF4-FFF2-40B4-BE49-F238E27FC236}">
                  <a16:creationId xmlns:a16="http://schemas.microsoft.com/office/drawing/2014/main" id="{0A835242-235F-3CCB-E83D-D1FEFDC4D76F}"/>
                </a:ext>
              </a:extLst>
            </p:cNvPr>
            <p:cNvSpPr/>
            <p:nvPr/>
          </p:nvSpPr>
          <p:spPr>
            <a:xfrm>
              <a:off x="9917284" y="4000500"/>
              <a:ext cx="7239000" cy="2209800"/>
            </a:xfrm>
            <a:prstGeom prst="flowChartProcess">
              <a:avLst/>
            </a:prstGeom>
            <a:solidFill>
              <a:schemeClr val="bg1"/>
            </a:solidFill>
            <a:ln w="76200">
              <a:solidFill>
                <a:srgbClr val="FFE194"/>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 name="مربع نص 2">
              <a:extLst>
                <a:ext uri="{FF2B5EF4-FFF2-40B4-BE49-F238E27FC236}">
                  <a16:creationId xmlns:a16="http://schemas.microsoft.com/office/drawing/2014/main" id="{5E9A1090-9A68-8B14-D617-18C4C39CC105}"/>
                </a:ext>
              </a:extLst>
            </p:cNvPr>
            <p:cNvSpPr txBox="1"/>
            <p:nvPr/>
          </p:nvSpPr>
          <p:spPr>
            <a:xfrm>
              <a:off x="10161077" y="4358670"/>
              <a:ext cx="6751413" cy="830997"/>
            </a:xfrm>
            <a:prstGeom prst="rect">
              <a:avLst/>
            </a:prstGeom>
            <a:noFill/>
          </p:spPr>
          <p:txBody>
            <a:bodyPr wrap="square">
              <a:spAutoFit/>
            </a:bodyPr>
            <a:lstStyle/>
            <a:p>
              <a:pPr algn="ctr" rtl="1"/>
              <a:endParaRPr lang="en-US" sz="4800" dirty="0">
                <a:solidFill>
                  <a:srgbClr val="28443B"/>
                </a:solidFill>
                <a:cs typeface="PT Bold Heading" panose="02010400000000000000" pitchFamily="2" charset="-78"/>
              </a:endParaRPr>
            </a:p>
          </p:txBody>
        </p:sp>
      </p:grpSp>
      <p:sp>
        <p:nvSpPr>
          <p:cNvPr id="8" name="TextBox 9">
            <a:extLst>
              <a:ext uri="{FF2B5EF4-FFF2-40B4-BE49-F238E27FC236}">
                <a16:creationId xmlns:a16="http://schemas.microsoft.com/office/drawing/2014/main" id="{28315AF3-F282-8AA6-4570-54BD274A7A0F}"/>
              </a:ext>
            </a:extLst>
          </p:cNvPr>
          <p:cNvSpPr txBox="1"/>
          <p:nvPr/>
        </p:nvSpPr>
        <p:spPr>
          <a:xfrm>
            <a:off x="9455149" y="4839983"/>
            <a:ext cx="8014781" cy="607034"/>
          </a:xfrm>
          <a:prstGeom prst="rect">
            <a:avLst/>
          </a:prstGeom>
        </p:spPr>
        <p:txBody>
          <a:bodyPr lIns="0" tIns="0" rIns="0" bIns="0" rtlCol="0" anchor="t">
            <a:spAutoFit/>
          </a:bodyPr>
          <a:lstStyle/>
          <a:p>
            <a:pPr algn="ctr" rtl="1">
              <a:lnSpc>
                <a:spcPts val="4420"/>
              </a:lnSpc>
            </a:pPr>
            <a:r>
              <a:rPr lang="en-US" sz="4510" dirty="0">
                <a:solidFill>
                  <a:srgbClr val="C00000"/>
                </a:solidFill>
                <a:cs typeface="PT Bold Heading" panose="02010400000000000000" pitchFamily="2" charset="-78"/>
              </a:rPr>
              <a:t>البصمة الرقمية Digital footprint</a:t>
            </a:r>
          </a:p>
        </p:txBody>
      </p:sp>
    </p:spTree>
    <p:extLst>
      <p:ext uri="{BB962C8B-B14F-4D97-AF65-F5344CB8AC3E}">
        <p14:creationId xmlns:p14="http://schemas.microsoft.com/office/powerpoint/2010/main" val="646561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وسائط عبر الإنترنت 3" title="‎⁨البصمة الرقمية⁩">
            <a:hlinkClick r:id="" action="ppaction://media"/>
            <a:extLst>
              <a:ext uri="{FF2B5EF4-FFF2-40B4-BE49-F238E27FC236}">
                <a16:creationId xmlns:a16="http://schemas.microsoft.com/office/drawing/2014/main" id="{B0D70716-4021-AC02-63BC-854346A080C9}"/>
              </a:ext>
            </a:extLst>
          </p:cNvPr>
          <p:cNvPicPr>
            <a:picLocks noGrp="1" noRot="1" noChangeAspect="1"/>
          </p:cNvPicPr>
          <p:nvPr>
            <p:ph idx="1"/>
            <a:videoFile r:link="rId1"/>
          </p:nvPr>
        </p:nvPicPr>
        <p:blipFill>
          <a:blip r:embed="rId3"/>
          <a:stretch>
            <a:fillRect/>
          </a:stretch>
        </p:blipFill>
        <p:spPr>
          <a:xfrm>
            <a:off x="2192258" y="1869820"/>
            <a:ext cx="13903483" cy="7855392"/>
          </a:xfrm>
          <a:prstGeom prst="rect">
            <a:avLst/>
          </a:prstGeom>
        </p:spPr>
      </p:pic>
      <p:grpSp>
        <p:nvGrpSpPr>
          <p:cNvPr id="3" name="Group 2">
            <a:extLst>
              <a:ext uri="{FF2B5EF4-FFF2-40B4-BE49-F238E27FC236}">
                <a16:creationId xmlns:a16="http://schemas.microsoft.com/office/drawing/2014/main" id="{6C25D4AA-E3D8-6920-711D-25E8ED0E8ADE}"/>
              </a:ext>
            </a:extLst>
          </p:cNvPr>
          <p:cNvGrpSpPr/>
          <p:nvPr/>
        </p:nvGrpSpPr>
        <p:grpSpPr>
          <a:xfrm>
            <a:off x="4585577" y="561788"/>
            <a:ext cx="9116845" cy="1104756"/>
            <a:chOff x="0" y="0"/>
            <a:chExt cx="12155793" cy="1473008"/>
          </a:xfrm>
        </p:grpSpPr>
        <p:sp>
          <p:nvSpPr>
            <p:cNvPr id="6" name="Freeform 4">
              <a:extLst>
                <a:ext uri="{FF2B5EF4-FFF2-40B4-BE49-F238E27FC236}">
                  <a16:creationId xmlns:a16="http://schemas.microsoft.com/office/drawing/2014/main" id="{5C7F5C90-DF70-37E2-86A2-E13ABBD14E18}"/>
                </a:ext>
              </a:extLst>
            </p:cNvPr>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a:extLst>
                <a:ext uri="{FF2B5EF4-FFF2-40B4-BE49-F238E27FC236}">
                  <a16:creationId xmlns:a16="http://schemas.microsoft.com/office/drawing/2014/main" id="{FDDF85DF-DB57-71D0-3F9E-2DA1D543AE60}"/>
                </a:ext>
              </a:extLst>
            </p:cNvPr>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8" name="TextBox 9">
              <a:extLst>
                <a:ext uri="{FF2B5EF4-FFF2-40B4-BE49-F238E27FC236}">
                  <a16:creationId xmlns:a16="http://schemas.microsoft.com/office/drawing/2014/main" id="{DDCAC08D-6DC8-ECD5-C845-3FB455224AAA}"/>
                </a:ext>
              </a:extLst>
            </p:cNvPr>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spTree>
    <p:extLst>
      <p:ext uri="{BB962C8B-B14F-4D97-AF65-F5344CB8AC3E}">
        <p14:creationId xmlns:p14="http://schemas.microsoft.com/office/powerpoint/2010/main" val="166231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440495" y="3105113"/>
            <a:ext cx="4242042" cy="4261056"/>
            <a:chOff x="12673" y="0"/>
            <a:chExt cx="5656056" cy="5681408"/>
          </a:xfrm>
        </p:grpSpPr>
        <p:sp>
          <p:nvSpPr>
            <p:cNvPr id="12" name="Freeform 12"/>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305697" y="600391"/>
              <a:ext cx="5070015" cy="4480626"/>
            </a:xfrm>
            <a:custGeom>
              <a:avLst/>
              <a:gdLst/>
              <a:ahLst/>
              <a:cxnLst/>
              <a:rect l="l" t="t" r="r" b="b"/>
              <a:pathLst>
                <a:path w="5070015" h="4480626">
                  <a:moveTo>
                    <a:pt x="0" y="0"/>
                  </a:moveTo>
                  <a:lnTo>
                    <a:pt x="5070014" y="0"/>
                  </a:lnTo>
                  <a:lnTo>
                    <a:pt x="5070014" y="4480626"/>
                  </a:lnTo>
                  <a:lnTo>
                    <a:pt x="0" y="44806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4884134" y="3508916"/>
            <a:ext cx="13447735" cy="3851810"/>
            <a:chOff x="0" y="0"/>
            <a:chExt cx="17930313" cy="5135747"/>
          </a:xfrm>
        </p:grpSpPr>
        <p:sp>
          <p:nvSpPr>
            <p:cNvPr id="17" name="Freeform 17"/>
            <p:cNvSpPr/>
            <p:nvPr/>
          </p:nvSpPr>
          <p:spPr>
            <a:xfrm>
              <a:off x="0" y="0"/>
              <a:ext cx="17930313" cy="5135747"/>
            </a:xfrm>
            <a:custGeom>
              <a:avLst/>
              <a:gdLst/>
              <a:ahLst/>
              <a:cxnLst/>
              <a:rect l="l" t="t" r="r" b="b"/>
              <a:pathLst>
                <a:path w="3109423" h="890626">
                  <a:moveTo>
                    <a:pt x="0" y="0"/>
                  </a:moveTo>
                  <a:lnTo>
                    <a:pt x="3109423" y="0"/>
                  </a:lnTo>
                  <a:lnTo>
                    <a:pt x="3109423" y="890626"/>
                  </a:lnTo>
                  <a:lnTo>
                    <a:pt x="0" y="890626"/>
                  </a:lnTo>
                  <a:close/>
                </a:path>
              </a:pathLst>
            </a:custGeom>
            <a:solidFill>
              <a:srgbClr val="1DA8A7">
                <a:alpha val="43922"/>
              </a:srgbClr>
            </a:solidFill>
            <a:ln>
              <a:noFill/>
            </a:ln>
          </p:spPr>
          <p:txBody>
            <a:bodyPr/>
            <a:lstStyle/>
            <a:p>
              <a:pPr algn="r" rtl="1"/>
              <a:endParaRPr lang="ar-SA">
                <a:cs typeface="PT Bold Heading" panose="02010400000000000000" pitchFamily="2" charset="-78"/>
              </a:endParaRPr>
            </a:p>
          </p:txBody>
        </p:sp>
        <p:sp>
          <p:nvSpPr>
            <p:cNvPr id="20" name="Freeform 20"/>
            <p:cNvSpPr/>
            <p:nvPr/>
          </p:nvSpPr>
          <p:spPr>
            <a:xfrm>
              <a:off x="229973" y="221817"/>
              <a:ext cx="16678196" cy="4713856"/>
            </a:xfrm>
            <a:custGeom>
              <a:avLst/>
              <a:gdLst/>
              <a:ahLst/>
              <a:cxnLst/>
              <a:rect l="l" t="t" r="r" b="b"/>
              <a:pathLst>
                <a:path w="3294459" h="931132">
                  <a:moveTo>
                    <a:pt x="5570" y="0"/>
                  </a:moveTo>
                  <a:lnTo>
                    <a:pt x="3288889" y="0"/>
                  </a:lnTo>
                  <a:cubicBezTo>
                    <a:pt x="3291965" y="0"/>
                    <a:pt x="3294459" y="2494"/>
                    <a:pt x="3294459" y="5570"/>
                  </a:cubicBezTo>
                  <a:lnTo>
                    <a:pt x="3294459" y="925562"/>
                  </a:lnTo>
                  <a:cubicBezTo>
                    <a:pt x="3294459" y="928638"/>
                    <a:pt x="3291965" y="931132"/>
                    <a:pt x="3288889" y="931132"/>
                  </a:cubicBezTo>
                  <a:lnTo>
                    <a:pt x="5570" y="931132"/>
                  </a:lnTo>
                  <a:cubicBezTo>
                    <a:pt x="2494" y="931132"/>
                    <a:pt x="0" y="928638"/>
                    <a:pt x="0" y="925562"/>
                  </a:cubicBezTo>
                  <a:lnTo>
                    <a:pt x="0" y="5570"/>
                  </a:lnTo>
                  <a:cubicBezTo>
                    <a:pt x="0" y="2494"/>
                    <a:pt x="2494" y="0"/>
                    <a:pt x="5570"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22" name="TextBox 22"/>
            <p:cNvSpPr txBox="1"/>
            <p:nvPr/>
          </p:nvSpPr>
          <p:spPr>
            <a:xfrm>
              <a:off x="776699" y="524705"/>
              <a:ext cx="16507795" cy="4086335"/>
            </a:xfrm>
            <a:prstGeom prst="rect">
              <a:avLst/>
            </a:prstGeom>
          </p:spPr>
          <p:txBody>
            <a:bodyPr lIns="0" tIns="0" rIns="0" bIns="0" rtlCol="0" anchor="t">
              <a:spAutoFit/>
            </a:bodyPr>
            <a:lstStyle/>
            <a:p>
              <a:pPr marL="790447" lvl="1" indent="-395223" algn="r" rtl="1">
                <a:lnSpc>
                  <a:spcPts val="4759"/>
                </a:lnSpc>
                <a:buFont typeface="Arial"/>
                <a:buChar char="•"/>
              </a:pPr>
              <a:r>
                <a:rPr lang="en-US" sz="3661" dirty="0">
                  <a:solidFill>
                    <a:srgbClr val="28443B"/>
                  </a:solidFill>
                  <a:cs typeface="PT Bold Heading" panose="02010400000000000000" pitchFamily="2" charset="-78"/>
                </a:rPr>
                <a:t>إن </a:t>
              </a:r>
              <a:r>
                <a:rPr lang="en-US" sz="3661" u="sng" dirty="0">
                  <a:solidFill>
                    <a:srgbClr val="C00000"/>
                  </a:solidFill>
                  <a:cs typeface="PT Bold Heading" panose="02010400000000000000" pitchFamily="2" charset="-78"/>
                </a:rPr>
                <a:t>كل</a:t>
              </a:r>
              <a:r>
                <a:rPr lang="en-US" sz="3661" dirty="0">
                  <a:solidFill>
                    <a:srgbClr val="28443B"/>
                  </a:solidFill>
                  <a:cs typeface="PT Bold Heading" panose="02010400000000000000" pitchFamily="2" charset="-78"/>
                </a:rPr>
                <a:t> عمل أو تصفح تقوم به عبر الإنترنت يترك أثرا </a:t>
              </a:r>
              <a:r>
                <a:rPr lang="en-US" sz="3661" dirty="0">
                  <a:solidFill>
                    <a:srgbClr val="BD2424"/>
                  </a:solidFill>
                  <a:cs typeface="PT Bold Heading" panose="02010400000000000000" pitchFamily="2" charset="-78"/>
                </a:rPr>
                <a:t>يسمى البصمة الرقمية </a:t>
              </a:r>
              <a:r>
                <a:rPr lang="en-US" sz="3661" dirty="0">
                  <a:solidFill>
                    <a:srgbClr val="28443B"/>
                  </a:solidFill>
                  <a:cs typeface="PT Bold Heading" panose="02010400000000000000" pitchFamily="2" charset="-78"/>
                </a:rPr>
                <a:t>والتي قد يتمكن الآخرون من رؤيتها ، وذلك ينطبق أيضا على تاريخ التصفح والمواقع التي تزورها ويهدف ذلك إلى </a:t>
              </a:r>
              <a:r>
                <a:rPr lang="en-US" sz="3661" dirty="0">
                  <a:solidFill>
                    <a:srgbClr val="00B050"/>
                  </a:solidFill>
                  <a:cs typeface="PT Bold Heading" panose="02010400000000000000" pitchFamily="2" charset="-78"/>
                </a:rPr>
                <a:t>توفير تجربة تصفح أسرع وأكثر كفاءة للمستخدم</a:t>
              </a:r>
              <a:r>
                <a:rPr lang="en-US" sz="3661" dirty="0">
                  <a:solidFill>
                    <a:srgbClr val="28443B"/>
                  </a:solidFill>
                  <a:cs typeface="PT Bold Heading" panose="02010400000000000000" pitchFamily="2" charset="-78"/>
                </a:rPr>
                <a:t> أو </a:t>
              </a:r>
              <a:r>
                <a:rPr lang="en-US" sz="3661" dirty="0">
                  <a:solidFill>
                    <a:srgbClr val="00B050"/>
                  </a:solidFill>
                  <a:cs typeface="PT Bold Heading" panose="02010400000000000000" pitchFamily="2" charset="-78"/>
                </a:rPr>
                <a:t>لاستهدافه من قبل المعلنين</a:t>
              </a:r>
              <a:r>
                <a:rPr lang="en-US" sz="3661" dirty="0">
                  <a:solidFill>
                    <a:srgbClr val="28443B"/>
                  </a:solidFill>
                  <a:cs typeface="PT Bold Heading" panose="02010400000000000000" pitchFamily="2" charset="-78"/>
                </a:rPr>
                <a:t> عبر الإعلانات المخصصة التي تظهر عبر الإنترنت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لمحتوى 2">
            <a:extLst>
              <a:ext uri="{FF2B5EF4-FFF2-40B4-BE49-F238E27FC236}">
                <a16:creationId xmlns:a16="http://schemas.microsoft.com/office/drawing/2014/main" id="{BD9A7DFA-F017-9B89-46E6-4B9169306C66}"/>
              </a:ext>
            </a:extLst>
          </p:cNvPr>
          <p:cNvSpPr txBox="1">
            <a:spLocks/>
          </p:cNvSpPr>
          <p:nvPr/>
        </p:nvSpPr>
        <p:spPr>
          <a:xfrm>
            <a:off x="1645920" y="5143501"/>
            <a:ext cx="14635149" cy="2722418"/>
          </a:xfrm>
          <a:prstGeom prst="rect">
            <a:avLst/>
          </a:prstGeom>
          <a:ln>
            <a:solidFill>
              <a:schemeClr val="accent5"/>
            </a:solidFill>
          </a:ln>
        </p:spPr>
        <p:txBody>
          <a:bodyPr vert="horz" lIns="0" tIns="68580" rIns="0" bIns="68580" rtlCol="0">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50000"/>
              </a:lnSpc>
            </a:pPr>
            <a:r>
              <a:rPr lang="ar-SA" sz="4200" b="1" dirty="0">
                <a:latin typeface="Calibri" panose="020F0502020204030204" pitchFamily="34" charset="0"/>
                <a:ea typeface="Calibri" panose="020F0502020204030204" pitchFamily="34" charset="0"/>
                <a:cs typeface="Sakkal Majalla" panose="02000000000000000000" pitchFamily="2" charset="-78"/>
              </a:rPr>
              <a:t>تحفظ البصمة الرقمية على </a:t>
            </a:r>
            <a:r>
              <a:rPr lang="ar-SA" sz="4200" b="1" dirty="0">
                <a:solidFill>
                  <a:srgbClr val="C31828"/>
                </a:solidFill>
                <a:latin typeface="Calibri" panose="020F0502020204030204" pitchFamily="34" charset="0"/>
                <a:ea typeface="Calibri" panose="020F0502020204030204" pitchFamily="34" charset="0"/>
                <a:cs typeface="Sakkal Majalla" panose="02000000000000000000" pitchFamily="2" charset="-78"/>
              </a:rPr>
              <a:t>شكل ملف </a:t>
            </a:r>
            <a:r>
              <a:rPr lang="ar-SA" sz="4200" b="1" dirty="0">
                <a:latin typeface="Calibri" panose="020F0502020204030204" pitchFamily="34" charset="0"/>
                <a:ea typeface="Calibri" panose="020F0502020204030204" pitchFamily="34" charset="0"/>
                <a:cs typeface="Sakkal Majalla" panose="02000000000000000000" pitchFamily="2" charset="-78"/>
              </a:rPr>
              <a:t>يشمل البيانات التي تخص المستخدم والتي يتم جمعها كنتيجة للتصفح والاتصالات والأعمال الأخرى التي يقوم بها المستخدم.</a:t>
            </a:r>
            <a:endParaRPr lang="en-US" sz="4200" dirty="0">
              <a:latin typeface="Calibri" panose="020F0502020204030204" pitchFamily="34" charset="0"/>
              <a:ea typeface="Calibri" panose="020F0502020204030204" pitchFamily="34" charset="0"/>
              <a:cs typeface="Arial" panose="020B0604020202020204" pitchFamily="34" charset="0"/>
            </a:endParaRPr>
          </a:p>
        </p:txBody>
      </p:sp>
      <p:sp>
        <p:nvSpPr>
          <p:cNvPr id="7" name="عنصر نائب للمحتوى 2">
            <a:extLst>
              <a:ext uri="{FF2B5EF4-FFF2-40B4-BE49-F238E27FC236}">
                <a16:creationId xmlns:a16="http://schemas.microsoft.com/office/drawing/2014/main" id="{143CD7D3-FFBE-A2C9-6B5B-C06C25D83351}"/>
              </a:ext>
            </a:extLst>
          </p:cNvPr>
          <p:cNvSpPr txBox="1">
            <a:spLocks/>
          </p:cNvSpPr>
          <p:nvPr/>
        </p:nvSpPr>
        <p:spPr>
          <a:xfrm>
            <a:off x="1645920" y="5143501"/>
            <a:ext cx="14635149" cy="2722418"/>
          </a:xfrm>
          <a:prstGeom prst="rect">
            <a:avLst/>
          </a:prstGeom>
          <a:solidFill>
            <a:schemeClr val="accent6">
              <a:lumMod val="40000"/>
              <a:lumOff val="60000"/>
            </a:schemeClr>
          </a:solidFill>
          <a:ln>
            <a:solidFill>
              <a:schemeClr val="accent5"/>
            </a:solidFill>
          </a:ln>
        </p:spPr>
        <p:txBody>
          <a:bodyPr vert="horz" lIns="0" tIns="68580" rIns="0" bIns="68580" rtlCol="0" anchor="ctr">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lnSpc>
                <a:spcPct val="150000"/>
              </a:lnSpc>
            </a:pPr>
            <a:r>
              <a:rPr lang="ar-SA" sz="4200" b="1" dirty="0">
                <a:latin typeface="Calibri" panose="020F0502020204030204" pitchFamily="34" charset="0"/>
                <a:ea typeface="Calibri" panose="020F0502020204030204" pitchFamily="34" charset="0"/>
                <a:cs typeface="Sakkal Majalla" panose="02000000000000000000" pitchFamily="2" charset="-78"/>
              </a:rPr>
              <a:t>كيف يتم تخزين بصمتي الرقمية؟</a:t>
            </a:r>
          </a:p>
          <a:p>
            <a:pPr algn="ctr">
              <a:lnSpc>
                <a:spcPct val="150000"/>
              </a:lnSpc>
            </a:pPr>
            <a:r>
              <a:rPr lang="ar-SA" sz="6000" b="1" dirty="0">
                <a:latin typeface="Calibri" panose="020F0502020204030204" pitchFamily="34" charset="0"/>
                <a:ea typeface="Calibri" panose="020F0502020204030204" pitchFamily="34" charset="0"/>
                <a:cs typeface="Sakkal Majalla" panose="02000000000000000000" pitchFamily="2" charset="-78"/>
                <a:sym typeface="Wingdings" panose="05000000000000000000" pitchFamily="2" charset="2"/>
              </a:rPr>
              <a:t></a:t>
            </a:r>
            <a:endParaRPr lang="en-US" sz="6000" dirty="0">
              <a:latin typeface="Calibri" panose="020F0502020204030204" pitchFamily="34" charset="0"/>
              <a:ea typeface="Calibri" panose="020F0502020204030204" pitchFamily="34" charset="0"/>
              <a:cs typeface="Arial" panose="020B0604020202020204" pitchFamily="34" charset="0"/>
            </a:endParaRPr>
          </a:p>
        </p:txBody>
      </p:sp>
      <p:sp>
        <p:nvSpPr>
          <p:cNvPr id="8" name="مربع نص 7">
            <a:extLst>
              <a:ext uri="{FF2B5EF4-FFF2-40B4-BE49-F238E27FC236}">
                <a16:creationId xmlns:a16="http://schemas.microsoft.com/office/drawing/2014/main" id="{4BCFF043-D25D-01BC-AB51-8EF2F2EB7C55}"/>
              </a:ext>
            </a:extLst>
          </p:cNvPr>
          <p:cNvSpPr txBox="1"/>
          <p:nvPr/>
        </p:nvSpPr>
        <p:spPr>
          <a:xfrm>
            <a:off x="1211284" y="2818217"/>
            <a:ext cx="15283544" cy="1446999"/>
          </a:xfrm>
          <a:prstGeom prst="rect">
            <a:avLst/>
          </a:prstGeom>
          <a:noFill/>
        </p:spPr>
        <p:txBody>
          <a:bodyPr wrap="square">
            <a:spAutoFit/>
          </a:bodyPr>
          <a:lstStyle/>
          <a:p>
            <a:pPr indent="-54000" algn="r" defTabSz="1371600" rtl="1">
              <a:lnSpc>
                <a:spcPct val="150000"/>
              </a:lnSpc>
              <a:defRPr/>
            </a:pPr>
            <a:r>
              <a:rPr lang="ar-SA" sz="2700" b="1" dirty="0">
                <a:solidFill>
                  <a:srgbClr val="0070C0"/>
                </a:solidFill>
                <a:latin typeface="Adobe Arabic" panose="02040503050201020203" pitchFamily="18" charset="-78"/>
                <a:cs typeface="Adobe Arabic" panose="02040503050201020203" pitchFamily="18" charset="-78"/>
              </a:rPr>
              <a:t>طالبتي العزيزة،، </a:t>
            </a:r>
            <a:endParaRPr lang="ar-SA" sz="2700" b="1" dirty="0">
              <a:solidFill>
                <a:schemeClr val="accent2">
                  <a:lumMod val="75000"/>
                </a:schemeClr>
              </a:solidFill>
              <a:latin typeface="Adobe Arabic" panose="02040503050201020203" pitchFamily="18" charset="-78"/>
              <a:cs typeface="Adobe Arabic" panose="02040503050201020203" pitchFamily="18" charset="-78"/>
            </a:endParaRPr>
          </a:p>
          <a:p>
            <a:pPr indent="-54000" algn="r" defTabSz="1371600" rtl="1">
              <a:lnSpc>
                <a:spcPct val="150000"/>
              </a:lnSpc>
              <a:defRPr/>
            </a:pPr>
            <a:r>
              <a:rPr lang="ar-SA" sz="3600" b="1" dirty="0">
                <a:solidFill>
                  <a:schemeClr val="accent2">
                    <a:lumMod val="75000"/>
                  </a:schemeClr>
                </a:solidFill>
                <a:latin typeface="Adobe Arabic" panose="02040503050201020203" pitchFamily="18" charset="-78"/>
                <a:cs typeface="Adobe Arabic" panose="02040503050201020203" pitchFamily="18" charset="-78"/>
              </a:rPr>
              <a:t>اقرائي المادة العلمية في الكتاب صفحة </a:t>
            </a:r>
            <a:r>
              <a:rPr lang="en-GB" sz="3600" b="1" dirty="0">
                <a:solidFill>
                  <a:schemeClr val="accent2">
                    <a:lumMod val="75000"/>
                  </a:schemeClr>
                </a:solidFill>
                <a:latin typeface="Adobe Arabic" panose="02040503050201020203" pitchFamily="18" charset="-78"/>
                <a:cs typeface="Adobe Arabic" panose="02040503050201020203" pitchFamily="18" charset="-78"/>
              </a:rPr>
              <a:t>93</a:t>
            </a:r>
            <a:r>
              <a:rPr lang="ar-SA" sz="3600" b="1" dirty="0">
                <a:solidFill>
                  <a:schemeClr val="accent2">
                    <a:lumMod val="75000"/>
                  </a:schemeClr>
                </a:solidFill>
                <a:latin typeface="Adobe Arabic" panose="02040503050201020203" pitchFamily="18" charset="-78"/>
                <a:cs typeface="Adobe Arabic" panose="02040503050201020203" pitchFamily="18" charset="-78"/>
              </a:rPr>
              <a:t>، ثم أجيبي على ما يلي:</a:t>
            </a:r>
            <a:endParaRPr lang="ar-SA" sz="3600" b="1" dirty="0">
              <a:solidFill>
                <a:srgbClr val="0070C0"/>
              </a:solidFill>
              <a:latin typeface="Adobe Arabic" panose="02040503050201020203" pitchFamily="18" charset="-78"/>
              <a:cs typeface="Adobe Arabic" panose="02040503050201020203" pitchFamily="18" charset="-78"/>
            </a:endParaRPr>
          </a:p>
        </p:txBody>
      </p:sp>
      <p:grpSp>
        <p:nvGrpSpPr>
          <p:cNvPr id="2" name="مجموعة 1">
            <a:extLst>
              <a:ext uri="{FF2B5EF4-FFF2-40B4-BE49-F238E27FC236}">
                <a16:creationId xmlns:a16="http://schemas.microsoft.com/office/drawing/2014/main" id="{26F92BB1-66D3-AE33-43A6-68C14D217DB6}"/>
              </a:ext>
            </a:extLst>
          </p:cNvPr>
          <p:cNvGrpSpPr/>
          <p:nvPr/>
        </p:nvGrpSpPr>
        <p:grpSpPr>
          <a:xfrm>
            <a:off x="1858407" y="368566"/>
            <a:ext cx="14665433" cy="2107438"/>
            <a:chOff x="4721019" y="2312028"/>
            <a:chExt cx="12857550" cy="3122542"/>
          </a:xfrm>
        </p:grpSpPr>
        <p:grpSp>
          <p:nvGrpSpPr>
            <p:cNvPr id="3" name="Group 13">
              <a:extLst>
                <a:ext uri="{FF2B5EF4-FFF2-40B4-BE49-F238E27FC236}">
                  <a16:creationId xmlns:a16="http://schemas.microsoft.com/office/drawing/2014/main" id="{7D76868E-C06D-EEE7-0622-B410F5A0DF1D}"/>
                </a:ext>
              </a:extLst>
            </p:cNvPr>
            <p:cNvGrpSpPr/>
            <p:nvPr/>
          </p:nvGrpSpPr>
          <p:grpSpPr>
            <a:xfrm>
              <a:off x="6018873" y="4515916"/>
              <a:ext cx="11101701" cy="918654"/>
              <a:chOff x="0" y="200392"/>
              <a:chExt cx="14802268" cy="1224871"/>
            </a:xfrm>
          </p:grpSpPr>
          <p:sp>
            <p:nvSpPr>
              <p:cNvPr id="25" name="Freeform 15">
                <a:extLst>
                  <a:ext uri="{FF2B5EF4-FFF2-40B4-BE49-F238E27FC236}">
                    <a16:creationId xmlns:a16="http://schemas.microsoft.com/office/drawing/2014/main" id="{06EC312F-95A9-1CFE-B0D6-844A5E1ED48A}"/>
                  </a:ext>
                </a:extLst>
              </p:cNvPr>
              <p:cNvSpPr/>
              <p:nvPr/>
            </p:nvSpPr>
            <p:spPr>
              <a:xfrm>
                <a:off x="0" y="212950"/>
                <a:ext cx="14229757" cy="121231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6" name="Freeform 18">
                <a:extLst>
                  <a:ext uri="{FF2B5EF4-FFF2-40B4-BE49-F238E27FC236}">
                    <a16:creationId xmlns:a16="http://schemas.microsoft.com/office/drawing/2014/main" id="{92C2B581-F7CF-7D86-C1DF-349FE3764253}"/>
                  </a:ext>
                </a:extLst>
              </p:cNvPr>
              <p:cNvSpPr/>
              <p:nvPr/>
            </p:nvSpPr>
            <p:spPr>
              <a:xfrm>
                <a:off x="14205179" y="200392"/>
                <a:ext cx="597089" cy="1224871"/>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7" name="TextBox 20">
                <a:extLst>
                  <a:ext uri="{FF2B5EF4-FFF2-40B4-BE49-F238E27FC236}">
                    <a16:creationId xmlns:a16="http://schemas.microsoft.com/office/drawing/2014/main" id="{D24F99CD-9F4A-6BD9-84C7-190A4EBFBE09}"/>
                  </a:ext>
                </a:extLst>
              </p:cNvPr>
              <p:cNvSpPr txBox="1"/>
              <p:nvPr/>
            </p:nvSpPr>
            <p:spPr>
              <a:xfrm>
                <a:off x="5844133" y="258458"/>
                <a:ext cx="7200703" cy="946251"/>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 القراءة الفعالة</a:t>
                </a:r>
                <a:endParaRPr lang="en-US" sz="3200" dirty="0">
                  <a:solidFill>
                    <a:srgbClr val="FFFFFF"/>
                  </a:solidFill>
                  <a:cs typeface="PT Bold Heading" panose="02010400000000000000" pitchFamily="2" charset="-78"/>
                </a:endParaRPr>
              </a:p>
            </p:txBody>
          </p:sp>
        </p:grpSp>
        <p:sp>
          <p:nvSpPr>
            <p:cNvPr id="6" name="Freeform 22">
              <a:extLst>
                <a:ext uri="{FF2B5EF4-FFF2-40B4-BE49-F238E27FC236}">
                  <a16:creationId xmlns:a16="http://schemas.microsoft.com/office/drawing/2014/main" id="{529E3127-E191-FA30-739B-DB8D4A7FFBBD}"/>
                </a:ext>
              </a:extLst>
            </p:cNvPr>
            <p:cNvSpPr/>
            <p:nvPr/>
          </p:nvSpPr>
          <p:spPr>
            <a:xfrm>
              <a:off x="6018873" y="2312028"/>
              <a:ext cx="11503024" cy="181564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9" name="Freeform 25">
              <a:extLst>
                <a:ext uri="{FF2B5EF4-FFF2-40B4-BE49-F238E27FC236}">
                  <a16:creationId xmlns:a16="http://schemas.microsoft.com/office/drawing/2014/main" id="{0FAF343D-0C0D-3664-CD4C-6521DC042344}"/>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0" name="Freeform 28">
              <a:extLst>
                <a:ext uri="{FF2B5EF4-FFF2-40B4-BE49-F238E27FC236}">
                  <a16:creationId xmlns:a16="http://schemas.microsoft.com/office/drawing/2014/main" id="{E77B5F21-F914-0BED-C50C-5926F37F28D4}"/>
                </a:ext>
              </a:extLst>
            </p:cNvPr>
            <p:cNvSpPr/>
            <p:nvPr/>
          </p:nvSpPr>
          <p:spPr>
            <a:xfrm>
              <a:off x="15384091" y="3323646"/>
              <a:ext cx="1860306" cy="624822"/>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1" name="Freeform 31">
              <a:extLst>
                <a:ext uri="{FF2B5EF4-FFF2-40B4-BE49-F238E27FC236}">
                  <a16:creationId xmlns:a16="http://schemas.microsoft.com/office/drawing/2014/main" id="{918B7D06-1A21-5083-9D0C-E2868B84E263}"/>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2" name="Freeform 34">
              <a:extLst>
                <a:ext uri="{FF2B5EF4-FFF2-40B4-BE49-F238E27FC236}">
                  <a16:creationId xmlns:a16="http://schemas.microsoft.com/office/drawing/2014/main" id="{6F660F7B-A79A-7D1D-2262-2AF1A4C6F308}"/>
                </a:ext>
              </a:extLst>
            </p:cNvPr>
            <p:cNvSpPr/>
            <p:nvPr/>
          </p:nvSpPr>
          <p:spPr>
            <a:xfrm>
              <a:off x="13769349" y="3306693"/>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3" name="TextBox 36">
              <a:extLst>
                <a:ext uri="{FF2B5EF4-FFF2-40B4-BE49-F238E27FC236}">
                  <a16:creationId xmlns:a16="http://schemas.microsoft.com/office/drawing/2014/main" id="{068B2C3E-7607-9978-9CBF-F40F58FBAFCF}"/>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14" name="TextBox 37">
              <a:extLst>
                <a:ext uri="{FF2B5EF4-FFF2-40B4-BE49-F238E27FC236}">
                  <a16:creationId xmlns:a16="http://schemas.microsoft.com/office/drawing/2014/main" id="{A06DDD3B-E60C-1610-C73A-BEB66E0B0C09}"/>
                </a:ext>
              </a:extLst>
            </p:cNvPr>
            <p:cNvSpPr txBox="1"/>
            <p:nvPr/>
          </p:nvSpPr>
          <p:spPr>
            <a:xfrm>
              <a:off x="15082665" y="3254615"/>
              <a:ext cx="2495904" cy="720568"/>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15" name="TextBox 38">
              <a:extLst>
                <a:ext uri="{FF2B5EF4-FFF2-40B4-BE49-F238E27FC236}">
                  <a16:creationId xmlns:a16="http://schemas.microsoft.com/office/drawing/2014/main" id="{23C15333-CA12-ACF7-7605-101028AFA4E1}"/>
                </a:ext>
              </a:extLst>
            </p:cNvPr>
            <p:cNvSpPr txBox="1"/>
            <p:nvPr/>
          </p:nvSpPr>
          <p:spPr>
            <a:xfrm>
              <a:off x="14075170" y="2424585"/>
              <a:ext cx="882808" cy="572881"/>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3</a:t>
              </a:r>
            </a:p>
          </p:txBody>
        </p:sp>
        <p:sp>
          <p:nvSpPr>
            <p:cNvPr id="16" name="TextBox 39">
              <a:extLst>
                <a:ext uri="{FF2B5EF4-FFF2-40B4-BE49-F238E27FC236}">
                  <a16:creationId xmlns:a16="http://schemas.microsoft.com/office/drawing/2014/main" id="{860EFB1B-7220-2BFD-742E-15E69E68A809}"/>
                </a:ext>
              </a:extLst>
            </p:cNvPr>
            <p:cNvSpPr txBox="1"/>
            <p:nvPr/>
          </p:nvSpPr>
          <p:spPr>
            <a:xfrm>
              <a:off x="14102509" y="3206466"/>
              <a:ext cx="882808" cy="572881"/>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2</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17" name="Freeform 41">
              <a:extLst>
                <a:ext uri="{FF2B5EF4-FFF2-40B4-BE49-F238E27FC236}">
                  <a16:creationId xmlns:a16="http://schemas.microsoft.com/office/drawing/2014/main" id="{2672D71D-7AD9-659B-B654-CF5F0ED57347}"/>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18" name="Freeform 44">
              <a:extLst>
                <a:ext uri="{FF2B5EF4-FFF2-40B4-BE49-F238E27FC236}">
                  <a16:creationId xmlns:a16="http://schemas.microsoft.com/office/drawing/2014/main" id="{F80B5EC7-4A66-2E7B-754A-02BE8521668F}"/>
                </a:ext>
              </a:extLst>
            </p:cNvPr>
            <p:cNvSpPr/>
            <p:nvPr/>
          </p:nvSpPr>
          <p:spPr>
            <a:xfrm>
              <a:off x="11426631" y="3402673"/>
              <a:ext cx="1936166" cy="573415"/>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9" name="Freeform 47">
              <a:extLst>
                <a:ext uri="{FF2B5EF4-FFF2-40B4-BE49-F238E27FC236}">
                  <a16:creationId xmlns:a16="http://schemas.microsoft.com/office/drawing/2014/main" id="{FF04E91A-EFDD-D445-BB04-7CC4131334CE}"/>
                </a:ext>
              </a:extLst>
            </p:cNvPr>
            <p:cNvSpPr/>
            <p:nvPr/>
          </p:nvSpPr>
          <p:spPr>
            <a:xfrm>
              <a:off x="6164367" y="2471739"/>
              <a:ext cx="5133210" cy="733569"/>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0" name="Freeform 50">
              <a:extLst>
                <a:ext uri="{FF2B5EF4-FFF2-40B4-BE49-F238E27FC236}">
                  <a16:creationId xmlns:a16="http://schemas.microsoft.com/office/drawing/2014/main" id="{A3627DAC-32D9-54D8-66FD-AE9DCD5AB5BA}"/>
                </a:ext>
              </a:extLst>
            </p:cNvPr>
            <p:cNvSpPr/>
            <p:nvPr/>
          </p:nvSpPr>
          <p:spPr>
            <a:xfrm>
              <a:off x="6293682" y="339614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1" name="TextBox 52">
              <a:extLst>
                <a:ext uri="{FF2B5EF4-FFF2-40B4-BE49-F238E27FC236}">
                  <a16:creationId xmlns:a16="http://schemas.microsoft.com/office/drawing/2014/main" id="{132427E0-5931-3763-4F64-20002D6675BB}"/>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22" name="TextBox 53">
              <a:extLst>
                <a:ext uri="{FF2B5EF4-FFF2-40B4-BE49-F238E27FC236}">
                  <a16:creationId xmlns:a16="http://schemas.microsoft.com/office/drawing/2014/main" id="{41C64651-BAD7-E6C7-AFEA-54160801BEA7}"/>
                </a:ext>
              </a:extLst>
            </p:cNvPr>
            <p:cNvSpPr txBox="1"/>
            <p:nvPr/>
          </p:nvSpPr>
          <p:spPr>
            <a:xfrm>
              <a:off x="11070169" y="3295029"/>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23" name="TextBox 54">
              <a:extLst>
                <a:ext uri="{FF2B5EF4-FFF2-40B4-BE49-F238E27FC236}">
                  <a16:creationId xmlns:a16="http://schemas.microsoft.com/office/drawing/2014/main" id="{C28F543A-5D4C-80C5-E838-B797AED79F7D}"/>
                </a:ext>
              </a:extLst>
            </p:cNvPr>
            <p:cNvSpPr txBox="1"/>
            <p:nvPr/>
          </p:nvSpPr>
          <p:spPr>
            <a:xfrm>
              <a:off x="4721019" y="2465879"/>
              <a:ext cx="7844947" cy="544380"/>
            </a:xfrm>
            <a:prstGeom prst="rect">
              <a:avLst/>
            </a:prstGeom>
          </p:spPr>
          <p:txBody>
            <a:bodyPr wrap="square" lIns="0" tIns="0" rIns="0" bIns="0" rtlCol="0" anchor="t">
              <a:spAutoFit/>
            </a:bodyPr>
            <a:lstStyle/>
            <a:p>
              <a:pPr algn="ctr" rtl="1">
                <a:lnSpc>
                  <a:spcPts val="3073"/>
                </a:lnSpc>
              </a:pPr>
              <a:r>
                <a:rPr lang="ar-SA" dirty="0">
                  <a:solidFill>
                    <a:srgbClr val="17383E"/>
                  </a:solidFill>
                  <a:cs typeface="PT Bold Heading" panose="02010400000000000000" pitchFamily="2" charset="-78"/>
                </a:rPr>
                <a:t>أن تشرح الطالبة كيفية دمج الأمن السيبراني فر دورة مراحل النظام</a:t>
              </a:r>
              <a:endParaRPr lang="en-US" dirty="0">
                <a:solidFill>
                  <a:srgbClr val="17383E"/>
                </a:solidFill>
                <a:cs typeface="PT Bold Heading" panose="02010400000000000000" pitchFamily="2" charset="-78"/>
              </a:endParaRPr>
            </a:p>
          </p:txBody>
        </p:sp>
        <p:sp>
          <p:nvSpPr>
            <p:cNvPr id="24" name="TextBox 55">
              <a:extLst>
                <a:ext uri="{FF2B5EF4-FFF2-40B4-BE49-F238E27FC236}">
                  <a16:creationId xmlns:a16="http://schemas.microsoft.com/office/drawing/2014/main" id="{C6F9B72C-53C4-26D5-F15B-5DE3179245F4}"/>
                </a:ext>
              </a:extLst>
            </p:cNvPr>
            <p:cNvSpPr txBox="1"/>
            <p:nvPr/>
          </p:nvSpPr>
          <p:spPr>
            <a:xfrm>
              <a:off x="6598020" y="3263076"/>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جماعي</a:t>
              </a:r>
              <a:endParaRPr lang="en-US" dirty="0">
                <a:solidFill>
                  <a:srgbClr val="17383E"/>
                </a:solidFill>
                <a:cs typeface="PT Bold Heading" panose="02010400000000000000" pitchFamily="2" charset="-78"/>
              </a:endParaRPr>
            </a:p>
          </p:txBody>
        </p:sp>
      </p:grpSp>
    </p:spTree>
    <p:extLst>
      <p:ext uri="{BB962C8B-B14F-4D97-AF65-F5344CB8AC3E}">
        <p14:creationId xmlns:p14="http://schemas.microsoft.com/office/powerpoint/2010/main" val="256865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1375830" y="3699742"/>
            <a:ext cx="4242042" cy="4261056"/>
            <a:chOff x="12673" y="0"/>
            <a:chExt cx="5656056" cy="5681408"/>
          </a:xfrm>
        </p:grpSpPr>
        <p:sp>
          <p:nvSpPr>
            <p:cNvPr id="12" name="Freeform 12"/>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448162" y="448162"/>
              <a:ext cx="4785083" cy="4785083"/>
            </a:xfrm>
            <a:custGeom>
              <a:avLst/>
              <a:gdLst/>
              <a:ahLst/>
              <a:cxnLst/>
              <a:rect l="l" t="t" r="r" b="b"/>
              <a:pathLst>
                <a:path w="4785083" h="4785083">
                  <a:moveTo>
                    <a:pt x="0" y="0"/>
                  </a:moveTo>
                  <a:lnTo>
                    <a:pt x="4785083" y="0"/>
                  </a:lnTo>
                  <a:lnTo>
                    <a:pt x="4785083" y="4785083"/>
                  </a:lnTo>
                  <a:lnTo>
                    <a:pt x="0" y="47850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5944489" y="5830270"/>
            <a:ext cx="11625676" cy="2505686"/>
            <a:chOff x="0" y="0"/>
            <a:chExt cx="15500902" cy="3340915"/>
          </a:xfrm>
        </p:grpSpPr>
        <p:sp>
          <p:nvSpPr>
            <p:cNvPr id="17" name="Freeform 17"/>
            <p:cNvSpPr/>
            <p:nvPr/>
          </p:nvSpPr>
          <p:spPr>
            <a:xfrm>
              <a:off x="0" y="0"/>
              <a:ext cx="15500902" cy="3340915"/>
            </a:xfrm>
            <a:custGeom>
              <a:avLst/>
              <a:gdLst/>
              <a:ahLst/>
              <a:cxnLst/>
              <a:rect l="l" t="t" r="r" b="b"/>
              <a:pathLst>
                <a:path w="2780123" h="599201">
                  <a:moveTo>
                    <a:pt x="0" y="0"/>
                  </a:moveTo>
                  <a:lnTo>
                    <a:pt x="2780123" y="0"/>
                  </a:lnTo>
                  <a:lnTo>
                    <a:pt x="2780123" y="599201"/>
                  </a:lnTo>
                  <a:lnTo>
                    <a:pt x="0" y="599201"/>
                  </a:lnTo>
                  <a:close/>
                </a:path>
              </a:pathLst>
            </a:custGeom>
            <a:solidFill>
              <a:srgbClr val="5BC4BF">
                <a:alpha val="17647"/>
              </a:srgbClr>
            </a:solidFill>
            <a:ln>
              <a:noFill/>
            </a:ln>
          </p:spPr>
          <p:txBody>
            <a:bodyPr/>
            <a:lstStyle/>
            <a:p>
              <a:pPr algn="r" rtl="1"/>
              <a:endParaRPr lang="ar-SA">
                <a:cs typeface="PT Bold Heading" panose="02010400000000000000" pitchFamily="2" charset="-78"/>
              </a:endParaRPr>
            </a:p>
          </p:txBody>
        </p:sp>
        <p:sp>
          <p:nvSpPr>
            <p:cNvPr id="19" name="TextBox 19"/>
            <p:cNvSpPr txBox="1"/>
            <p:nvPr/>
          </p:nvSpPr>
          <p:spPr>
            <a:xfrm>
              <a:off x="361569" y="298529"/>
              <a:ext cx="14921697" cy="2804187"/>
            </a:xfrm>
            <a:prstGeom prst="rect">
              <a:avLst/>
            </a:prstGeom>
          </p:spPr>
          <p:txBody>
            <a:bodyPr lIns="0" tIns="0" rIns="0" bIns="0" rtlCol="0" anchor="t">
              <a:spAutoFit/>
            </a:bodyPr>
            <a:lstStyle/>
            <a:p>
              <a:pPr marL="722538" lvl="1" indent="-361269" algn="r" rtl="1">
                <a:lnSpc>
                  <a:spcPts val="4116"/>
                </a:lnSpc>
                <a:buFont typeface="Arial"/>
                <a:buChar char="•"/>
              </a:pPr>
              <a:r>
                <a:rPr lang="en-US" sz="3346" dirty="0">
                  <a:solidFill>
                    <a:srgbClr val="28443B"/>
                  </a:solidFill>
                  <a:latin typeface="PT Bold Heading"/>
                  <a:cs typeface="PT Bold Heading" panose="02010400000000000000" pitchFamily="2" charset="-78"/>
                </a:rPr>
                <a:t> </a:t>
              </a:r>
              <a:r>
                <a:rPr lang="ar-SA" sz="3346" dirty="0">
                  <a:solidFill>
                    <a:srgbClr val="BD2424"/>
                  </a:solidFill>
                  <a:cs typeface="PT Bold Heading" panose="02010400000000000000" pitchFamily="2" charset="-78"/>
                </a:rPr>
                <a:t>نعم يمكن</a:t>
              </a:r>
              <a:r>
                <a:rPr lang="en-US" sz="3346" dirty="0">
                  <a:solidFill>
                    <a:srgbClr val="BD2424"/>
                  </a:solidFill>
                  <a:cs typeface="PT Bold Heading" panose="02010400000000000000" pitchFamily="2" charset="-78"/>
                </a:rPr>
                <a:t> أن تؤثر البصمة الرقمية على دورة حياة النظام بعدة طرق</a:t>
              </a:r>
              <a:r>
                <a:rPr lang="en-US" sz="3346" dirty="0">
                  <a:solidFill>
                    <a:srgbClr val="28443B"/>
                  </a:solidFill>
                  <a:latin typeface="PT Bold Heading"/>
                  <a:cs typeface="PT Bold Heading" panose="02010400000000000000" pitchFamily="2" charset="-78"/>
                </a:rPr>
                <a:t> ؛ وذلك لأنها سلسلة من البيانات يتم تركها عندما يستخدم شخص ما التقنيات الرقمية، بما في ذلك الإنترنت والوسائط الاجتماعية والمنصات الرقمية الأخرى .</a:t>
              </a:r>
            </a:p>
          </p:txBody>
        </p:sp>
      </p:grpSp>
      <p:sp>
        <p:nvSpPr>
          <p:cNvPr id="5" name="TextBox 19">
            <a:extLst>
              <a:ext uri="{FF2B5EF4-FFF2-40B4-BE49-F238E27FC236}">
                <a16:creationId xmlns:a16="http://schemas.microsoft.com/office/drawing/2014/main" id="{D39B3CD4-C766-8321-1F4D-C841F26EAC65}"/>
              </a:ext>
            </a:extLst>
          </p:cNvPr>
          <p:cNvSpPr txBox="1"/>
          <p:nvPr/>
        </p:nvSpPr>
        <p:spPr>
          <a:xfrm>
            <a:off x="5944489" y="4035864"/>
            <a:ext cx="11191272" cy="523092"/>
          </a:xfrm>
          <a:prstGeom prst="rect">
            <a:avLst/>
          </a:prstGeom>
        </p:spPr>
        <p:txBody>
          <a:bodyPr lIns="0" tIns="0" rIns="0" bIns="0" rtlCol="0" anchor="t">
            <a:spAutoFit/>
          </a:bodyPr>
          <a:lstStyle/>
          <a:p>
            <a:pPr marL="722538" lvl="1" indent="-361269" algn="r" rtl="1">
              <a:lnSpc>
                <a:spcPts val="4116"/>
              </a:lnSpc>
              <a:buFont typeface="Arial"/>
              <a:buChar char="•"/>
            </a:pPr>
            <a:r>
              <a:rPr lang="ar-SA" sz="3346" dirty="0">
                <a:solidFill>
                  <a:srgbClr val="BD2424"/>
                </a:solidFill>
                <a:cs typeface="PT Bold Heading" panose="02010400000000000000" pitchFamily="2" charset="-78"/>
              </a:rPr>
              <a:t>هل </a:t>
            </a:r>
            <a:r>
              <a:rPr lang="en-US" sz="3346" dirty="0">
                <a:solidFill>
                  <a:srgbClr val="BD2424"/>
                </a:solidFill>
                <a:cs typeface="PT Bold Heading" panose="02010400000000000000" pitchFamily="2" charset="-78"/>
              </a:rPr>
              <a:t> تؤثر البصمة الرقمية على دورة حياة النظام </a:t>
            </a:r>
            <a:r>
              <a:rPr lang="en-US" sz="3346" dirty="0">
                <a:solidFill>
                  <a:srgbClr val="28443B"/>
                </a:solidFill>
                <a:latin typeface="PT Bold Heading"/>
                <a:cs typeface="PT Bold Heading" panose="02010400000000000000" pitchFamily="2" charset="-78"/>
              </a:rPr>
              <a:t> </a:t>
            </a:r>
            <a:r>
              <a:rPr lang="ar-SA" sz="3346" dirty="0">
                <a:solidFill>
                  <a:srgbClr val="28443B"/>
                </a:solidFill>
                <a:latin typeface="PT Bold Heading"/>
                <a:cs typeface="PT Bold Heading" panose="02010400000000000000" pitchFamily="2" charset="-78"/>
              </a:rPr>
              <a:t>؟</a:t>
            </a:r>
            <a:endParaRPr lang="en-US" sz="3346" dirty="0">
              <a:solidFill>
                <a:srgbClr val="28443B"/>
              </a:solidFill>
              <a:latin typeface="PT Bold Heading"/>
              <a:cs typeface="PT Bold Heading" panose="02010400000000000000"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1229042" y="4018523"/>
            <a:ext cx="4520128" cy="4261056"/>
            <a:chOff x="0" y="0"/>
            <a:chExt cx="6026837" cy="5681408"/>
          </a:xfrm>
        </p:grpSpPr>
        <p:sp>
          <p:nvSpPr>
            <p:cNvPr id="12" name="Freeform 12"/>
            <p:cNvSpPr/>
            <p:nvPr/>
          </p:nvSpPr>
          <p:spPr>
            <a:xfrm>
              <a:off x="370781"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0" y="0"/>
              <a:ext cx="5818028" cy="5486400"/>
            </a:xfrm>
            <a:custGeom>
              <a:avLst/>
              <a:gdLst/>
              <a:ahLst/>
              <a:cxnLst/>
              <a:rect l="l" t="t" r="r" b="b"/>
              <a:pathLst>
                <a:path w="5818028" h="5486400">
                  <a:moveTo>
                    <a:pt x="0" y="0"/>
                  </a:moveTo>
                  <a:lnTo>
                    <a:pt x="5818028" y="0"/>
                  </a:lnTo>
                  <a:lnTo>
                    <a:pt x="5818028" y="5486400"/>
                  </a:lnTo>
                  <a:lnTo>
                    <a:pt x="0" y="5486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6533926" y="3879636"/>
            <a:ext cx="11934649" cy="1034620"/>
            <a:chOff x="0" y="0"/>
            <a:chExt cx="15912866" cy="1379493"/>
          </a:xfrm>
        </p:grpSpPr>
        <p:sp>
          <p:nvSpPr>
            <p:cNvPr id="17" name="Freeform 17"/>
            <p:cNvSpPr/>
            <p:nvPr/>
          </p:nvSpPr>
          <p:spPr>
            <a:xfrm>
              <a:off x="0" y="0"/>
              <a:ext cx="14825041" cy="1379493"/>
            </a:xfrm>
            <a:custGeom>
              <a:avLst/>
              <a:gdLst/>
              <a:ahLst/>
              <a:cxnLst/>
              <a:rect l="l" t="t" r="r" b="b"/>
              <a:pathLst>
                <a:path w="2570915" h="239228">
                  <a:moveTo>
                    <a:pt x="0" y="0"/>
                  </a:moveTo>
                  <a:lnTo>
                    <a:pt x="2570915" y="0"/>
                  </a:lnTo>
                  <a:lnTo>
                    <a:pt x="2570915" y="239228"/>
                  </a:lnTo>
                  <a:lnTo>
                    <a:pt x="0" y="239228"/>
                  </a:lnTo>
                  <a:close/>
                </a:path>
              </a:pathLst>
            </a:custGeom>
            <a:solidFill>
              <a:srgbClr val="959E9D">
                <a:alpha val="17647"/>
              </a:srgbClr>
            </a:solidFill>
            <a:ln>
              <a:noFill/>
            </a:ln>
          </p:spPr>
          <p:txBody>
            <a:bodyPr/>
            <a:lstStyle/>
            <a:p>
              <a:pPr algn="r" rtl="1"/>
              <a:endParaRPr lang="ar-SA">
                <a:cs typeface="PT Bold Heading" panose="02010400000000000000" pitchFamily="2" charset="-78"/>
              </a:endParaRPr>
            </a:p>
          </p:txBody>
        </p:sp>
        <p:sp>
          <p:nvSpPr>
            <p:cNvPr id="20" name="Freeform 20"/>
            <p:cNvSpPr/>
            <p:nvPr/>
          </p:nvSpPr>
          <p:spPr>
            <a:xfrm>
              <a:off x="14786941" y="346383"/>
              <a:ext cx="1125925" cy="657751"/>
            </a:xfrm>
            <a:custGeom>
              <a:avLst/>
              <a:gdLst/>
              <a:ahLst/>
              <a:cxnLst/>
              <a:rect l="l" t="t" r="r" b="b"/>
              <a:pathLst>
                <a:path w="195255" h="114065">
                  <a:moveTo>
                    <a:pt x="0" y="0"/>
                  </a:moveTo>
                  <a:lnTo>
                    <a:pt x="195255" y="0"/>
                  </a:lnTo>
                  <a:lnTo>
                    <a:pt x="195255" y="114065"/>
                  </a:lnTo>
                  <a:lnTo>
                    <a:pt x="0" y="114065"/>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22" name="TextBox 22"/>
            <p:cNvSpPr txBox="1"/>
            <p:nvPr/>
          </p:nvSpPr>
          <p:spPr>
            <a:xfrm>
              <a:off x="1212161" y="328449"/>
              <a:ext cx="12131182" cy="729004"/>
            </a:xfrm>
            <a:prstGeom prst="rect">
              <a:avLst/>
            </a:prstGeom>
          </p:spPr>
          <p:txBody>
            <a:bodyPr lIns="0" tIns="0" rIns="0" bIns="0" rtlCol="0" anchor="t">
              <a:spAutoFit/>
            </a:bodyPr>
            <a:lstStyle/>
            <a:p>
              <a:pPr algn="r" rtl="1">
                <a:lnSpc>
                  <a:spcPts val="4257"/>
                </a:lnSpc>
              </a:pPr>
              <a:r>
                <a:rPr lang="en-US" sz="3461" dirty="0" err="1">
                  <a:solidFill>
                    <a:srgbClr val="28443B"/>
                  </a:solidFill>
                  <a:cs typeface="PT Bold Heading" panose="02010400000000000000" pitchFamily="2" charset="-78"/>
                </a:rPr>
                <a:t>يمكن</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تصنيف</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البصمة</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الرقمية</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إلى</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صنفين</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أساسيين</a:t>
              </a:r>
              <a:r>
                <a:rPr lang="en-US" sz="3461" dirty="0">
                  <a:solidFill>
                    <a:srgbClr val="28443B"/>
                  </a:solidFill>
                  <a:cs typeface="PT Bold Heading" panose="02010400000000000000" pitchFamily="2" charset="-78"/>
                </a:rPr>
                <a:t> : </a:t>
              </a:r>
            </a:p>
          </p:txBody>
        </p:sp>
      </p:grpSp>
      <p:grpSp>
        <p:nvGrpSpPr>
          <p:cNvPr id="23" name="Group 23"/>
          <p:cNvGrpSpPr/>
          <p:nvPr/>
        </p:nvGrpSpPr>
        <p:grpSpPr>
          <a:xfrm>
            <a:off x="6533926" y="6519469"/>
            <a:ext cx="10947743" cy="1136157"/>
            <a:chOff x="0" y="0"/>
            <a:chExt cx="14596990" cy="1514877"/>
          </a:xfrm>
        </p:grpSpPr>
        <p:sp>
          <p:nvSpPr>
            <p:cNvPr id="25" name="Freeform 25"/>
            <p:cNvSpPr/>
            <p:nvPr/>
          </p:nvSpPr>
          <p:spPr>
            <a:xfrm>
              <a:off x="0" y="0"/>
              <a:ext cx="14008016" cy="1483317"/>
            </a:xfrm>
            <a:custGeom>
              <a:avLst/>
              <a:gdLst/>
              <a:ahLst/>
              <a:cxnLst/>
              <a:rect l="l" t="t" r="r" b="b"/>
              <a:pathLst>
                <a:path w="2825936" h="299240">
                  <a:moveTo>
                    <a:pt x="0" y="0"/>
                  </a:moveTo>
                  <a:lnTo>
                    <a:pt x="2825936" y="0"/>
                  </a:lnTo>
                  <a:lnTo>
                    <a:pt x="2825936" y="299240"/>
                  </a:lnTo>
                  <a:lnTo>
                    <a:pt x="0" y="2992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8" name="Freeform 28"/>
            <p:cNvSpPr/>
            <p:nvPr/>
          </p:nvSpPr>
          <p:spPr>
            <a:xfrm>
              <a:off x="272164" y="217089"/>
              <a:ext cx="13735852" cy="1266226"/>
            </a:xfrm>
            <a:custGeom>
              <a:avLst/>
              <a:gdLst/>
              <a:ahLst/>
              <a:cxnLst/>
              <a:rect l="l" t="t" r="r" b="b"/>
              <a:pathLst>
                <a:path w="2771031" h="255445">
                  <a:moveTo>
                    <a:pt x="8267" y="0"/>
                  </a:moveTo>
                  <a:lnTo>
                    <a:pt x="2762765" y="0"/>
                  </a:lnTo>
                  <a:cubicBezTo>
                    <a:pt x="2767330" y="0"/>
                    <a:pt x="2771031" y="3701"/>
                    <a:pt x="2771031" y="8267"/>
                  </a:cubicBezTo>
                  <a:lnTo>
                    <a:pt x="2771031" y="247178"/>
                  </a:lnTo>
                  <a:cubicBezTo>
                    <a:pt x="2771031" y="251744"/>
                    <a:pt x="2767330" y="255445"/>
                    <a:pt x="2762765" y="255445"/>
                  </a:cubicBezTo>
                  <a:lnTo>
                    <a:pt x="8267" y="255445"/>
                  </a:lnTo>
                  <a:cubicBezTo>
                    <a:pt x="3701" y="255445"/>
                    <a:pt x="0" y="251744"/>
                    <a:pt x="0" y="247178"/>
                  </a:cubicBezTo>
                  <a:lnTo>
                    <a:pt x="0" y="8267"/>
                  </a:lnTo>
                  <a:cubicBezTo>
                    <a:pt x="0" y="3701"/>
                    <a:pt x="3701" y="0"/>
                    <a:pt x="8267" y="0"/>
                  </a:cubicBezTo>
                  <a:close/>
                </a:path>
              </a:pathLst>
            </a:custGeom>
            <a:solidFill>
              <a:srgbClr val="FFFFFF"/>
            </a:solidFill>
            <a:ln w="28575">
              <a:solidFill>
                <a:srgbClr val="1DA8A7"/>
              </a:solidFill>
            </a:ln>
          </p:spPr>
          <p:txBody>
            <a:bodyPr/>
            <a:lstStyle/>
            <a:p>
              <a:pPr algn="r" rtl="1"/>
              <a:endParaRPr lang="ar-SA">
                <a:cs typeface="PT Bold Heading" panose="02010400000000000000" pitchFamily="2" charset="-78"/>
              </a:endParaRPr>
            </a:p>
          </p:txBody>
        </p:sp>
        <p:sp>
          <p:nvSpPr>
            <p:cNvPr id="31" name="Freeform 31"/>
            <p:cNvSpPr/>
            <p:nvPr/>
          </p:nvSpPr>
          <p:spPr>
            <a:xfrm>
              <a:off x="13273574" y="185529"/>
              <a:ext cx="1323416" cy="132934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1C1C"/>
            </a:solidFill>
          </p:spPr>
          <p:txBody>
            <a:bodyPr/>
            <a:lstStyle/>
            <a:p>
              <a:pPr algn="r" rtl="1"/>
              <a:endParaRPr lang="ar-SA">
                <a:cs typeface="PT Bold Heading" panose="02010400000000000000" pitchFamily="2" charset="-78"/>
              </a:endParaRPr>
            </a:p>
          </p:txBody>
        </p:sp>
        <p:sp>
          <p:nvSpPr>
            <p:cNvPr id="33" name="TextBox 33"/>
            <p:cNvSpPr txBox="1"/>
            <p:nvPr/>
          </p:nvSpPr>
          <p:spPr>
            <a:xfrm>
              <a:off x="272164" y="582958"/>
              <a:ext cx="12794055" cy="551358"/>
            </a:xfrm>
            <a:prstGeom prst="rect">
              <a:avLst/>
            </a:prstGeom>
          </p:spPr>
          <p:txBody>
            <a:bodyPr lIns="0" tIns="0" rIns="0" bIns="0" rtlCol="0" anchor="t">
              <a:spAutoFit/>
            </a:bodyPr>
            <a:lstStyle/>
            <a:p>
              <a:pPr algn="ctr" rtl="1">
                <a:lnSpc>
                  <a:spcPts val="3034"/>
                </a:lnSpc>
              </a:pPr>
              <a:r>
                <a:rPr lang="en-US" sz="3095">
                  <a:solidFill>
                    <a:srgbClr val="17383E"/>
                  </a:solidFill>
                  <a:cs typeface="PT Bold Heading" panose="02010400000000000000" pitchFamily="2" charset="-78"/>
                </a:rPr>
                <a:t>البصمات الرقمية غير النشطة Passive Digital Footprints</a:t>
              </a:r>
            </a:p>
          </p:txBody>
        </p:sp>
        <p:sp>
          <p:nvSpPr>
            <p:cNvPr id="34" name="TextBox 34"/>
            <p:cNvSpPr txBox="1"/>
            <p:nvPr/>
          </p:nvSpPr>
          <p:spPr>
            <a:xfrm>
              <a:off x="13580960" y="554276"/>
              <a:ext cx="746186" cy="613794"/>
            </a:xfrm>
            <a:prstGeom prst="rect">
              <a:avLst/>
            </a:prstGeom>
          </p:spPr>
          <p:txBody>
            <a:bodyPr lIns="0" tIns="0" rIns="0" bIns="0" rtlCol="0" anchor="t">
              <a:spAutoFit/>
            </a:bodyPr>
            <a:lstStyle/>
            <a:p>
              <a:pPr algn="ctr" rtl="1">
                <a:lnSpc>
                  <a:spcPts val="3338"/>
                </a:lnSpc>
              </a:pPr>
              <a:r>
                <a:rPr lang="en-US" sz="3406">
                  <a:solidFill>
                    <a:srgbClr val="FFFFFF"/>
                  </a:solidFill>
                  <a:latin typeface="PT Bold Heading"/>
                  <a:cs typeface="PT Bold Heading" panose="02010400000000000000" pitchFamily="2" charset="-78"/>
                </a:rPr>
                <a:t>2</a:t>
              </a:r>
            </a:p>
          </p:txBody>
        </p:sp>
      </p:grpSp>
      <p:grpSp>
        <p:nvGrpSpPr>
          <p:cNvPr id="35" name="Group 35"/>
          <p:cNvGrpSpPr/>
          <p:nvPr/>
        </p:nvGrpSpPr>
        <p:grpSpPr>
          <a:xfrm>
            <a:off x="6533926" y="5064105"/>
            <a:ext cx="11002293" cy="1112489"/>
            <a:chOff x="0" y="0"/>
            <a:chExt cx="14669723" cy="1483318"/>
          </a:xfrm>
        </p:grpSpPr>
        <p:sp>
          <p:nvSpPr>
            <p:cNvPr id="37" name="Freeform 37"/>
            <p:cNvSpPr/>
            <p:nvPr/>
          </p:nvSpPr>
          <p:spPr>
            <a:xfrm>
              <a:off x="0" y="0"/>
              <a:ext cx="14008015" cy="1483316"/>
            </a:xfrm>
            <a:custGeom>
              <a:avLst/>
              <a:gdLst/>
              <a:ahLst/>
              <a:cxnLst/>
              <a:rect l="l" t="t" r="r" b="b"/>
              <a:pathLst>
                <a:path w="2825936" h="299240">
                  <a:moveTo>
                    <a:pt x="0" y="0"/>
                  </a:moveTo>
                  <a:lnTo>
                    <a:pt x="2825936" y="0"/>
                  </a:lnTo>
                  <a:lnTo>
                    <a:pt x="2825936" y="299240"/>
                  </a:lnTo>
                  <a:lnTo>
                    <a:pt x="0" y="2992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0" name="Freeform 40"/>
            <p:cNvSpPr/>
            <p:nvPr/>
          </p:nvSpPr>
          <p:spPr>
            <a:xfrm>
              <a:off x="272164" y="217091"/>
              <a:ext cx="13735851" cy="1266227"/>
            </a:xfrm>
            <a:custGeom>
              <a:avLst/>
              <a:gdLst/>
              <a:ahLst/>
              <a:cxnLst/>
              <a:rect l="l" t="t" r="r" b="b"/>
              <a:pathLst>
                <a:path w="2771031" h="255445">
                  <a:moveTo>
                    <a:pt x="8267" y="0"/>
                  </a:moveTo>
                  <a:lnTo>
                    <a:pt x="2762765" y="0"/>
                  </a:lnTo>
                  <a:cubicBezTo>
                    <a:pt x="2767330" y="0"/>
                    <a:pt x="2771031" y="3701"/>
                    <a:pt x="2771031" y="8267"/>
                  </a:cubicBezTo>
                  <a:lnTo>
                    <a:pt x="2771031" y="247178"/>
                  </a:lnTo>
                  <a:cubicBezTo>
                    <a:pt x="2771031" y="251744"/>
                    <a:pt x="2767330" y="255445"/>
                    <a:pt x="2762765" y="255445"/>
                  </a:cubicBezTo>
                  <a:lnTo>
                    <a:pt x="8267" y="255445"/>
                  </a:lnTo>
                  <a:cubicBezTo>
                    <a:pt x="3701" y="255445"/>
                    <a:pt x="0" y="251744"/>
                    <a:pt x="0" y="247178"/>
                  </a:cubicBezTo>
                  <a:lnTo>
                    <a:pt x="0" y="8267"/>
                  </a:lnTo>
                  <a:cubicBezTo>
                    <a:pt x="0" y="3701"/>
                    <a:pt x="3701" y="0"/>
                    <a:pt x="8267" y="0"/>
                  </a:cubicBezTo>
                  <a:close/>
                </a:path>
              </a:pathLst>
            </a:custGeom>
            <a:solidFill>
              <a:srgbClr val="FFFFFF"/>
            </a:solidFill>
            <a:ln w="28575">
              <a:solidFill>
                <a:srgbClr val="1DA8A7"/>
              </a:solidFill>
            </a:ln>
          </p:spPr>
          <p:txBody>
            <a:bodyPr/>
            <a:lstStyle/>
            <a:p>
              <a:pPr algn="r" rtl="1"/>
              <a:endParaRPr lang="ar-SA">
                <a:cs typeface="PT Bold Heading" panose="02010400000000000000" pitchFamily="2" charset="-78"/>
              </a:endParaRPr>
            </a:p>
          </p:txBody>
        </p:sp>
        <p:sp>
          <p:nvSpPr>
            <p:cNvPr id="43" name="Freeform 43"/>
            <p:cNvSpPr/>
            <p:nvPr/>
          </p:nvSpPr>
          <p:spPr>
            <a:xfrm>
              <a:off x="13346307" y="142920"/>
              <a:ext cx="1323416" cy="132934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1C1C"/>
            </a:solidFill>
          </p:spPr>
          <p:txBody>
            <a:bodyPr/>
            <a:lstStyle/>
            <a:p>
              <a:pPr algn="r" rtl="1"/>
              <a:endParaRPr lang="ar-SA">
                <a:cs typeface="PT Bold Heading" panose="02010400000000000000" pitchFamily="2" charset="-78"/>
              </a:endParaRPr>
            </a:p>
          </p:txBody>
        </p:sp>
        <p:sp>
          <p:nvSpPr>
            <p:cNvPr id="45" name="TextBox 45"/>
            <p:cNvSpPr txBox="1"/>
            <p:nvPr/>
          </p:nvSpPr>
          <p:spPr>
            <a:xfrm>
              <a:off x="0" y="529598"/>
              <a:ext cx="13066219" cy="571867"/>
            </a:xfrm>
            <a:prstGeom prst="rect">
              <a:avLst/>
            </a:prstGeom>
          </p:spPr>
          <p:txBody>
            <a:bodyPr lIns="0" tIns="0" rIns="0" bIns="0" rtlCol="0" anchor="t">
              <a:spAutoFit/>
            </a:bodyPr>
            <a:lstStyle/>
            <a:p>
              <a:pPr algn="ctr" rtl="1">
                <a:lnSpc>
                  <a:spcPts val="3099"/>
                </a:lnSpc>
              </a:pPr>
              <a:r>
                <a:rPr lang="en-US" sz="3163" dirty="0" err="1">
                  <a:solidFill>
                    <a:srgbClr val="17383E"/>
                  </a:solidFill>
                  <a:cs typeface="PT Bold Heading" panose="02010400000000000000" pitchFamily="2" charset="-78"/>
                </a:rPr>
                <a:t>البصمات</a:t>
              </a:r>
              <a:r>
                <a:rPr lang="en-US" sz="3163" dirty="0">
                  <a:solidFill>
                    <a:srgbClr val="17383E"/>
                  </a:solidFill>
                  <a:cs typeface="PT Bold Heading" panose="02010400000000000000" pitchFamily="2" charset="-78"/>
                </a:rPr>
                <a:t> </a:t>
              </a:r>
              <a:r>
                <a:rPr lang="en-US" sz="3163" dirty="0" err="1">
                  <a:solidFill>
                    <a:srgbClr val="17383E"/>
                  </a:solidFill>
                  <a:cs typeface="PT Bold Heading" panose="02010400000000000000" pitchFamily="2" charset="-78"/>
                </a:rPr>
                <a:t>الرقمية</a:t>
              </a:r>
              <a:r>
                <a:rPr lang="en-US" sz="3163" dirty="0">
                  <a:solidFill>
                    <a:srgbClr val="17383E"/>
                  </a:solidFill>
                  <a:cs typeface="PT Bold Heading" panose="02010400000000000000" pitchFamily="2" charset="-78"/>
                </a:rPr>
                <a:t> </a:t>
              </a:r>
              <a:r>
                <a:rPr lang="en-US" sz="3163" dirty="0" err="1">
                  <a:solidFill>
                    <a:srgbClr val="17383E"/>
                  </a:solidFill>
                  <a:cs typeface="PT Bold Heading" panose="02010400000000000000" pitchFamily="2" charset="-78"/>
                </a:rPr>
                <a:t>النشطة</a:t>
              </a:r>
              <a:r>
                <a:rPr lang="en-US" sz="3163" dirty="0">
                  <a:solidFill>
                    <a:srgbClr val="17383E"/>
                  </a:solidFill>
                  <a:cs typeface="PT Bold Heading" panose="02010400000000000000" pitchFamily="2" charset="-78"/>
                </a:rPr>
                <a:t> Active Digital footprint</a:t>
              </a:r>
            </a:p>
          </p:txBody>
        </p:sp>
        <p:sp>
          <p:nvSpPr>
            <p:cNvPr id="46" name="TextBox 46"/>
            <p:cNvSpPr txBox="1"/>
            <p:nvPr/>
          </p:nvSpPr>
          <p:spPr>
            <a:xfrm>
              <a:off x="13653692" y="511667"/>
              <a:ext cx="746186" cy="613794"/>
            </a:xfrm>
            <a:prstGeom prst="rect">
              <a:avLst/>
            </a:prstGeom>
          </p:spPr>
          <p:txBody>
            <a:bodyPr lIns="0" tIns="0" rIns="0" bIns="0" rtlCol="0" anchor="t">
              <a:spAutoFit/>
            </a:bodyPr>
            <a:lstStyle/>
            <a:p>
              <a:pPr algn="ctr" rtl="1">
                <a:lnSpc>
                  <a:spcPts val="3338"/>
                </a:lnSpc>
              </a:pPr>
              <a:r>
                <a:rPr lang="en-US" sz="3406">
                  <a:solidFill>
                    <a:srgbClr val="FFFFFF"/>
                  </a:solidFill>
                  <a:latin typeface="PT Bold Heading"/>
                  <a:cs typeface="PT Bold Heading" panose="02010400000000000000" pitchFamily="2" charset="-78"/>
                </a:rPr>
                <a:t>1</a:t>
              </a:r>
            </a:p>
          </p:txBody>
        </p:sp>
      </p:grpSp>
      <p:grpSp>
        <p:nvGrpSpPr>
          <p:cNvPr id="47" name="Group 47"/>
          <p:cNvGrpSpPr/>
          <p:nvPr/>
        </p:nvGrpSpPr>
        <p:grpSpPr>
          <a:xfrm>
            <a:off x="6533926" y="7809856"/>
            <a:ext cx="11118780" cy="1372244"/>
            <a:chOff x="0" y="0"/>
            <a:chExt cx="14825040" cy="1829659"/>
          </a:xfrm>
        </p:grpSpPr>
        <p:sp>
          <p:nvSpPr>
            <p:cNvPr id="49" name="Freeform 49"/>
            <p:cNvSpPr/>
            <p:nvPr/>
          </p:nvSpPr>
          <p:spPr>
            <a:xfrm>
              <a:off x="0" y="0"/>
              <a:ext cx="14825040" cy="1829659"/>
            </a:xfrm>
            <a:custGeom>
              <a:avLst/>
              <a:gdLst/>
              <a:ahLst/>
              <a:cxnLst/>
              <a:rect l="l" t="t" r="r" b="b"/>
              <a:pathLst>
                <a:path w="2570915" h="317294">
                  <a:moveTo>
                    <a:pt x="0" y="0"/>
                  </a:moveTo>
                  <a:lnTo>
                    <a:pt x="2570915" y="0"/>
                  </a:lnTo>
                  <a:lnTo>
                    <a:pt x="2570915" y="317294"/>
                  </a:lnTo>
                  <a:lnTo>
                    <a:pt x="0" y="317294"/>
                  </a:lnTo>
                  <a:close/>
                </a:path>
              </a:pathLst>
            </a:custGeom>
            <a:solidFill>
              <a:srgbClr val="5BC4BF">
                <a:alpha val="17647"/>
              </a:srgbClr>
            </a:solidFill>
            <a:ln>
              <a:noFill/>
            </a:ln>
          </p:spPr>
          <p:txBody>
            <a:bodyPr/>
            <a:lstStyle/>
            <a:p>
              <a:pPr algn="r" rtl="1"/>
              <a:endParaRPr lang="ar-SA">
                <a:cs typeface="PT Bold Heading" panose="02010400000000000000" pitchFamily="2" charset="-78"/>
              </a:endParaRPr>
            </a:p>
          </p:txBody>
        </p:sp>
        <p:sp>
          <p:nvSpPr>
            <p:cNvPr id="51" name="TextBox 51"/>
            <p:cNvSpPr txBox="1"/>
            <p:nvPr/>
          </p:nvSpPr>
          <p:spPr>
            <a:xfrm>
              <a:off x="564999" y="174321"/>
              <a:ext cx="14056892" cy="1464248"/>
            </a:xfrm>
            <a:prstGeom prst="rect">
              <a:avLst/>
            </a:prstGeom>
          </p:spPr>
          <p:txBody>
            <a:bodyPr lIns="0" tIns="0" rIns="0" bIns="0" rtlCol="0" anchor="t">
              <a:spAutoFit/>
            </a:bodyPr>
            <a:lstStyle/>
            <a:p>
              <a:pPr marL="747268" lvl="1" indent="-373634" algn="r" rtl="1">
                <a:lnSpc>
                  <a:spcPts val="4257"/>
                </a:lnSpc>
                <a:buFont typeface="Arial"/>
                <a:buChar char="•"/>
              </a:pPr>
              <a:r>
                <a:rPr lang="en-US" sz="3461" dirty="0" err="1">
                  <a:solidFill>
                    <a:srgbClr val="28443B"/>
                  </a:solidFill>
                  <a:cs typeface="PT Bold Heading" panose="02010400000000000000" pitchFamily="2" charset="-78"/>
                </a:rPr>
                <a:t>حيث</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يعتمد</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هذا</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التصنيف</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على</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طبيعة</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عمليات</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جمع</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المعلومات</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الخاصة</a:t>
              </a:r>
              <a:r>
                <a:rPr lang="en-US" sz="3461" dirty="0">
                  <a:solidFill>
                    <a:srgbClr val="28443B"/>
                  </a:solidFill>
                  <a:cs typeface="PT Bold Heading" panose="02010400000000000000" pitchFamily="2" charset="-78"/>
                </a:rPr>
                <a:t> </a:t>
              </a:r>
              <a:r>
                <a:rPr lang="en-US" sz="3461" dirty="0" err="1">
                  <a:solidFill>
                    <a:srgbClr val="28443B"/>
                  </a:solidFill>
                  <a:cs typeface="PT Bold Heading" panose="02010400000000000000" pitchFamily="2" charset="-78"/>
                </a:rPr>
                <a:t>بالمستخدم</a:t>
              </a:r>
              <a:r>
                <a:rPr lang="en-US" sz="3461" dirty="0">
                  <a:solidFill>
                    <a:srgbClr val="28443B"/>
                  </a:solidFill>
                  <a:cs typeface="PT Bold Heading" panose="02010400000000000000" pitchFamily="2" charset="-78"/>
                </a:rPr>
                <a:t> . </a:t>
              </a:r>
            </a:p>
          </p:txBody>
        </p:sp>
      </p:grpSp>
      <p:grpSp>
        <p:nvGrpSpPr>
          <p:cNvPr id="6" name="مجموعة 5">
            <a:extLst>
              <a:ext uri="{FF2B5EF4-FFF2-40B4-BE49-F238E27FC236}">
                <a16:creationId xmlns:a16="http://schemas.microsoft.com/office/drawing/2014/main" id="{61C15013-8A30-A3E2-0AF3-E890889B497F}"/>
              </a:ext>
            </a:extLst>
          </p:cNvPr>
          <p:cNvGrpSpPr/>
          <p:nvPr/>
        </p:nvGrpSpPr>
        <p:grpSpPr>
          <a:xfrm>
            <a:off x="5749170" y="2857500"/>
            <a:ext cx="12718478" cy="866311"/>
            <a:chOff x="5721922" y="2714945"/>
            <a:chExt cx="12718478" cy="866311"/>
          </a:xfrm>
        </p:grpSpPr>
        <p:sp>
          <p:nvSpPr>
            <p:cNvPr id="3" name="مخطط انسيابي: معالجة 2">
              <a:extLst>
                <a:ext uri="{FF2B5EF4-FFF2-40B4-BE49-F238E27FC236}">
                  <a16:creationId xmlns:a16="http://schemas.microsoft.com/office/drawing/2014/main" id="{BE8FA0B4-EC19-FBBA-EC28-F91D35EB312F}"/>
                </a:ext>
              </a:extLst>
            </p:cNvPr>
            <p:cNvSpPr/>
            <p:nvPr/>
          </p:nvSpPr>
          <p:spPr>
            <a:xfrm>
              <a:off x="6533926" y="2714945"/>
              <a:ext cx="11054056" cy="866311"/>
            </a:xfrm>
            <a:prstGeom prst="flowChartProcess">
              <a:avLst/>
            </a:prstGeom>
            <a:solidFill>
              <a:schemeClr val="bg1"/>
            </a:solidFill>
            <a:ln w="57150">
              <a:solidFill>
                <a:srgbClr val="2A8D8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3" name="مربع نص 52">
              <a:extLst>
                <a:ext uri="{FF2B5EF4-FFF2-40B4-BE49-F238E27FC236}">
                  <a16:creationId xmlns:a16="http://schemas.microsoft.com/office/drawing/2014/main" id="{C97D8C96-CA96-257F-4FD4-5F21562BA1BB}"/>
                </a:ext>
              </a:extLst>
            </p:cNvPr>
            <p:cNvSpPr txBox="1"/>
            <p:nvPr/>
          </p:nvSpPr>
          <p:spPr>
            <a:xfrm>
              <a:off x="5721922" y="2805535"/>
              <a:ext cx="10693233" cy="659796"/>
            </a:xfrm>
            <a:prstGeom prst="rect">
              <a:avLst/>
            </a:prstGeom>
            <a:noFill/>
          </p:spPr>
          <p:txBody>
            <a:bodyPr wrap="square">
              <a:spAutoFit/>
            </a:bodyPr>
            <a:lstStyle/>
            <a:p>
              <a:pPr algn="r" rtl="1">
                <a:lnSpc>
                  <a:spcPts val="4257"/>
                </a:lnSpc>
              </a:pPr>
              <a:r>
                <a:rPr lang="ar-SA" sz="3600" dirty="0">
                  <a:solidFill>
                    <a:srgbClr val="C00000"/>
                  </a:solidFill>
                  <a:cs typeface="PT Bold Heading" panose="02010400000000000000" pitchFamily="2" charset="-78"/>
                </a:rPr>
                <a:t>إلى كم يمكن تصنيف </a:t>
              </a:r>
              <a:r>
                <a:rPr lang="en-US" sz="3600" dirty="0" err="1">
                  <a:solidFill>
                    <a:srgbClr val="C00000"/>
                  </a:solidFill>
                  <a:cs typeface="PT Bold Heading" panose="02010400000000000000" pitchFamily="2" charset="-78"/>
                </a:rPr>
                <a:t>البصمة</a:t>
              </a:r>
              <a:r>
                <a:rPr lang="en-US" sz="3600" dirty="0">
                  <a:solidFill>
                    <a:srgbClr val="C00000"/>
                  </a:solidFill>
                  <a:cs typeface="PT Bold Heading" panose="02010400000000000000" pitchFamily="2" charset="-78"/>
                </a:rPr>
                <a:t> </a:t>
              </a:r>
              <a:r>
                <a:rPr lang="en-US" sz="3600" dirty="0" err="1">
                  <a:solidFill>
                    <a:srgbClr val="C00000"/>
                  </a:solidFill>
                  <a:cs typeface="PT Bold Heading" panose="02010400000000000000" pitchFamily="2" charset="-78"/>
                </a:rPr>
                <a:t>الرقمية</a:t>
              </a:r>
              <a:r>
                <a:rPr lang="en-US" sz="3600" dirty="0">
                  <a:solidFill>
                    <a:srgbClr val="C00000"/>
                  </a:solidFill>
                  <a:cs typeface="PT Bold Heading" panose="02010400000000000000" pitchFamily="2" charset="-78"/>
                </a:rPr>
                <a:t> </a:t>
              </a:r>
              <a:r>
                <a:rPr lang="ar-SA" sz="3600" dirty="0">
                  <a:solidFill>
                    <a:srgbClr val="C00000"/>
                  </a:solidFill>
                  <a:cs typeface="PT Bold Heading" panose="02010400000000000000" pitchFamily="2" charset="-78"/>
                </a:rPr>
                <a:t>؟ وكيف تنشأ ؟</a:t>
              </a:r>
              <a:endParaRPr lang="en-US" sz="3600" dirty="0">
                <a:solidFill>
                  <a:srgbClr val="C00000"/>
                </a:solidFill>
                <a:cs typeface="PT Bold Heading" panose="02010400000000000000" pitchFamily="2" charset="-78"/>
              </a:endParaRPr>
            </a:p>
          </p:txBody>
        </p:sp>
        <p:sp>
          <p:nvSpPr>
            <p:cNvPr id="5" name="Freeform 20">
              <a:extLst>
                <a:ext uri="{FF2B5EF4-FFF2-40B4-BE49-F238E27FC236}">
                  <a16:creationId xmlns:a16="http://schemas.microsoft.com/office/drawing/2014/main" id="{A6CB6595-8F15-E489-C188-934F5BAC9F4B}"/>
                </a:ext>
              </a:extLst>
            </p:cNvPr>
            <p:cNvSpPr/>
            <p:nvPr/>
          </p:nvSpPr>
          <p:spPr>
            <a:xfrm>
              <a:off x="17595956" y="2871051"/>
              <a:ext cx="844444" cy="493313"/>
            </a:xfrm>
            <a:custGeom>
              <a:avLst/>
              <a:gdLst/>
              <a:ahLst/>
              <a:cxnLst/>
              <a:rect l="l" t="t" r="r" b="b"/>
              <a:pathLst>
                <a:path w="195255" h="114065">
                  <a:moveTo>
                    <a:pt x="0" y="0"/>
                  </a:moveTo>
                  <a:lnTo>
                    <a:pt x="195255" y="0"/>
                  </a:lnTo>
                  <a:lnTo>
                    <a:pt x="195255" y="114065"/>
                  </a:lnTo>
                  <a:lnTo>
                    <a:pt x="0" y="114065"/>
                  </a:lnTo>
                  <a:close/>
                </a:path>
              </a:pathLst>
            </a:custGeom>
            <a:solidFill>
              <a:srgbClr val="1C262A"/>
            </a:solidFill>
            <a:ln>
              <a:noFill/>
            </a:ln>
          </p:spPr>
          <p:txBody>
            <a:bodyPr/>
            <a:lstStyle/>
            <a:p>
              <a:pPr algn="r" rtl="1"/>
              <a:endParaRPr lang="ar-SA">
                <a:cs typeface="PT Bold Heading" panose="02010400000000000000" pitchFamily="2" charset="-7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par>
                                <p:cTn id="13" presetID="16" presetClass="entr" presetSubtype="21"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1000"/>
                                        <p:tgtEl>
                                          <p:spTgt spid="35"/>
                                        </p:tgtEl>
                                      </p:cBhvr>
                                    </p:animEffect>
                                    <p:anim calcmode="lin" valueType="num">
                                      <p:cBhvr>
                                        <p:cTn id="21" dur="1000" fill="hold"/>
                                        <p:tgtEl>
                                          <p:spTgt spid="35"/>
                                        </p:tgtEl>
                                        <p:attrNameLst>
                                          <p:attrName>ppt_x</p:attrName>
                                        </p:attrNameLst>
                                      </p:cBhvr>
                                      <p:tavLst>
                                        <p:tav tm="0">
                                          <p:val>
                                            <p:strVal val="#ppt_x"/>
                                          </p:val>
                                        </p:tav>
                                        <p:tav tm="100000">
                                          <p:val>
                                            <p:strVal val="#ppt_x"/>
                                          </p:val>
                                        </p:tav>
                                      </p:tavLst>
                                    </p:anim>
                                    <p:anim calcmode="lin" valueType="num">
                                      <p:cBhvr>
                                        <p:cTn id="22"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1000"/>
                                        <p:tgtEl>
                                          <p:spTgt spid="47"/>
                                        </p:tgtEl>
                                      </p:cBhvr>
                                    </p:animEffect>
                                    <p:anim calcmode="lin" valueType="num">
                                      <p:cBhvr>
                                        <p:cTn id="35" dur="1000" fill="hold"/>
                                        <p:tgtEl>
                                          <p:spTgt spid="47"/>
                                        </p:tgtEl>
                                        <p:attrNameLst>
                                          <p:attrName>ppt_x</p:attrName>
                                        </p:attrNameLst>
                                      </p:cBhvr>
                                      <p:tavLst>
                                        <p:tav tm="0">
                                          <p:val>
                                            <p:strVal val="#ppt_x"/>
                                          </p:val>
                                        </p:tav>
                                        <p:tav tm="100000">
                                          <p:val>
                                            <p:strVal val="#ppt_x"/>
                                          </p:val>
                                        </p:tav>
                                      </p:tavLst>
                                    </p:anim>
                                    <p:anim calcmode="lin" valueType="num">
                                      <p:cBhvr>
                                        <p:cTn id="3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41741" y="1270990"/>
            <a:ext cx="11002293" cy="1112489"/>
            <a:chOff x="0" y="0"/>
            <a:chExt cx="14669723" cy="1483318"/>
          </a:xfrm>
        </p:grpSpPr>
        <p:sp>
          <p:nvSpPr>
            <p:cNvPr id="4" name="Freeform 4"/>
            <p:cNvSpPr/>
            <p:nvPr/>
          </p:nvSpPr>
          <p:spPr>
            <a:xfrm>
              <a:off x="0" y="0"/>
              <a:ext cx="14008015" cy="1483316"/>
            </a:xfrm>
            <a:custGeom>
              <a:avLst/>
              <a:gdLst/>
              <a:ahLst/>
              <a:cxnLst/>
              <a:rect l="l" t="t" r="r" b="b"/>
              <a:pathLst>
                <a:path w="2825936" h="299240">
                  <a:moveTo>
                    <a:pt x="0" y="0"/>
                  </a:moveTo>
                  <a:lnTo>
                    <a:pt x="2825936" y="0"/>
                  </a:lnTo>
                  <a:lnTo>
                    <a:pt x="2825936" y="299240"/>
                  </a:lnTo>
                  <a:lnTo>
                    <a:pt x="0" y="2992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2164" y="217091"/>
              <a:ext cx="13735851" cy="1266227"/>
            </a:xfrm>
            <a:custGeom>
              <a:avLst/>
              <a:gdLst/>
              <a:ahLst/>
              <a:cxnLst/>
              <a:rect l="l" t="t" r="r" b="b"/>
              <a:pathLst>
                <a:path w="2771031" h="255445">
                  <a:moveTo>
                    <a:pt x="8267" y="0"/>
                  </a:moveTo>
                  <a:lnTo>
                    <a:pt x="2762765" y="0"/>
                  </a:lnTo>
                  <a:cubicBezTo>
                    <a:pt x="2767330" y="0"/>
                    <a:pt x="2771031" y="3701"/>
                    <a:pt x="2771031" y="8267"/>
                  </a:cubicBezTo>
                  <a:lnTo>
                    <a:pt x="2771031" y="247178"/>
                  </a:lnTo>
                  <a:cubicBezTo>
                    <a:pt x="2771031" y="251744"/>
                    <a:pt x="2767330" y="255445"/>
                    <a:pt x="2762765" y="255445"/>
                  </a:cubicBezTo>
                  <a:lnTo>
                    <a:pt x="8267" y="255445"/>
                  </a:lnTo>
                  <a:cubicBezTo>
                    <a:pt x="3701" y="255445"/>
                    <a:pt x="0" y="251744"/>
                    <a:pt x="0" y="247178"/>
                  </a:cubicBezTo>
                  <a:lnTo>
                    <a:pt x="0" y="8267"/>
                  </a:lnTo>
                  <a:cubicBezTo>
                    <a:pt x="0" y="3701"/>
                    <a:pt x="3701" y="0"/>
                    <a:pt x="8267" y="0"/>
                  </a:cubicBezTo>
                  <a:close/>
                </a:path>
              </a:pathLst>
            </a:custGeom>
            <a:solidFill>
              <a:srgbClr val="FFFFFF"/>
            </a:solidFill>
            <a:ln w="28575">
              <a:solidFill>
                <a:srgbClr val="1DA8A7"/>
              </a:solidFill>
            </a:ln>
          </p:spPr>
          <p:txBody>
            <a:bodyPr/>
            <a:lstStyle/>
            <a:p>
              <a:pPr algn="r" rtl="1"/>
              <a:endParaRPr lang="ar-SA">
                <a:cs typeface="PT Bold Heading" panose="02010400000000000000" pitchFamily="2" charset="-78"/>
              </a:endParaRPr>
            </a:p>
          </p:txBody>
        </p:sp>
        <p:sp>
          <p:nvSpPr>
            <p:cNvPr id="10" name="Freeform 10"/>
            <p:cNvSpPr/>
            <p:nvPr/>
          </p:nvSpPr>
          <p:spPr>
            <a:xfrm>
              <a:off x="13346307" y="142920"/>
              <a:ext cx="1323416" cy="132934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1C1C"/>
            </a:solidFill>
          </p:spPr>
          <p:txBody>
            <a:bodyPr/>
            <a:lstStyle/>
            <a:p>
              <a:pPr algn="r" rtl="1"/>
              <a:endParaRPr lang="ar-SA">
                <a:cs typeface="PT Bold Heading" panose="02010400000000000000" pitchFamily="2" charset="-78"/>
              </a:endParaRPr>
            </a:p>
          </p:txBody>
        </p:sp>
        <p:sp>
          <p:nvSpPr>
            <p:cNvPr id="12" name="TextBox 12"/>
            <p:cNvSpPr txBox="1"/>
            <p:nvPr/>
          </p:nvSpPr>
          <p:spPr>
            <a:xfrm>
              <a:off x="0" y="529598"/>
              <a:ext cx="13066219" cy="604717"/>
            </a:xfrm>
            <a:prstGeom prst="rect">
              <a:avLst/>
            </a:prstGeom>
          </p:spPr>
          <p:txBody>
            <a:bodyPr lIns="0" tIns="0" rIns="0" bIns="0" rtlCol="0" anchor="t">
              <a:spAutoFit/>
            </a:bodyPr>
            <a:lstStyle/>
            <a:p>
              <a:pPr algn="ctr" rtl="1">
                <a:lnSpc>
                  <a:spcPts val="3295"/>
                </a:lnSpc>
              </a:pPr>
              <a:r>
                <a:rPr lang="en-US" sz="3363">
                  <a:solidFill>
                    <a:srgbClr val="17383E"/>
                  </a:solidFill>
                  <a:cs typeface="PT Bold Heading" panose="02010400000000000000" pitchFamily="2" charset="-78"/>
                </a:rPr>
                <a:t>البصمات الرقمية النشطة Active Digital footprint</a:t>
              </a:r>
            </a:p>
          </p:txBody>
        </p:sp>
        <p:sp>
          <p:nvSpPr>
            <p:cNvPr id="13" name="TextBox 13"/>
            <p:cNvSpPr txBox="1"/>
            <p:nvPr/>
          </p:nvSpPr>
          <p:spPr>
            <a:xfrm>
              <a:off x="13653692" y="511667"/>
              <a:ext cx="746186" cy="613794"/>
            </a:xfrm>
            <a:prstGeom prst="rect">
              <a:avLst/>
            </a:prstGeom>
          </p:spPr>
          <p:txBody>
            <a:bodyPr lIns="0" tIns="0" rIns="0" bIns="0" rtlCol="0" anchor="t">
              <a:spAutoFit/>
            </a:bodyPr>
            <a:lstStyle/>
            <a:p>
              <a:pPr algn="ctr" rtl="1">
                <a:lnSpc>
                  <a:spcPts val="3338"/>
                </a:lnSpc>
              </a:pPr>
              <a:r>
                <a:rPr lang="en-US" sz="3406">
                  <a:solidFill>
                    <a:srgbClr val="FFFFFF"/>
                  </a:solidFill>
                  <a:latin typeface="PT Bold Heading"/>
                  <a:cs typeface="PT Bold Heading" panose="02010400000000000000" pitchFamily="2" charset="-78"/>
                </a:rPr>
                <a:t>1</a:t>
              </a:r>
            </a:p>
          </p:txBody>
        </p:sp>
      </p:grpSp>
      <p:grpSp>
        <p:nvGrpSpPr>
          <p:cNvPr id="14" name="Group 14"/>
          <p:cNvGrpSpPr/>
          <p:nvPr/>
        </p:nvGrpSpPr>
        <p:grpSpPr>
          <a:xfrm>
            <a:off x="850636" y="4295775"/>
            <a:ext cx="4251551" cy="4261056"/>
            <a:chOff x="12673" y="0"/>
            <a:chExt cx="5668735" cy="5681408"/>
          </a:xfrm>
        </p:grpSpPr>
        <p:sp>
          <p:nvSpPr>
            <p:cNvPr id="16" name="Freeform 16"/>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8" name="Freeform 18"/>
            <p:cNvSpPr/>
            <p:nvPr/>
          </p:nvSpPr>
          <p:spPr>
            <a:xfrm>
              <a:off x="486249" y="235135"/>
              <a:ext cx="5195159" cy="4682137"/>
            </a:xfrm>
            <a:custGeom>
              <a:avLst/>
              <a:gdLst/>
              <a:ahLst/>
              <a:cxnLst/>
              <a:rect l="l" t="t" r="r" b="b"/>
              <a:pathLst>
                <a:path w="5195159" h="4682137">
                  <a:moveTo>
                    <a:pt x="0" y="0"/>
                  </a:moveTo>
                  <a:lnTo>
                    <a:pt x="5195159" y="0"/>
                  </a:lnTo>
                  <a:lnTo>
                    <a:pt x="5195159" y="4682137"/>
                  </a:lnTo>
                  <a:lnTo>
                    <a:pt x="0" y="46821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9" name="Group 19"/>
          <p:cNvGrpSpPr/>
          <p:nvPr/>
        </p:nvGrpSpPr>
        <p:grpSpPr>
          <a:xfrm>
            <a:off x="6083301" y="3389905"/>
            <a:ext cx="11462450" cy="1455298"/>
            <a:chOff x="0" y="0"/>
            <a:chExt cx="15283267" cy="1940398"/>
          </a:xfrm>
        </p:grpSpPr>
        <p:sp>
          <p:nvSpPr>
            <p:cNvPr id="21" name="Freeform 21"/>
            <p:cNvSpPr/>
            <p:nvPr/>
          </p:nvSpPr>
          <p:spPr>
            <a:xfrm>
              <a:off x="0" y="0"/>
              <a:ext cx="15283267" cy="1940398"/>
            </a:xfrm>
            <a:custGeom>
              <a:avLst/>
              <a:gdLst/>
              <a:ahLst/>
              <a:cxnLst/>
              <a:rect l="l" t="t" r="r" b="b"/>
              <a:pathLst>
                <a:path w="2741090" h="348015">
                  <a:moveTo>
                    <a:pt x="0" y="0"/>
                  </a:moveTo>
                  <a:lnTo>
                    <a:pt x="2741090" y="0"/>
                  </a:lnTo>
                  <a:lnTo>
                    <a:pt x="2741090" y="348015"/>
                  </a:lnTo>
                  <a:lnTo>
                    <a:pt x="0" y="348015"/>
                  </a:lnTo>
                  <a:close/>
                </a:path>
              </a:pathLst>
            </a:custGeom>
            <a:solidFill>
              <a:srgbClr val="5BC4BF">
                <a:alpha val="17647"/>
              </a:srgbClr>
            </a:solidFill>
            <a:ln>
              <a:noFill/>
            </a:ln>
          </p:spPr>
          <p:txBody>
            <a:bodyPr/>
            <a:lstStyle/>
            <a:p>
              <a:pPr algn="r" rtl="1"/>
              <a:endParaRPr lang="ar-SA">
                <a:cs typeface="PT Bold Heading" panose="02010400000000000000" pitchFamily="2" charset="-78"/>
              </a:endParaRPr>
            </a:p>
          </p:txBody>
        </p:sp>
        <p:sp>
          <p:nvSpPr>
            <p:cNvPr id="23" name="TextBox 23"/>
            <p:cNvSpPr txBox="1"/>
            <p:nvPr/>
          </p:nvSpPr>
          <p:spPr>
            <a:xfrm>
              <a:off x="361569" y="317580"/>
              <a:ext cx="14921698" cy="1363451"/>
            </a:xfrm>
            <a:prstGeom prst="rect">
              <a:avLst/>
            </a:prstGeom>
          </p:spPr>
          <p:txBody>
            <a:bodyPr lIns="0" tIns="0" rIns="0" bIns="0" rtlCol="0" anchor="t">
              <a:spAutoFit/>
            </a:bodyPr>
            <a:lstStyle/>
            <a:p>
              <a:pPr marL="700947" lvl="1" indent="-350474" algn="r" rtl="1">
                <a:lnSpc>
                  <a:spcPts val="3993"/>
                </a:lnSpc>
                <a:buFont typeface="Arial"/>
                <a:buChar char="•"/>
              </a:pPr>
              <a:r>
                <a:rPr lang="en-US" sz="3246" dirty="0">
                  <a:solidFill>
                    <a:srgbClr val="28443B"/>
                  </a:solidFill>
                  <a:cs typeface="PT Bold Heading" panose="02010400000000000000" pitchFamily="2" charset="-78"/>
                </a:rPr>
                <a:t>تنشأ البصمات الرقمية النشطة من البيانات التي تتركها </a:t>
              </a:r>
              <a:r>
                <a:rPr lang="en-US" sz="3246" dirty="0">
                  <a:solidFill>
                    <a:srgbClr val="C00000"/>
                  </a:solidFill>
                  <a:cs typeface="PT Bold Heading" panose="02010400000000000000" pitchFamily="2" charset="-78"/>
                </a:rPr>
                <a:t>بإرادتك</a:t>
              </a:r>
              <a:r>
                <a:rPr lang="en-US" sz="3246" dirty="0">
                  <a:solidFill>
                    <a:srgbClr val="28443B"/>
                  </a:solidFill>
                  <a:cs typeface="PT Bold Heading" panose="02010400000000000000" pitchFamily="2" charset="-78"/>
                </a:rPr>
                <a:t> بمجرد قيامك بالنشاطات المختلفة عبر شبكة الإنترنت .</a:t>
              </a:r>
            </a:p>
          </p:txBody>
        </p:sp>
      </p:grpSp>
      <p:grpSp>
        <p:nvGrpSpPr>
          <p:cNvPr id="24" name="Group 24"/>
          <p:cNvGrpSpPr/>
          <p:nvPr/>
        </p:nvGrpSpPr>
        <p:grpSpPr>
          <a:xfrm>
            <a:off x="6083301" y="5045229"/>
            <a:ext cx="11544063" cy="4037620"/>
            <a:chOff x="0" y="0"/>
            <a:chExt cx="15392084" cy="5383493"/>
          </a:xfrm>
        </p:grpSpPr>
        <p:sp>
          <p:nvSpPr>
            <p:cNvPr id="26" name="Freeform 26"/>
            <p:cNvSpPr/>
            <p:nvPr/>
          </p:nvSpPr>
          <p:spPr>
            <a:xfrm>
              <a:off x="14851596" y="0"/>
              <a:ext cx="540488" cy="5383493"/>
            </a:xfrm>
            <a:custGeom>
              <a:avLst/>
              <a:gdLst/>
              <a:ahLst/>
              <a:cxnLst/>
              <a:rect l="l" t="t" r="r" b="b"/>
              <a:pathLst>
                <a:path w="96938" h="965542">
                  <a:moveTo>
                    <a:pt x="0" y="0"/>
                  </a:moveTo>
                  <a:lnTo>
                    <a:pt x="96938" y="0"/>
                  </a:lnTo>
                  <a:lnTo>
                    <a:pt x="96938" y="965542"/>
                  </a:lnTo>
                  <a:lnTo>
                    <a:pt x="0" y="96554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9" name="Freeform 29"/>
            <p:cNvSpPr/>
            <p:nvPr/>
          </p:nvSpPr>
          <p:spPr>
            <a:xfrm>
              <a:off x="0" y="250107"/>
              <a:ext cx="15283267" cy="4886016"/>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E1E1E5"/>
              </a:solidFill>
            </a:ln>
          </p:spPr>
          <p:txBody>
            <a:bodyPr/>
            <a:lstStyle/>
            <a:p>
              <a:pPr algn="r" rtl="1"/>
              <a:endParaRPr lang="ar-SA">
                <a:cs typeface="PT Bold Heading" panose="02010400000000000000" pitchFamily="2" charset="-78"/>
              </a:endParaRPr>
            </a:p>
          </p:txBody>
        </p:sp>
        <p:sp>
          <p:nvSpPr>
            <p:cNvPr id="31" name="TextBox 31"/>
            <p:cNvSpPr txBox="1"/>
            <p:nvPr/>
          </p:nvSpPr>
          <p:spPr>
            <a:xfrm>
              <a:off x="6378843" y="673336"/>
              <a:ext cx="8282255" cy="692925"/>
            </a:xfrm>
            <a:prstGeom prst="rect">
              <a:avLst/>
            </a:prstGeom>
          </p:spPr>
          <p:txBody>
            <a:bodyPr lIns="0" tIns="0" rIns="0" bIns="0" rtlCol="0" anchor="t">
              <a:spAutoFit/>
            </a:bodyPr>
            <a:lstStyle/>
            <a:p>
              <a:pPr algn="r" rtl="1">
                <a:lnSpc>
                  <a:spcPts val="4104"/>
                </a:lnSpc>
              </a:pPr>
              <a:r>
                <a:rPr lang="en-US" sz="3257" dirty="0">
                  <a:solidFill>
                    <a:srgbClr val="BD2424"/>
                  </a:solidFill>
                  <a:latin typeface="PT Bold Heading"/>
                  <a:cs typeface="PT Bold Heading" panose="02010400000000000000" pitchFamily="2" charset="-78"/>
                </a:rPr>
                <a:t> </a:t>
              </a:r>
              <a:r>
                <a:rPr lang="en-US" sz="3257" dirty="0" err="1">
                  <a:solidFill>
                    <a:srgbClr val="BD2424"/>
                  </a:solidFill>
                  <a:cs typeface="PT Bold Heading" panose="02010400000000000000" pitchFamily="2" charset="-78"/>
                </a:rPr>
                <a:t>أمثلة</a:t>
              </a:r>
              <a:r>
                <a:rPr lang="en-US" sz="3257" dirty="0">
                  <a:solidFill>
                    <a:srgbClr val="BD2424"/>
                  </a:solidFill>
                  <a:cs typeface="PT Bold Heading" panose="02010400000000000000" pitchFamily="2" charset="-78"/>
                </a:rPr>
                <a:t> </a:t>
              </a:r>
              <a:r>
                <a:rPr lang="en-US" sz="3257" dirty="0" err="1">
                  <a:solidFill>
                    <a:srgbClr val="BD2424"/>
                  </a:solidFill>
                  <a:cs typeface="PT Bold Heading" panose="02010400000000000000" pitchFamily="2" charset="-78"/>
                </a:rPr>
                <a:t>على</a:t>
              </a:r>
              <a:r>
                <a:rPr lang="en-US" sz="3257" dirty="0">
                  <a:solidFill>
                    <a:srgbClr val="BD2424"/>
                  </a:solidFill>
                  <a:cs typeface="PT Bold Heading" panose="02010400000000000000" pitchFamily="2" charset="-78"/>
                </a:rPr>
                <a:t> </a:t>
              </a:r>
              <a:r>
                <a:rPr lang="en-US" sz="3257" dirty="0" err="1">
                  <a:solidFill>
                    <a:srgbClr val="BD2424"/>
                  </a:solidFill>
                  <a:cs typeface="PT Bold Heading" panose="02010400000000000000" pitchFamily="2" charset="-78"/>
                </a:rPr>
                <a:t>البصمات</a:t>
              </a:r>
              <a:r>
                <a:rPr lang="en-US" sz="3257" dirty="0">
                  <a:solidFill>
                    <a:srgbClr val="BD2424"/>
                  </a:solidFill>
                  <a:cs typeface="PT Bold Heading" panose="02010400000000000000" pitchFamily="2" charset="-78"/>
                </a:rPr>
                <a:t> </a:t>
              </a:r>
              <a:r>
                <a:rPr lang="en-US" sz="3257" dirty="0" err="1">
                  <a:solidFill>
                    <a:srgbClr val="BD2424"/>
                  </a:solidFill>
                  <a:cs typeface="PT Bold Heading" panose="02010400000000000000" pitchFamily="2" charset="-78"/>
                </a:rPr>
                <a:t>الرقمية</a:t>
              </a:r>
              <a:r>
                <a:rPr lang="en-US" sz="3257" dirty="0">
                  <a:solidFill>
                    <a:srgbClr val="BD2424"/>
                  </a:solidFill>
                  <a:cs typeface="PT Bold Heading" panose="02010400000000000000" pitchFamily="2" charset="-78"/>
                </a:rPr>
                <a:t> </a:t>
              </a:r>
              <a:r>
                <a:rPr lang="en-US" sz="3257" dirty="0" err="1">
                  <a:solidFill>
                    <a:srgbClr val="BD2424"/>
                  </a:solidFill>
                  <a:cs typeface="PT Bold Heading" panose="02010400000000000000" pitchFamily="2" charset="-78"/>
                </a:rPr>
                <a:t>النشطة</a:t>
              </a:r>
              <a:r>
                <a:rPr lang="en-US" sz="3257" dirty="0">
                  <a:solidFill>
                    <a:srgbClr val="BD2424"/>
                  </a:solidFill>
                  <a:cs typeface="PT Bold Heading" panose="02010400000000000000" pitchFamily="2" charset="-78"/>
                </a:rPr>
                <a:t> :</a:t>
              </a:r>
            </a:p>
          </p:txBody>
        </p:sp>
      </p:grpSp>
      <p:grpSp>
        <p:nvGrpSpPr>
          <p:cNvPr id="32" name="Group 32"/>
          <p:cNvGrpSpPr/>
          <p:nvPr/>
        </p:nvGrpSpPr>
        <p:grpSpPr>
          <a:xfrm>
            <a:off x="6727367" y="6257064"/>
            <a:ext cx="10174319" cy="1045479"/>
            <a:chOff x="0" y="-19049"/>
            <a:chExt cx="13565758" cy="1393973"/>
          </a:xfrm>
        </p:grpSpPr>
        <p:sp>
          <p:nvSpPr>
            <p:cNvPr id="33" name="Freeform 33"/>
            <p:cNvSpPr/>
            <p:nvPr/>
          </p:nvSpPr>
          <p:spPr>
            <a:xfrm flipH="1">
              <a:off x="13075271" y="120699"/>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4" name="TextBox 34"/>
            <p:cNvSpPr txBox="1"/>
            <p:nvPr/>
          </p:nvSpPr>
          <p:spPr>
            <a:xfrm>
              <a:off x="0" y="-19049"/>
              <a:ext cx="12883951" cy="1393973"/>
            </a:xfrm>
            <a:prstGeom prst="rect">
              <a:avLst/>
            </a:prstGeom>
          </p:spPr>
          <p:txBody>
            <a:bodyPr lIns="0" tIns="0" rIns="0" bIns="0" rtlCol="0" anchor="t">
              <a:spAutoFit/>
            </a:bodyPr>
            <a:lstStyle/>
            <a:p>
              <a:pPr algn="r" rtl="1">
                <a:lnSpc>
                  <a:spcPts val="4104"/>
                </a:lnSpc>
              </a:pPr>
              <a:r>
                <a:rPr lang="en-US" sz="3257" dirty="0" err="1">
                  <a:solidFill>
                    <a:srgbClr val="28443B"/>
                  </a:solidFill>
                  <a:cs typeface="PT Bold Heading" panose="02010400000000000000" pitchFamily="2" charset="-78"/>
                </a:rPr>
                <a:t>المنشورات</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على</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مواقع</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فيس</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بوك</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أو</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إنستجرام</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أو</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تويتر</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وغيرها</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من</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منصات</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التواصل</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الاجتماعي</a:t>
              </a:r>
              <a:r>
                <a:rPr lang="en-US" sz="3257" dirty="0">
                  <a:solidFill>
                    <a:srgbClr val="28443B"/>
                  </a:solidFill>
                  <a:cs typeface="PT Bold Heading" panose="02010400000000000000" pitchFamily="2" charset="-78"/>
                </a:rPr>
                <a:t>.</a:t>
              </a:r>
            </a:p>
          </p:txBody>
        </p:sp>
      </p:grpSp>
      <p:grpSp>
        <p:nvGrpSpPr>
          <p:cNvPr id="35" name="Group 35"/>
          <p:cNvGrpSpPr/>
          <p:nvPr/>
        </p:nvGrpSpPr>
        <p:grpSpPr>
          <a:xfrm>
            <a:off x="6727367" y="7481688"/>
            <a:ext cx="10174319" cy="1045479"/>
            <a:chOff x="0" y="-19049"/>
            <a:chExt cx="13565758" cy="1393973"/>
          </a:xfrm>
        </p:grpSpPr>
        <p:sp>
          <p:nvSpPr>
            <p:cNvPr id="36" name="Freeform 36"/>
            <p:cNvSpPr/>
            <p:nvPr/>
          </p:nvSpPr>
          <p:spPr>
            <a:xfrm flipH="1">
              <a:off x="13075271" y="159851"/>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7" name="TextBox 37"/>
            <p:cNvSpPr txBox="1"/>
            <p:nvPr/>
          </p:nvSpPr>
          <p:spPr>
            <a:xfrm>
              <a:off x="0" y="-19049"/>
              <a:ext cx="12883951" cy="1393973"/>
            </a:xfrm>
            <a:prstGeom prst="rect">
              <a:avLst/>
            </a:prstGeom>
          </p:spPr>
          <p:txBody>
            <a:bodyPr lIns="0" tIns="0" rIns="0" bIns="0" rtlCol="0" anchor="t">
              <a:spAutoFit/>
            </a:bodyPr>
            <a:lstStyle/>
            <a:p>
              <a:pPr algn="r" rtl="1">
                <a:lnSpc>
                  <a:spcPts val="4104"/>
                </a:lnSpc>
              </a:pPr>
              <a:r>
                <a:rPr lang="en-US" sz="3257">
                  <a:solidFill>
                    <a:srgbClr val="28443B"/>
                  </a:solidFill>
                  <a:cs typeface="PT Bold Heading" panose="02010400000000000000" pitchFamily="2" charset="-78"/>
                </a:rPr>
                <a:t>النماذج التي تُعبأ عبر الإنترنت، مثل نموذج الاشتراك لتلقي رسائل البريد الإلكتروني أو الرسائل النصية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par>
                                <p:cTn id="21" presetID="22" presetClass="entr" presetSubtype="4"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down)">
                                      <p:cBhvr>
                                        <p:cTn id="2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41741" y="1270990"/>
            <a:ext cx="11002293" cy="1112489"/>
            <a:chOff x="0" y="0"/>
            <a:chExt cx="14669723" cy="1483318"/>
          </a:xfrm>
        </p:grpSpPr>
        <p:sp>
          <p:nvSpPr>
            <p:cNvPr id="4" name="Freeform 4"/>
            <p:cNvSpPr/>
            <p:nvPr/>
          </p:nvSpPr>
          <p:spPr>
            <a:xfrm>
              <a:off x="0" y="0"/>
              <a:ext cx="14008015" cy="1483316"/>
            </a:xfrm>
            <a:custGeom>
              <a:avLst/>
              <a:gdLst/>
              <a:ahLst/>
              <a:cxnLst/>
              <a:rect l="l" t="t" r="r" b="b"/>
              <a:pathLst>
                <a:path w="2825936" h="299240">
                  <a:moveTo>
                    <a:pt x="0" y="0"/>
                  </a:moveTo>
                  <a:lnTo>
                    <a:pt x="2825936" y="0"/>
                  </a:lnTo>
                  <a:lnTo>
                    <a:pt x="2825936" y="299240"/>
                  </a:lnTo>
                  <a:lnTo>
                    <a:pt x="0" y="2992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2164" y="217091"/>
              <a:ext cx="13735851" cy="1266227"/>
            </a:xfrm>
            <a:custGeom>
              <a:avLst/>
              <a:gdLst/>
              <a:ahLst/>
              <a:cxnLst/>
              <a:rect l="l" t="t" r="r" b="b"/>
              <a:pathLst>
                <a:path w="2771031" h="255445">
                  <a:moveTo>
                    <a:pt x="8267" y="0"/>
                  </a:moveTo>
                  <a:lnTo>
                    <a:pt x="2762765" y="0"/>
                  </a:lnTo>
                  <a:cubicBezTo>
                    <a:pt x="2767330" y="0"/>
                    <a:pt x="2771031" y="3701"/>
                    <a:pt x="2771031" y="8267"/>
                  </a:cubicBezTo>
                  <a:lnTo>
                    <a:pt x="2771031" y="247178"/>
                  </a:lnTo>
                  <a:cubicBezTo>
                    <a:pt x="2771031" y="251744"/>
                    <a:pt x="2767330" y="255445"/>
                    <a:pt x="2762765" y="255445"/>
                  </a:cubicBezTo>
                  <a:lnTo>
                    <a:pt x="8267" y="255445"/>
                  </a:lnTo>
                  <a:cubicBezTo>
                    <a:pt x="3701" y="255445"/>
                    <a:pt x="0" y="251744"/>
                    <a:pt x="0" y="247178"/>
                  </a:cubicBezTo>
                  <a:lnTo>
                    <a:pt x="0" y="8267"/>
                  </a:lnTo>
                  <a:cubicBezTo>
                    <a:pt x="0" y="3701"/>
                    <a:pt x="3701" y="0"/>
                    <a:pt x="8267" y="0"/>
                  </a:cubicBezTo>
                  <a:close/>
                </a:path>
              </a:pathLst>
            </a:custGeom>
            <a:solidFill>
              <a:srgbClr val="FFFFFF"/>
            </a:solidFill>
            <a:ln w="28575">
              <a:solidFill>
                <a:srgbClr val="1DA8A7"/>
              </a:solidFill>
            </a:ln>
          </p:spPr>
          <p:txBody>
            <a:bodyPr/>
            <a:lstStyle/>
            <a:p>
              <a:pPr algn="r" rtl="1"/>
              <a:endParaRPr lang="ar-SA">
                <a:cs typeface="PT Bold Heading" panose="02010400000000000000" pitchFamily="2" charset="-78"/>
              </a:endParaRPr>
            </a:p>
          </p:txBody>
        </p:sp>
        <p:sp>
          <p:nvSpPr>
            <p:cNvPr id="10" name="Freeform 10"/>
            <p:cNvSpPr/>
            <p:nvPr/>
          </p:nvSpPr>
          <p:spPr>
            <a:xfrm>
              <a:off x="13346307" y="142920"/>
              <a:ext cx="1323416" cy="132934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91C1C"/>
            </a:solidFill>
          </p:spPr>
          <p:txBody>
            <a:bodyPr/>
            <a:lstStyle/>
            <a:p>
              <a:pPr algn="r" rtl="1"/>
              <a:endParaRPr lang="ar-SA">
                <a:cs typeface="PT Bold Heading" panose="02010400000000000000" pitchFamily="2" charset="-78"/>
              </a:endParaRPr>
            </a:p>
          </p:txBody>
        </p:sp>
        <p:sp>
          <p:nvSpPr>
            <p:cNvPr id="12" name="TextBox 12"/>
            <p:cNvSpPr txBox="1"/>
            <p:nvPr/>
          </p:nvSpPr>
          <p:spPr>
            <a:xfrm>
              <a:off x="297564" y="599178"/>
              <a:ext cx="13066219" cy="578767"/>
            </a:xfrm>
            <a:prstGeom prst="rect">
              <a:avLst/>
            </a:prstGeom>
          </p:spPr>
          <p:txBody>
            <a:bodyPr lIns="0" tIns="0" rIns="0" bIns="0" rtlCol="0" anchor="t">
              <a:spAutoFit/>
            </a:bodyPr>
            <a:lstStyle/>
            <a:p>
              <a:pPr algn="ctr" rtl="1">
                <a:lnSpc>
                  <a:spcPts val="3197"/>
                </a:lnSpc>
              </a:pPr>
              <a:r>
                <a:rPr lang="en-US" sz="3263">
                  <a:solidFill>
                    <a:srgbClr val="17383E"/>
                  </a:solidFill>
                  <a:cs typeface="PT Bold Heading" panose="02010400000000000000" pitchFamily="2" charset="-78"/>
                </a:rPr>
                <a:t>البصمات الرقمية غير النشطة Passive Digital Footprints</a:t>
              </a:r>
            </a:p>
          </p:txBody>
        </p:sp>
        <p:sp>
          <p:nvSpPr>
            <p:cNvPr id="13" name="TextBox 13"/>
            <p:cNvSpPr txBox="1"/>
            <p:nvPr/>
          </p:nvSpPr>
          <p:spPr>
            <a:xfrm>
              <a:off x="13653692" y="511667"/>
              <a:ext cx="746186" cy="613794"/>
            </a:xfrm>
            <a:prstGeom prst="rect">
              <a:avLst/>
            </a:prstGeom>
          </p:spPr>
          <p:txBody>
            <a:bodyPr lIns="0" tIns="0" rIns="0" bIns="0" rtlCol="0" anchor="t">
              <a:spAutoFit/>
            </a:bodyPr>
            <a:lstStyle/>
            <a:p>
              <a:pPr algn="ctr" rtl="1">
                <a:lnSpc>
                  <a:spcPts val="3338"/>
                </a:lnSpc>
              </a:pPr>
              <a:r>
                <a:rPr lang="en-US" sz="3406">
                  <a:solidFill>
                    <a:srgbClr val="FFFFFF"/>
                  </a:solidFill>
                  <a:latin typeface="PT Bold Heading"/>
                  <a:cs typeface="PT Bold Heading" panose="02010400000000000000" pitchFamily="2" charset="-78"/>
                </a:rPr>
                <a:t>2</a:t>
              </a:r>
            </a:p>
          </p:txBody>
        </p:sp>
      </p:grpSp>
      <p:grpSp>
        <p:nvGrpSpPr>
          <p:cNvPr id="14" name="Group 14"/>
          <p:cNvGrpSpPr/>
          <p:nvPr/>
        </p:nvGrpSpPr>
        <p:grpSpPr>
          <a:xfrm>
            <a:off x="1038205" y="4485301"/>
            <a:ext cx="4242042" cy="4261056"/>
            <a:chOff x="12673" y="0"/>
            <a:chExt cx="5656056" cy="5681408"/>
          </a:xfrm>
        </p:grpSpPr>
        <p:sp>
          <p:nvSpPr>
            <p:cNvPr id="16" name="Freeform 16"/>
            <p:cNvSpPr/>
            <p:nvPr/>
          </p:nvSpPr>
          <p:spPr>
            <a:xfrm>
              <a:off x="12673" y="0"/>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8" name="Freeform 18"/>
            <p:cNvSpPr/>
            <p:nvPr/>
          </p:nvSpPr>
          <p:spPr>
            <a:xfrm>
              <a:off x="1332372" y="300639"/>
              <a:ext cx="3016664" cy="5212378"/>
            </a:xfrm>
            <a:custGeom>
              <a:avLst/>
              <a:gdLst/>
              <a:ahLst/>
              <a:cxnLst/>
              <a:rect l="l" t="t" r="r" b="b"/>
              <a:pathLst>
                <a:path w="3016664" h="5212378">
                  <a:moveTo>
                    <a:pt x="0" y="0"/>
                  </a:moveTo>
                  <a:lnTo>
                    <a:pt x="3016664" y="0"/>
                  </a:lnTo>
                  <a:lnTo>
                    <a:pt x="3016664" y="5212377"/>
                  </a:lnTo>
                  <a:lnTo>
                    <a:pt x="0" y="5212377"/>
                  </a:lnTo>
                  <a:lnTo>
                    <a:pt x="0" y="0"/>
                  </a:lnTo>
                  <a:close/>
                </a:path>
              </a:pathLst>
            </a:custGeom>
            <a:blipFill>
              <a:blip r:embed="rId2"/>
              <a:stretch>
                <a:fillRect/>
              </a:stretch>
            </a:blipFill>
          </p:spPr>
          <p:txBody>
            <a:bodyPr/>
            <a:lstStyle/>
            <a:p>
              <a:pPr algn="r" rtl="1"/>
              <a:endParaRPr lang="ar-SA">
                <a:cs typeface="PT Bold Heading" panose="02010400000000000000" pitchFamily="2" charset="-78"/>
              </a:endParaRPr>
            </a:p>
          </p:txBody>
        </p:sp>
      </p:grpSp>
      <p:grpSp>
        <p:nvGrpSpPr>
          <p:cNvPr id="19" name="Group 19"/>
          <p:cNvGrpSpPr/>
          <p:nvPr/>
        </p:nvGrpSpPr>
        <p:grpSpPr>
          <a:xfrm>
            <a:off x="5672845" y="3086470"/>
            <a:ext cx="11736745" cy="1398831"/>
            <a:chOff x="0" y="0"/>
            <a:chExt cx="15648993" cy="1865108"/>
          </a:xfrm>
        </p:grpSpPr>
        <p:sp>
          <p:nvSpPr>
            <p:cNvPr id="21" name="Freeform 21"/>
            <p:cNvSpPr/>
            <p:nvPr/>
          </p:nvSpPr>
          <p:spPr>
            <a:xfrm>
              <a:off x="0" y="0"/>
              <a:ext cx="15648993" cy="1865108"/>
            </a:xfrm>
            <a:custGeom>
              <a:avLst/>
              <a:gdLst/>
              <a:ahLst/>
              <a:cxnLst/>
              <a:rect l="l" t="t" r="r" b="b"/>
              <a:pathLst>
                <a:path w="2919984" h="348015">
                  <a:moveTo>
                    <a:pt x="0" y="0"/>
                  </a:moveTo>
                  <a:lnTo>
                    <a:pt x="2919984" y="0"/>
                  </a:lnTo>
                  <a:lnTo>
                    <a:pt x="2919984" y="348015"/>
                  </a:lnTo>
                  <a:lnTo>
                    <a:pt x="0" y="348015"/>
                  </a:lnTo>
                  <a:close/>
                </a:path>
              </a:pathLst>
            </a:custGeom>
            <a:solidFill>
              <a:srgbClr val="5BC4BF">
                <a:alpha val="17647"/>
              </a:srgbClr>
            </a:solidFill>
            <a:ln>
              <a:noFill/>
            </a:ln>
          </p:spPr>
          <p:txBody>
            <a:bodyPr/>
            <a:lstStyle/>
            <a:p>
              <a:pPr algn="r" rtl="1"/>
              <a:endParaRPr lang="ar-SA">
                <a:cs typeface="PT Bold Heading" panose="02010400000000000000" pitchFamily="2" charset="-78"/>
              </a:endParaRPr>
            </a:p>
          </p:txBody>
        </p:sp>
        <p:sp>
          <p:nvSpPr>
            <p:cNvPr id="23" name="TextBox 23"/>
            <p:cNvSpPr txBox="1"/>
            <p:nvPr/>
          </p:nvSpPr>
          <p:spPr>
            <a:xfrm>
              <a:off x="0" y="295733"/>
              <a:ext cx="15648993" cy="1287638"/>
            </a:xfrm>
            <a:prstGeom prst="rect">
              <a:avLst/>
            </a:prstGeom>
          </p:spPr>
          <p:txBody>
            <a:bodyPr lIns="0" tIns="0" rIns="0" bIns="0" rtlCol="0" anchor="t">
              <a:spAutoFit/>
            </a:bodyPr>
            <a:lstStyle/>
            <a:p>
              <a:pPr marL="673750" lvl="1" indent="-336875" algn="r" rtl="1">
                <a:lnSpc>
                  <a:spcPts val="3838"/>
                </a:lnSpc>
                <a:buFont typeface="Arial"/>
                <a:buChar char="•"/>
              </a:pPr>
              <a:r>
                <a:rPr lang="en-US" sz="3120" dirty="0">
                  <a:solidFill>
                    <a:srgbClr val="28443B"/>
                  </a:solidFill>
                  <a:cs typeface="PT Bold Heading" panose="02010400000000000000" pitchFamily="2" charset="-78"/>
                </a:rPr>
                <a:t>البصمات الرقمية غير النشطة هي تلك التي تتركها </a:t>
              </a:r>
              <a:r>
                <a:rPr lang="en-US" sz="3120" dirty="0">
                  <a:solidFill>
                    <a:srgbClr val="C00000"/>
                  </a:solidFill>
                  <a:cs typeface="PT Bold Heading" panose="02010400000000000000" pitchFamily="2" charset="-78"/>
                </a:rPr>
                <a:t>دون قصد</a:t>
              </a:r>
              <a:r>
                <a:rPr lang="en-US" sz="3120" dirty="0">
                  <a:solidFill>
                    <a:srgbClr val="28443B"/>
                  </a:solidFill>
                  <a:cs typeface="PT Bold Heading" panose="02010400000000000000" pitchFamily="2" charset="-78"/>
                </a:rPr>
                <a:t> أو في بعض الحالات دون أن تعرف ذلك .</a:t>
              </a:r>
            </a:p>
          </p:txBody>
        </p:sp>
      </p:grpSp>
      <p:grpSp>
        <p:nvGrpSpPr>
          <p:cNvPr id="24" name="Group 24"/>
          <p:cNvGrpSpPr/>
          <p:nvPr/>
        </p:nvGrpSpPr>
        <p:grpSpPr>
          <a:xfrm>
            <a:off x="5672845" y="4583378"/>
            <a:ext cx="11745902" cy="4835099"/>
            <a:chOff x="0" y="0"/>
            <a:chExt cx="15661202" cy="6446799"/>
          </a:xfrm>
        </p:grpSpPr>
        <p:sp>
          <p:nvSpPr>
            <p:cNvPr id="26" name="Freeform 26"/>
            <p:cNvSpPr/>
            <p:nvPr/>
          </p:nvSpPr>
          <p:spPr>
            <a:xfrm>
              <a:off x="15156875" y="0"/>
              <a:ext cx="504327" cy="6446799"/>
            </a:xfrm>
            <a:custGeom>
              <a:avLst/>
              <a:gdLst/>
              <a:ahLst/>
              <a:cxnLst/>
              <a:rect l="l" t="t" r="r" b="b"/>
              <a:pathLst>
                <a:path w="96938" h="1239156">
                  <a:moveTo>
                    <a:pt x="0" y="0"/>
                  </a:moveTo>
                  <a:lnTo>
                    <a:pt x="96938" y="0"/>
                  </a:lnTo>
                  <a:lnTo>
                    <a:pt x="96938" y="1239156"/>
                  </a:lnTo>
                  <a:lnTo>
                    <a:pt x="0" y="1239156"/>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9" name="Freeform 29"/>
            <p:cNvSpPr/>
            <p:nvPr/>
          </p:nvSpPr>
          <p:spPr>
            <a:xfrm>
              <a:off x="0" y="233372"/>
              <a:ext cx="15559663" cy="5966016"/>
            </a:xfrm>
            <a:custGeom>
              <a:avLst/>
              <a:gdLst/>
              <a:ahLst/>
              <a:cxnLst/>
              <a:rect l="l" t="t" r="r" b="b"/>
              <a:pathLst>
                <a:path w="3419038" h="1310956">
                  <a:moveTo>
                    <a:pt x="5971" y="0"/>
                  </a:moveTo>
                  <a:lnTo>
                    <a:pt x="3413067" y="0"/>
                  </a:lnTo>
                  <a:cubicBezTo>
                    <a:pt x="3416365" y="0"/>
                    <a:pt x="3419038" y="2673"/>
                    <a:pt x="3419038" y="5971"/>
                  </a:cubicBezTo>
                  <a:lnTo>
                    <a:pt x="3419038" y="1304985"/>
                  </a:lnTo>
                  <a:cubicBezTo>
                    <a:pt x="3419038" y="1308283"/>
                    <a:pt x="3416365" y="1310956"/>
                    <a:pt x="3413067" y="1310956"/>
                  </a:cubicBezTo>
                  <a:lnTo>
                    <a:pt x="5971" y="1310956"/>
                  </a:lnTo>
                  <a:cubicBezTo>
                    <a:pt x="2673" y="1310956"/>
                    <a:pt x="0" y="1308283"/>
                    <a:pt x="0" y="1304985"/>
                  </a:cubicBezTo>
                  <a:lnTo>
                    <a:pt x="0" y="5971"/>
                  </a:lnTo>
                  <a:cubicBezTo>
                    <a:pt x="0" y="2673"/>
                    <a:pt x="2673" y="0"/>
                    <a:pt x="5971" y="0"/>
                  </a:cubicBezTo>
                  <a:close/>
                </a:path>
              </a:pathLst>
            </a:custGeom>
            <a:solidFill>
              <a:srgbClr val="FFFFFF"/>
            </a:solidFill>
            <a:ln w="38100">
              <a:solidFill>
                <a:srgbClr val="E1E1E5"/>
              </a:solidFill>
            </a:ln>
          </p:spPr>
          <p:txBody>
            <a:bodyPr/>
            <a:lstStyle/>
            <a:p>
              <a:pPr algn="r" rtl="1"/>
              <a:endParaRPr lang="ar-SA">
                <a:cs typeface="PT Bold Heading" panose="02010400000000000000" pitchFamily="2" charset="-78"/>
              </a:endParaRPr>
            </a:p>
          </p:txBody>
        </p:sp>
        <p:sp>
          <p:nvSpPr>
            <p:cNvPr id="31" name="TextBox 31"/>
            <p:cNvSpPr txBox="1"/>
            <p:nvPr/>
          </p:nvSpPr>
          <p:spPr>
            <a:xfrm>
              <a:off x="4590699" y="627011"/>
              <a:ext cx="10388423" cy="649751"/>
            </a:xfrm>
            <a:prstGeom prst="rect">
              <a:avLst/>
            </a:prstGeom>
          </p:spPr>
          <p:txBody>
            <a:bodyPr lIns="0" tIns="0" rIns="0" bIns="0" rtlCol="0" anchor="t">
              <a:spAutoFit/>
            </a:bodyPr>
            <a:lstStyle/>
            <a:p>
              <a:pPr algn="r" rtl="1">
                <a:lnSpc>
                  <a:spcPts val="3829"/>
                </a:lnSpc>
              </a:pPr>
              <a:r>
                <a:rPr lang="en-US" sz="3039">
                  <a:solidFill>
                    <a:srgbClr val="BD2424"/>
                  </a:solidFill>
                  <a:latin typeface="PT Bold Heading"/>
                  <a:cs typeface="PT Bold Heading" panose="02010400000000000000" pitchFamily="2" charset="-78"/>
                </a:rPr>
                <a:t> أمثلة على البصمات الرقمية غير النشطة :</a:t>
              </a:r>
            </a:p>
          </p:txBody>
        </p:sp>
      </p:grpSp>
      <p:grpSp>
        <p:nvGrpSpPr>
          <p:cNvPr id="32" name="Group 32"/>
          <p:cNvGrpSpPr/>
          <p:nvPr/>
        </p:nvGrpSpPr>
        <p:grpSpPr>
          <a:xfrm>
            <a:off x="5882868" y="5713178"/>
            <a:ext cx="10858750" cy="469231"/>
            <a:chOff x="0" y="-19049"/>
            <a:chExt cx="14478333" cy="625642"/>
          </a:xfrm>
        </p:grpSpPr>
        <p:sp>
          <p:nvSpPr>
            <p:cNvPr id="33" name="Freeform 33"/>
            <p:cNvSpPr/>
            <p:nvPr/>
          </p:nvSpPr>
          <p:spPr>
            <a:xfrm flipH="1">
              <a:off x="14020662" y="112623"/>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4" name="TextBox 34"/>
            <p:cNvSpPr txBox="1"/>
            <p:nvPr/>
          </p:nvSpPr>
          <p:spPr>
            <a:xfrm>
              <a:off x="0" y="-19049"/>
              <a:ext cx="13842144" cy="625642"/>
            </a:xfrm>
            <a:prstGeom prst="rect">
              <a:avLst/>
            </a:prstGeom>
          </p:spPr>
          <p:txBody>
            <a:bodyPr lIns="0" tIns="0" rIns="0" bIns="0" rtlCol="0" anchor="t">
              <a:spAutoFit/>
            </a:bodyPr>
            <a:lstStyle/>
            <a:p>
              <a:pPr algn="r" rtl="1">
                <a:lnSpc>
                  <a:spcPts val="3712"/>
                </a:lnSpc>
              </a:pPr>
              <a:r>
                <a:rPr lang="en-US" sz="2946" dirty="0" err="1">
                  <a:solidFill>
                    <a:srgbClr val="28443B"/>
                  </a:solidFill>
                  <a:cs typeface="PT Bold Heading" panose="02010400000000000000" pitchFamily="2" charset="-78"/>
                </a:rPr>
                <a:t>التطبيقات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والمواقع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تُستخدم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في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تحديد</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الموقع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الجغرافي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للمستخدم</a:t>
              </a:r>
              <a:r>
                <a:rPr lang="en-US" sz="2946" dirty="0">
                  <a:solidFill>
                    <a:srgbClr val="28443B"/>
                  </a:solidFill>
                  <a:cs typeface="PT Bold Heading" panose="02010400000000000000" pitchFamily="2" charset="-78"/>
                </a:rPr>
                <a:t> .</a:t>
              </a:r>
            </a:p>
          </p:txBody>
        </p:sp>
      </p:grpSp>
      <p:grpSp>
        <p:nvGrpSpPr>
          <p:cNvPr id="35" name="Group 35"/>
          <p:cNvGrpSpPr/>
          <p:nvPr/>
        </p:nvGrpSpPr>
        <p:grpSpPr>
          <a:xfrm>
            <a:off x="5882868" y="6381125"/>
            <a:ext cx="10858750" cy="943720"/>
            <a:chOff x="0" y="-19051"/>
            <a:chExt cx="14478333" cy="1258293"/>
          </a:xfrm>
        </p:grpSpPr>
        <p:sp>
          <p:nvSpPr>
            <p:cNvPr id="36" name="Freeform 36"/>
            <p:cNvSpPr/>
            <p:nvPr/>
          </p:nvSpPr>
          <p:spPr>
            <a:xfrm flipH="1">
              <a:off x="14020662" y="149156"/>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37" name="TextBox 37"/>
            <p:cNvSpPr txBox="1"/>
            <p:nvPr/>
          </p:nvSpPr>
          <p:spPr>
            <a:xfrm>
              <a:off x="0" y="-19051"/>
              <a:ext cx="13842144" cy="1258293"/>
            </a:xfrm>
            <a:prstGeom prst="rect">
              <a:avLst/>
            </a:prstGeom>
          </p:spPr>
          <p:txBody>
            <a:bodyPr lIns="0" tIns="0" rIns="0" bIns="0" rtlCol="0" anchor="t">
              <a:spAutoFit/>
            </a:bodyPr>
            <a:lstStyle/>
            <a:p>
              <a:pPr algn="r" rtl="1">
                <a:lnSpc>
                  <a:spcPts val="3712"/>
                </a:lnSpc>
              </a:pPr>
              <a:r>
                <a:rPr lang="en-US" sz="2946" dirty="0">
                  <a:solidFill>
                    <a:srgbClr val="28443B"/>
                  </a:solidFill>
                  <a:latin typeface="PT Bold Heading"/>
                  <a:cs typeface="PT Bold Heading" panose="02010400000000000000" pitchFamily="2" charset="-78"/>
                </a:rPr>
                <a:t> </a:t>
              </a:r>
              <a:r>
                <a:rPr lang="en-US" sz="2946" dirty="0" err="1">
                  <a:solidFill>
                    <a:srgbClr val="28443B"/>
                  </a:solidFill>
                  <a:cs typeface="PT Bold Heading" panose="02010400000000000000" pitchFamily="2" charset="-78"/>
                </a:rPr>
                <a:t>المواقع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الإلكترونية</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تثبت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ملفات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تعريف</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الارتباط</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على</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أجهزة</a:t>
              </a:r>
              <a:r>
                <a:rPr lang="en-US" sz="2946" dirty="0">
                  <a:solidFill>
                    <a:srgbClr val="28443B"/>
                  </a:solidFill>
                  <a:cs typeface="PT Bold Heading" panose="02010400000000000000" pitchFamily="2" charset="-78"/>
                </a:rPr>
                <a:t> الحاسب </a:t>
              </a:r>
              <a:r>
                <a:rPr lang="en-US" sz="2946" dirty="0" err="1">
                  <a:solidFill>
                    <a:srgbClr val="28443B"/>
                  </a:solidFill>
                  <a:cs typeface="PT Bold Heading" panose="02010400000000000000" pitchFamily="2" charset="-78"/>
                </a:rPr>
                <a:t>دون</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معرفة</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المستخدم</a:t>
              </a:r>
              <a:r>
                <a:rPr lang="en-US" sz="2946" dirty="0">
                  <a:solidFill>
                    <a:srgbClr val="28443B"/>
                  </a:solidFill>
                  <a:cs typeface="PT Bold Heading" panose="02010400000000000000" pitchFamily="2" charset="-78"/>
                </a:rPr>
                <a:t> .</a:t>
              </a:r>
            </a:p>
          </p:txBody>
        </p:sp>
      </p:grpSp>
      <p:grpSp>
        <p:nvGrpSpPr>
          <p:cNvPr id="38" name="Group 38"/>
          <p:cNvGrpSpPr/>
          <p:nvPr/>
        </p:nvGrpSpPr>
        <p:grpSpPr>
          <a:xfrm>
            <a:off x="5672845" y="7510591"/>
            <a:ext cx="11068774" cy="1390697"/>
            <a:chOff x="0" y="0"/>
            <a:chExt cx="14758365" cy="1854262"/>
          </a:xfrm>
        </p:grpSpPr>
        <p:sp>
          <p:nvSpPr>
            <p:cNvPr id="39" name="Freeform 39"/>
            <p:cNvSpPr/>
            <p:nvPr/>
          </p:nvSpPr>
          <p:spPr>
            <a:xfrm flipH="1">
              <a:off x="14300694" y="149156"/>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40" name="TextBox 40"/>
            <p:cNvSpPr txBox="1"/>
            <p:nvPr/>
          </p:nvSpPr>
          <p:spPr>
            <a:xfrm>
              <a:off x="0" y="-19050"/>
              <a:ext cx="14122176" cy="1873312"/>
            </a:xfrm>
            <a:prstGeom prst="rect">
              <a:avLst/>
            </a:prstGeom>
          </p:spPr>
          <p:txBody>
            <a:bodyPr lIns="0" tIns="0" rIns="0" bIns="0" rtlCol="0" anchor="t">
              <a:spAutoFit/>
            </a:bodyPr>
            <a:lstStyle/>
            <a:p>
              <a:pPr algn="r" rtl="1">
                <a:lnSpc>
                  <a:spcPts val="3712"/>
                </a:lnSpc>
              </a:pPr>
              <a:r>
                <a:rPr lang="en-US" sz="2946">
                  <a:solidFill>
                    <a:srgbClr val="28443B"/>
                  </a:solidFill>
                  <a:cs typeface="PT Bold Heading" panose="02010400000000000000" pitchFamily="2" charset="-78"/>
                </a:rPr>
                <a:t>وسائل التواصل الاجتماعي والأخبار والقنوات التي تستخدم إعجابات المستخدمين، ومشاركاتهم وتعليقاتهم للتعرف عليهم وتقديم الإعلانات المخصصة بناء على اهتماماتهم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1000"/>
                                        <p:tgtEl>
                                          <p:spTgt spid="32"/>
                                        </p:tgtEl>
                                      </p:cBhvr>
                                    </p:animEffect>
                                    <p:anim calcmode="lin" valueType="num">
                                      <p:cBhvr>
                                        <p:cTn id="21" dur="1000" fill="hold"/>
                                        <p:tgtEl>
                                          <p:spTgt spid="32"/>
                                        </p:tgtEl>
                                        <p:attrNameLst>
                                          <p:attrName>ppt_x</p:attrName>
                                        </p:attrNameLst>
                                      </p:cBhvr>
                                      <p:tavLst>
                                        <p:tav tm="0">
                                          <p:val>
                                            <p:strVal val="#ppt_x"/>
                                          </p:val>
                                        </p:tav>
                                        <p:tav tm="100000">
                                          <p:val>
                                            <p:strVal val="#ppt_x"/>
                                          </p:val>
                                        </p:tav>
                                      </p:tavLst>
                                    </p:anim>
                                    <p:anim calcmode="lin" valueType="num">
                                      <p:cBhvr>
                                        <p:cTn id="22" dur="1000" fill="hold"/>
                                        <p:tgtEl>
                                          <p:spTgt spid="32"/>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1000"/>
                                        <p:tgtEl>
                                          <p:spTgt spid="35"/>
                                        </p:tgtEl>
                                      </p:cBhvr>
                                    </p:animEffect>
                                    <p:anim calcmode="lin" valueType="num">
                                      <p:cBhvr>
                                        <p:cTn id="26" dur="1000" fill="hold"/>
                                        <p:tgtEl>
                                          <p:spTgt spid="35"/>
                                        </p:tgtEl>
                                        <p:attrNameLst>
                                          <p:attrName>ppt_x</p:attrName>
                                        </p:attrNameLst>
                                      </p:cBhvr>
                                      <p:tavLst>
                                        <p:tav tm="0">
                                          <p:val>
                                            <p:strVal val="#ppt_x"/>
                                          </p:val>
                                        </p:tav>
                                        <p:tav tm="100000">
                                          <p:val>
                                            <p:strVal val="#ppt_x"/>
                                          </p:val>
                                        </p:tav>
                                      </p:tavLst>
                                    </p:anim>
                                    <p:anim calcmode="lin" valueType="num">
                                      <p:cBhvr>
                                        <p:cTn id="27" dur="1000" fill="hold"/>
                                        <p:tgtEl>
                                          <p:spTgt spid="35"/>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1000"/>
                                        <p:tgtEl>
                                          <p:spTgt spid="38"/>
                                        </p:tgtEl>
                                      </p:cBhvr>
                                    </p:animEffect>
                                    <p:anim calcmode="lin" valueType="num">
                                      <p:cBhvr>
                                        <p:cTn id="31" dur="1000" fill="hold"/>
                                        <p:tgtEl>
                                          <p:spTgt spid="38"/>
                                        </p:tgtEl>
                                        <p:attrNameLst>
                                          <p:attrName>ppt_x</p:attrName>
                                        </p:attrNameLst>
                                      </p:cBhvr>
                                      <p:tavLst>
                                        <p:tav tm="0">
                                          <p:val>
                                            <p:strVal val="#ppt_x"/>
                                          </p:val>
                                        </p:tav>
                                        <p:tav tm="100000">
                                          <p:val>
                                            <p:strVal val="#ppt_x"/>
                                          </p:val>
                                        </p:tav>
                                      </p:tavLst>
                                    </p:anim>
                                    <p:anim calcmode="lin" valueType="num">
                                      <p:cBhvr>
                                        <p:cTn id="32"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مجموعة 8">
            <a:extLst>
              <a:ext uri="{FF2B5EF4-FFF2-40B4-BE49-F238E27FC236}">
                <a16:creationId xmlns:a16="http://schemas.microsoft.com/office/drawing/2014/main" id="{03847A1C-77CC-AF03-76A1-137DD13D0AFC}"/>
              </a:ext>
            </a:extLst>
          </p:cNvPr>
          <p:cNvGrpSpPr/>
          <p:nvPr/>
        </p:nvGrpSpPr>
        <p:grpSpPr>
          <a:xfrm>
            <a:off x="5888725" y="1638300"/>
            <a:ext cx="11332475" cy="1034620"/>
            <a:chOff x="5888725" y="1517387"/>
            <a:chExt cx="11332475" cy="1034620"/>
          </a:xfrm>
        </p:grpSpPr>
        <p:sp>
          <p:nvSpPr>
            <p:cNvPr id="4" name="Freeform 20">
              <a:extLst>
                <a:ext uri="{FF2B5EF4-FFF2-40B4-BE49-F238E27FC236}">
                  <a16:creationId xmlns:a16="http://schemas.microsoft.com/office/drawing/2014/main" id="{888BCD60-F194-7E5F-B278-EA08C5FA7DAE}"/>
                </a:ext>
              </a:extLst>
            </p:cNvPr>
            <p:cNvSpPr/>
            <p:nvPr/>
          </p:nvSpPr>
          <p:spPr>
            <a:xfrm>
              <a:off x="16815833" y="1548545"/>
              <a:ext cx="405367" cy="1003462"/>
            </a:xfrm>
            <a:custGeom>
              <a:avLst/>
              <a:gdLst/>
              <a:ahLst/>
              <a:cxnLst/>
              <a:rect l="l" t="t" r="r" b="b"/>
              <a:pathLst>
                <a:path w="195255" h="114065">
                  <a:moveTo>
                    <a:pt x="0" y="0"/>
                  </a:moveTo>
                  <a:lnTo>
                    <a:pt x="195255" y="0"/>
                  </a:lnTo>
                  <a:lnTo>
                    <a:pt x="195255" y="114065"/>
                  </a:lnTo>
                  <a:lnTo>
                    <a:pt x="0" y="114065"/>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3" name="Freeform 17">
              <a:extLst>
                <a:ext uri="{FF2B5EF4-FFF2-40B4-BE49-F238E27FC236}">
                  <a16:creationId xmlns:a16="http://schemas.microsoft.com/office/drawing/2014/main" id="{F95BFCE4-A95F-151B-4E69-C2AAB4006014}"/>
                </a:ext>
              </a:extLst>
            </p:cNvPr>
            <p:cNvSpPr/>
            <p:nvPr/>
          </p:nvSpPr>
          <p:spPr>
            <a:xfrm>
              <a:off x="5962443" y="1517387"/>
              <a:ext cx="10877757" cy="1034620"/>
            </a:xfrm>
            <a:custGeom>
              <a:avLst/>
              <a:gdLst/>
              <a:ahLst/>
              <a:cxnLst/>
              <a:rect l="l" t="t" r="r" b="b"/>
              <a:pathLst>
                <a:path w="2570915" h="239228">
                  <a:moveTo>
                    <a:pt x="0" y="0"/>
                  </a:moveTo>
                  <a:lnTo>
                    <a:pt x="2570915" y="0"/>
                  </a:lnTo>
                  <a:lnTo>
                    <a:pt x="2570915" y="239228"/>
                  </a:lnTo>
                  <a:lnTo>
                    <a:pt x="0" y="239228"/>
                  </a:lnTo>
                  <a:close/>
                </a:path>
              </a:pathLst>
            </a:custGeom>
            <a:solidFill>
              <a:srgbClr val="2A8D87">
                <a:alpha val="17647"/>
              </a:srgbClr>
            </a:solidFill>
            <a:ln>
              <a:noFill/>
            </a:ln>
          </p:spPr>
          <p:txBody>
            <a:bodyPr/>
            <a:lstStyle/>
            <a:p>
              <a:pPr algn="r" rtl="1"/>
              <a:endParaRPr lang="ar-SA" dirty="0">
                <a:cs typeface="PT Bold Heading" panose="02010400000000000000" pitchFamily="2" charset="-78"/>
              </a:endParaRPr>
            </a:p>
          </p:txBody>
        </p:sp>
        <p:sp>
          <p:nvSpPr>
            <p:cNvPr id="5" name="TextBox 22">
              <a:extLst>
                <a:ext uri="{FF2B5EF4-FFF2-40B4-BE49-F238E27FC236}">
                  <a16:creationId xmlns:a16="http://schemas.microsoft.com/office/drawing/2014/main" id="{FD5F8416-07F4-E4C6-4F5D-082E74BBE7C5}"/>
                </a:ext>
              </a:extLst>
            </p:cNvPr>
            <p:cNvSpPr txBox="1"/>
            <p:nvPr/>
          </p:nvSpPr>
          <p:spPr>
            <a:xfrm>
              <a:off x="5888725" y="1744515"/>
              <a:ext cx="10740490" cy="552074"/>
            </a:xfrm>
            <a:prstGeom prst="rect">
              <a:avLst/>
            </a:prstGeom>
          </p:spPr>
          <p:txBody>
            <a:bodyPr wrap="square" lIns="0" tIns="0" rIns="0" bIns="0" rtlCol="0" anchor="t">
              <a:spAutoFit/>
            </a:bodyPr>
            <a:lstStyle/>
            <a:p>
              <a:pPr algn="r" rtl="1">
                <a:lnSpc>
                  <a:spcPts val="4257"/>
                </a:lnSpc>
              </a:pPr>
              <a:r>
                <a:rPr lang="ar-SA" sz="3600" dirty="0">
                  <a:solidFill>
                    <a:srgbClr val="C00000"/>
                  </a:solidFill>
                  <a:cs typeface="PT Bold Heading" panose="02010400000000000000" pitchFamily="2" charset="-78"/>
                </a:rPr>
                <a:t>صنفي البصمات الرقمية التالية هل هي نشطة أم غير نشطة ؟</a:t>
              </a:r>
              <a:endParaRPr lang="en-US" sz="3600" dirty="0">
                <a:solidFill>
                  <a:srgbClr val="C00000"/>
                </a:solidFill>
                <a:cs typeface="PT Bold Heading" panose="02010400000000000000" pitchFamily="2" charset="-78"/>
              </a:endParaRPr>
            </a:p>
          </p:txBody>
        </p:sp>
      </p:grpSp>
      <p:grpSp>
        <p:nvGrpSpPr>
          <p:cNvPr id="6" name="Group 24">
            <a:extLst>
              <a:ext uri="{FF2B5EF4-FFF2-40B4-BE49-F238E27FC236}">
                <a16:creationId xmlns:a16="http://schemas.microsoft.com/office/drawing/2014/main" id="{60DEC0ED-9B68-48B7-77D6-E0B1C75E6175}"/>
              </a:ext>
            </a:extLst>
          </p:cNvPr>
          <p:cNvGrpSpPr/>
          <p:nvPr/>
        </p:nvGrpSpPr>
        <p:grpSpPr>
          <a:xfrm>
            <a:off x="5962444" y="2767931"/>
            <a:ext cx="11252886" cy="6519721"/>
            <a:chOff x="651659" y="230066"/>
            <a:chExt cx="15003847" cy="4906057"/>
          </a:xfrm>
        </p:grpSpPr>
        <p:sp>
          <p:nvSpPr>
            <p:cNvPr id="7" name="Freeform 26">
              <a:extLst>
                <a:ext uri="{FF2B5EF4-FFF2-40B4-BE49-F238E27FC236}">
                  <a16:creationId xmlns:a16="http://schemas.microsoft.com/office/drawing/2014/main" id="{9745A95F-5086-B61A-806F-A72135E320BA}"/>
                </a:ext>
              </a:extLst>
            </p:cNvPr>
            <p:cNvSpPr/>
            <p:nvPr/>
          </p:nvSpPr>
          <p:spPr>
            <a:xfrm>
              <a:off x="14851595" y="230066"/>
              <a:ext cx="803911" cy="4906057"/>
            </a:xfrm>
            <a:custGeom>
              <a:avLst/>
              <a:gdLst/>
              <a:ahLst/>
              <a:cxnLst/>
              <a:rect l="l" t="t" r="r" b="b"/>
              <a:pathLst>
                <a:path w="96938" h="965542">
                  <a:moveTo>
                    <a:pt x="0" y="0"/>
                  </a:moveTo>
                  <a:lnTo>
                    <a:pt x="96938" y="0"/>
                  </a:lnTo>
                  <a:lnTo>
                    <a:pt x="96938" y="965542"/>
                  </a:lnTo>
                  <a:lnTo>
                    <a:pt x="0" y="96554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8" name="Freeform 29">
              <a:extLst>
                <a:ext uri="{FF2B5EF4-FFF2-40B4-BE49-F238E27FC236}">
                  <a16:creationId xmlns:a16="http://schemas.microsoft.com/office/drawing/2014/main" id="{ABDA08CE-3832-2A2D-691A-00713C562556}"/>
                </a:ext>
              </a:extLst>
            </p:cNvPr>
            <p:cNvSpPr/>
            <p:nvPr/>
          </p:nvSpPr>
          <p:spPr>
            <a:xfrm>
              <a:off x="651659" y="250107"/>
              <a:ext cx="14631608" cy="4886016"/>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grpSp>
      <p:grpSp>
        <p:nvGrpSpPr>
          <p:cNvPr id="19" name="Group 35">
            <a:extLst>
              <a:ext uri="{FF2B5EF4-FFF2-40B4-BE49-F238E27FC236}">
                <a16:creationId xmlns:a16="http://schemas.microsoft.com/office/drawing/2014/main" id="{12CE4A32-E63B-56B1-5FBC-73E116E16D65}"/>
              </a:ext>
            </a:extLst>
          </p:cNvPr>
          <p:cNvGrpSpPr/>
          <p:nvPr/>
        </p:nvGrpSpPr>
        <p:grpSpPr>
          <a:xfrm>
            <a:off x="6121763" y="8229891"/>
            <a:ext cx="10490636" cy="943720"/>
            <a:chOff x="490819" y="-19051"/>
            <a:chExt cx="13987514" cy="1258293"/>
          </a:xfrm>
        </p:grpSpPr>
        <p:sp>
          <p:nvSpPr>
            <p:cNvPr id="20" name="Freeform 36">
              <a:extLst>
                <a:ext uri="{FF2B5EF4-FFF2-40B4-BE49-F238E27FC236}">
                  <a16:creationId xmlns:a16="http://schemas.microsoft.com/office/drawing/2014/main" id="{69932D2E-8484-FB1E-8AC3-D5BB128CE77F}"/>
                </a:ext>
              </a:extLst>
            </p:cNvPr>
            <p:cNvSpPr/>
            <p:nvPr/>
          </p:nvSpPr>
          <p:spPr>
            <a:xfrm flipH="1">
              <a:off x="14020662" y="149156"/>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21" name="TextBox 37">
              <a:extLst>
                <a:ext uri="{FF2B5EF4-FFF2-40B4-BE49-F238E27FC236}">
                  <a16:creationId xmlns:a16="http://schemas.microsoft.com/office/drawing/2014/main" id="{D167CE84-F727-576C-8677-10B54B2A40B0}"/>
                </a:ext>
              </a:extLst>
            </p:cNvPr>
            <p:cNvSpPr txBox="1"/>
            <p:nvPr/>
          </p:nvSpPr>
          <p:spPr>
            <a:xfrm>
              <a:off x="490819" y="-19051"/>
              <a:ext cx="13351325" cy="1258293"/>
            </a:xfrm>
            <a:prstGeom prst="rect">
              <a:avLst/>
            </a:prstGeom>
          </p:spPr>
          <p:txBody>
            <a:bodyPr wrap="square" lIns="0" tIns="0" rIns="0" bIns="0" rtlCol="0" anchor="t">
              <a:spAutoFit/>
            </a:bodyPr>
            <a:lstStyle/>
            <a:p>
              <a:pPr algn="r" rtl="1">
                <a:lnSpc>
                  <a:spcPts val="3712"/>
                </a:lnSpc>
              </a:pPr>
              <a:r>
                <a:rPr lang="en-US" sz="2946" dirty="0">
                  <a:solidFill>
                    <a:srgbClr val="28443B"/>
                  </a:solidFill>
                  <a:latin typeface="PT Bold Heading"/>
                  <a:cs typeface="PT Bold Heading" panose="02010400000000000000" pitchFamily="2" charset="-78"/>
                </a:rPr>
                <a:t> </a:t>
              </a:r>
              <a:r>
                <a:rPr lang="en-US" sz="2946" dirty="0" err="1">
                  <a:solidFill>
                    <a:srgbClr val="28443B"/>
                  </a:solidFill>
                  <a:cs typeface="PT Bold Heading" panose="02010400000000000000" pitchFamily="2" charset="-78"/>
                </a:rPr>
                <a:t>المواقع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الإلكترونية</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تثبت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ملفات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تعريف</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الارتباط</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على</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أجهزة</a:t>
              </a:r>
              <a:r>
                <a:rPr lang="en-US" sz="2946" dirty="0">
                  <a:solidFill>
                    <a:srgbClr val="28443B"/>
                  </a:solidFill>
                  <a:cs typeface="PT Bold Heading" panose="02010400000000000000" pitchFamily="2" charset="-78"/>
                </a:rPr>
                <a:t> الحاسب </a:t>
              </a:r>
              <a:r>
                <a:rPr lang="en-US" sz="2946" dirty="0" err="1">
                  <a:solidFill>
                    <a:srgbClr val="28443B"/>
                  </a:solidFill>
                  <a:cs typeface="PT Bold Heading" panose="02010400000000000000" pitchFamily="2" charset="-78"/>
                </a:rPr>
                <a:t>دون</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معرفة</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المستخدم</a:t>
              </a:r>
              <a:r>
                <a:rPr lang="en-US" sz="2946" dirty="0">
                  <a:solidFill>
                    <a:srgbClr val="28443B"/>
                  </a:solidFill>
                  <a:cs typeface="PT Bold Heading" panose="02010400000000000000" pitchFamily="2" charset="-78"/>
                </a:rPr>
                <a:t> .</a:t>
              </a:r>
            </a:p>
          </p:txBody>
        </p:sp>
      </p:grpSp>
      <p:grpSp>
        <p:nvGrpSpPr>
          <p:cNvPr id="33" name="مجموعة 32">
            <a:extLst>
              <a:ext uri="{FF2B5EF4-FFF2-40B4-BE49-F238E27FC236}">
                <a16:creationId xmlns:a16="http://schemas.microsoft.com/office/drawing/2014/main" id="{B2B6C00B-4E1D-A423-058D-A193A2CF9888}"/>
              </a:ext>
            </a:extLst>
          </p:cNvPr>
          <p:cNvGrpSpPr/>
          <p:nvPr/>
        </p:nvGrpSpPr>
        <p:grpSpPr>
          <a:xfrm>
            <a:off x="3792066" y="2259076"/>
            <a:ext cx="1986446" cy="7028576"/>
            <a:chOff x="3859361" y="2281991"/>
            <a:chExt cx="1986446" cy="7028576"/>
          </a:xfrm>
        </p:grpSpPr>
        <p:sp>
          <p:nvSpPr>
            <p:cNvPr id="27" name="Freeform 29">
              <a:extLst>
                <a:ext uri="{FF2B5EF4-FFF2-40B4-BE49-F238E27FC236}">
                  <a16:creationId xmlns:a16="http://schemas.microsoft.com/office/drawing/2014/main" id="{B8215F5B-B550-1B50-F2A8-5E0F21512011}"/>
                </a:ext>
              </a:extLst>
            </p:cNvPr>
            <p:cNvSpPr/>
            <p:nvPr/>
          </p:nvSpPr>
          <p:spPr>
            <a:xfrm flipH="1">
              <a:off x="3866926" y="2817478"/>
              <a:ext cx="1978881" cy="6493089"/>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sp>
          <p:nvSpPr>
            <p:cNvPr id="31" name="TextBox 22">
              <a:extLst>
                <a:ext uri="{FF2B5EF4-FFF2-40B4-BE49-F238E27FC236}">
                  <a16:creationId xmlns:a16="http://schemas.microsoft.com/office/drawing/2014/main" id="{4F37304E-9A19-ED0C-8E63-13387885C57D}"/>
                </a:ext>
              </a:extLst>
            </p:cNvPr>
            <p:cNvSpPr txBox="1"/>
            <p:nvPr/>
          </p:nvSpPr>
          <p:spPr>
            <a:xfrm>
              <a:off x="3859361" y="2281991"/>
              <a:ext cx="1518250" cy="552074"/>
            </a:xfrm>
            <a:prstGeom prst="rect">
              <a:avLst/>
            </a:prstGeom>
          </p:spPr>
          <p:txBody>
            <a:bodyPr wrap="square" lIns="0" tIns="0" rIns="0" bIns="0" rtlCol="0" anchor="t">
              <a:spAutoFit/>
            </a:bodyPr>
            <a:lstStyle/>
            <a:p>
              <a:pPr algn="r" rtl="1">
                <a:lnSpc>
                  <a:spcPts val="4257"/>
                </a:lnSpc>
              </a:pPr>
              <a:r>
                <a:rPr lang="ar-SA" sz="3600" dirty="0">
                  <a:solidFill>
                    <a:srgbClr val="C00000"/>
                  </a:solidFill>
                  <a:cs typeface="PT Bold Heading" panose="02010400000000000000" pitchFamily="2" charset="-78"/>
                </a:rPr>
                <a:t>نشطة</a:t>
              </a:r>
              <a:endParaRPr lang="en-US" sz="3600" dirty="0">
                <a:solidFill>
                  <a:srgbClr val="C00000"/>
                </a:solidFill>
                <a:cs typeface="PT Bold Heading" panose="02010400000000000000" pitchFamily="2" charset="-78"/>
              </a:endParaRPr>
            </a:p>
          </p:txBody>
        </p:sp>
      </p:grpSp>
      <p:grpSp>
        <p:nvGrpSpPr>
          <p:cNvPr id="34" name="مجموعة 33">
            <a:extLst>
              <a:ext uri="{FF2B5EF4-FFF2-40B4-BE49-F238E27FC236}">
                <a16:creationId xmlns:a16="http://schemas.microsoft.com/office/drawing/2014/main" id="{3CF6ED95-BF79-F6CF-F3C4-086C750FF826}"/>
              </a:ext>
            </a:extLst>
          </p:cNvPr>
          <p:cNvGrpSpPr/>
          <p:nvPr/>
        </p:nvGrpSpPr>
        <p:grpSpPr>
          <a:xfrm>
            <a:off x="1143001" y="2182681"/>
            <a:ext cx="2212896" cy="7104972"/>
            <a:chOff x="1453671" y="2271307"/>
            <a:chExt cx="2212896" cy="7104972"/>
          </a:xfrm>
        </p:grpSpPr>
        <p:grpSp>
          <p:nvGrpSpPr>
            <p:cNvPr id="28" name="Group 24">
              <a:extLst>
                <a:ext uri="{FF2B5EF4-FFF2-40B4-BE49-F238E27FC236}">
                  <a16:creationId xmlns:a16="http://schemas.microsoft.com/office/drawing/2014/main" id="{DE69641D-8DE9-E513-3A78-C7791D14CD56}"/>
                </a:ext>
              </a:extLst>
            </p:cNvPr>
            <p:cNvGrpSpPr/>
            <p:nvPr/>
          </p:nvGrpSpPr>
          <p:grpSpPr>
            <a:xfrm flipH="1">
              <a:off x="1453671" y="2856556"/>
              <a:ext cx="2212896" cy="6519723"/>
              <a:chOff x="12644757" y="247309"/>
              <a:chExt cx="2950529" cy="4906058"/>
            </a:xfrm>
          </p:grpSpPr>
          <p:sp>
            <p:nvSpPr>
              <p:cNvPr id="29" name="Freeform 26">
                <a:extLst>
                  <a:ext uri="{FF2B5EF4-FFF2-40B4-BE49-F238E27FC236}">
                    <a16:creationId xmlns:a16="http://schemas.microsoft.com/office/drawing/2014/main" id="{865F0AF7-41B2-A55B-DF3B-8D3387BD6753}"/>
                  </a:ext>
                </a:extLst>
              </p:cNvPr>
              <p:cNvSpPr/>
              <p:nvPr/>
            </p:nvSpPr>
            <p:spPr>
              <a:xfrm>
                <a:off x="15054798" y="247309"/>
                <a:ext cx="540488" cy="4906058"/>
              </a:xfrm>
              <a:custGeom>
                <a:avLst/>
                <a:gdLst/>
                <a:ahLst/>
                <a:cxnLst/>
                <a:rect l="l" t="t" r="r" b="b"/>
                <a:pathLst>
                  <a:path w="96938" h="965542">
                    <a:moveTo>
                      <a:pt x="0" y="0"/>
                    </a:moveTo>
                    <a:lnTo>
                      <a:pt x="96938" y="0"/>
                    </a:lnTo>
                    <a:lnTo>
                      <a:pt x="96938" y="965542"/>
                    </a:lnTo>
                    <a:lnTo>
                      <a:pt x="0" y="96554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30" name="Freeform 29">
                <a:extLst>
                  <a:ext uri="{FF2B5EF4-FFF2-40B4-BE49-F238E27FC236}">
                    <a16:creationId xmlns:a16="http://schemas.microsoft.com/office/drawing/2014/main" id="{8C05869E-D770-E46B-42C3-63B1BD07BD5C}"/>
                  </a:ext>
                </a:extLst>
              </p:cNvPr>
              <p:cNvSpPr/>
              <p:nvPr/>
            </p:nvSpPr>
            <p:spPr>
              <a:xfrm>
                <a:off x="12644757" y="250107"/>
                <a:ext cx="2638508" cy="4886016"/>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grpSp>
        <p:sp>
          <p:nvSpPr>
            <p:cNvPr id="32" name="TextBox 22">
              <a:extLst>
                <a:ext uri="{FF2B5EF4-FFF2-40B4-BE49-F238E27FC236}">
                  <a16:creationId xmlns:a16="http://schemas.microsoft.com/office/drawing/2014/main" id="{19BA6DE6-BB50-79FA-6675-5C94FEA29AC6}"/>
                </a:ext>
              </a:extLst>
            </p:cNvPr>
            <p:cNvSpPr txBox="1"/>
            <p:nvPr/>
          </p:nvSpPr>
          <p:spPr>
            <a:xfrm>
              <a:off x="1656354" y="2271307"/>
              <a:ext cx="1829873" cy="552074"/>
            </a:xfrm>
            <a:prstGeom prst="rect">
              <a:avLst/>
            </a:prstGeom>
          </p:spPr>
          <p:txBody>
            <a:bodyPr wrap="square" lIns="0" tIns="0" rIns="0" bIns="0" rtlCol="0" anchor="t">
              <a:spAutoFit/>
            </a:bodyPr>
            <a:lstStyle/>
            <a:p>
              <a:pPr algn="r" rtl="1">
                <a:lnSpc>
                  <a:spcPts val="4257"/>
                </a:lnSpc>
              </a:pPr>
              <a:r>
                <a:rPr lang="ar-SA" sz="3600" dirty="0">
                  <a:solidFill>
                    <a:srgbClr val="C00000"/>
                  </a:solidFill>
                  <a:cs typeface="PT Bold Heading" panose="02010400000000000000" pitchFamily="2" charset="-78"/>
                </a:rPr>
                <a:t>غير نشطة</a:t>
              </a:r>
              <a:endParaRPr lang="en-US" sz="3600" dirty="0">
                <a:solidFill>
                  <a:srgbClr val="C00000"/>
                </a:solidFill>
                <a:cs typeface="PT Bold Heading" panose="02010400000000000000" pitchFamily="2" charset="-78"/>
              </a:endParaRPr>
            </a:p>
          </p:txBody>
        </p:sp>
      </p:grpSp>
      <p:grpSp>
        <p:nvGrpSpPr>
          <p:cNvPr id="41" name="مجموعة 40">
            <a:extLst>
              <a:ext uri="{FF2B5EF4-FFF2-40B4-BE49-F238E27FC236}">
                <a16:creationId xmlns:a16="http://schemas.microsoft.com/office/drawing/2014/main" id="{A54F6F93-817A-6C83-C2FF-66A3E6B9A771}"/>
              </a:ext>
            </a:extLst>
          </p:cNvPr>
          <p:cNvGrpSpPr/>
          <p:nvPr/>
        </p:nvGrpSpPr>
        <p:grpSpPr>
          <a:xfrm>
            <a:off x="1400400" y="2977038"/>
            <a:ext cx="15516000" cy="621631"/>
            <a:chOff x="2010000" y="2997869"/>
            <a:chExt cx="15516000" cy="621631"/>
          </a:xfrm>
        </p:grpSpPr>
        <p:grpSp>
          <p:nvGrpSpPr>
            <p:cNvPr id="16" name="Group 32">
              <a:extLst>
                <a:ext uri="{FF2B5EF4-FFF2-40B4-BE49-F238E27FC236}">
                  <a16:creationId xmlns:a16="http://schemas.microsoft.com/office/drawing/2014/main" id="{F64EDFE0-003D-903E-DE1F-A775F530CE10}"/>
                </a:ext>
              </a:extLst>
            </p:cNvPr>
            <p:cNvGrpSpPr/>
            <p:nvPr/>
          </p:nvGrpSpPr>
          <p:grpSpPr>
            <a:xfrm>
              <a:off x="6572043" y="2997869"/>
              <a:ext cx="10649956" cy="469231"/>
              <a:chOff x="278392" y="-19049"/>
              <a:chExt cx="14199941" cy="625642"/>
            </a:xfrm>
          </p:grpSpPr>
          <p:sp>
            <p:nvSpPr>
              <p:cNvPr id="17" name="Freeform 33">
                <a:extLst>
                  <a:ext uri="{FF2B5EF4-FFF2-40B4-BE49-F238E27FC236}">
                    <a16:creationId xmlns:a16="http://schemas.microsoft.com/office/drawing/2014/main" id="{C82673DF-E893-8530-EC05-E39344C75465}"/>
                  </a:ext>
                </a:extLst>
              </p:cNvPr>
              <p:cNvSpPr/>
              <p:nvPr/>
            </p:nvSpPr>
            <p:spPr>
              <a:xfrm flipH="1">
                <a:off x="14020662" y="112623"/>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8" name="TextBox 34">
                <a:extLst>
                  <a:ext uri="{FF2B5EF4-FFF2-40B4-BE49-F238E27FC236}">
                    <a16:creationId xmlns:a16="http://schemas.microsoft.com/office/drawing/2014/main" id="{685C651F-7A67-6049-0C5F-66A6B18654B6}"/>
                  </a:ext>
                </a:extLst>
              </p:cNvPr>
              <p:cNvSpPr txBox="1"/>
              <p:nvPr/>
            </p:nvSpPr>
            <p:spPr>
              <a:xfrm>
                <a:off x="278392" y="-19049"/>
                <a:ext cx="13563752" cy="625642"/>
              </a:xfrm>
              <a:prstGeom prst="rect">
                <a:avLst/>
              </a:prstGeom>
            </p:spPr>
            <p:txBody>
              <a:bodyPr wrap="square" lIns="0" tIns="0" rIns="0" bIns="0" rtlCol="0" anchor="t">
                <a:spAutoFit/>
              </a:bodyPr>
              <a:lstStyle/>
              <a:p>
                <a:pPr algn="r" rtl="1">
                  <a:lnSpc>
                    <a:spcPts val="3712"/>
                  </a:lnSpc>
                </a:pPr>
                <a:r>
                  <a:rPr lang="en-US" sz="2946" dirty="0" err="1">
                    <a:solidFill>
                      <a:srgbClr val="28443B"/>
                    </a:solidFill>
                    <a:cs typeface="PT Bold Heading" panose="02010400000000000000" pitchFamily="2" charset="-78"/>
                  </a:rPr>
                  <a:t>التطبيقات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والمواقع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تُستخدم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في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تحديد</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الموقع</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الجغرافي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للمستخدم</a:t>
                </a:r>
                <a:r>
                  <a:rPr lang="en-US" sz="2946" dirty="0">
                    <a:solidFill>
                      <a:srgbClr val="28443B"/>
                    </a:solidFill>
                    <a:cs typeface="PT Bold Heading" panose="02010400000000000000" pitchFamily="2" charset="-78"/>
                  </a:rPr>
                  <a:t> .</a:t>
                </a:r>
              </a:p>
            </p:txBody>
          </p:sp>
        </p:grpSp>
        <p:cxnSp>
          <p:nvCxnSpPr>
            <p:cNvPr id="36" name="رابط مستقيم 35">
              <a:extLst>
                <a:ext uri="{FF2B5EF4-FFF2-40B4-BE49-F238E27FC236}">
                  <a16:creationId xmlns:a16="http://schemas.microsoft.com/office/drawing/2014/main" id="{09FF9351-4116-BDEF-C5D3-28F9AE493EE4}"/>
                </a:ext>
              </a:extLst>
            </p:cNvPr>
            <p:cNvCxnSpPr>
              <a:cxnSpLocks/>
            </p:cNvCxnSpPr>
            <p:nvPr/>
          </p:nvCxnSpPr>
          <p:spPr>
            <a:xfrm flipH="1">
              <a:off x="2010000" y="3619500"/>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2" name="مجموعة 41">
            <a:extLst>
              <a:ext uri="{FF2B5EF4-FFF2-40B4-BE49-F238E27FC236}">
                <a16:creationId xmlns:a16="http://schemas.microsoft.com/office/drawing/2014/main" id="{B044592E-0D6E-7F24-EB98-B5B575847B8B}"/>
              </a:ext>
            </a:extLst>
          </p:cNvPr>
          <p:cNvGrpSpPr/>
          <p:nvPr/>
        </p:nvGrpSpPr>
        <p:grpSpPr>
          <a:xfrm>
            <a:off x="1400400" y="3749922"/>
            <a:ext cx="15516000" cy="1669475"/>
            <a:chOff x="2010000" y="3770753"/>
            <a:chExt cx="15516000" cy="1669475"/>
          </a:xfrm>
        </p:grpSpPr>
        <p:grpSp>
          <p:nvGrpSpPr>
            <p:cNvPr id="22" name="Group 38">
              <a:extLst>
                <a:ext uri="{FF2B5EF4-FFF2-40B4-BE49-F238E27FC236}">
                  <a16:creationId xmlns:a16="http://schemas.microsoft.com/office/drawing/2014/main" id="{2D8F093D-85FF-4784-AD04-5CA6A5ADD7B1}"/>
                </a:ext>
              </a:extLst>
            </p:cNvPr>
            <p:cNvGrpSpPr/>
            <p:nvPr/>
          </p:nvGrpSpPr>
          <p:grpSpPr>
            <a:xfrm>
              <a:off x="6572043" y="3770753"/>
              <a:ext cx="10649956" cy="1404985"/>
              <a:chOff x="558424" y="-19051"/>
              <a:chExt cx="14199941" cy="1873313"/>
            </a:xfrm>
          </p:grpSpPr>
          <p:sp>
            <p:nvSpPr>
              <p:cNvPr id="23" name="Freeform 39">
                <a:extLst>
                  <a:ext uri="{FF2B5EF4-FFF2-40B4-BE49-F238E27FC236}">
                    <a16:creationId xmlns:a16="http://schemas.microsoft.com/office/drawing/2014/main" id="{83139598-52A2-81B3-B017-E4F477738175}"/>
                  </a:ext>
                </a:extLst>
              </p:cNvPr>
              <p:cNvSpPr/>
              <p:nvPr/>
            </p:nvSpPr>
            <p:spPr>
              <a:xfrm flipH="1">
                <a:off x="14300694" y="149156"/>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24" name="TextBox 40">
                <a:extLst>
                  <a:ext uri="{FF2B5EF4-FFF2-40B4-BE49-F238E27FC236}">
                    <a16:creationId xmlns:a16="http://schemas.microsoft.com/office/drawing/2014/main" id="{9D08A1F1-22DC-9B4B-0B72-10ECAAD142C0}"/>
                  </a:ext>
                </a:extLst>
              </p:cNvPr>
              <p:cNvSpPr txBox="1"/>
              <p:nvPr/>
            </p:nvSpPr>
            <p:spPr>
              <a:xfrm>
                <a:off x="558424" y="-19051"/>
                <a:ext cx="13563750" cy="1873313"/>
              </a:xfrm>
              <a:prstGeom prst="rect">
                <a:avLst/>
              </a:prstGeom>
            </p:spPr>
            <p:txBody>
              <a:bodyPr wrap="square" lIns="0" tIns="0" rIns="0" bIns="0" rtlCol="0" anchor="t">
                <a:spAutoFit/>
              </a:bodyPr>
              <a:lstStyle/>
              <a:p>
                <a:pPr algn="r" rtl="1">
                  <a:lnSpc>
                    <a:spcPts val="3712"/>
                  </a:lnSpc>
                </a:pPr>
                <a:r>
                  <a:rPr lang="en-US" sz="2946" dirty="0" err="1">
                    <a:solidFill>
                      <a:srgbClr val="28443B"/>
                    </a:solidFill>
                    <a:cs typeface="PT Bold Heading" panose="02010400000000000000" pitchFamily="2" charset="-78"/>
                  </a:rPr>
                  <a:t>وسائل</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التواصل</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الاجتماعي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والأخبار</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والقنوات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التي</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تستخدم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إعجابات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المستخدمين</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ومشاركاتهم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وتعليقاتهم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للتعرف</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عليهم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وتقديم</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الإعلانات</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المخصصة</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بناء</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على</a:t>
                </a:r>
                <a:r>
                  <a:rPr lang="en-US" sz="2946" dirty="0">
                    <a:solidFill>
                      <a:srgbClr val="28443B"/>
                    </a:solidFill>
                    <a:cs typeface="PT Bold Heading" panose="02010400000000000000" pitchFamily="2" charset="-78"/>
                  </a:rPr>
                  <a:t> </a:t>
                </a:r>
                <a:r>
                  <a:rPr lang="en-US" sz="2946" dirty="0" err="1">
                    <a:solidFill>
                      <a:srgbClr val="28443B"/>
                    </a:solidFill>
                    <a:cs typeface="PT Bold Heading" panose="02010400000000000000" pitchFamily="2" charset="-78"/>
                  </a:rPr>
                  <a:t>اهتماماتهم</a:t>
                </a:r>
                <a:r>
                  <a:rPr lang="en-US" sz="2946" dirty="0">
                    <a:solidFill>
                      <a:srgbClr val="28443B"/>
                    </a:solidFill>
                    <a:cs typeface="PT Bold Heading" panose="02010400000000000000" pitchFamily="2" charset="-78"/>
                  </a:rPr>
                  <a:t> .</a:t>
                </a:r>
              </a:p>
            </p:txBody>
          </p:sp>
        </p:grpSp>
        <p:cxnSp>
          <p:nvCxnSpPr>
            <p:cNvPr id="38" name="رابط مستقيم 37">
              <a:extLst>
                <a:ext uri="{FF2B5EF4-FFF2-40B4-BE49-F238E27FC236}">
                  <a16:creationId xmlns:a16="http://schemas.microsoft.com/office/drawing/2014/main" id="{D7445B5A-DAA1-F3EF-1EBF-77C3490139CF}"/>
                </a:ext>
              </a:extLst>
            </p:cNvPr>
            <p:cNvCxnSpPr>
              <a:cxnSpLocks/>
            </p:cNvCxnSpPr>
            <p:nvPr/>
          </p:nvCxnSpPr>
          <p:spPr>
            <a:xfrm flipH="1">
              <a:off x="2010000" y="5440228"/>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3" name="مجموعة 42">
            <a:extLst>
              <a:ext uri="{FF2B5EF4-FFF2-40B4-BE49-F238E27FC236}">
                <a16:creationId xmlns:a16="http://schemas.microsoft.com/office/drawing/2014/main" id="{5A171571-0E37-8DB6-B428-2756BC61FCAB}"/>
              </a:ext>
            </a:extLst>
          </p:cNvPr>
          <p:cNvGrpSpPr/>
          <p:nvPr/>
        </p:nvGrpSpPr>
        <p:grpSpPr>
          <a:xfrm>
            <a:off x="1400400" y="5486908"/>
            <a:ext cx="15516000" cy="1233877"/>
            <a:chOff x="2010000" y="5509823"/>
            <a:chExt cx="15516000" cy="1233877"/>
          </a:xfrm>
        </p:grpSpPr>
        <p:grpSp>
          <p:nvGrpSpPr>
            <p:cNvPr id="10" name="Group 32">
              <a:extLst>
                <a:ext uri="{FF2B5EF4-FFF2-40B4-BE49-F238E27FC236}">
                  <a16:creationId xmlns:a16="http://schemas.microsoft.com/office/drawing/2014/main" id="{BAAAEAD4-6E12-FD19-2DD1-083B098EA784}"/>
                </a:ext>
              </a:extLst>
            </p:cNvPr>
            <p:cNvGrpSpPr/>
            <p:nvPr/>
          </p:nvGrpSpPr>
          <p:grpSpPr>
            <a:xfrm>
              <a:off x="6572043" y="5509823"/>
              <a:ext cx="10649956" cy="1045479"/>
              <a:chOff x="-634183" y="-19049"/>
              <a:chExt cx="14199941" cy="1393973"/>
            </a:xfrm>
          </p:grpSpPr>
          <p:sp>
            <p:nvSpPr>
              <p:cNvPr id="11" name="Freeform 33">
                <a:extLst>
                  <a:ext uri="{FF2B5EF4-FFF2-40B4-BE49-F238E27FC236}">
                    <a16:creationId xmlns:a16="http://schemas.microsoft.com/office/drawing/2014/main" id="{9AFED35B-7779-3ACA-3D91-C00E4CE1B52E}"/>
                  </a:ext>
                </a:extLst>
              </p:cNvPr>
              <p:cNvSpPr/>
              <p:nvPr/>
            </p:nvSpPr>
            <p:spPr>
              <a:xfrm flipH="1">
                <a:off x="13075271" y="120699"/>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2" name="TextBox 34">
                <a:extLst>
                  <a:ext uri="{FF2B5EF4-FFF2-40B4-BE49-F238E27FC236}">
                    <a16:creationId xmlns:a16="http://schemas.microsoft.com/office/drawing/2014/main" id="{C708DB51-837E-18BC-773A-EE4972FA8C46}"/>
                  </a:ext>
                </a:extLst>
              </p:cNvPr>
              <p:cNvSpPr txBox="1"/>
              <p:nvPr/>
            </p:nvSpPr>
            <p:spPr>
              <a:xfrm>
                <a:off x="-634183" y="-19049"/>
                <a:ext cx="13518134" cy="1393973"/>
              </a:xfrm>
              <a:prstGeom prst="rect">
                <a:avLst/>
              </a:prstGeom>
            </p:spPr>
            <p:txBody>
              <a:bodyPr wrap="square" lIns="0" tIns="0" rIns="0" bIns="0" rtlCol="0" anchor="t">
                <a:spAutoFit/>
              </a:bodyPr>
              <a:lstStyle/>
              <a:p>
                <a:pPr algn="r" rtl="1">
                  <a:lnSpc>
                    <a:spcPts val="4104"/>
                  </a:lnSpc>
                </a:pPr>
                <a:r>
                  <a:rPr lang="en-US" sz="3257" dirty="0" err="1">
                    <a:solidFill>
                      <a:srgbClr val="28443B"/>
                    </a:solidFill>
                    <a:cs typeface="PT Bold Heading" panose="02010400000000000000" pitchFamily="2" charset="-78"/>
                  </a:rPr>
                  <a:t>المنشورات</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على</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مواقع</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فيس</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بوك</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أو</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إنستجرام</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أو</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تويتر</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وغيرها</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من</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منصات</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التواصل</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الاجتماعي</a:t>
                </a:r>
                <a:r>
                  <a:rPr lang="en-US" sz="3257" dirty="0">
                    <a:solidFill>
                      <a:srgbClr val="28443B"/>
                    </a:solidFill>
                    <a:cs typeface="PT Bold Heading" panose="02010400000000000000" pitchFamily="2" charset="-78"/>
                  </a:rPr>
                  <a:t>.</a:t>
                </a:r>
              </a:p>
            </p:txBody>
          </p:sp>
        </p:grpSp>
        <p:cxnSp>
          <p:nvCxnSpPr>
            <p:cNvPr id="39" name="رابط مستقيم 38">
              <a:extLst>
                <a:ext uri="{FF2B5EF4-FFF2-40B4-BE49-F238E27FC236}">
                  <a16:creationId xmlns:a16="http://schemas.microsoft.com/office/drawing/2014/main" id="{A9E03443-5610-8E92-FBA4-16DFCE16705F}"/>
                </a:ext>
              </a:extLst>
            </p:cNvPr>
            <p:cNvCxnSpPr>
              <a:cxnSpLocks/>
            </p:cNvCxnSpPr>
            <p:nvPr/>
          </p:nvCxnSpPr>
          <p:spPr>
            <a:xfrm flipH="1">
              <a:off x="2010000" y="6743700"/>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4" name="مجموعة 43">
            <a:extLst>
              <a:ext uri="{FF2B5EF4-FFF2-40B4-BE49-F238E27FC236}">
                <a16:creationId xmlns:a16="http://schemas.microsoft.com/office/drawing/2014/main" id="{D3ED80A7-FB8A-B09B-FC1F-FCEA798B1A7E}"/>
              </a:ext>
            </a:extLst>
          </p:cNvPr>
          <p:cNvGrpSpPr/>
          <p:nvPr/>
        </p:nvGrpSpPr>
        <p:grpSpPr>
          <a:xfrm>
            <a:off x="1400400" y="6870333"/>
            <a:ext cx="15516000" cy="1233985"/>
            <a:chOff x="2010000" y="6893248"/>
            <a:chExt cx="15516000" cy="1233985"/>
          </a:xfrm>
        </p:grpSpPr>
        <p:grpSp>
          <p:nvGrpSpPr>
            <p:cNvPr id="13" name="Group 35">
              <a:extLst>
                <a:ext uri="{FF2B5EF4-FFF2-40B4-BE49-F238E27FC236}">
                  <a16:creationId xmlns:a16="http://schemas.microsoft.com/office/drawing/2014/main" id="{4F75E9F8-A510-F45A-4072-E041545D8417}"/>
                </a:ext>
              </a:extLst>
            </p:cNvPr>
            <p:cNvGrpSpPr/>
            <p:nvPr/>
          </p:nvGrpSpPr>
          <p:grpSpPr>
            <a:xfrm>
              <a:off x="6731363" y="6893248"/>
              <a:ext cx="10490636" cy="1045479"/>
              <a:chOff x="-421756" y="-19049"/>
              <a:chExt cx="13987514" cy="1393973"/>
            </a:xfrm>
          </p:grpSpPr>
          <p:sp>
            <p:nvSpPr>
              <p:cNvPr id="14" name="Freeform 36">
                <a:extLst>
                  <a:ext uri="{FF2B5EF4-FFF2-40B4-BE49-F238E27FC236}">
                    <a16:creationId xmlns:a16="http://schemas.microsoft.com/office/drawing/2014/main" id="{719F39D9-DEEA-DA32-6840-2BE53E8E8739}"/>
                  </a:ext>
                </a:extLst>
              </p:cNvPr>
              <p:cNvSpPr/>
              <p:nvPr/>
            </p:nvSpPr>
            <p:spPr>
              <a:xfrm flipH="1">
                <a:off x="13075271" y="159851"/>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5" name="TextBox 37">
                <a:extLst>
                  <a:ext uri="{FF2B5EF4-FFF2-40B4-BE49-F238E27FC236}">
                    <a16:creationId xmlns:a16="http://schemas.microsoft.com/office/drawing/2014/main" id="{2EDE8105-6170-2F0F-B06E-5C53C64E3474}"/>
                  </a:ext>
                </a:extLst>
              </p:cNvPr>
              <p:cNvSpPr txBox="1"/>
              <p:nvPr/>
            </p:nvSpPr>
            <p:spPr>
              <a:xfrm>
                <a:off x="-421756" y="-19049"/>
                <a:ext cx="13305707" cy="1393973"/>
              </a:xfrm>
              <a:prstGeom prst="rect">
                <a:avLst/>
              </a:prstGeom>
            </p:spPr>
            <p:txBody>
              <a:bodyPr wrap="square" lIns="0" tIns="0" rIns="0" bIns="0" rtlCol="0" anchor="t">
                <a:spAutoFit/>
              </a:bodyPr>
              <a:lstStyle/>
              <a:p>
                <a:pPr algn="r" rtl="1">
                  <a:lnSpc>
                    <a:spcPts val="4104"/>
                  </a:lnSpc>
                </a:pPr>
                <a:r>
                  <a:rPr lang="en-US" sz="3257" dirty="0" err="1">
                    <a:solidFill>
                      <a:srgbClr val="28443B"/>
                    </a:solidFill>
                    <a:cs typeface="PT Bold Heading" panose="02010400000000000000" pitchFamily="2" charset="-78"/>
                  </a:rPr>
                  <a:t>النماذج</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التي</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تُعبأ</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عبر</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الإنترنت</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مثل</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نموذج</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الاشتراك</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لتلقي</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رسائل</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البريد</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الإلكتروني</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أو</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الرسائل</a:t>
                </a:r>
                <a:r>
                  <a:rPr lang="en-US" sz="3257" dirty="0">
                    <a:solidFill>
                      <a:srgbClr val="28443B"/>
                    </a:solidFill>
                    <a:cs typeface="PT Bold Heading" panose="02010400000000000000" pitchFamily="2" charset="-78"/>
                  </a:rPr>
                  <a:t> </a:t>
                </a:r>
                <a:r>
                  <a:rPr lang="en-US" sz="3257" dirty="0" err="1">
                    <a:solidFill>
                      <a:srgbClr val="28443B"/>
                    </a:solidFill>
                    <a:cs typeface="PT Bold Heading" panose="02010400000000000000" pitchFamily="2" charset="-78"/>
                  </a:rPr>
                  <a:t>النصية</a:t>
                </a:r>
                <a:r>
                  <a:rPr lang="en-US" sz="3257" dirty="0">
                    <a:solidFill>
                      <a:srgbClr val="28443B"/>
                    </a:solidFill>
                    <a:cs typeface="PT Bold Heading" panose="02010400000000000000" pitchFamily="2" charset="-78"/>
                  </a:rPr>
                  <a:t> .</a:t>
                </a:r>
              </a:p>
            </p:txBody>
          </p:sp>
        </p:grpSp>
        <p:cxnSp>
          <p:nvCxnSpPr>
            <p:cNvPr id="40" name="رابط مستقيم 39">
              <a:extLst>
                <a:ext uri="{FF2B5EF4-FFF2-40B4-BE49-F238E27FC236}">
                  <a16:creationId xmlns:a16="http://schemas.microsoft.com/office/drawing/2014/main" id="{45232753-C293-653A-52ED-2C69F1504A1E}"/>
                </a:ext>
              </a:extLst>
            </p:cNvPr>
            <p:cNvCxnSpPr>
              <a:cxnSpLocks/>
            </p:cNvCxnSpPr>
            <p:nvPr/>
          </p:nvCxnSpPr>
          <p:spPr>
            <a:xfrm flipH="1">
              <a:off x="2010000" y="8127233"/>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5" name="مجموعة 44">
            <a:extLst>
              <a:ext uri="{FF2B5EF4-FFF2-40B4-BE49-F238E27FC236}">
                <a16:creationId xmlns:a16="http://schemas.microsoft.com/office/drawing/2014/main" id="{6619512A-10FC-38E1-C2D9-351DF0175219}"/>
              </a:ext>
            </a:extLst>
          </p:cNvPr>
          <p:cNvGrpSpPr/>
          <p:nvPr/>
        </p:nvGrpSpPr>
        <p:grpSpPr>
          <a:xfrm>
            <a:off x="2062888" y="2853255"/>
            <a:ext cx="675820" cy="675820"/>
            <a:chOff x="5162453" y="5175617"/>
            <a:chExt cx="813078" cy="816723"/>
          </a:xfrm>
        </p:grpSpPr>
        <p:sp>
          <p:nvSpPr>
            <p:cNvPr id="46" name="Freeform 6">
              <a:extLst>
                <a:ext uri="{FF2B5EF4-FFF2-40B4-BE49-F238E27FC236}">
                  <a16:creationId xmlns:a16="http://schemas.microsoft.com/office/drawing/2014/main" id="{75CA10F3-544E-F75F-3FDC-6AB8C78A61D2}"/>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47" name="Freeform 15">
              <a:extLst>
                <a:ext uri="{FF2B5EF4-FFF2-40B4-BE49-F238E27FC236}">
                  <a16:creationId xmlns:a16="http://schemas.microsoft.com/office/drawing/2014/main" id="{E048113D-BAE6-A3F9-D1BA-1BC2A34B0F95}"/>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48" name="مجموعة 47">
            <a:extLst>
              <a:ext uri="{FF2B5EF4-FFF2-40B4-BE49-F238E27FC236}">
                <a16:creationId xmlns:a16="http://schemas.microsoft.com/office/drawing/2014/main" id="{26083E33-8564-62F1-4407-780311B9ECBA}"/>
              </a:ext>
            </a:extLst>
          </p:cNvPr>
          <p:cNvGrpSpPr/>
          <p:nvPr/>
        </p:nvGrpSpPr>
        <p:grpSpPr>
          <a:xfrm>
            <a:off x="2062888" y="4141460"/>
            <a:ext cx="675820" cy="675820"/>
            <a:chOff x="5162453" y="5175617"/>
            <a:chExt cx="813078" cy="816723"/>
          </a:xfrm>
        </p:grpSpPr>
        <p:sp>
          <p:nvSpPr>
            <p:cNvPr id="49" name="Freeform 6">
              <a:extLst>
                <a:ext uri="{FF2B5EF4-FFF2-40B4-BE49-F238E27FC236}">
                  <a16:creationId xmlns:a16="http://schemas.microsoft.com/office/drawing/2014/main" id="{C56D8D48-B4FA-F0FD-9EAE-3CED08AFA70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0" name="Freeform 15">
              <a:extLst>
                <a:ext uri="{FF2B5EF4-FFF2-40B4-BE49-F238E27FC236}">
                  <a16:creationId xmlns:a16="http://schemas.microsoft.com/office/drawing/2014/main" id="{7D068FAE-7514-5405-1051-AA4091FE920F}"/>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1" name="مجموعة 50">
            <a:extLst>
              <a:ext uri="{FF2B5EF4-FFF2-40B4-BE49-F238E27FC236}">
                <a16:creationId xmlns:a16="http://schemas.microsoft.com/office/drawing/2014/main" id="{C951E5CE-A2B1-3433-090D-FDD346A54A1A}"/>
              </a:ext>
            </a:extLst>
          </p:cNvPr>
          <p:cNvGrpSpPr/>
          <p:nvPr/>
        </p:nvGrpSpPr>
        <p:grpSpPr>
          <a:xfrm>
            <a:off x="4451161" y="5749684"/>
            <a:ext cx="675820" cy="675820"/>
            <a:chOff x="5162453" y="5175617"/>
            <a:chExt cx="813078" cy="816723"/>
          </a:xfrm>
        </p:grpSpPr>
        <p:sp>
          <p:nvSpPr>
            <p:cNvPr id="52" name="Freeform 6">
              <a:extLst>
                <a:ext uri="{FF2B5EF4-FFF2-40B4-BE49-F238E27FC236}">
                  <a16:creationId xmlns:a16="http://schemas.microsoft.com/office/drawing/2014/main" id="{88D827F1-16E7-5449-9B60-AA350AC9847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3" name="Freeform 15">
              <a:extLst>
                <a:ext uri="{FF2B5EF4-FFF2-40B4-BE49-F238E27FC236}">
                  <a16:creationId xmlns:a16="http://schemas.microsoft.com/office/drawing/2014/main" id="{5A98104F-5748-978A-C47C-EF8ADC956935}"/>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4" name="مجموعة 53">
            <a:extLst>
              <a:ext uri="{FF2B5EF4-FFF2-40B4-BE49-F238E27FC236}">
                <a16:creationId xmlns:a16="http://schemas.microsoft.com/office/drawing/2014/main" id="{08761452-0C6C-A23B-D3F3-BB9920C41D63}"/>
              </a:ext>
            </a:extLst>
          </p:cNvPr>
          <p:cNvGrpSpPr/>
          <p:nvPr/>
        </p:nvGrpSpPr>
        <p:grpSpPr>
          <a:xfrm>
            <a:off x="4451161" y="7159547"/>
            <a:ext cx="675820" cy="675820"/>
            <a:chOff x="5162453" y="5175617"/>
            <a:chExt cx="813078" cy="816723"/>
          </a:xfrm>
        </p:grpSpPr>
        <p:sp>
          <p:nvSpPr>
            <p:cNvPr id="55" name="Freeform 6">
              <a:extLst>
                <a:ext uri="{FF2B5EF4-FFF2-40B4-BE49-F238E27FC236}">
                  <a16:creationId xmlns:a16="http://schemas.microsoft.com/office/drawing/2014/main" id="{F39BF363-956C-65EF-54FD-2BACABD48D1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6" name="Freeform 15">
              <a:extLst>
                <a:ext uri="{FF2B5EF4-FFF2-40B4-BE49-F238E27FC236}">
                  <a16:creationId xmlns:a16="http://schemas.microsoft.com/office/drawing/2014/main" id="{6014F09B-46AB-7FFB-92A4-55B1B2D758A6}"/>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7" name="مجموعة 56">
            <a:extLst>
              <a:ext uri="{FF2B5EF4-FFF2-40B4-BE49-F238E27FC236}">
                <a16:creationId xmlns:a16="http://schemas.microsoft.com/office/drawing/2014/main" id="{995814FE-0224-4CAD-0F7E-6A91B3BEF3F6}"/>
              </a:ext>
            </a:extLst>
          </p:cNvPr>
          <p:cNvGrpSpPr/>
          <p:nvPr/>
        </p:nvGrpSpPr>
        <p:grpSpPr>
          <a:xfrm>
            <a:off x="2062888" y="8417559"/>
            <a:ext cx="675820" cy="675820"/>
            <a:chOff x="5162453" y="5175617"/>
            <a:chExt cx="813078" cy="816723"/>
          </a:xfrm>
        </p:grpSpPr>
        <p:sp>
          <p:nvSpPr>
            <p:cNvPr id="58" name="Freeform 6">
              <a:extLst>
                <a:ext uri="{FF2B5EF4-FFF2-40B4-BE49-F238E27FC236}">
                  <a16:creationId xmlns:a16="http://schemas.microsoft.com/office/drawing/2014/main" id="{9289B0C2-BCA7-03CD-89E8-B0005BFEC786}"/>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9" name="Freeform 15">
              <a:extLst>
                <a:ext uri="{FF2B5EF4-FFF2-40B4-BE49-F238E27FC236}">
                  <a16:creationId xmlns:a16="http://schemas.microsoft.com/office/drawing/2014/main" id="{43000B6E-61F2-B5CF-3535-E91E97FBF5C4}"/>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spTree>
    <p:extLst>
      <p:ext uri="{BB962C8B-B14F-4D97-AF65-F5344CB8AC3E}">
        <p14:creationId xmlns:p14="http://schemas.microsoft.com/office/powerpoint/2010/main" val="364029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1000"/>
                                        <p:tgtEl>
                                          <p:spTgt spid="41"/>
                                        </p:tgtEl>
                                      </p:cBhvr>
                                    </p:animEffect>
                                    <p:anim calcmode="lin" valueType="num">
                                      <p:cBhvr>
                                        <p:cTn id="12" dur="1000" fill="hold"/>
                                        <p:tgtEl>
                                          <p:spTgt spid="41"/>
                                        </p:tgtEl>
                                        <p:attrNameLst>
                                          <p:attrName>ppt_x</p:attrName>
                                        </p:attrNameLst>
                                      </p:cBhvr>
                                      <p:tavLst>
                                        <p:tav tm="0">
                                          <p:val>
                                            <p:strVal val="#ppt_x"/>
                                          </p:val>
                                        </p:tav>
                                        <p:tav tm="100000">
                                          <p:val>
                                            <p:strVal val="#ppt_x"/>
                                          </p:val>
                                        </p:tav>
                                      </p:tavLst>
                                    </p:anim>
                                    <p:anim calcmode="lin" valueType="num">
                                      <p:cBhvr>
                                        <p:cTn id="1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1000"/>
                                        <p:tgtEl>
                                          <p:spTgt spid="45"/>
                                        </p:tgtEl>
                                      </p:cBhvr>
                                    </p:animEffect>
                                    <p:anim calcmode="lin" valueType="num">
                                      <p:cBhvr>
                                        <p:cTn id="19" dur="1000" fill="hold"/>
                                        <p:tgtEl>
                                          <p:spTgt spid="45"/>
                                        </p:tgtEl>
                                        <p:attrNameLst>
                                          <p:attrName>ppt_x</p:attrName>
                                        </p:attrNameLst>
                                      </p:cBhvr>
                                      <p:tavLst>
                                        <p:tav tm="0">
                                          <p:val>
                                            <p:strVal val="#ppt_x"/>
                                          </p:val>
                                        </p:tav>
                                        <p:tav tm="100000">
                                          <p:val>
                                            <p:strVal val="#ppt_x"/>
                                          </p:val>
                                        </p:tav>
                                      </p:tavLst>
                                    </p:anim>
                                    <p:anim calcmode="lin" valueType="num">
                                      <p:cBhvr>
                                        <p:cTn id="20" dur="1000" fill="hold"/>
                                        <p:tgtEl>
                                          <p:spTgt spid="45"/>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1000"/>
                                        <p:tgtEl>
                                          <p:spTgt spid="42"/>
                                        </p:tgtEl>
                                      </p:cBhvr>
                                    </p:animEffect>
                                    <p:anim calcmode="lin" valueType="num">
                                      <p:cBhvr>
                                        <p:cTn id="25" dur="1000" fill="hold"/>
                                        <p:tgtEl>
                                          <p:spTgt spid="42"/>
                                        </p:tgtEl>
                                        <p:attrNameLst>
                                          <p:attrName>ppt_x</p:attrName>
                                        </p:attrNameLst>
                                      </p:cBhvr>
                                      <p:tavLst>
                                        <p:tav tm="0">
                                          <p:val>
                                            <p:strVal val="#ppt_x"/>
                                          </p:val>
                                        </p:tav>
                                        <p:tav tm="100000">
                                          <p:val>
                                            <p:strVal val="#ppt_x"/>
                                          </p:val>
                                        </p:tav>
                                      </p:tavLst>
                                    </p:anim>
                                    <p:anim calcmode="lin" valueType="num">
                                      <p:cBhvr>
                                        <p:cTn id="2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1000"/>
                                        <p:tgtEl>
                                          <p:spTgt spid="48"/>
                                        </p:tgtEl>
                                      </p:cBhvr>
                                    </p:animEffect>
                                    <p:anim calcmode="lin" valueType="num">
                                      <p:cBhvr>
                                        <p:cTn id="32" dur="1000" fill="hold"/>
                                        <p:tgtEl>
                                          <p:spTgt spid="48"/>
                                        </p:tgtEl>
                                        <p:attrNameLst>
                                          <p:attrName>ppt_x</p:attrName>
                                        </p:attrNameLst>
                                      </p:cBhvr>
                                      <p:tavLst>
                                        <p:tav tm="0">
                                          <p:val>
                                            <p:strVal val="#ppt_x"/>
                                          </p:val>
                                        </p:tav>
                                        <p:tav tm="100000">
                                          <p:val>
                                            <p:strVal val="#ppt_x"/>
                                          </p:val>
                                        </p:tav>
                                      </p:tavLst>
                                    </p:anim>
                                    <p:anim calcmode="lin" valueType="num">
                                      <p:cBhvr>
                                        <p:cTn id="33" dur="1000" fill="hold"/>
                                        <p:tgtEl>
                                          <p:spTgt spid="4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1000"/>
                                        <p:tgtEl>
                                          <p:spTgt spid="43"/>
                                        </p:tgtEl>
                                      </p:cBhvr>
                                    </p:animEffect>
                                    <p:anim calcmode="lin" valueType="num">
                                      <p:cBhvr>
                                        <p:cTn id="38" dur="1000" fill="hold"/>
                                        <p:tgtEl>
                                          <p:spTgt spid="43"/>
                                        </p:tgtEl>
                                        <p:attrNameLst>
                                          <p:attrName>ppt_x</p:attrName>
                                        </p:attrNameLst>
                                      </p:cBhvr>
                                      <p:tavLst>
                                        <p:tav tm="0">
                                          <p:val>
                                            <p:strVal val="#ppt_x"/>
                                          </p:val>
                                        </p:tav>
                                        <p:tav tm="100000">
                                          <p:val>
                                            <p:strVal val="#ppt_x"/>
                                          </p:val>
                                        </p:tav>
                                      </p:tavLst>
                                    </p:anim>
                                    <p:anim calcmode="lin" valueType="num">
                                      <p:cBhvr>
                                        <p:cTn id="3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1000"/>
                                        <p:tgtEl>
                                          <p:spTgt spid="51"/>
                                        </p:tgtEl>
                                      </p:cBhvr>
                                    </p:animEffect>
                                    <p:anim calcmode="lin" valueType="num">
                                      <p:cBhvr>
                                        <p:cTn id="45" dur="1000" fill="hold"/>
                                        <p:tgtEl>
                                          <p:spTgt spid="51"/>
                                        </p:tgtEl>
                                        <p:attrNameLst>
                                          <p:attrName>ppt_x</p:attrName>
                                        </p:attrNameLst>
                                      </p:cBhvr>
                                      <p:tavLst>
                                        <p:tav tm="0">
                                          <p:val>
                                            <p:strVal val="#ppt_x"/>
                                          </p:val>
                                        </p:tav>
                                        <p:tav tm="100000">
                                          <p:val>
                                            <p:strVal val="#ppt_x"/>
                                          </p:val>
                                        </p:tav>
                                      </p:tavLst>
                                    </p:anim>
                                    <p:anim calcmode="lin" valueType="num">
                                      <p:cBhvr>
                                        <p:cTn id="46" dur="1000" fill="hold"/>
                                        <p:tgtEl>
                                          <p:spTgt spid="51"/>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42" presetClass="entr" presetSubtype="0" fill="hold" nodeType="after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1000"/>
                                        <p:tgtEl>
                                          <p:spTgt spid="44"/>
                                        </p:tgtEl>
                                      </p:cBhvr>
                                    </p:animEffect>
                                    <p:anim calcmode="lin" valueType="num">
                                      <p:cBhvr>
                                        <p:cTn id="51" dur="1000" fill="hold"/>
                                        <p:tgtEl>
                                          <p:spTgt spid="44"/>
                                        </p:tgtEl>
                                        <p:attrNameLst>
                                          <p:attrName>ppt_x</p:attrName>
                                        </p:attrNameLst>
                                      </p:cBhvr>
                                      <p:tavLst>
                                        <p:tav tm="0">
                                          <p:val>
                                            <p:strVal val="#ppt_x"/>
                                          </p:val>
                                        </p:tav>
                                        <p:tav tm="100000">
                                          <p:val>
                                            <p:strVal val="#ppt_x"/>
                                          </p:val>
                                        </p:tav>
                                      </p:tavLst>
                                    </p:anim>
                                    <p:anim calcmode="lin" valueType="num">
                                      <p:cBhvr>
                                        <p:cTn id="5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1000"/>
                                        <p:tgtEl>
                                          <p:spTgt spid="54"/>
                                        </p:tgtEl>
                                      </p:cBhvr>
                                    </p:animEffect>
                                    <p:anim calcmode="lin" valueType="num">
                                      <p:cBhvr>
                                        <p:cTn id="58" dur="1000" fill="hold"/>
                                        <p:tgtEl>
                                          <p:spTgt spid="54"/>
                                        </p:tgtEl>
                                        <p:attrNameLst>
                                          <p:attrName>ppt_x</p:attrName>
                                        </p:attrNameLst>
                                      </p:cBhvr>
                                      <p:tavLst>
                                        <p:tav tm="0">
                                          <p:val>
                                            <p:strVal val="#ppt_x"/>
                                          </p:val>
                                        </p:tav>
                                        <p:tav tm="100000">
                                          <p:val>
                                            <p:strVal val="#ppt_x"/>
                                          </p:val>
                                        </p:tav>
                                      </p:tavLst>
                                    </p:anim>
                                    <p:anim calcmode="lin" valueType="num">
                                      <p:cBhvr>
                                        <p:cTn id="59" dur="1000" fill="hold"/>
                                        <p:tgtEl>
                                          <p:spTgt spid="54"/>
                                        </p:tgtEl>
                                        <p:attrNameLst>
                                          <p:attrName>ppt_y</p:attrName>
                                        </p:attrNameLst>
                                      </p:cBhvr>
                                      <p:tavLst>
                                        <p:tav tm="0">
                                          <p:val>
                                            <p:strVal val="#ppt_y+.1"/>
                                          </p:val>
                                        </p:tav>
                                        <p:tav tm="100000">
                                          <p:val>
                                            <p:strVal val="#ppt_y"/>
                                          </p:val>
                                        </p:tav>
                                      </p:tavLst>
                                    </p:anim>
                                  </p:childTnLst>
                                </p:cTn>
                              </p:par>
                            </p:childTnLst>
                          </p:cTn>
                        </p:par>
                        <p:par>
                          <p:cTn id="60" fill="hold">
                            <p:stCondLst>
                              <p:cond delay="1000"/>
                            </p:stCondLst>
                            <p:childTnLst>
                              <p:par>
                                <p:cTn id="61" presetID="42"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anim calcmode="lin" valueType="num">
                                      <p:cBhvr>
                                        <p:cTn id="64" dur="1000" fill="hold"/>
                                        <p:tgtEl>
                                          <p:spTgt spid="19"/>
                                        </p:tgtEl>
                                        <p:attrNameLst>
                                          <p:attrName>ppt_x</p:attrName>
                                        </p:attrNameLst>
                                      </p:cBhvr>
                                      <p:tavLst>
                                        <p:tav tm="0">
                                          <p:val>
                                            <p:strVal val="#ppt_x"/>
                                          </p:val>
                                        </p:tav>
                                        <p:tav tm="100000">
                                          <p:val>
                                            <p:strVal val="#ppt_x"/>
                                          </p:val>
                                        </p:tav>
                                      </p:tavLst>
                                    </p:anim>
                                    <p:anim calcmode="lin" valueType="num">
                                      <p:cBhvr>
                                        <p:cTn id="6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1000"/>
                                        <p:tgtEl>
                                          <p:spTgt spid="57"/>
                                        </p:tgtEl>
                                      </p:cBhvr>
                                    </p:animEffect>
                                    <p:anim calcmode="lin" valueType="num">
                                      <p:cBhvr>
                                        <p:cTn id="71" dur="1000" fill="hold"/>
                                        <p:tgtEl>
                                          <p:spTgt spid="57"/>
                                        </p:tgtEl>
                                        <p:attrNameLst>
                                          <p:attrName>ppt_x</p:attrName>
                                        </p:attrNameLst>
                                      </p:cBhvr>
                                      <p:tavLst>
                                        <p:tav tm="0">
                                          <p:val>
                                            <p:strVal val="#ppt_x"/>
                                          </p:val>
                                        </p:tav>
                                        <p:tav tm="100000">
                                          <p:val>
                                            <p:strVal val="#ppt_x"/>
                                          </p:val>
                                        </p:tav>
                                      </p:tavLst>
                                    </p:anim>
                                    <p:anim calcmode="lin" valueType="num">
                                      <p:cBhvr>
                                        <p:cTn id="72"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CABE8472-1C6E-32D3-028A-9E6641D84EB1}"/>
              </a:ext>
            </a:extLst>
          </p:cNvPr>
          <p:cNvSpPr txBox="1"/>
          <p:nvPr/>
        </p:nvSpPr>
        <p:spPr>
          <a:xfrm>
            <a:off x="1621507" y="3283823"/>
            <a:ext cx="15044985" cy="1200329"/>
          </a:xfrm>
          <a:prstGeom prst="rect">
            <a:avLst/>
          </a:prstGeom>
          <a:noFill/>
        </p:spPr>
        <p:txBody>
          <a:bodyPr wrap="square">
            <a:spAutoFit/>
          </a:bodyPr>
          <a:lstStyle/>
          <a:p>
            <a:pPr algn="just" rtl="1"/>
            <a:r>
              <a:rPr lang="ar-SA" sz="3600" b="1" dirty="0">
                <a:solidFill>
                  <a:srgbClr val="303030"/>
                </a:solidFill>
                <a:latin typeface="Adobe Arabic" panose="02040503050201020203" pitchFamily="18" charset="-78"/>
                <a:cs typeface="Adobe Arabic" panose="02040503050201020203" pitchFamily="18" charset="-78"/>
              </a:rPr>
              <a:t>في حديث أَبِي هُرَيْرَةَ، أَنَّ رَسُولَ اللهِ صَلَّى اللهُ عَلَيْهِ وَسَلَّمَ، قَالَ:   </a:t>
            </a:r>
            <a:r>
              <a:rPr lang="ar-SA" sz="3600" b="1" dirty="0">
                <a:solidFill>
                  <a:schemeClr val="accent5"/>
                </a:solidFill>
                <a:latin typeface="Adobe Arabic" panose="02040503050201020203" pitchFamily="18" charset="-78"/>
                <a:cs typeface="Adobe Arabic" panose="02040503050201020203" pitchFamily="18" charset="-78"/>
              </a:rPr>
              <a:t>إِذَا مَاتَ الْإِنْسَانُ انْقَطَعَ عَنْهُ عَمَلُهُ إِلَّا مِنْ ثَلَاثَةٍ: إِلَّا مِنْ صَدَقَةٍ جَارِيَةٍ، أَوْ عِلْمٍ يُنْتَفَعُ بِهِ، أَوْ وَلَدٍ صَالِحٍ يَدْعُو لَهُ  </a:t>
            </a:r>
            <a:r>
              <a:rPr lang="ar-SA" sz="3600" b="1" dirty="0">
                <a:solidFill>
                  <a:srgbClr val="303030"/>
                </a:solidFill>
                <a:latin typeface="Adobe Arabic" panose="02040503050201020203" pitchFamily="18" charset="-78"/>
                <a:cs typeface="Adobe Arabic" panose="02040503050201020203" pitchFamily="18" charset="-78"/>
              </a:rPr>
              <a:t>رواه مسلم (1631).</a:t>
            </a:r>
            <a:endParaRPr lang="ar-SA" sz="3600" dirty="0">
              <a:latin typeface="Adobe Arabic" panose="02040503050201020203" pitchFamily="18" charset="-78"/>
              <a:cs typeface="Adobe Arabic" panose="02040503050201020203" pitchFamily="18" charset="-78"/>
            </a:endParaRPr>
          </a:p>
        </p:txBody>
      </p:sp>
      <p:sp>
        <p:nvSpPr>
          <p:cNvPr id="7" name="مربع نص 6">
            <a:extLst>
              <a:ext uri="{FF2B5EF4-FFF2-40B4-BE49-F238E27FC236}">
                <a16:creationId xmlns:a16="http://schemas.microsoft.com/office/drawing/2014/main" id="{10299A1B-45F8-09D5-3482-8D6CC7890FEE}"/>
              </a:ext>
            </a:extLst>
          </p:cNvPr>
          <p:cNvSpPr txBox="1"/>
          <p:nvPr/>
        </p:nvSpPr>
        <p:spPr>
          <a:xfrm>
            <a:off x="1930462" y="5252324"/>
            <a:ext cx="14858447" cy="1200329"/>
          </a:xfrm>
          <a:prstGeom prst="rect">
            <a:avLst/>
          </a:prstGeom>
          <a:noFill/>
        </p:spPr>
        <p:txBody>
          <a:bodyPr wrap="square">
            <a:spAutoFit/>
          </a:bodyPr>
          <a:lstStyle/>
          <a:p>
            <a:pPr algn="just" rtl="1"/>
            <a:r>
              <a:rPr lang="ar-SA" sz="3600" b="1" dirty="0">
                <a:solidFill>
                  <a:srgbClr val="303030"/>
                </a:solidFill>
                <a:latin typeface="Adobe Arabic" panose="02040503050201020203" pitchFamily="18" charset="-78"/>
                <a:cs typeface="Adobe Arabic" panose="02040503050201020203" pitchFamily="18" charset="-78"/>
              </a:rPr>
              <a:t>وعَنْ أَبِي هُرَيْرَةَ، أَنَّ رَسُولَ اللهِ صَلَّى اللهُ عَلَيْهِ وَسَلَّمَ، قَالَ:   </a:t>
            </a:r>
            <a:r>
              <a:rPr lang="ar-SA" sz="3600" b="1" dirty="0">
                <a:solidFill>
                  <a:schemeClr val="accent5"/>
                </a:solidFill>
                <a:latin typeface="Adobe Arabic" panose="02040503050201020203" pitchFamily="18" charset="-78"/>
                <a:cs typeface="Adobe Arabic" panose="02040503050201020203" pitchFamily="18" charset="-78"/>
              </a:rPr>
              <a:t>مَنْ دَعَا إِلَى هُدًى، كَانَ لَهُ مِنَ الْأَجْرِ مِثْلُ أُجُورِ مَنْ تَبِعَهُ، لَا يَنْقُصُ ذَلِكَ مِنْ أُجُورِهِمْ شَيْئًا ...  </a:t>
            </a:r>
            <a:r>
              <a:rPr lang="ar-SA" sz="3600" b="1" dirty="0">
                <a:solidFill>
                  <a:srgbClr val="303030"/>
                </a:solidFill>
                <a:latin typeface="Adobe Arabic" panose="02040503050201020203" pitchFamily="18" charset="-78"/>
                <a:cs typeface="Adobe Arabic" panose="02040503050201020203" pitchFamily="18" charset="-78"/>
              </a:rPr>
              <a:t>رواه مسلم (2674).</a:t>
            </a:r>
            <a:endParaRPr lang="ar-SA" sz="3600" dirty="0">
              <a:latin typeface="Adobe Arabic" panose="02040503050201020203" pitchFamily="18" charset="-78"/>
              <a:cs typeface="Adobe Arabic" panose="02040503050201020203" pitchFamily="18" charset="-78"/>
            </a:endParaRPr>
          </a:p>
        </p:txBody>
      </p:sp>
      <p:sp>
        <p:nvSpPr>
          <p:cNvPr id="11" name="مربع نص 10">
            <a:extLst>
              <a:ext uri="{FF2B5EF4-FFF2-40B4-BE49-F238E27FC236}">
                <a16:creationId xmlns:a16="http://schemas.microsoft.com/office/drawing/2014/main" id="{ECCD77E4-5F0D-37CE-3663-33866BD1FA41}"/>
              </a:ext>
            </a:extLst>
          </p:cNvPr>
          <p:cNvSpPr txBox="1"/>
          <p:nvPr/>
        </p:nvSpPr>
        <p:spPr>
          <a:xfrm>
            <a:off x="6707391" y="7245452"/>
            <a:ext cx="9421410" cy="1638205"/>
          </a:xfrm>
          <a:prstGeom prst="rect">
            <a:avLst/>
          </a:prstGeom>
          <a:noFill/>
        </p:spPr>
        <p:txBody>
          <a:bodyPr wrap="square">
            <a:spAutoFit/>
          </a:bodyPr>
          <a:lstStyle/>
          <a:p>
            <a:pPr indent="-54000" algn="r" defTabSz="1371600" rtl="1">
              <a:lnSpc>
                <a:spcPct val="150000"/>
              </a:lnSpc>
              <a:defRPr/>
            </a:pPr>
            <a:r>
              <a:rPr lang="ar-SA" sz="3000" b="1" dirty="0">
                <a:solidFill>
                  <a:srgbClr val="0070C0"/>
                </a:solidFill>
                <a:latin typeface="Adobe Arabic" panose="02040503050201020203" pitchFamily="18" charset="-78"/>
                <a:cs typeface="Adobe Arabic" panose="02040503050201020203" pitchFamily="18" charset="-78"/>
              </a:rPr>
              <a:t>طالبتي الرقمية،، </a:t>
            </a:r>
            <a:endParaRPr lang="ar-SA" sz="3000" b="1" dirty="0">
              <a:solidFill>
                <a:schemeClr val="accent2">
                  <a:lumMod val="75000"/>
                </a:schemeClr>
              </a:solidFill>
              <a:latin typeface="Adobe Arabic" panose="02040503050201020203" pitchFamily="18" charset="-78"/>
              <a:cs typeface="Adobe Arabic" panose="02040503050201020203" pitchFamily="18" charset="-78"/>
            </a:endParaRPr>
          </a:p>
          <a:p>
            <a:pPr indent="-54000" algn="ctr" defTabSz="1371600" rtl="1">
              <a:lnSpc>
                <a:spcPct val="150000"/>
              </a:lnSpc>
              <a:defRPr/>
            </a:pPr>
            <a:r>
              <a:rPr lang="ar-SA" sz="4200" b="1" dirty="0">
                <a:solidFill>
                  <a:schemeClr val="accent2">
                    <a:lumMod val="75000"/>
                  </a:schemeClr>
                </a:solidFill>
                <a:latin typeface="Adobe Arabic" panose="02040503050201020203" pitchFamily="18" charset="-78"/>
                <a:cs typeface="Adobe Arabic" panose="02040503050201020203" pitchFamily="18" charset="-78"/>
              </a:rPr>
              <a:t>كيف يمكنني جعل بصماتي الرقمية النشطة إيجابية؟</a:t>
            </a:r>
            <a:endParaRPr lang="ar-SA" sz="4200" b="1" dirty="0">
              <a:solidFill>
                <a:srgbClr val="0070C0"/>
              </a:solidFill>
              <a:latin typeface="Adobe Arabic" panose="02040503050201020203" pitchFamily="18" charset="-78"/>
              <a:cs typeface="Adobe Arabic" panose="02040503050201020203" pitchFamily="18" charset="-78"/>
            </a:endParaRPr>
          </a:p>
        </p:txBody>
      </p:sp>
      <p:grpSp>
        <p:nvGrpSpPr>
          <p:cNvPr id="2" name="مجموعة 1">
            <a:extLst>
              <a:ext uri="{FF2B5EF4-FFF2-40B4-BE49-F238E27FC236}">
                <a16:creationId xmlns:a16="http://schemas.microsoft.com/office/drawing/2014/main" id="{B81F6369-BAE4-E3F0-E848-F1187E13CC28}"/>
              </a:ext>
            </a:extLst>
          </p:cNvPr>
          <p:cNvGrpSpPr/>
          <p:nvPr/>
        </p:nvGrpSpPr>
        <p:grpSpPr>
          <a:xfrm>
            <a:off x="1858407" y="368566"/>
            <a:ext cx="14665433" cy="2107438"/>
            <a:chOff x="4721019" y="2312028"/>
            <a:chExt cx="12857550" cy="3122542"/>
          </a:xfrm>
        </p:grpSpPr>
        <p:grpSp>
          <p:nvGrpSpPr>
            <p:cNvPr id="3" name="Group 13">
              <a:extLst>
                <a:ext uri="{FF2B5EF4-FFF2-40B4-BE49-F238E27FC236}">
                  <a16:creationId xmlns:a16="http://schemas.microsoft.com/office/drawing/2014/main" id="{A4CED66B-9E49-CDDE-0735-A7F47B45A1FA}"/>
                </a:ext>
              </a:extLst>
            </p:cNvPr>
            <p:cNvGrpSpPr/>
            <p:nvPr/>
          </p:nvGrpSpPr>
          <p:grpSpPr>
            <a:xfrm>
              <a:off x="6018873" y="4515916"/>
              <a:ext cx="11101701" cy="918654"/>
              <a:chOff x="0" y="200392"/>
              <a:chExt cx="14802268" cy="1224871"/>
            </a:xfrm>
          </p:grpSpPr>
          <p:sp>
            <p:nvSpPr>
              <p:cNvPr id="26" name="Freeform 15">
                <a:extLst>
                  <a:ext uri="{FF2B5EF4-FFF2-40B4-BE49-F238E27FC236}">
                    <a16:creationId xmlns:a16="http://schemas.microsoft.com/office/drawing/2014/main" id="{3CA4EDA2-1E22-307B-22A3-098B7CF6F803}"/>
                  </a:ext>
                </a:extLst>
              </p:cNvPr>
              <p:cNvSpPr/>
              <p:nvPr/>
            </p:nvSpPr>
            <p:spPr>
              <a:xfrm>
                <a:off x="0" y="212950"/>
                <a:ext cx="14229757" cy="121231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7" name="Freeform 18">
                <a:extLst>
                  <a:ext uri="{FF2B5EF4-FFF2-40B4-BE49-F238E27FC236}">
                    <a16:creationId xmlns:a16="http://schemas.microsoft.com/office/drawing/2014/main" id="{1FB27DAF-316E-775C-47C0-C00367A0151D}"/>
                  </a:ext>
                </a:extLst>
              </p:cNvPr>
              <p:cNvSpPr/>
              <p:nvPr/>
            </p:nvSpPr>
            <p:spPr>
              <a:xfrm>
                <a:off x="14205179" y="200392"/>
                <a:ext cx="597089" cy="1224871"/>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8" name="TextBox 20">
                <a:extLst>
                  <a:ext uri="{FF2B5EF4-FFF2-40B4-BE49-F238E27FC236}">
                    <a16:creationId xmlns:a16="http://schemas.microsoft.com/office/drawing/2014/main" id="{2689E4B4-8CD4-0E70-5A92-6DCFC1B59A54}"/>
                  </a:ext>
                </a:extLst>
              </p:cNvPr>
              <p:cNvSpPr txBox="1"/>
              <p:nvPr/>
            </p:nvSpPr>
            <p:spPr>
              <a:xfrm>
                <a:off x="5844133" y="258458"/>
                <a:ext cx="7200703" cy="946251"/>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 المناقشة والحوار</a:t>
                </a:r>
                <a:endParaRPr lang="en-US" sz="3200" dirty="0">
                  <a:solidFill>
                    <a:srgbClr val="FFFFFF"/>
                  </a:solidFill>
                  <a:cs typeface="PT Bold Heading" panose="02010400000000000000" pitchFamily="2" charset="-78"/>
                </a:endParaRPr>
              </a:p>
            </p:txBody>
          </p:sp>
        </p:grpSp>
        <p:sp>
          <p:nvSpPr>
            <p:cNvPr id="4" name="Freeform 22">
              <a:extLst>
                <a:ext uri="{FF2B5EF4-FFF2-40B4-BE49-F238E27FC236}">
                  <a16:creationId xmlns:a16="http://schemas.microsoft.com/office/drawing/2014/main" id="{AD300242-100B-5A89-98BC-492A1C73D31B}"/>
                </a:ext>
              </a:extLst>
            </p:cNvPr>
            <p:cNvSpPr/>
            <p:nvPr/>
          </p:nvSpPr>
          <p:spPr>
            <a:xfrm>
              <a:off x="6018873" y="2312028"/>
              <a:ext cx="11503024" cy="181564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6" name="Freeform 25">
              <a:extLst>
                <a:ext uri="{FF2B5EF4-FFF2-40B4-BE49-F238E27FC236}">
                  <a16:creationId xmlns:a16="http://schemas.microsoft.com/office/drawing/2014/main" id="{6E58A7A9-479F-B672-F909-008444A17386}"/>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9" name="Freeform 28">
              <a:extLst>
                <a:ext uri="{FF2B5EF4-FFF2-40B4-BE49-F238E27FC236}">
                  <a16:creationId xmlns:a16="http://schemas.microsoft.com/office/drawing/2014/main" id="{47C6F919-2723-6556-EB0A-165587571D3F}"/>
                </a:ext>
              </a:extLst>
            </p:cNvPr>
            <p:cNvSpPr/>
            <p:nvPr/>
          </p:nvSpPr>
          <p:spPr>
            <a:xfrm>
              <a:off x="15384091" y="3323646"/>
              <a:ext cx="1860306" cy="624822"/>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0" name="Freeform 31">
              <a:extLst>
                <a:ext uri="{FF2B5EF4-FFF2-40B4-BE49-F238E27FC236}">
                  <a16:creationId xmlns:a16="http://schemas.microsoft.com/office/drawing/2014/main" id="{02D7232C-3F7B-0CB7-0780-E9FFFE273277}"/>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3" name="Freeform 34">
              <a:extLst>
                <a:ext uri="{FF2B5EF4-FFF2-40B4-BE49-F238E27FC236}">
                  <a16:creationId xmlns:a16="http://schemas.microsoft.com/office/drawing/2014/main" id="{4110ED0B-30C2-F3A7-AB24-5DD0E81215DA}"/>
                </a:ext>
              </a:extLst>
            </p:cNvPr>
            <p:cNvSpPr/>
            <p:nvPr/>
          </p:nvSpPr>
          <p:spPr>
            <a:xfrm>
              <a:off x="13769349" y="3306693"/>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4" name="TextBox 36">
              <a:extLst>
                <a:ext uri="{FF2B5EF4-FFF2-40B4-BE49-F238E27FC236}">
                  <a16:creationId xmlns:a16="http://schemas.microsoft.com/office/drawing/2014/main" id="{C350AD6C-A2AC-46ED-17B5-E3D48FD44FE3}"/>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15" name="TextBox 37">
              <a:extLst>
                <a:ext uri="{FF2B5EF4-FFF2-40B4-BE49-F238E27FC236}">
                  <a16:creationId xmlns:a16="http://schemas.microsoft.com/office/drawing/2014/main" id="{126E3F2B-E4C1-A5B9-E92A-6EBC0C14F186}"/>
                </a:ext>
              </a:extLst>
            </p:cNvPr>
            <p:cNvSpPr txBox="1"/>
            <p:nvPr/>
          </p:nvSpPr>
          <p:spPr>
            <a:xfrm>
              <a:off x="15082665" y="3254615"/>
              <a:ext cx="2495904" cy="720568"/>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16" name="TextBox 38">
              <a:extLst>
                <a:ext uri="{FF2B5EF4-FFF2-40B4-BE49-F238E27FC236}">
                  <a16:creationId xmlns:a16="http://schemas.microsoft.com/office/drawing/2014/main" id="{C6E7FD09-22D8-CDC6-EDEF-055039CD4C37}"/>
                </a:ext>
              </a:extLst>
            </p:cNvPr>
            <p:cNvSpPr txBox="1"/>
            <p:nvPr/>
          </p:nvSpPr>
          <p:spPr>
            <a:xfrm>
              <a:off x="14075170" y="2424585"/>
              <a:ext cx="882808" cy="572881"/>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4</a:t>
              </a:r>
            </a:p>
          </p:txBody>
        </p:sp>
        <p:sp>
          <p:nvSpPr>
            <p:cNvPr id="17" name="TextBox 39">
              <a:extLst>
                <a:ext uri="{FF2B5EF4-FFF2-40B4-BE49-F238E27FC236}">
                  <a16:creationId xmlns:a16="http://schemas.microsoft.com/office/drawing/2014/main" id="{4C77649B-5CAE-6A26-DC78-F40BFF4DF9AE}"/>
                </a:ext>
              </a:extLst>
            </p:cNvPr>
            <p:cNvSpPr txBox="1"/>
            <p:nvPr/>
          </p:nvSpPr>
          <p:spPr>
            <a:xfrm>
              <a:off x="14102509" y="3206466"/>
              <a:ext cx="882808" cy="572881"/>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2</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18" name="Freeform 41">
              <a:extLst>
                <a:ext uri="{FF2B5EF4-FFF2-40B4-BE49-F238E27FC236}">
                  <a16:creationId xmlns:a16="http://schemas.microsoft.com/office/drawing/2014/main" id="{E114FBFC-4C7E-13D2-B99F-4693EC5A73B3}"/>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19" name="Freeform 44">
              <a:extLst>
                <a:ext uri="{FF2B5EF4-FFF2-40B4-BE49-F238E27FC236}">
                  <a16:creationId xmlns:a16="http://schemas.microsoft.com/office/drawing/2014/main" id="{47D86F99-C1C8-216A-AA56-A596651BC7DA}"/>
                </a:ext>
              </a:extLst>
            </p:cNvPr>
            <p:cNvSpPr/>
            <p:nvPr/>
          </p:nvSpPr>
          <p:spPr>
            <a:xfrm>
              <a:off x="11426631" y="3402673"/>
              <a:ext cx="1936166" cy="573415"/>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20" name="Freeform 47">
              <a:extLst>
                <a:ext uri="{FF2B5EF4-FFF2-40B4-BE49-F238E27FC236}">
                  <a16:creationId xmlns:a16="http://schemas.microsoft.com/office/drawing/2014/main" id="{006E597C-E654-A8F2-2E08-7C380C7E026D}"/>
                </a:ext>
              </a:extLst>
            </p:cNvPr>
            <p:cNvSpPr/>
            <p:nvPr/>
          </p:nvSpPr>
          <p:spPr>
            <a:xfrm>
              <a:off x="6164367" y="2471739"/>
              <a:ext cx="5133210" cy="733569"/>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1" name="Freeform 50">
              <a:extLst>
                <a:ext uri="{FF2B5EF4-FFF2-40B4-BE49-F238E27FC236}">
                  <a16:creationId xmlns:a16="http://schemas.microsoft.com/office/drawing/2014/main" id="{4FCC8756-2E3C-C47F-4F66-4752A4DFC140}"/>
                </a:ext>
              </a:extLst>
            </p:cNvPr>
            <p:cNvSpPr/>
            <p:nvPr/>
          </p:nvSpPr>
          <p:spPr>
            <a:xfrm>
              <a:off x="6293682" y="339614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2" name="TextBox 52">
              <a:extLst>
                <a:ext uri="{FF2B5EF4-FFF2-40B4-BE49-F238E27FC236}">
                  <a16:creationId xmlns:a16="http://schemas.microsoft.com/office/drawing/2014/main" id="{9AF9EFAA-BECA-45ED-B0A8-9858DE023C87}"/>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23" name="TextBox 53">
              <a:extLst>
                <a:ext uri="{FF2B5EF4-FFF2-40B4-BE49-F238E27FC236}">
                  <a16:creationId xmlns:a16="http://schemas.microsoft.com/office/drawing/2014/main" id="{10D73FBA-0B6A-8C73-7959-2E55CBE62BF9}"/>
                </a:ext>
              </a:extLst>
            </p:cNvPr>
            <p:cNvSpPr txBox="1"/>
            <p:nvPr/>
          </p:nvSpPr>
          <p:spPr>
            <a:xfrm>
              <a:off x="11070169" y="3295029"/>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24" name="TextBox 54">
              <a:extLst>
                <a:ext uri="{FF2B5EF4-FFF2-40B4-BE49-F238E27FC236}">
                  <a16:creationId xmlns:a16="http://schemas.microsoft.com/office/drawing/2014/main" id="{68ABBBF3-327C-06F8-A4D8-A6D34B7431DD}"/>
                </a:ext>
              </a:extLst>
            </p:cNvPr>
            <p:cNvSpPr txBox="1"/>
            <p:nvPr/>
          </p:nvSpPr>
          <p:spPr>
            <a:xfrm>
              <a:off x="4721019" y="2465879"/>
              <a:ext cx="7844947" cy="578583"/>
            </a:xfrm>
            <a:prstGeom prst="rect">
              <a:avLst/>
            </a:prstGeom>
          </p:spPr>
          <p:txBody>
            <a:bodyPr wrap="square" lIns="0" tIns="0" rIns="0" bIns="0" rtlCol="0" anchor="t">
              <a:spAutoFit/>
            </a:bodyPr>
            <a:lstStyle/>
            <a:p>
              <a:pPr algn="ctr" rtl="1">
                <a:lnSpc>
                  <a:spcPts val="3073"/>
                </a:lnSpc>
              </a:pPr>
              <a:r>
                <a:rPr lang="ar-SA" sz="2400" dirty="0">
                  <a:solidFill>
                    <a:srgbClr val="17383E"/>
                  </a:solidFill>
                  <a:cs typeface="PT Bold Heading" panose="02010400000000000000" pitchFamily="2" charset="-78"/>
                </a:rPr>
                <a:t>إعطاء أمثلة للبصمة الرقمية  .. </a:t>
              </a:r>
              <a:r>
                <a:rPr lang="ar-SA" sz="2400" dirty="0">
                  <a:solidFill>
                    <a:srgbClr val="FF0000"/>
                  </a:solidFill>
                  <a:cs typeface="PT Bold Heading" panose="02010400000000000000" pitchFamily="2" charset="-78"/>
                </a:rPr>
                <a:t>مهارات تفكير عليا </a:t>
              </a:r>
              <a:endParaRPr lang="en-US" sz="2400" dirty="0">
                <a:solidFill>
                  <a:srgbClr val="FF0000"/>
                </a:solidFill>
                <a:cs typeface="PT Bold Heading" panose="02010400000000000000" pitchFamily="2" charset="-78"/>
              </a:endParaRPr>
            </a:p>
          </p:txBody>
        </p:sp>
        <p:sp>
          <p:nvSpPr>
            <p:cNvPr id="25" name="TextBox 55">
              <a:extLst>
                <a:ext uri="{FF2B5EF4-FFF2-40B4-BE49-F238E27FC236}">
                  <a16:creationId xmlns:a16="http://schemas.microsoft.com/office/drawing/2014/main" id="{3AFF9E94-75B4-52D3-846B-281B160C0D12}"/>
                </a:ext>
              </a:extLst>
            </p:cNvPr>
            <p:cNvSpPr txBox="1"/>
            <p:nvPr/>
          </p:nvSpPr>
          <p:spPr>
            <a:xfrm>
              <a:off x="6598020" y="3263076"/>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جماعي</a:t>
              </a:r>
              <a:endParaRPr lang="en-US" dirty="0">
                <a:solidFill>
                  <a:srgbClr val="17383E"/>
                </a:solidFill>
                <a:cs typeface="PT Bold Heading" panose="02010400000000000000" pitchFamily="2" charset="-78"/>
              </a:endParaRPr>
            </a:p>
          </p:txBody>
        </p:sp>
      </p:grpSp>
      <p:grpSp>
        <p:nvGrpSpPr>
          <p:cNvPr id="29" name="Group 16">
            <a:extLst>
              <a:ext uri="{FF2B5EF4-FFF2-40B4-BE49-F238E27FC236}">
                <a16:creationId xmlns:a16="http://schemas.microsoft.com/office/drawing/2014/main" id="{AF74C453-FC14-A629-9EDE-BA7D3513871D}"/>
              </a:ext>
            </a:extLst>
          </p:cNvPr>
          <p:cNvGrpSpPr/>
          <p:nvPr/>
        </p:nvGrpSpPr>
        <p:grpSpPr>
          <a:xfrm flipH="1">
            <a:off x="-134108" y="7151648"/>
            <a:ext cx="4109400" cy="777307"/>
            <a:chOff x="0" y="-209410"/>
            <a:chExt cx="16852898" cy="1292476"/>
          </a:xfrm>
        </p:grpSpPr>
        <p:sp>
          <p:nvSpPr>
            <p:cNvPr id="30" name="Freeform 18">
              <a:extLst>
                <a:ext uri="{FF2B5EF4-FFF2-40B4-BE49-F238E27FC236}">
                  <a16:creationId xmlns:a16="http://schemas.microsoft.com/office/drawing/2014/main" id="{DA22A46B-ABDC-2366-440F-5F5470CC624B}"/>
                </a:ext>
              </a:extLst>
            </p:cNvPr>
            <p:cNvSpPr/>
            <p:nvPr/>
          </p:nvSpPr>
          <p:spPr>
            <a:xfrm>
              <a:off x="203199" y="237002"/>
              <a:ext cx="16649699" cy="588498"/>
            </a:xfrm>
            <a:custGeom>
              <a:avLst/>
              <a:gdLst/>
              <a:ahLst/>
              <a:cxnLst/>
              <a:rect l="l" t="t" r="r" b="b"/>
              <a:pathLst>
                <a:path w="3070423" h="116247">
                  <a:moveTo>
                    <a:pt x="0" y="0"/>
                  </a:moveTo>
                  <a:lnTo>
                    <a:pt x="3070423" y="0"/>
                  </a:lnTo>
                  <a:lnTo>
                    <a:pt x="3070423" y="116247"/>
                  </a:lnTo>
                  <a:lnTo>
                    <a:pt x="0" y="116247"/>
                  </a:lnTo>
                  <a:close/>
                </a:path>
              </a:pathLst>
            </a:custGeom>
            <a:solidFill>
              <a:srgbClr val="1C262A"/>
            </a:solidFill>
            <a:ln>
              <a:noFill/>
            </a:ln>
          </p:spPr>
          <p:txBody>
            <a:bodyPr/>
            <a:lstStyle/>
            <a:p>
              <a:pPr algn="r" rtl="1"/>
              <a:endParaRPr lang="ar-SA" dirty="0">
                <a:cs typeface="PT Bold Heading" panose="02010400000000000000" pitchFamily="2" charset="-78"/>
              </a:endParaRPr>
            </a:p>
          </p:txBody>
        </p:sp>
        <p:sp>
          <p:nvSpPr>
            <p:cNvPr id="31" name="Freeform 21">
              <a:extLst>
                <a:ext uri="{FF2B5EF4-FFF2-40B4-BE49-F238E27FC236}">
                  <a16:creationId xmlns:a16="http://schemas.microsoft.com/office/drawing/2014/main" id="{E3C0FD32-440B-74BB-C867-4B1362478200}"/>
                </a:ext>
              </a:extLst>
            </p:cNvPr>
            <p:cNvSpPr/>
            <p:nvPr/>
          </p:nvSpPr>
          <p:spPr>
            <a:xfrm>
              <a:off x="0" y="157171"/>
              <a:ext cx="14643685" cy="925895"/>
            </a:xfrm>
            <a:custGeom>
              <a:avLst/>
              <a:gdLst/>
              <a:ahLst/>
              <a:cxnLst/>
              <a:rect l="l" t="t" r="r" b="b"/>
              <a:pathLst>
                <a:path w="2892580" h="224929">
                  <a:moveTo>
                    <a:pt x="0" y="0"/>
                  </a:moveTo>
                  <a:lnTo>
                    <a:pt x="2892580" y="0"/>
                  </a:lnTo>
                  <a:lnTo>
                    <a:pt x="2892580" y="224929"/>
                  </a:lnTo>
                  <a:lnTo>
                    <a:pt x="0" y="224929"/>
                  </a:lnTo>
                  <a:close/>
                </a:path>
              </a:pathLst>
            </a:custGeom>
            <a:solidFill>
              <a:srgbClr val="FFF0C8"/>
            </a:solidFill>
            <a:ln>
              <a:noFill/>
            </a:ln>
          </p:spPr>
          <p:txBody>
            <a:bodyPr/>
            <a:lstStyle/>
            <a:p>
              <a:pPr algn="r" rtl="1"/>
              <a:endParaRPr lang="ar-SA" dirty="0">
                <a:cs typeface="PT Bold Heading" panose="02010400000000000000" pitchFamily="2" charset="-78"/>
              </a:endParaRPr>
            </a:p>
          </p:txBody>
        </p:sp>
        <p:sp>
          <p:nvSpPr>
            <p:cNvPr id="32" name="TextBox 23">
              <a:extLst>
                <a:ext uri="{FF2B5EF4-FFF2-40B4-BE49-F238E27FC236}">
                  <a16:creationId xmlns:a16="http://schemas.microsoft.com/office/drawing/2014/main" id="{39E46C6C-038A-1A0F-765A-7F78D980A16C}"/>
                </a:ext>
              </a:extLst>
            </p:cNvPr>
            <p:cNvSpPr txBox="1"/>
            <p:nvPr/>
          </p:nvSpPr>
          <p:spPr>
            <a:xfrm>
              <a:off x="203199" y="-209410"/>
              <a:ext cx="13496414" cy="925895"/>
            </a:xfrm>
            <a:prstGeom prst="rect">
              <a:avLst/>
            </a:prstGeom>
          </p:spPr>
          <p:txBody>
            <a:bodyPr wrap="square" lIns="0" tIns="0" rIns="0" bIns="0" rtlCol="0" anchor="t">
              <a:spAutoFit/>
            </a:bodyPr>
            <a:lstStyle/>
            <a:p>
              <a:pPr algn="ctr" rtl="1">
                <a:lnSpc>
                  <a:spcPts val="6089"/>
                </a:lnSpc>
              </a:pPr>
              <a:r>
                <a:rPr lang="ar-SA" sz="2800" dirty="0">
                  <a:solidFill>
                    <a:srgbClr val="050A30"/>
                  </a:solidFill>
                  <a:cs typeface="PT Bold Heading" panose="02010400000000000000" pitchFamily="2" charset="-78"/>
                </a:rPr>
                <a:t>ربط بالدين والحياة</a:t>
              </a:r>
              <a:endParaRPr lang="en-US" sz="2800" dirty="0">
                <a:solidFill>
                  <a:srgbClr val="050A30"/>
                </a:solidFill>
                <a:cs typeface="PT Bold Heading" panose="02010400000000000000" pitchFamily="2" charset="-78"/>
              </a:endParaRPr>
            </a:p>
          </p:txBody>
        </p:sp>
      </p:grpSp>
    </p:spTree>
    <p:extLst>
      <p:ext uri="{BB962C8B-B14F-4D97-AF65-F5344CB8AC3E}">
        <p14:creationId xmlns:p14="http://schemas.microsoft.com/office/powerpoint/2010/main" val="305937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1">
            <a:extLst>
              <a:ext uri="{FF2B5EF4-FFF2-40B4-BE49-F238E27FC236}">
                <a16:creationId xmlns:a16="http://schemas.microsoft.com/office/drawing/2014/main" id="{5A3F4BF8-9EC2-D0F3-122B-3C22D7C2E8FF}"/>
              </a:ext>
            </a:extLst>
          </p:cNvPr>
          <p:cNvGrpSpPr/>
          <p:nvPr/>
        </p:nvGrpSpPr>
        <p:grpSpPr>
          <a:xfrm>
            <a:off x="452640" y="1943100"/>
            <a:ext cx="16497757" cy="6594036"/>
            <a:chOff x="1024140" y="2312029"/>
            <a:chExt cx="16497757" cy="6594036"/>
          </a:xfrm>
        </p:grpSpPr>
        <p:grpSp>
          <p:nvGrpSpPr>
            <p:cNvPr id="3" name="Group 2">
              <a:extLst>
                <a:ext uri="{FF2B5EF4-FFF2-40B4-BE49-F238E27FC236}">
                  <a16:creationId xmlns:a16="http://schemas.microsoft.com/office/drawing/2014/main" id="{E675F4C3-F965-BA7D-A09A-BF457C298C53}"/>
                </a:ext>
              </a:extLst>
            </p:cNvPr>
            <p:cNvGrpSpPr/>
            <p:nvPr/>
          </p:nvGrpSpPr>
          <p:grpSpPr>
            <a:xfrm>
              <a:off x="1024140" y="3909557"/>
              <a:ext cx="16497757" cy="4996508"/>
              <a:chOff x="-6080" y="-1"/>
              <a:chExt cx="21997009" cy="6662010"/>
            </a:xfrm>
          </p:grpSpPr>
          <p:sp>
            <p:nvSpPr>
              <p:cNvPr id="25" name="Freeform 4">
                <a:extLst>
                  <a:ext uri="{FF2B5EF4-FFF2-40B4-BE49-F238E27FC236}">
                    <a16:creationId xmlns:a16="http://schemas.microsoft.com/office/drawing/2014/main" id="{62D490B1-320B-6553-557E-F0F9FD5644AE}"/>
                  </a:ext>
                </a:extLst>
              </p:cNvPr>
              <p:cNvSpPr/>
              <p:nvPr/>
            </p:nvSpPr>
            <p:spPr>
              <a:xfrm>
                <a:off x="3327545" y="-1"/>
                <a:ext cx="18663384" cy="6662010"/>
              </a:xfrm>
              <a:custGeom>
                <a:avLst/>
                <a:gdLst/>
                <a:ahLst/>
                <a:cxnLst/>
                <a:rect l="l" t="t" r="r" b="b"/>
                <a:pathLst>
                  <a:path w="3344970" h="961940">
                    <a:moveTo>
                      <a:pt x="0" y="0"/>
                    </a:moveTo>
                    <a:lnTo>
                      <a:pt x="3344970" y="0"/>
                    </a:lnTo>
                    <a:lnTo>
                      <a:pt x="3344970" y="961940"/>
                    </a:lnTo>
                    <a:lnTo>
                      <a:pt x="0" y="961940"/>
                    </a:lnTo>
                    <a:close/>
                  </a:path>
                </a:pathLst>
              </a:custGeom>
              <a:solidFill>
                <a:srgbClr val="959E9D"/>
              </a:solidFill>
              <a:ln>
                <a:noFill/>
              </a:ln>
            </p:spPr>
            <p:txBody>
              <a:bodyPr/>
              <a:lstStyle/>
              <a:p>
                <a:pPr algn="r" rtl="1"/>
                <a:endParaRPr lang="ar-SA" dirty="0">
                  <a:cs typeface="PT Bold Heading" panose="02010400000000000000" pitchFamily="2" charset="-78"/>
                </a:endParaRPr>
              </a:p>
            </p:txBody>
          </p:sp>
          <p:sp>
            <p:nvSpPr>
              <p:cNvPr id="26" name="Freeform 7">
                <a:extLst>
                  <a:ext uri="{FF2B5EF4-FFF2-40B4-BE49-F238E27FC236}">
                    <a16:creationId xmlns:a16="http://schemas.microsoft.com/office/drawing/2014/main" id="{05AB3E52-B092-00CE-A5FB-E2E06A129E74}"/>
                  </a:ext>
                </a:extLst>
              </p:cNvPr>
              <p:cNvSpPr/>
              <p:nvPr/>
            </p:nvSpPr>
            <p:spPr>
              <a:xfrm>
                <a:off x="3117876" y="7812"/>
                <a:ext cx="18547274" cy="6247795"/>
              </a:xfrm>
              <a:custGeom>
                <a:avLst/>
                <a:gdLst/>
                <a:ahLst/>
                <a:cxnLst/>
                <a:rect l="l" t="t" r="r" b="b"/>
                <a:pathLst>
                  <a:path w="3786387" h="1038511">
                    <a:moveTo>
                      <a:pt x="5009" y="0"/>
                    </a:moveTo>
                    <a:lnTo>
                      <a:pt x="3781378" y="0"/>
                    </a:lnTo>
                    <a:cubicBezTo>
                      <a:pt x="3784145" y="0"/>
                      <a:pt x="3786387" y="2243"/>
                      <a:pt x="3786387" y="5009"/>
                    </a:cubicBezTo>
                    <a:lnTo>
                      <a:pt x="3786387" y="1033502"/>
                    </a:lnTo>
                    <a:cubicBezTo>
                      <a:pt x="3786387" y="1036268"/>
                      <a:pt x="3784145" y="1038511"/>
                      <a:pt x="3781378" y="1038511"/>
                    </a:cubicBezTo>
                    <a:lnTo>
                      <a:pt x="5009" y="1038511"/>
                    </a:lnTo>
                    <a:cubicBezTo>
                      <a:pt x="2243" y="1038511"/>
                      <a:pt x="0" y="1036268"/>
                      <a:pt x="0" y="1033502"/>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dirty="0">
                  <a:cs typeface="PT Bold Heading" panose="02010400000000000000" pitchFamily="2" charset="-78"/>
                </a:endParaRPr>
              </a:p>
            </p:txBody>
          </p:sp>
          <p:sp>
            <p:nvSpPr>
              <p:cNvPr id="27" name="Freeform 10">
                <a:extLst>
                  <a:ext uri="{FF2B5EF4-FFF2-40B4-BE49-F238E27FC236}">
                    <a16:creationId xmlns:a16="http://schemas.microsoft.com/office/drawing/2014/main" id="{E3DDD453-EB44-FBF1-42D7-7BB450E56DB6}"/>
                  </a:ext>
                </a:extLst>
              </p:cNvPr>
              <p:cNvSpPr/>
              <p:nvPr/>
            </p:nvSpPr>
            <p:spPr>
              <a:xfrm>
                <a:off x="375433" y="415730"/>
                <a:ext cx="5472725" cy="5497255"/>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28" name="Freeform 12">
                <a:extLst>
                  <a:ext uri="{FF2B5EF4-FFF2-40B4-BE49-F238E27FC236}">
                    <a16:creationId xmlns:a16="http://schemas.microsoft.com/office/drawing/2014/main" id="{C5A6BD81-8D18-B449-46DE-33498F717D83}"/>
                  </a:ext>
                </a:extLst>
              </p:cNvPr>
              <p:cNvSpPr/>
              <p:nvPr/>
            </p:nvSpPr>
            <p:spPr>
              <a:xfrm>
                <a:off x="-6080" y="826863"/>
                <a:ext cx="6235760" cy="3922860"/>
              </a:xfrm>
              <a:custGeom>
                <a:avLst/>
                <a:gdLst/>
                <a:ahLst/>
                <a:cxnLst/>
                <a:rect l="l" t="t" r="r" b="b"/>
                <a:pathLst>
                  <a:path w="6235760" h="3922860">
                    <a:moveTo>
                      <a:pt x="0" y="0"/>
                    </a:moveTo>
                    <a:lnTo>
                      <a:pt x="6235760" y="0"/>
                    </a:lnTo>
                    <a:lnTo>
                      <a:pt x="6235760" y="3922859"/>
                    </a:lnTo>
                    <a:lnTo>
                      <a:pt x="0" y="39228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4" name="Group 13">
              <a:extLst>
                <a:ext uri="{FF2B5EF4-FFF2-40B4-BE49-F238E27FC236}">
                  <a16:creationId xmlns:a16="http://schemas.microsoft.com/office/drawing/2014/main" id="{920E4623-4F35-151C-FA97-D130FB19C277}"/>
                </a:ext>
              </a:extLst>
            </p:cNvPr>
            <p:cNvGrpSpPr/>
            <p:nvPr/>
          </p:nvGrpSpPr>
          <p:grpSpPr>
            <a:xfrm>
              <a:off x="6018873" y="4365622"/>
              <a:ext cx="11101701" cy="1068948"/>
              <a:chOff x="0" y="0"/>
              <a:chExt cx="14802268" cy="1425263"/>
            </a:xfrm>
          </p:grpSpPr>
          <p:sp>
            <p:nvSpPr>
              <p:cNvPr id="22" name="Freeform 15">
                <a:extLst>
                  <a:ext uri="{FF2B5EF4-FFF2-40B4-BE49-F238E27FC236}">
                    <a16:creationId xmlns:a16="http://schemas.microsoft.com/office/drawing/2014/main" id="{EAEA73D4-6C3B-5B21-7464-C36A054F2562}"/>
                  </a:ext>
                </a:extLst>
              </p:cNvPr>
              <p:cNvSpPr/>
              <p:nvPr/>
            </p:nvSpPr>
            <p:spPr>
              <a:xfrm>
                <a:off x="0" y="0"/>
                <a:ext cx="14229756" cy="142526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3" name="Freeform 18">
                <a:extLst>
                  <a:ext uri="{FF2B5EF4-FFF2-40B4-BE49-F238E27FC236}">
                    <a16:creationId xmlns:a16="http://schemas.microsoft.com/office/drawing/2014/main" id="{1FCC6CB9-88B6-40EC-F421-72783AC1EB05}"/>
                  </a:ext>
                </a:extLst>
              </p:cNvPr>
              <p:cNvSpPr/>
              <p:nvPr/>
            </p:nvSpPr>
            <p:spPr>
              <a:xfrm>
                <a:off x="14205179" y="0"/>
                <a:ext cx="597089" cy="1425263"/>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TextBox 20">
                <a:extLst>
                  <a:ext uri="{FF2B5EF4-FFF2-40B4-BE49-F238E27FC236}">
                    <a16:creationId xmlns:a16="http://schemas.microsoft.com/office/drawing/2014/main" id="{6C0AF9F2-63A8-CD18-A742-451F55CB24CE}"/>
                  </a:ext>
                </a:extLst>
              </p:cNvPr>
              <p:cNvSpPr txBox="1"/>
              <p:nvPr/>
            </p:nvSpPr>
            <p:spPr>
              <a:xfrm>
                <a:off x="6678701" y="386634"/>
                <a:ext cx="7200703" cy="688889"/>
              </a:xfrm>
              <a:prstGeom prst="rect">
                <a:avLst/>
              </a:prstGeom>
            </p:spPr>
            <p:txBody>
              <a:bodyPr wrap="square" lIns="0" tIns="0" rIns="0" bIns="0" rtlCol="0" anchor="t">
                <a:spAutoFit/>
              </a:bodyPr>
              <a:lstStyle/>
              <a:p>
                <a:pPr algn="r" rtl="1">
                  <a:lnSpc>
                    <a:spcPts val="3661"/>
                  </a:lnSpc>
                </a:pPr>
                <a:r>
                  <a:rPr lang="ar-SA" sz="3736" dirty="0">
                    <a:solidFill>
                      <a:srgbClr val="FFFFFF"/>
                    </a:solidFill>
                    <a:cs typeface="PT Bold Heading" panose="02010400000000000000" pitchFamily="2" charset="-78"/>
                  </a:rPr>
                  <a:t>استراتيجية حل المشكلة</a:t>
                </a:r>
                <a:r>
                  <a:rPr lang="en-US" sz="3736" dirty="0">
                    <a:solidFill>
                      <a:srgbClr val="FFFFFF"/>
                    </a:solidFill>
                    <a:cs typeface="PT Bold Heading" panose="02010400000000000000" pitchFamily="2" charset="-78"/>
                  </a:rPr>
                  <a:t> : </a:t>
                </a:r>
              </a:p>
            </p:txBody>
          </p:sp>
        </p:grpSp>
        <p:sp>
          <p:nvSpPr>
            <p:cNvPr id="5" name="Freeform 22">
              <a:extLst>
                <a:ext uri="{FF2B5EF4-FFF2-40B4-BE49-F238E27FC236}">
                  <a16:creationId xmlns:a16="http://schemas.microsoft.com/office/drawing/2014/main" id="{D6BBCB0A-BBA2-59A6-AA19-7E3F7F7C1DEA}"/>
                </a:ext>
              </a:extLst>
            </p:cNvPr>
            <p:cNvSpPr/>
            <p:nvPr/>
          </p:nvSpPr>
          <p:spPr>
            <a:xfrm>
              <a:off x="6018873" y="2312029"/>
              <a:ext cx="11503024" cy="1597528"/>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6" name="Freeform 25">
              <a:extLst>
                <a:ext uri="{FF2B5EF4-FFF2-40B4-BE49-F238E27FC236}">
                  <a16:creationId xmlns:a16="http://schemas.microsoft.com/office/drawing/2014/main" id="{2F8F0562-7255-2B19-0C83-AFA15D6083DF}"/>
                </a:ext>
              </a:extLst>
            </p:cNvPr>
            <p:cNvSpPr/>
            <p:nvPr/>
          </p:nvSpPr>
          <p:spPr>
            <a:xfrm>
              <a:off x="14849617"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7" name="Freeform 28">
              <a:extLst>
                <a:ext uri="{FF2B5EF4-FFF2-40B4-BE49-F238E27FC236}">
                  <a16:creationId xmlns:a16="http://schemas.microsoft.com/office/drawing/2014/main" id="{B0CED885-8950-562B-7119-193F1A04802E}"/>
                </a:ext>
              </a:extLst>
            </p:cNvPr>
            <p:cNvSpPr/>
            <p:nvPr/>
          </p:nvSpPr>
          <p:spPr>
            <a:xfrm>
              <a:off x="14849617"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8" name="Freeform 31">
              <a:extLst>
                <a:ext uri="{FF2B5EF4-FFF2-40B4-BE49-F238E27FC236}">
                  <a16:creationId xmlns:a16="http://schemas.microsoft.com/office/drawing/2014/main" id="{22CA9BA5-50C8-CAED-9C9F-712D1CC74C03}"/>
                </a:ext>
              </a:extLst>
            </p:cNvPr>
            <p:cNvSpPr/>
            <p:nvPr/>
          </p:nvSpPr>
          <p:spPr>
            <a:xfrm>
              <a:off x="13277553" y="2471737"/>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9" name="Freeform 34">
              <a:extLst>
                <a:ext uri="{FF2B5EF4-FFF2-40B4-BE49-F238E27FC236}">
                  <a16:creationId xmlns:a16="http://schemas.microsoft.com/office/drawing/2014/main" id="{FBA33350-BB24-F46A-E1D5-033C6A29A8CD}"/>
                </a:ext>
              </a:extLst>
            </p:cNvPr>
            <p:cNvSpPr/>
            <p:nvPr/>
          </p:nvSpPr>
          <p:spPr>
            <a:xfrm>
              <a:off x="13277553" y="3138634"/>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0" name="TextBox 36">
              <a:extLst>
                <a:ext uri="{FF2B5EF4-FFF2-40B4-BE49-F238E27FC236}">
                  <a16:creationId xmlns:a16="http://schemas.microsoft.com/office/drawing/2014/main" id="{B2DD10CB-CD1B-B6BC-09D4-0CE7E2E12AC5}"/>
                </a:ext>
              </a:extLst>
            </p:cNvPr>
            <p:cNvSpPr txBox="1"/>
            <p:nvPr/>
          </p:nvSpPr>
          <p:spPr>
            <a:xfrm>
              <a:off x="14789516" y="25642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رقم</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1" name="TextBox 37">
              <a:extLst>
                <a:ext uri="{FF2B5EF4-FFF2-40B4-BE49-F238E27FC236}">
                  <a16:creationId xmlns:a16="http://schemas.microsoft.com/office/drawing/2014/main" id="{A952472B-1AD0-82F1-D5C7-884D867D5D03}"/>
                </a:ext>
              </a:extLst>
            </p:cNvPr>
            <p:cNvSpPr txBox="1"/>
            <p:nvPr/>
          </p:nvSpPr>
          <p:spPr>
            <a:xfrm>
              <a:off x="14832717"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مدة</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2" name="TextBox 38">
              <a:extLst>
                <a:ext uri="{FF2B5EF4-FFF2-40B4-BE49-F238E27FC236}">
                  <a16:creationId xmlns:a16="http://schemas.microsoft.com/office/drawing/2014/main" id="{F05D3232-B778-017E-AF53-34C099A5C3A6}"/>
                </a:ext>
              </a:extLst>
            </p:cNvPr>
            <p:cNvSpPr txBox="1"/>
            <p:nvPr/>
          </p:nvSpPr>
          <p:spPr>
            <a:xfrm>
              <a:off x="13573848" y="2550126"/>
              <a:ext cx="882808" cy="445699"/>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2</a:t>
              </a:r>
            </a:p>
          </p:txBody>
        </p:sp>
        <p:sp>
          <p:nvSpPr>
            <p:cNvPr id="13" name="TextBox 39">
              <a:extLst>
                <a:ext uri="{FF2B5EF4-FFF2-40B4-BE49-F238E27FC236}">
                  <a16:creationId xmlns:a16="http://schemas.microsoft.com/office/drawing/2014/main" id="{71D7FED4-94E5-E8A5-C898-91D246F5C104}"/>
                </a:ext>
              </a:extLst>
            </p:cNvPr>
            <p:cNvSpPr txBox="1"/>
            <p:nvPr/>
          </p:nvSpPr>
          <p:spPr>
            <a:xfrm>
              <a:off x="13583373" y="3205309"/>
              <a:ext cx="882808" cy="444481"/>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5</a:t>
              </a:r>
              <a:r>
                <a:rPr lang="ar-SA" sz="3336" dirty="0">
                  <a:solidFill>
                    <a:srgbClr val="000000"/>
                  </a:solidFill>
                  <a:latin typeface="PT Bold Heading"/>
                  <a:cs typeface="PT Bold Heading" panose="02010400000000000000" pitchFamily="2" charset="-78"/>
                </a:rPr>
                <a:t> </a:t>
              </a:r>
              <a:r>
                <a:rPr lang="en-US" sz="3336" dirty="0">
                  <a:solidFill>
                    <a:srgbClr val="000000"/>
                  </a:solidFill>
                  <a:latin typeface="PT Bold Heading"/>
                  <a:cs typeface="PT Bold Heading" panose="02010400000000000000" pitchFamily="2" charset="-78"/>
                </a:rPr>
                <a:t>د</a:t>
              </a:r>
            </a:p>
          </p:txBody>
        </p:sp>
        <p:sp>
          <p:nvSpPr>
            <p:cNvPr id="14" name="Freeform 41">
              <a:extLst>
                <a:ext uri="{FF2B5EF4-FFF2-40B4-BE49-F238E27FC236}">
                  <a16:creationId xmlns:a16="http://schemas.microsoft.com/office/drawing/2014/main" id="{322C26DF-A7CF-70E5-16DA-BA3E9CFFC39A}"/>
                </a:ext>
              </a:extLst>
            </p:cNvPr>
            <p:cNvSpPr/>
            <p:nvPr/>
          </p:nvSpPr>
          <p:spPr>
            <a:xfrm>
              <a:off x="10410174"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5" name="Freeform 44">
              <a:extLst>
                <a:ext uri="{FF2B5EF4-FFF2-40B4-BE49-F238E27FC236}">
                  <a16:creationId xmlns:a16="http://schemas.microsoft.com/office/drawing/2014/main" id="{B7C0A108-C44C-D270-1385-3C891859D84F}"/>
                </a:ext>
              </a:extLst>
            </p:cNvPr>
            <p:cNvSpPr/>
            <p:nvPr/>
          </p:nvSpPr>
          <p:spPr>
            <a:xfrm>
              <a:off x="10410174"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6" name="Freeform 47">
              <a:extLst>
                <a:ext uri="{FF2B5EF4-FFF2-40B4-BE49-F238E27FC236}">
                  <a16:creationId xmlns:a16="http://schemas.microsoft.com/office/drawing/2014/main" id="{3308A33A-B006-F85F-E6C5-335AC0597C1E}"/>
                </a:ext>
              </a:extLst>
            </p:cNvPr>
            <p:cNvSpPr/>
            <p:nvPr/>
          </p:nvSpPr>
          <p:spPr>
            <a:xfrm>
              <a:off x="6249654" y="247173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7" name="Freeform 50">
              <a:extLst>
                <a:ext uri="{FF2B5EF4-FFF2-40B4-BE49-F238E27FC236}">
                  <a16:creationId xmlns:a16="http://schemas.microsoft.com/office/drawing/2014/main" id="{90AD527D-F89A-FCE3-0EB5-CD36D37179E4}"/>
                </a:ext>
              </a:extLst>
            </p:cNvPr>
            <p:cNvSpPr/>
            <p:nvPr/>
          </p:nvSpPr>
          <p:spPr>
            <a:xfrm>
              <a:off x="6249654" y="3138634"/>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8" name="TextBox 52">
              <a:extLst>
                <a:ext uri="{FF2B5EF4-FFF2-40B4-BE49-F238E27FC236}">
                  <a16:creationId xmlns:a16="http://schemas.microsoft.com/office/drawing/2014/main" id="{FDAE3534-D553-2A94-77F0-2BBC54091026}"/>
                </a:ext>
              </a:extLst>
            </p:cNvPr>
            <p:cNvSpPr txBox="1"/>
            <p:nvPr/>
          </p:nvSpPr>
          <p:spPr>
            <a:xfrm>
              <a:off x="10351744" y="2591131"/>
              <a:ext cx="2495904" cy="418769"/>
            </a:xfrm>
            <a:prstGeom prst="rect">
              <a:avLst/>
            </a:prstGeom>
          </p:spPr>
          <p:txBody>
            <a:bodyPr lIns="0" tIns="0" rIns="0" bIns="0" rtlCol="0" anchor="t">
              <a:spAutoFit/>
            </a:bodyPr>
            <a:lstStyle/>
            <a:p>
              <a:pPr algn="ctr" rtl="1">
                <a:lnSpc>
                  <a:spcPts val="3073"/>
                </a:lnSpc>
              </a:pPr>
              <a:r>
                <a:rPr lang="en-US" sz="3136" dirty="0" err="1">
                  <a:solidFill>
                    <a:srgbClr val="17383E"/>
                  </a:solidFill>
                  <a:cs typeface="PT Bold Heading" panose="02010400000000000000" pitchFamily="2" charset="-78"/>
                </a:rPr>
                <a:t>موضوع</a:t>
              </a:r>
              <a:r>
                <a:rPr lang="en-US" sz="3136" dirty="0">
                  <a:solidFill>
                    <a:srgbClr val="17383E"/>
                  </a:solidFill>
                  <a:cs typeface="PT Bold Heading" panose="02010400000000000000" pitchFamily="2" charset="-78"/>
                </a:rPr>
                <a:t> </a:t>
              </a:r>
              <a:r>
                <a:rPr lang="en-US" sz="3136" dirty="0" err="1">
                  <a:solidFill>
                    <a:srgbClr val="17383E"/>
                  </a:solidFill>
                  <a:cs typeface="PT Bold Heading" panose="02010400000000000000" pitchFamily="2" charset="-78"/>
                </a:rPr>
                <a:t>النشاط</a:t>
              </a:r>
              <a:endParaRPr lang="en-US" sz="3136" dirty="0">
                <a:solidFill>
                  <a:srgbClr val="17383E"/>
                </a:solidFill>
                <a:cs typeface="PT Bold Heading" panose="02010400000000000000" pitchFamily="2" charset="-78"/>
              </a:endParaRPr>
            </a:p>
          </p:txBody>
        </p:sp>
        <p:sp>
          <p:nvSpPr>
            <p:cNvPr id="19" name="TextBox 53">
              <a:extLst>
                <a:ext uri="{FF2B5EF4-FFF2-40B4-BE49-F238E27FC236}">
                  <a16:creationId xmlns:a16="http://schemas.microsoft.com/office/drawing/2014/main" id="{34E30D81-24A2-BDB8-BA43-9603CF425C74}"/>
                </a:ext>
              </a:extLst>
            </p:cNvPr>
            <p:cNvSpPr txBox="1"/>
            <p:nvPr/>
          </p:nvSpPr>
          <p:spPr>
            <a:xfrm>
              <a:off x="10398214"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نوع</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20" name="TextBox 54">
              <a:extLst>
                <a:ext uri="{FF2B5EF4-FFF2-40B4-BE49-F238E27FC236}">
                  <a16:creationId xmlns:a16="http://schemas.microsoft.com/office/drawing/2014/main" id="{0BBEBF49-9D0D-E78C-784B-431927A498AA}"/>
                </a:ext>
              </a:extLst>
            </p:cNvPr>
            <p:cNvSpPr txBox="1"/>
            <p:nvPr/>
          </p:nvSpPr>
          <p:spPr>
            <a:xfrm>
              <a:off x="6226148" y="2591131"/>
              <a:ext cx="4184027" cy="418769"/>
            </a:xfrm>
            <a:prstGeom prst="rect">
              <a:avLst/>
            </a:prstGeom>
          </p:spPr>
          <p:txBody>
            <a:bodyPr lIns="0" tIns="0" rIns="0" bIns="0" rtlCol="0" anchor="t">
              <a:spAutoFit/>
            </a:bodyPr>
            <a:lstStyle/>
            <a:p>
              <a:pPr algn="ctr" rtl="1">
                <a:lnSpc>
                  <a:spcPts val="3073"/>
                </a:lnSpc>
              </a:pPr>
              <a:r>
                <a:rPr lang="ar-SA" sz="3136" dirty="0">
                  <a:solidFill>
                    <a:srgbClr val="17383E"/>
                  </a:solidFill>
                  <a:cs typeface="PT Bold Heading" panose="02010400000000000000" pitchFamily="2" charset="-78"/>
                </a:rPr>
                <a:t>البصمة الرقمية</a:t>
              </a:r>
              <a:endParaRPr lang="en-US" sz="3136" dirty="0">
                <a:solidFill>
                  <a:srgbClr val="17383E"/>
                </a:solidFill>
                <a:cs typeface="PT Bold Heading" panose="02010400000000000000" pitchFamily="2" charset="-78"/>
              </a:endParaRPr>
            </a:p>
          </p:txBody>
        </p:sp>
        <p:sp>
          <p:nvSpPr>
            <p:cNvPr id="21" name="TextBox 55">
              <a:extLst>
                <a:ext uri="{FF2B5EF4-FFF2-40B4-BE49-F238E27FC236}">
                  <a16:creationId xmlns:a16="http://schemas.microsoft.com/office/drawing/2014/main" id="{06B61B46-0E3C-8112-616F-00C80EA04E51}"/>
                </a:ext>
              </a:extLst>
            </p:cNvPr>
            <p:cNvSpPr txBox="1"/>
            <p:nvPr/>
          </p:nvSpPr>
          <p:spPr>
            <a:xfrm>
              <a:off x="6574232" y="3250001"/>
              <a:ext cx="3452507"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جماعي</a:t>
              </a:r>
              <a:endParaRPr lang="en-US" sz="3336" dirty="0">
                <a:solidFill>
                  <a:srgbClr val="17383E"/>
                </a:solidFill>
                <a:cs typeface="PT Bold Heading" panose="02010400000000000000" pitchFamily="2" charset="-78"/>
              </a:endParaRPr>
            </a:p>
          </p:txBody>
        </p:sp>
      </p:grpSp>
      <p:sp>
        <p:nvSpPr>
          <p:cNvPr id="34" name="TextBox 28">
            <a:extLst>
              <a:ext uri="{FF2B5EF4-FFF2-40B4-BE49-F238E27FC236}">
                <a16:creationId xmlns:a16="http://schemas.microsoft.com/office/drawing/2014/main" id="{0695264A-F818-A8C7-8749-3D222E16F3DC}"/>
              </a:ext>
            </a:extLst>
          </p:cNvPr>
          <p:cNvSpPr txBox="1"/>
          <p:nvPr/>
        </p:nvSpPr>
        <p:spPr>
          <a:xfrm>
            <a:off x="6568068" y="6628471"/>
            <a:ext cx="9839370" cy="525785"/>
          </a:xfrm>
          <a:prstGeom prst="rect">
            <a:avLst/>
          </a:prstGeom>
        </p:spPr>
        <p:txBody>
          <a:bodyPr lIns="0" tIns="0" rIns="0" bIns="0" rtlCol="0" anchor="t">
            <a:spAutoFit/>
          </a:bodyPr>
          <a:lstStyle/>
          <a:p>
            <a:pPr marL="457200" indent="-457200" algn="r" rtl="1">
              <a:lnSpc>
                <a:spcPts val="4100"/>
              </a:lnSpc>
              <a:buFont typeface="Arial" panose="020B0604020202020204" pitchFamily="34" charset="0"/>
              <a:buChar char="•"/>
            </a:pPr>
            <a:r>
              <a:rPr lang="en-US" sz="3361" dirty="0">
                <a:latin typeface="PT Bold Heading"/>
                <a:cs typeface="PT Bold Heading" panose="02010400000000000000" pitchFamily="2" charset="-78"/>
              </a:rPr>
              <a:t> </a:t>
            </a:r>
            <a:r>
              <a:rPr lang="ar-SA" sz="3361" dirty="0">
                <a:latin typeface="PT Bold Heading"/>
                <a:cs typeface="PT Bold Heading" panose="02010400000000000000" pitchFamily="2" charset="-78"/>
              </a:rPr>
              <a:t> </a:t>
            </a:r>
            <a:r>
              <a:rPr lang="ar-SA" sz="3361" dirty="0">
                <a:solidFill>
                  <a:srgbClr val="C00000"/>
                </a:solidFill>
                <a:latin typeface="PT Bold Heading"/>
                <a:cs typeface="PT Bold Heading" panose="02010400000000000000" pitchFamily="2" charset="-78"/>
              </a:rPr>
              <a:t>كيف ستتأثر هذه الشركة بسبب مافعله فهد ؟</a:t>
            </a:r>
            <a:endParaRPr lang="en-US" sz="3200" dirty="0">
              <a:cs typeface="PT Bold Heading" panose="02010400000000000000" pitchFamily="2" charset="-78"/>
            </a:endParaRPr>
          </a:p>
        </p:txBody>
      </p:sp>
      <p:sp>
        <p:nvSpPr>
          <p:cNvPr id="39" name="TextBox 28">
            <a:extLst>
              <a:ext uri="{FF2B5EF4-FFF2-40B4-BE49-F238E27FC236}">
                <a16:creationId xmlns:a16="http://schemas.microsoft.com/office/drawing/2014/main" id="{E8DCF078-0BEC-CCCE-2854-978FDFBFB0AF}"/>
              </a:ext>
            </a:extLst>
          </p:cNvPr>
          <p:cNvSpPr txBox="1"/>
          <p:nvPr/>
        </p:nvSpPr>
        <p:spPr>
          <a:xfrm>
            <a:off x="6553200" y="5393942"/>
            <a:ext cx="9839370" cy="984885"/>
          </a:xfrm>
          <a:prstGeom prst="rect">
            <a:avLst/>
          </a:prstGeom>
        </p:spPr>
        <p:txBody>
          <a:bodyPr lIns="0" tIns="0" rIns="0" bIns="0" rtlCol="0" anchor="t">
            <a:spAutoFit/>
          </a:bodyPr>
          <a:lstStyle/>
          <a:p>
            <a:pPr marL="457200" indent="-457200" algn="r" rtl="1">
              <a:buFont typeface="Arial" panose="020B0604020202020204" pitchFamily="34" charset="0"/>
              <a:buChar char="•"/>
            </a:pPr>
            <a:r>
              <a:rPr lang="en-US" sz="3200" dirty="0" err="1">
                <a:cs typeface="PT Bold Heading" panose="02010400000000000000" pitchFamily="2" charset="-78"/>
              </a:rPr>
              <a:t>إذا</a:t>
            </a:r>
            <a:r>
              <a:rPr lang="en-US" sz="3200" dirty="0">
                <a:cs typeface="PT Bold Heading" panose="02010400000000000000" pitchFamily="2" charset="-78"/>
              </a:rPr>
              <a:t> </a:t>
            </a:r>
            <a:r>
              <a:rPr lang="en-US" sz="3200" dirty="0" err="1">
                <a:cs typeface="PT Bold Heading" panose="02010400000000000000" pitchFamily="2" charset="-78"/>
              </a:rPr>
              <a:t>شارك</a:t>
            </a:r>
            <a:r>
              <a:rPr lang="en-US" sz="3200" dirty="0">
                <a:cs typeface="PT Bold Heading" panose="02010400000000000000" pitchFamily="2" charset="-78"/>
              </a:rPr>
              <a:t> </a:t>
            </a:r>
            <a:r>
              <a:rPr lang="en-US" sz="3200" dirty="0" err="1">
                <a:cs typeface="PT Bold Heading" panose="02010400000000000000" pitchFamily="2" charset="-78"/>
              </a:rPr>
              <a:t>موظف</a:t>
            </a:r>
            <a:r>
              <a:rPr lang="en-US" sz="3200" dirty="0">
                <a:cs typeface="PT Bold Heading" panose="02010400000000000000" pitchFamily="2" charset="-78"/>
              </a:rPr>
              <a:t> </a:t>
            </a:r>
            <a:r>
              <a:rPr lang="ar-SA" sz="3200" dirty="0">
                <a:cs typeface="PT Bold Heading" panose="02010400000000000000" pitchFamily="2" charset="-78"/>
              </a:rPr>
              <a:t>فهد شركة عالمية </a:t>
            </a:r>
            <a:r>
              <a:rPr lang="en-US" sz="3200" dirty="0" err="1">
                <a:cs typeface="PT Bold Heading" panose="02010400000000000000" pitchFamily="2" charset="-78"/>
              </a:rPr>
              <a:t>معلومات</a:t>
            </a:r>
            <a:r>
              <a:rPr lang="en-US" sz="3200" dirty="0">
                <a:cs typeface="PT Bold Heading" panose="02010400000000000000" pitchFamily="2" charset="-78"/>
              </a:rPr>
              <a:t> </a:t>
            </a:r>
            <a:r>
              <a:rPr lang="en-US" sz="3200" dirty="0" err="1">
                <a:cs typeface="PT Bold Heading" panose="02010400000000000000" pitchFamily="2" charset="-78"/>
              </a:rPr>
              <a:t>حساسة</a:t>
            </a:r>
            <a:r>
              <a:rPr lang="en-US" sz="3200" dirty="0">
                <a:cs typeface="PT Bold Heading" panose="02010400000000000000" pitchFamily="2" charset="-78"/>
              </a:rPr>
              <a:t> </a:t>
            </a:r>
            <a:r>
              <a:rPr lang="en-US" sz="3200" dirty="0" err="1">
                <a:cs typeface="PT Bold Heading" panose="02010400000000000000" pitchFamily="2" charset="-78"/>
              </a:rPr>
              <a:t>عن</a:t>
            </a:r>
            <a:r>
              <a:rPr lang="en-US" sz="3200" dirty="0">
                <a:cs typeface="PT Bold Heading" panose="02010400000000000000" pitchFamily="2" charset="-78"/>
              </a:rPr>
              <a:t> غير </a:t>
            </a:r>
            <a:r>
              <a:rPr lang="en-US" sz="3200" dirty="0" err="1">
                <a:cs typeface="PT Bold Heading" panose="02010400000000000000" pitchFamily="2" charset="-78"/>
              </a:rPr>
              <a:t>قصد</a:t>
            </a:r>
            <a:r>
              <a:rPr lang="en-US" sz="3200" dirty="0">
                <a:cs typeface="PT Bold Heading" panose="02010400000000000000" pitchFamily="2" charset="-78"/>
              </a:rPr>
              <a:t> </a:t>
            </a:r>
            <a:r>
              <a:rPr lang="en-US" sz="3200" dirty="0" err="1">
                <a:cs typeface="PT Bold Heading" panose="02010400000000000000" pitchFamily="2" charset="-78"/>
              </a:rPr>
              <a:t>على</a:t>
            </a:r>
            <a:r>
              <a:rPr lang="en-US" sz="3200" dirty="0">
                <a:cs typeface="PT Bold Heading" panose="02010400000000000000" pitchFamily="2" charset="-78"/>
              </a:rPr>
              <a:t> </a:t>
            </a:r>
            <a:r>
              <a:rPr lang="en-US" sz="3200" dirty="0" err="1">
                <a:cs typeface="PT Bold Heading" panose="02010400000000000000" pitchFamily="2" charset="-78"/>
              </a:rPr>
              <a:t>وسائل</a:t>
            </a:r>
            <a:r>
              <a:rPr lang="en-US" sz="3200" dirty="0">
                <a:cs typeface="PT Bold Heading" panose="02010400000000000000" pitchFamily="2" charset="-78"/>
              </a:rPr>
              <a:t> </a:t>
            </a:r>
            <a:r>
              <a:rPr lang="en-US" sz="3200" dirty="0" err="1">
                <a:cs typeface="PT Bold Heading" panose="02010400000000000000" pitchFamily="2" charset="-78"/>
              </a:rPr>
              <a:t>التواصل</a:t>
            </a:r>
            <a:r>
              <a:rPr lang="en-US" sz="3200" dirty="0">
                <a:cs typeface="PT Bold Heading" panose="02010400000000000000" pitchFamily="2" charset="-78"/>
              </a:rPr>
              <a:t> </a:t>
            </a:r>
            <a:r>
              <a:rPr lang="en-US" sz="3200" dirty="0" err="1">
                <a:cs typeface="PT Bold Heading" panose="02010400000000000000" pitchFamily="2" charset="-78"/>
              </a:rPr>
              <a:t>الاجتماعي</a:t>
            </a:r>
            <a:r>
              <a:rPr lang="ar-SA" sz="3200" dirty="0">
                <a:cs typeface="PT Bold Heading" panose="02010400000000000000" pitchFamily="2" charset="-78"/>
              </a:rPr>
              <a:t>.</a:t>
            </a:r>
            <a:endParaRPr lang="ar-SA" sz="3200" dirty="0"/>
          </a:p>
        </p:txBody>
      </p:sp>
    </p:spTree>
    <p:extLst>
      <p:ext uri="{BB962C8B-B14F-4D97-AF65-F5344CB8AC3E}">
        <p14:creationId xmlns:p14="http://schemas.microsoft.com/office/powerpoint/2010/main" val="2924058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مجموعة 1">
            <a:extLst>
              <a:ext uri="{FF2B5EF4-FFF2-40B4-BE49-F238E27FC236}">
                <a16:creationId xmlns:a16="http://schemas.microsoft.com/office/drawing/2014/main" id="{5A3F4BF8-9EC2-D0F3-122B-3C22D7C2E8FF}"/>
              </a:ext>
            </a:extLst>
          </p:cNvPr>
          <p:cNvGrpSpPr/>
          <p:nvPr/>
        </p:nvGrpSpPr>
        <p:grpSpPr>
          <a:xfrm>
            <a:off x="452640" y="1943100"/>
            <a:ext cx="16497757" cy="6594036"/>
            <a:chOff x="1024140" y="2312029"/>
            <a:chExt cx="16497757" cy="6594036"/>
          </a:xfrm>
        </p:grpSpPr>
        <p:grpSp>
          <p:nvGrpSpPr>
            <p:cNvPr id="3" name="Group 2">
              <a:extLst>
                <a:ext uri="{FF2B5EF4-FFF2-40B4-BE49-F238E27FC236}">
                  <a16:creationId xmlns:a16="http://schemas.microsoft.com/office/drawing/2014/main" id="{E675F4C3-F965-BA7D-A09A-BF457C298C53}"/>
                </a:ext>
              </a:extLst>
            </p:cNvPr>
            <p:cNvGrpSpPr/>
            <p:nvPr/>
          </p:nvGrpSpPr>
          <p:grpSpPr>
            <a:xfrm>
              <a:off x="1024140" y="3909557"/>
              <a:ext cx="16497757" cy="4996508"/>
              <a:chOff x="-6080" y="-1"/>
              <a:chExt cx="21997009" cy="6662010"/>
            </a:xfrm>
          </p:grpSpPr>
          <p:sp>
            <p:nvSpPr>
              <p:cNvPr id="25" name="Freeform 4">
                <a:extLst>
                  <a:ext uri="{FF2B5EF4-FFF2-40B4-BE49-F238E27FC236}">
                    <a16:creationId xmlns:a16="http://schemas.microsoft.com/office/drawing/2014/main" id="{62D490B1-320B-6553-557E-F0F9FD5644AE}"/>
                  </a:ext>
                </a:extLst>
              </p:cNvPr>
              <p:cNvSpPr/>
              <p:nvPr/>
            </p:nvSpPr>
            <p:spPr>
              <a:xfrm>
                <a:off x="3327545" y="-1"/>
                <a:ext cx="18663384" cy="6662010"/>
              </a:xfrm>
              <a:custGeom>
                <a:avLst/>
                <a:gdLst/>
                <a:ahLst/>
                <a:cxnLst/>
                <a:rect l="l" t="t" r="r" b="b"/>
                <a:pathLst>
                  <a:path w="3344970" h="961940">
                    <a:moveTo>
                      <a:pt x="0" y="0"/>
                    </a:moveTo>
                    <a:lnTo>
                      <a:pt x="3344970" y="0"/>
                    </a:lnTo>
                    <a:lnTo>
                      <a:pt x="3344970" y="961940"/>
                    </a:lnTo>
                    <a:lnTo>
                      <a:pt x="0" y="961940"/>
                    </a:lnTo>
                    <a:close/>
                  </a:path>
                </a:pathLst>
              </a:custGeom>
              <a:solidFill>
                <a:srgbClr val="959E9D"/>
              </a:solidFill>
              <a:ln>
                <a:noFill/>
              </a:ln>
            </p:spPr>
            <p:txBody>
              <a:bodyPr/>
              <a:lstStyle/>
              <a:p>
                <a:pPr algn="r" rtl="1"/>
                <a:endParaRPr lang="ar-SA" dirty="0">
                  <a:cs typeface="PT Bold Heading" panose="02010400000000000000" pitchFamily="2" charset="-78"/>
                </a:endParaRPr>
              </a:p>
            </p:txBody>
          </p:sp>
          <p:sp>
            <p:nvSpPr>
              <p:cNvPr id="26" name="Freeform 7">
                <a:extLst>
                  <a:ext uri="{FF2B5EF4-FFF2-40B4-BE49-F238E27FC236}">
                    <a16:creationId xmlns:a16="http://schemas.microsoft.com/office/drawing/2014/main" id="{05AB3E52-B092-00CE-A5FB-E2E06A129E74}"/>
                  </a:ext>
                </a:extLst>
              </p:cNvPr>
              <p:cNvSpPr/>
              <p:nvPr/>
            </p:nvSpPr>
            <p:spPr>
              <a:xfrm>
                <a:off x="3117876" y="7812"/>
                <a:ext cx="18547274" cy="6247795"/>
              </a:xfrm>
              <a:custGeom>
                <a:avLst/>
                <a:gdLst/>
                <a:ahLst/>
                <a:cxnLst/>
                <a:rect l="l" t="t" r="r" b="b"/>
                <a:pathLst>
                  <a:path w="3786387" h="1038511">
                    <a:moveTo>
                      <a:pt x="5009" y="0"/>
                    </a:moveTo>
                    <a:lnTo>
                      <a:pt x="3781378" y="0"/>
                    </a:lnTo>
                    <a:cubicBezTo>
                      <a:pt x="3784145" y="0"/>
                      <a:pt x="3786387" y="2243"/>
                      <a:pt x="3786387" y="5009"/>
                    </a:cubicBezTo>
                    <a:lnTo>
                      <a:pt x="3786387" y="1033502"/>
                    </a:lnTo>
                    <a:cubicBezTo>
                      <a:pt x="3786387" y="1036268"/>
                      <a:pt x="3784145" y="1038511"/>
                      <a:pt x="3781378" y="1038511"/>
                    </a:cubicBezTo>
                    <a:lnTo>
                      <a:pt x="5009" y="1038511"/>
                    </a:lnTo>
                    <a:cubicBezTo>
                      <a:pt x="2243" y="1038511"/>
                      <a:pt x="0" y="1036268"/>
                      <a:pt x="0" y="1033502"/>
                    </a:cubicBezTo>
                    <a:lnTo>
                      <a:pt x="0" y="5009"/>
                    </a:lnTo>
                    <a:cubicBezTo>
                      <a:pt x="0" y="2243"/>
                      <a:pt x="2243" y="0"/>
                      <a:pt x="5009" y="0"/>
                    </a:cubicBezTo>
                    <a:close/>
                  </a:path>
                </a:pathLst>
              </a:custGeom>
              <a:solidFill>
                <a:srgbClr val="FFFFFF"/>
              </a:solidFill>
              <a:ln w="38100">
                <a:solidFill>
                  <a:srgbClr val="A1CCD1"/>
                </a:solidFill>
              </a:ln>
            </p:spPr>
            <p:txBody>
              <a:bodyPr/>
              <a:lstStyle/>
              <a:p>
                <a:pPr algn="r" rtl="1"/>
                <a:endParaRPr lang="ar-SA" dirty="0">
                  <a:cs typeface="PT Bold Heading" panose="02010400000000000000" pitchFamily="2" charset="-78"/>
                </a:endParaRPr>
              </a:p>
            </p:txBody>
          </p:sp>
          <p:sp>
            <p:nvSpPr>
              <p:cNvPr id="27" name="Freeform 10">
                <a:extLst>
                  <a:ext uri="{FF2B5EF4-FFF2-40B4-BE49-F238E27FC236}">
                    <a16:creationId xmlns:a16="http://schemas.microsoft.com/office/drawing/2014/main" id="{E3DDD453-EB44-FBF1-42D7-7BB450E56DB6}"/>
                  </a:ext>
                </a:extLst>
              </p:cNvPr>
              <p:cNvSpPr/>
              <p:nvPr/>
            </p:nvSpPr>
            <p:spPr>
              <a:xfrm>
                <a:off x="375433" y="415730"/>
                <a:ext cx="5472725" cy="5497255"/>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28" name="Freeform 12">
                <a:extLst>
                  <a:ext uri="{FF2B5EF4-FFF2-40B4-BE49-F238E27FC236}">
                    <a16:creationId xmlns:a16="http://schemas.microsoft.com/office/drawing/2014/main" id="{C5A6BD81-8D18-B449-46DE-33498F717D83}"/>
                  </a:ext>
                </a:extLst>
              </p:cNvPr>
              <p:cNvSpPr/>
              <p:nvPr/>
            </p:nvSpPr>
            <p:spPr>
              <a:xfrm>
                <a:off x="-6080" y="826863"/>
                <a:ext cx="6235760" cy="3922860"/>
              </a:xfrm>
              <a:custGeom>
                <a:avLst/>
                <a:gdLst/>
                <a:ahLst/>
                <a:cxnLst/>
                <a:rect l="l" t="t" r="r" b="b"/>
                <a:pathLst>
                  <a:path w="6235760" h="3922860">
                    <a:moveTo>
                      <a:pt x="0" y="0"/>
                    </a:moveTo>
                    <a:lnTo>
                      <a:pt x="6235760" y="0"/>
                    </a:lnTo>
                    <a:lnTo>
                      <a:pt x="6235760" y="3922859"/>
                    </a:lnTo>
                    <a:lnTo>
                      <a:pt x="0" y="39228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4" name="Group 13">
              <a:extLst>
                <a:ext uri="{FF2B5EF4-FFF2-40B4-BE49-F238E27FC236}">
                  <a16:creationId xmlns:a16="http://schemas.microsoft.com/office/drawing/2014/main" id="{920E4623-4F35-151C-FA97-D130FB19C277}"/>
                </a:ext>
              </a:extLst>
            </p:cNvPr>
            <p:cNvGrpSpPr/>
            <p:nvPr/>
          </p:nvGrpSpPr>
          <p:grpSpPr>
            <a:xfrm>
              <a:off x="6018873" y="4365622"/>
              <a:ext cx="11101701" cy="1068948"/>
              <a:chOff x="0" y="0"/>
              <a:chExt cx="14802268" cy="1425263"/>
            </a:xfrm>
          </p:grpSpPr>
          <p:sp>
            <p:nvSpPr>
              <p:cNvPr id="22" name="Freeform 15">
                <a:extLst>
                  <a:ext uri="{FF2B5EF4-FFF2-40B4-BE49-F238E27FC236}">
                    <a16:creationId xmlns:a16="http://schemas.microsoft.com/office/drawing/2014/main" id="{EAEA73D4-6C3B-5B21-7464-C36A054F2562}"/>
                  </a:ext>
                </a:extLst>
              </p:cNvPr>
              <p:cNvSpPr/>
              <p:nvPr/>
            </p:nvSpPr>
            <p:spPr>
              <a:xfrm>
                <a:off x="0" y="0"/>
                <a:ext cx="14229756" cy="142526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23" name="Freeform 18">
                <a:extLst>
                  <a:ext uri="{FF2B5EF4-FFF2-40B4-BE49-F238E27FC236}">
                    <a16:creationId xmlns:a16="http://schemas.microsoft.com/office/drawing/2014/main" id="{1FCC6CB9-88B6-40EC-F421-72783AC1EB05}"/>
                  </a:ext>
                </a:extLst>
              </p:cNvPr>
              <p:cNvSpPr/>
              <p:nvPr/>
            </p:nvSpPr>
            <p:spPr>
              <a:xfrm>
                <a:off x="14205179" y="0"/>
                <a:ext cx="597089" cy="1425263"/>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TextBox 20">
                <a:extLst>
                  <a:ext uri="{FF2B5EF4-FFF2-40B4-BE49-F238E27FC236}">
                    <a16:creationId xmlns:a16="http://schemas.microsoft.com/office/drawing/2014/main" id="{6C0AF9F2-63A8-CD18-A742-451F55CB24CE}"/>
                  </a:ext>
                </a:extLst>
              </p:cNvPr>
              <p:cNvSpPr txBox="1"/>
              <p:nvPr/>
            </p:nvSpPr>
            <p:spPr>
              <a:xfrm>
                <a:off x="6678701" y="386634"/>
                <a:ext cx="7200703" cy="688889"/>
              </a:xfrm>
              <a:prstGeom prst="rect">
                <a:avLst/>
              </a:prstGeom>
            </p:spPr>
            <p:txBody>
              <a:bodyPr wrap="square" lIns="0" tIns="0" rIns="0" bIns="0" rtlCol="0" anchor="t">
                <a:spAutoFit/>
              </a:bodyPr>
              <a:lstStyle/>
              <a:p>
                <a:pPr algn="r" rtl="1">
                  <a:lnSpc>
                    <a:spcPts val="3661"/>
                  </a:lnSpc>
                </a:pPr>
                <a:r>
                  <a:rPr lang="ar-SA" sz="3736" dirty="0">
                    <a:solidFill>
                      <a:srgbClr val="FFFFFF"/>
                    </a:solidFill>
                    <a:cs typeface="PT Bold Heading" panose="02010400000000000000" pitchFamily="2" charset="-78"/>
                  </a:rPr>
                  <a:t>استراتيجية حل المشكلة</a:t>
                </a:r>
                <a:r>
                  <a:rPr lang="en-US" sz="3736" dirty="0">
                    <a:solidFill>
                      <a:srgbClr val="FFFFFF"/>
                    </a:solidFill>
                    <a:cs typeface="PT Bold Heading" panose="02010400000000000000" pitchFamily="2" charset="-78"/>
                  </a:rPr>
                  <a:t> : </a:t>
                </a:r>
              </a:p>
            </p:txBody>
          </p:sp>
        </p:grpSp>
        <p:sp>
          <p:nvSpPr>
            <p:cNvPr id="5" name="Freeform 22">
              <a:extLst>
                <a:ext uri="{FF2B5EF4-FFF2-40B4-BE49-F238E27FC236}">
                  <a16:creationId xmlns:a16="http://schemas.microsoft.com/office/drawing/2014/main" id="{D6BBCB0A-BBA2-59A6-AA19-7E3F7F7C1DEA}"/>
                </a:ext>
              </a:extLst>
            </p:cNvPr>
            <p:cNvSpPr/>
            <p:nvPr/>
          </p:nvSpPr>
          <p:spPr>
            <a:xfrm>
              <a:off x="6018873" y="2312029"/>
              <a:ext cx="11503024" cy="1597528"/>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6" name="Freeform 25">
              <a:extLst>
                <a:ext uri="{FF2B5EF4-FFF2-40B4-BE49-F238E27FC236}">
                  <a16:creationId xmlns:a16="http://schemas.microsoft.com/office/drawing/2014/main" id="{2F8F0562-7255-2B19-0C83-AFA15D6083DF}"/>
                </a:ext>
              </a:extLst>
            </p:cNvPr>
            <p:cNvSpPr/>
            <p:nvPr/>
          </p:nvSpPr>
          <p:spPr>
            <a:xfrm>
              <a:off x="14849617"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7" name="Freeform 28">
              <a:extLst>
                <a:ext uri="{FF2B5EF4-FFF2-40B4-BE49-F238E27FC236}">
                  <a16:creationId xmlns:a16="http://schemas.microsoft.com/office/drawing/2014/main" id="{B0CED885-8950-562B-7119-193F1A04802E}"/>
                </a:ext>
              </a:extLst>
            </p:cNvPr>
            <p:cNvSpPr/>
            <p:nvPr/>
          </p:nvSpPr>
          <p:spPr>
            <a:xfrm>
              <a:off x="14849617"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8" name="Freeform 31">
              <a:extLst>
                <a:ext uri="{FF2B5EF4-FFF2-40B4-BE49-F238E27FC236}">
                  <a16:creationId xmlns:a16="http://schemas.microsoft.com/office/drawing/2014/main" id="{22CA9BA5-50C8-CAED-9C9F-712D1CC74C03}"/>
                </a:ext>
              </a:extLst>
            </p:cNvPr>
            <p:cNvSpPr/>
            <p:nvPr/>
          </p:nvSpPr>
          <p:spPr>
            <a:xfrm>
              <a:off x="13277553" y="2471737"/>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9" name="Freeform 34">
              <a:extLst>
                <a:ext uri="{FF2B5EF4-FFF2-40B4-BE49-F238E27FC236}">
                  <a16:creationId xmlns:a16="http://schemas.microsoft.com/office/drawing/2014/main" id="{FBA33350-BB24-F46A-E1D5-033C6A29A8CD}"/>
                </a:ext>
              </a:extLst>
            </p:cNvPr>
            <p:cNvSpPr/>
            <p:nvPr/>
          </p:nvSpPr>
          <p:spPr>
            <a:xfrm>
              <a:off x="13277553" y="3138634"/>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0" name="TextBox 36">
              <a:extLst>
                <a:ext uri="{FF2B5EF4-FFF2-40B4-BE49-F238E27FC236}">
                  <a16:creationId xmlns:a16="http://schemas.microsoft.com/office/drawing/2014/main" id="{B2DD10CB-CD1B-B6BC-09D4-0CE7E2E12AC5}"/>
                </a:ext>
              </a:extLst>
            </p:cNvPr>
            <p:cNvSpPr txBox="1"/>
            <p:nvPr/>
          </p:nvSpPr>
          <p:spPr>
            <a:xfrm>
              <a:off x="14789516" y="25642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رقم</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1" name="TextBox 37">
              <a:extLst>
                <a:ext uri="{FF2B5EF4-FFF2-40B4-BE49-F238E27FC236}">
                  <a16:creationId xmlns:a16="http://schemas.microsoft.com/office/drawing/2014/main" id="{A952472B-1AD0-82F1-D5C7-884D867D5D03}"/>
                </a:ext>
              </a:extLst>
            </p:cNvPr>
            <p:cNvSpPr txBox="1"/>
            <p:nvPr/>
          </p:nvSpPr>
          <p:spPr>
            <a:xfrm>
              <a:off x="14832717"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مدة</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12" name="TextBox 38">
              <a:extLst>
                <a:ext uri="{FF2B5EF4-FFF2-40B4-BE49-F238E27FC236}">
                  <a16:creationId xmlns:a16="http://schemas.microsoft.com/office/drawing/2014/main" id="{F05D3232-B778-017E-AF53-34C099A5C3A6}"/>
                </a:ext>
              </a:extLst>
            </p:cNvPr>
            <p:cNvSpPr txBox="1"/>
            <p:nvPr/>
          </p:nvSpPr>
          <p:spPr>
            <a:xfrm>
              <a:off x="13573848" y="2550126"/>
              <a:ext cx="882808" cy="445699"/>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2</a:t>
              </a:r>
            </a:p>
          </p:txBody>
        </p:sp>
        <p:sp>
          <p:nvSpPr>
            <p:cNvPr id="13" name="TextBox 39">
              <a:extLst>
                <a:ext uri="{FF2B5EF4-FFF2-40B4-BE49-F238E27FC236}">
                  <a16:creationId xmlns:a16="http://schemas.microsoft.com/office/drawing/2014/main" id="{71D7FED4-94E5-E8A5-C898-91D246F5C104}"/>
                </a:ext>
              </a:extLst>
            </p:cNvPr>
            <p:cNvSpPr txBox="1"/>
            <p:nvPr/>
          </p:nvSpPr>
          <p:spPr>
            <a:xfrm>
              <a:off x="13583373" y="3205309"/>
              <a:ext cx="882808" cy="444481"/>
            </a:xfrm>
            <a:prstGeom prst="rect">
              <a:avLst/>
            </a:prstGeom>
          </p:spPr>
          <p:txBody>
            <a:bodyPr lIns="0" tIns="0" rIns="0" bIns="0" rtlCol="0" anchor="t">
              <a:spAutoFit/>
            </a:bodyPr>
            <a:lstStyle/>
            <a:p>
              <a:pPr algn="ctr" rtl="1">
                <a:lnSpc>
                  <a:spcPts val="3269"/>
                </a:lnSpc>
              </a:pPr>
              <a:r>
                <a:rPr lang="en-US" sz="3336" dirty="0">
                  <a:solidFill>
                    <a:srgbClr val="000000"/>
                  </a:solidFill>
                  <a:latin typeface="PT Bold Heading"/>
                  <a:cs typeface="PT Bold Heading" panose="02010400000000000000" pitchFamily="2" charset="-78"/>
                </a:rPr>
                <a:t>5</a:t>
              </a:r>
              <a:r>
                <a:rPr lang="ar-SA" sz="3336" dirty="0">
                  <a:solidFill>
                    <a:srgbClr val="000000"/>
                  </a:solidFill>
                  <a:latin typeface="PT Bold Heading"/>
                  <a:cs typeface="PT Bold Heading" panose="02010400000000000000" pitchFamily="2" charset="-78"/>
                </a:rPr>
                <a:t> </a:t>
              </a:r>
              <a:r>
                <a:rPr lang="en-US" sz="3336" dirty="0">
                  <a:solidFill>
                    <a:srgbClr val="000000"/>
                  </a:solidFill>
                  <a:latin typeface="PT Bold Heading"/>
                  <a:cs typeface="PT Bold Heading" panose="02010400000000000000" pitchFamily="2" charset="-78"/>
                </a:rPr>
                <a:t>د</a:t>
              </a:r>
            </a:p>
          </p:txBody>
        </p:sp>
        <p:sp>
          <p:nvSpPr>
            <p:cNvPr id="14" name="Freeform 41">
              <a:extLst>
                <a:ext uri="{FF2B5EF4-FFF2-40B4-BE49-F238E27FC236}">
                  <a16:creationId xmlns:a16="http://schemas.microsoft.com/office/drawing/2014/main" id="{322C26DF-A7CF-70E5-16DA-BA3E9CFFC39A}"/>
                </a:ext>
              </a:extLst>
            </p:cNvPr>
            <p:cNvSpPr/>
            <p:nvPr/>
          </p:nvSpPr>
          <p:spPr>
            <a:xfrm>
              <a:off x="10410174" y="2465877"/>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5" name="Freeform 44">
              <a:extLst>
                <a:ext uri="{FF2B5EF4-FFF2-40B4-BE49-F238E27FC236}">
                  <a16:creationId xmlns:a16="http://schemas.microsoft.com/office/drawing/2014/main" id="{B7C0A108-C44C-D270-1385-3C891859D84F}"/>
                </a:ext>
              </a:extLst>
            </p:cNvPr>
            <p:cNvSpPr/>
            <p:nvPr/>
          </p:nvSpPr>
          <p:spPr>
            <a:xfrm>
              <a:off x="10410174" y="3132774"/>
              <a:ext cx="2394781"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6" name="Freeform 47">
              <a:extLst>
                <a:ext uri="{FF2B5EF4-FFF2-40B4-BE49-F238E27FC236}">
                  <a16:creationId xmlns:a16="http://schemas.microsoft.com/office/drawing/2014/main" id="{3308A33A-B006-F85F-E6C5-335AC0597C1E}"/>
                </a:ext>
              </a:extLst>
            </p:cNvPr>
            <p:cNvSpPr/>
            <p:nvPr/>
          </p:nvSpPr>
          <p:spPr>
            <a:xfrm>
              <a:off x="6249654" y="247173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7" name="Freeform 50">
              <a:extLst>
                <a:ext uri="{FF2B5EF4-FFF2-40B4-BE49-F238E27FC236}">
                  <a16:creationId xmlns:a16="http://schemas.microsoft.com/office/drawing/2014/main" id="{90AD527D-F89A-FCE3-0EB5-CD36D37179E4}"/>
                </a:ext>
              </a:extLst>
            </p:cNvPr>
            <p:cNvSpPr/>
            <p:nvPr/>
          </p:nvSpPr>
          <p:spPr>
            <a:xfrm>
              <a:off x="6249654" y="3138634"/>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8" name="TextBox 52">
              <a:extLst>
                <a:ext uri="{FF2B5EF4-FFF2-40B4-BE49-F238E27FC236}">
                  <a16:creationId xmlns:a16="http://schemas.microsoft.com/office/drawing/2014/main" id="{FDAE3534-D553-2A94-77F0-2BBC54091026}"/>
                </a:ext>
              </a:extLst>
            </p:cNvPr>
            <p:cNvSpPr txBox="1"/>
            <p:nvPr/>
          </p:nvSpPr>
          <p:spPr>
            <a:xfrm>
              <a:off x="10351744" y="2591131"/>
              <a:ext cx="2495904" cy="418769"/>
            </a:xfrm>
            <a:prstGeom prst="rect">
              <a:avLst/>
            </a:prstGeom>
          </p:spPr>
          <p:txBody>
            <a:bodyPr lIns="0" tIns="0" rIns="0" bIns="0" rtlCol="0" anchor="t">
              <a:spAutoFit/>
            </a:bodyPr>
            <a:lstStyle/>
            <a:p>
              <a:pPr algn="ctr" rtl="1">
                <a:lnSpc>
                  <a:spcPts val="3073"/>
                </a:lnSpc>
              </a:pPr>
              <a:r>
                <a:rPr lang="en-US" sz="3136" dirty="0" err="1">
                  <a:solidFill>
                    <a:srgbClr val="17383E"/>
                  </a:solidFill>
                  <a:cs typeface="PT Bold Heading" panose="02010400000000000000" pitchFamily="2" charset="-78"/>
                </a:rPr>
                <a:t>موضوع</a:t>
              </a:r>
              <a:r>
                <a:rPr lang="en-US" sz="3136" dirty="0">
                  <a:solidFill>
                    <a:srgbClr val="17383E"/>
                  </a:solidFill>
                  <a:cs typeface="PT Bold Heading" panose="02010400000000000000" pitchFamily="2" charset="-78"/>
                </a:rPr>
                <a:t> </a:t>
              </a:r>
              <a:r>
                <a:rPr lang="en-US" sz="3136" dirty="0" err="1">
                  <a:solidFill>
                    <a:srgbClr val="17383E"/>
                  </a:solidFill>
                  <a:cs typeface="PT Bold Heading" panose="02010400000000000000" pitchFamily="2" charset="-78"/>
                </a:rPr>
                <a:t>النشاط</a:t>
              </a:r>
              <a:endParaRPr lang="en-US" sz="3136" dirty="0">
                <a:solidFill>
                  <a:srgbClr val="17383E"/>
                </a:solidFill>
                <a:cs typeface="PT Bold Heading" panose="02010400000000000000" pitchFamily="2" charset="-78"/>
              </a:endParaRPr>
            </a:p>
          </p:txBody>
        </p:sp>
        <p:sp>
          <p:nvSpPr>
            <p:cNvPr id="19" name="TextBox 53">
              <a:extLst>
                <a:ext uri="{FF2B5EF4-FFF2-40B4-BE49-F238E27FC236}">
                  <a16:creationId xmlns:a16="http://schemas.microsoft.com/office/drawing/2014/main" id="{34E30D81-24A2-BDB8-BA43-9603CF425C74}"/>
                </a:ext>
              </a:extLst>
            </p:cNvPr>
            <p:cNvSpPr txBox="1"/>
            <p:nvPr/>
          </p:nvSpPr>
          <p:spPr>
            <a:xfrm>
              <a:off x="10398214" y="3250001"/>
              <a:ext cx="2495904"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نوع</a:t>
              </a:r>
              <a:r>
                <a:rPr lang="en-US" sz="3336" dirty="0">
                  <a:solidFill>
                    <a:srgbClr val="17383E"/>
                  </a:solidFill>
                  <a:cs typeface="PT Bold Heading" panose="02010400000000000000" pitchFamily="2" charset="-78"/>
                </a:rPr>
                <a:t> </a:t>
              </a:r>
              <a:r>
                <a:rPr lang="en-US" sz="3336" dirty="0" err="1">
                  <a:solidFill>
                    <a:srgbClr val="17383E"/>
                  </a:solidFill>
                  <a:cs typeface="PT Bold Heading" panose="02010400000000000000" pitchFamily="2" charset="-78"/>
                </a:rPr>
                <a:t>النشاط</a:t>
              </a:r>
              <a:endParaRPr lang="en-US" sz="3336" dirty="0">
                <a:solidFill>
                  <a:srgbClr val="17383E"/>
                </a:solidFill>
                <a:cs typeface="PT Bold Heading" panose="02010400000000000000" pitchFamily="2" charset="-78"/>
              </a:endParaRPr>
            </a:p>
          </p:txBody>
        </p:sp>
        <p:sp>
          <p:nvSpPr>
            <p:cNvPr id="20" name="TextBox 54">
              <a:extLst>
                <a:ext uri="{FF2B5EF4-FFF2-40B4-BE49-F238E27FC236}">
                  <a16:creationId xmlns:a16="http://schemas.microsoft.com/office/drawing/2014/main" id="{0BBEBF49-9D0D-E78C-784B-431927A498AA}"/>
                </a:ext>
              </a:extLst>
            </p:cNvPr>
            <p:cNvSpPr txBox="1"/>
            <p:nvPr/>
          </p:nvSpPr>
          <p:spPr>
            <a:xfrm>
              <a:off x="6226148" y="2591131"/>
              <a:ext cx="4184027" cy="418769"/>
            </a:xfrm>
            <a:prstGeom prst="rect">
              <a:avLst/>
            </a:prstGeom>
          </p:spPr>
          <p:txBody>
            <a:bodyPr lIns="0" tIns="0" rIns="0" bIns="0" rtlCol="0" anchor="t">
              <a:spAutoFit/>
            </a:bodyPr>
            <a:lstStyle/>
            <a:p>
              <a:pPr algn="ctr" rtl="1">
                <a:lnSpc>
                  <a:spcPts val="3073"/>
                </a:lnSpc>
              </a:pPr>
              <a:r>
                <a:rPr lang="ar-SA" sz="3136" dirty="0">
                  <a:solidFill>
                    <a:srgbClr val="17383E"/>
                  </a:solidFill>
                  <a:cs typeface="PT Bold Heading" panose="02010400000000000000" pitchFamily="2" charset="-78"/>
                </a:rPr>
                <a:t>البصمة الرقمية</a:t>
              </a:r>
              <a:endParaRPr lang="en-US" sz="3136" dirty="0">
                <a:solidFill>
                  <a:srgbClr val="17383E"/>
                </a:solidFill>
                <a:cs typeface="PT Bold Heading" panose="02010400000000000000" pitchFamily="2" charset="-78"/>
              </a:endParaRPr>
            </a:p>
          </p:txBody>
        </p:sp>
        <p:sp>
          <p:nvSpPr>
            <p:cNvPr id="21" name="TextBox 55">
              <a:extLst>
                <a:ext uri="{FF2B5EF4-FFF2-40B4-BE49-F238E27FC236}">
                  <a16:creationId xmlns:a16="http://schemas.microsoft.com/office/drawing/2014/main" id="{06B61B46-0E3C-8112-616F-00C80EA04E51}"/>
                </a:ext>
              </a:extLst>
            </p:cNvPr>
            <p:cNvSpPr txBox="1"/>
            <p:nvPr/>
          </p:nvSpPr>
          <p:spPr>
            <a:xfrm>
              <a:off x="6574232" y="3250001"/>
              <a:ext cx="3452507" cy="445699"/>
            </a:xfrm>
            <a:prstGeom prst="rect">
              <a:avLst/>
            </a:prstGeom>
          </p:spPr>
          <p:txBody>
            <a:bodyPr lIns="0" tIns="0" rIns="0" bIns="0" rtlCol="0" anchor="t">
              <a:spAutoFit/>
            </a:bodyPr>
            <a:lstStyle/>
            <a:p>
              <a:pPr algn="ctr" rtl="1">
                <a:lnSpc>
                  <a:spcPts val="3269"/>
                </a:lnSpc>
              </a:pPr>
              <a:r>
                <a:rPr lang="en-US" sz="3336" dirty="0" err="1">
                  <a:solidFill>
                    <a:srgbClr val="17383E"/>
                  </a:solidFill>
                  <a:cs typeface="PT Bold Heading" panose="02010400000000000000" pitchFamily="2" charset="-78"/>
                </a:rPr>
                <a:t>جماعي</a:t>
              </a:r>
              <a:endParaRPr lang="en-US" sz="3336" dirty="0">
                <a:solidFill>
                  <a:srgbClr val="17383E"/>
                </a:solidFill>
                <a:cs typeface="PT Bold Heading" panose="02010400000000000000" pitchFamily="2" charset="-78"/>
              </a:endParaRPr>
            </a:p>
          </p:txBody>
        </p:sp>
      </p:grpSp>
      <p:sp>
        <p:nvSpPr>
          <p:cNvPr id="34" name="TextBox 28">
            <a:extLst>
              <a:ext uri="{FF2B5EF4-FFF2-40B4-BE49-F238E27FC236}">
                <a16:creationId xmlns:a16="http://schemas.microsoft.com/office/drawing/2014/main" id="{0695264A-F818-A8C7-8749-3D222E16F3DC}"/>
              </a:ext>
            </a:extLst>
          </p:cNvPr>
          <p:cNvSpPr txBox="1"/>
          <p:nvPr/>
        </p:nvSpPr>
        <p:spPr>
          <a:xfrm>
            <a:off x="6568068" y="6628471"/>
            <a:ext cx="9839370" cy="1051570"/>
          </a:xfrm>
          <a:prstGeom prst="rect">
            <a:avLst/>
          </a:prstGeom>
        </p:spPr>
        <p:txBody>
          <a:bodyPr lIns="0" tIns="0" rIns="0" bIns="0" rtlCol="0" anchor="t">
            <a:spAutoFit/>
          </a:bodyPr>
          <a:lstStyle/>
          <a:p>
            <a:pPr marL="457200" indent="-457200" algn="r" rtl="1">
              <a:lnSpc>
                <a:spcPts val="4100"/>
              </a:lnSpc>
              <a:buFont typeface="Arial" panose="020B0604020202020204" pitchFamily="34" charset="0"/>
              <a:buChar char="•"/>
            </a:pPr>
            <a:r>
              <a:rPr lang="en-US" sz="3361" dirty="0">
                <a:latin typeface="PT Bold Heading"/>
                <a:cs typeface="PT Bold Heading" panose="02010400000000000000" pitchFamily="2" charset="-78"/>
              </a:rPr>
              <a:t> </a:t>
            </a:r>
            <a:r>
              <a:rPr lang="ar-SA" sz="3361" dirty="0">
                <a:latin typeface="PT Bold Heading"/>
                <a:cs typeface="PT Bold Heading" panose="02010400000000000000" pitchFamily="2" charset="-78"/>
              </a:rPr>
              <a:t> </a:t>
            </a:r>
            <a:r>
              <a:rPr lang="ar-SA" sz="3361" dirty="0">
                <a:solidFill>
                  <a:srgbClr val="C00000"/>
                </a:solidFill>
                <a:latin typeface="PT Bold Heading"/>
                <a:cs typeface="PT Bold Heading" panose="02010400000000000000" pitchFamily="2" charset="-78"/>
              </a:rPr>
              <a:t>ماهي</a:t>
            </a:r>
            <a:r>
              <a:rPr lang="ar-SA" sz="3361" dirty="0">
                <a:latin typeface="PT Bold Heading"/>
                <a:cs typeface="PT Bold Heading" panose="02010400000000000000" pitchFamily="2" charset="-78"/>
              </a:rPr>
              <a:t> </a:t>
            </a:r>
            <a:r>
              <a:rPr lang="en-US" sz="3200" dirty="0">
                <a:cs typeface="PT Bold Heading" panose="02010400000000000000" pitchFamily="2" charset="-78"/>
              </a:rPr>
              <a:t>الطرق التي يمكن أن تؤثر بها البصمة الرقمية على دورة حياة النظام</a:t>
            </a:r>
            <a:r>
              <a:rPr lang="ar-SA" sz="3200" dirty="0">
                <a:cs typeface="PT Bold Heading" panose="02010400000000000000" pitchFamily="2" charset="-78"/>
              </a:rPr>
              <a:t> ؟</a:t>
            </a:r>
            <a:endParaRPr lang="en-US" sz="3200" dirty="0">
              <a:cs typeface="PT Bold Heading" panose="02010400000000000000" pitchFamily="2" charset="-78"/>
            </a:endParaRPr>
          </a:p>
        </p:txBody>
      </p:sp>
      <p:sp>
        <p:nvSpPr>
          <p:cNvPr id="39" name="TextBox 28">
            <a:extLst>
              <a:ext uri="{FF2B5EF4-FFF2-40B4-BE49-F238E27FC236}">
                <a16:creationId xmlns:a16="http://schemas.microsoft.com/office/drawing/2014/main" id="{E8DCF078-0BEC-CCCE-2854-978FDFBFB0AF}"/>
              </a:ext>
            </a:extLst>
          </p:cNvPr>
          <p:cNvSpPr txBox="1"/>
          <p:nvPr/>
        </p:nvSpPr>
        <p:spPr>
          <a:xfrm>
            <a:off x="6553200" y="5393942"/>
            <a:ext cx="9839370" cy="984885"/>
          </a:xfrm>
          <a:prstGeom prst="rect">
            <a:avLst/>
          </a:prstGeom>
        </p:spPr>
        <p:txBody>
          <a:bodyPr lIns="0" tIns="0" rIns="0" bIns="0" rtlCol="0" anchor="t">
            <a:spAutoFit/>
          </a:bodyPr>
          <a:lstStyle/>
          <a:p>
            <a:pPr marL="457200" indent="-457200" algn="r" rtl="1">
              <a:buFont typeface="Arial" panose="020B0604020202020204" pitchFamily="34" charset="0"/>
              <a:buChar char="•"/>
            </a:pPr>
            <a:r>
              <a:rPr lang="en-US" sz="3200" dirty="0" err="1">
                <a:cs typeface="PT Bold Heading" panose="02010400000000000000" pitchFamily="2" charset="-78"/>
              </a:rPr>
              <a:t>إذا</a:t>
            </a:r>
            <a:r>
              <a:rPr lang="en-US" sz="3200" dirty="0">
                <a:cs typeface="PT Bold Heading" panose="02010400000000000000" pitchFamily="2" charset="-78"/>
              </a:rPr>
              <a:t> </a:t>
            </a:r>
            <a:r>
              <a:rPr lang="en-US" sz="3200" dirty="0" err="1">
                <a:cs typeface="PT Bold Heading" panose="02010400000000000000" pitchFamily="2" charset="-78"/>
              </a:rPr>
              <a:t>شارك</a:t>
            </a:r>
            <a:r>
              <a:rPr lang="en-US" sz="3200" dirty="0">
                <a:cs typeface="PT Bold Heading" panose="02010400000000000000" pitchFamily="2" charset="-78"/>
              </a:rPr>
              <a:t> </a:t>
            </a:r>
            <a:r>
              <a:rPr lang="en-US" sz="3200" dirty="0" err="1">
                <a:cs typeface="PT Bold Heading" panose="02010400000000000000" pitchFamily="2" charset="-78"/>
              </a:rPr>
              <a:t>موظف</a:t>
            </a:r>
            <a:r>
              <a:rPr lang="en-US" sz="3200" dirty="0">
                <a:cs typeface="PT Bold Heading" panose="02010400000000000000" pitchFamily="2" charset="-78"/>
              </a:rPr>
              <a:t> </a:t>
            </a:r>
            <a:r>
              <a:rPr lang="ar-SA" sz="3200" dirty="0">
                <a:cs typeface="PT Bold Heading" panose="02010400000000000000" pitchFamily="2" charset="-78"/>
              </a:rPr>
              <a:t>فهد شركة عالمية </a:t>
            </a:r>
            <a:r>
              <a:rPr lang="en-US" sz="3200" dirty="0" err="1">
                <a:cs typeface="PT Bold Heading" panose="02010400000000000000" pitchFamily="2" charset="-78"/>
              </a:rPr>
              <a:t>معلومات</a:t>
            </a:r>
            <a:r>
              <a:rPr lang="en-US" sz="3200" dirty="0">
                <a:cs typeface="PT Bold Heading" panose="02010400000000000000" pitchFamily="2" charset="-78"/>
              </a:rPr>
              <a:t> </a:t>
            </a:r>
            <a:r>
              <a:rPr lang="en-US" sz="3200" dirty="0" err="1">
                <a:cs typeface="PT Bold Heading" panose="02010400000000000000" pitchFamily="2" charset="-78"/>
              </a:rPr>
              <a:t>حساسة</a:t>
            </a:r>
            <a:r>
              <a:rPr lang="en-US" sz="3200" dirty="0">
                <a:cs typeface="PT Bold Heading" panose="02010400000000000000" pitchFamily="2" charset="-78"/>
              </a:rPr>
              <a:t> </a:t>
            </a:r>
            <a:r>
              <a:rPr lang="en-US" sz="3200" dirty="0" err="1">
                <a:cs typeface="PT Bold Heading" panose="02010400000000000000" pitchFamily="2" charset="-78"/>
              </a:rPr>
              <a:t>عن</a:t>
            </a:r>
            <a:r>
              <a:rPr lang="en-US" sz="3200" dirty="0">
                <a:cs typeface="PT Bold Heading" panose="02010400000000000000" pitchFamily="2" charset="-78"/>
              </a:rPr>
              <a:t> غير </a:t>
            </a:r>
            <a:r>
              <a:rPr lang="en-US" sz="3200" dirty="0" err="1">
                <a:cs typeface="PT Bold Heading" panose="02010400000000000000" pitchFamily="2" charset="-78"/>
              </a:rPr>
              <a:t>قصد</a:t>
            </a:r>
            <a:r>
              <a:rPr lang="en-US" sz="3200" dirty="0">
                <a:cs typeface="PT Bold Heading" panose="02010400000000000000" pitchFamily="2" charset="-78"/>
              </a:rPr>
              <a:t> </a:t>
            </a:r>
            <a:r>
              <a:rPr lang="en-US" sz="3200" dirty="0" err="1">
                <a:cs typeface="PT Bold Heading" panose="02010400000000000000" pitchFamily="2" charset="-78"/>
              </a:rPr>
              <a:t>على</a:t>
            </a:r>
            <a:r>
              <a:rPr lang="en-US" sz="3200" dirty="0">
                <a:cs typeface="PT Bold Heading" panose="02010400000000000000" pitchFamily="2" charset="-78"/>
              </a:rPr>
              <a:t> </a:t>
            </a:r>
            <a:r>
              <a:rPr lang="en-US" sz="3200" dirty="0" err="1">
                <a:cs typeface="PT Bold Heading" panose="02010400000000000000" pitchFamily="2" charset="-78"/>
              </a:rPr>
              <a:t>وسائل</a:t>
            </a:r>
            <a:r>
              <a:rPr lang="en-US" sz="3200" dirty="0">
                <a:cs typeface="PT Bold Heading" panose="02010400000000000000" pitchFamily="2" charset="-78"/>
              </a:rPr>
              <a:t> </a:t>
            </a:r>
            <a:r>
              <a:rPr lang="en-US" sz="3200" dirty="0" err="1">
                <a:cs typeface="PT Bold Heading" panose="02010400000000000000" pitchFamily="2" charset="-78"/>
              </a:rPr>
              <a:t>التواصل</a:t>
            </a:r>
            <a:r>
              <a:rPr lang="en-US" sz="3200" dirty="0">
                <a:cs typeface="PT Bold Heading" panose="02010400000000000000" pitchFamily="2" charset="-78"/>
              </a:rPr>
              <a:t> </a:t>
            </a:r>
            <a:r>
              <a:rPr lang="en-US" sz="3200" dirty="0" err="1">
                <a:cs typeface="PT Bold Heading" panose="02010400000000000000" pitchFamily="2" charset="-78"/>
              </a:rPr>
              <a:t>الاجتماعي</a:t>
            </a:r>
            <a:r>
              <a:rPr lang="ar-SA" sz="3200" dirty="0">
                <a:cs typeface="PT Bold Heading" panose="02010400000000000000" pitchFamily="2" charset="-78"/>
              </a:rPr>
              <a:t>.</a:t>
            </a:r>
            <a:endParaRPr lang="ar-SA" sz="3200" dirty="0"/>
          </a:p>
        </p:txBody>
      </p:sp>
    </p:spTree>
    <p:extLst>
      <p:ext uri="{BB962C8B-B14F-4D97-AF65-F5344CB8AC3E}">
        <p14:creationId xmlns:p14="http://schemas.microsoft.com/office/powerpoint/2010/main" val="3971366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2033603" y="4062067"/>
            <a:ext cx="4657604" cy="4678481"/>
            <a:chOff x="13915" y="0"/>
            <a:chExt cx="6210138" cy="6237974"/>
          </a:xfrm>
        </p:grpSpPr>
        <p:sp>
          <p:nvSpPr>
            <p:cNvPr id="12" name="Freeform 12"/>
            <p:cNvSpPr/>
            <p:nvPr/>
          </p:nvSpPr>
          <p:spPr>
            <a:xfrm>
              <a:off x="13915" y="0"/>
              <a:ext cx="6210138" cy="623797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362748" y="595999"/>
              <a:ext cx="5512477" cy="5471134"/>
            </a:xfrm>
            <a:custGeom>
              <a:avLst/>
              <a:gdLst/>
              <a:ahLst/>
              <a:cxnLst/>
              <a:rect l="l" t="t" r="r" b="b"/>
              <a:pathLst>
                <a:path w="5512477" h="5471134">
                  <a:moveTo>
                    <a:pt x="0" y="0"/>
                  </a:moveTo>
                  <a:lnTo>
                    <a:pt x="5512478" y="0"/>
                  </a:lnTo>
                  <a:lnTo>
                    <a:pt x="5512478" y="5471133"/>
                  </a:lnTo>
                  <a:lnTo>
                    <a:pt x="0" y="54711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5791200" y="2844167"/>
            <a:ext cx="12568472" cy="742588"/>
            <a:chOff x="0" y="0"/>
            <a:chExt cx="16757963" cy="990117"/>
          </a:xfrm>
        </p:grpSpPr>
        <p:sp>
          <p:nvSpPr>
            <p:cNvPr id="17" name="Freeform 17"/>
            <p:cNvSpPr/>
            <p:nvPr/>
          </p:nvSpPr>
          <p:spPr>
            <a:xfrm>
              <a:off x="0" y="0"/>
              <a:ext cx="579059" cy="990117"/>
            </a:xfrm>
            <a:custGeom>
              <a:avLst/>
              <a:gdLst/>
              <a:ahLst/>
              <a:cxnLst/>
              <a:rect l="l" t="t" r="r" b="b"/>
              <a:pathLst>
                <a:path w="100419" h="171703">
                  <a:moveTo>
                    <a:pt x="0" y="0"/>
                  </a:moveTo>
                  <a:lnTo>
                    <a:pt x="100419" y="0"/>
                  </a:lnTo>
                  <a:lnTo>
                    <a:pt x="100419"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20" name="Freeform 20"/>
            <p:cNvSpPr/>
            <p:nvPr/>
          </p:nvSpPr>
          <p:spPr>
            <a:xfrm>
              <a:off x="301612" y="0"/>
              <a:ext cx="16456351" cy="990117"/>
            </a:xfrm>
            <a:custGeom>
              <a:avLst/>
              <a:gdLst/>
              <a:ahLst/>
              <a:cxnLst/>
              <a:rect l="l" t="t" r="r" b="b"/>
              <a:pathLst>
                <a:path w="2853812" h="171703">
                  <a:moveTo>
                    <a:pt x="0" y="0"/>
                  </a:moveTo>
                  <a:lnTo>
                    <a:pt x="2853812" y="0"/>
                  </a:lnTo>
                  <a:lnTo>
                    <a:pt x="2853812"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22" name="TextBox 22"/>
            <p:cNvSpPr txBox="1"/>
            <p:nvPr/>
          </p:nvSpPr>
          <p:spPr>
            <a:xfrm>
              <a:off x="490159" y="97458"/>
              <a:ext cx="14920988"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الطرق</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أن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تؤثر</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بها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البصمة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الرقمية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على</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23" name="Group 23"/>
          <p:cNvGrpSpPr/>
          <p:nvPr/>
        </p:nvGrpSpPr>
        <p:grpSpPr>
          <a:xfrm>
            <a:off x="7086600" y="4151075"/>
            <a:ext cx="9483968" cy="4589473"/>
            <a:chOff x="0" y="0"/>
            <a:chExt cx="12645291" cy="6119298"/>
          </a:xfrm>
        </p:grpSpPr>
        <p:sp>
          <p:nvSpPr>
            <p:cNvPr id="25" name="Freeform 25"/>
            <p:cNvSpPr/>
            <p:nvPr/>
          </p:nvSpPr>
          <p:spPr>
            <a:xfrm>
              <a:off x="0" y="0"/>
              <a:ext cx="12645291" cy="6119298"/>
            </a:xfrm>
            <a:custGeom>
              <a:avLst/>
              <a:gdLst/>
              <a:ahLst/>
              <a:cxnLst/>
              <a:rect l="l" t="t" r="r" b="b"/>
              <a:pathLst>
                <a:path w="3296537" h="1595257">
                  <a:moveTo>
                    <a:pt x="7347" y="0"/>
                  </a:moveTo>
                  <a:lnTo>
                    <a:pt x="3289190" y="0"/>
                  </a:lnTo>
                  <a:cubicBezTo>
                    <a:pt x="3291138" y="0"/>
                    <a:pt x="3293007" y="774"/>
                    <a:pt x="3294385" y="2152"/>
                  </a:cubicBezTo>
                  <a:cubicBezTo>
                    <a:pt x="3295763" y="3530"/>
                    <a:pt x="3296537" y="5398"/>
                    <a:pt x="3296537" y="7347"/>
                  </a:cubicBezTo>
                  <a:lnTo>
                    <a:pt x="3296537" y="1587910"/>
                  </a:lnTo>
                  <a:cubicBezTo>
                    <a:pt x="3296537" y="1589859"/>
                    <a:pt x="3295763" y="1591727"/>
                    <a:pt x="3294385" y="1593105"/>
                  </a:cubicBezTo>
                  <a:cubicBezTo>
                    <a:pt x="3293007" y="1594483"/>
                    <a:pt x="3291138" y="1595257"/>
                    <a:pt x="3289190" y="1595257"/>
                  </a:cubicBezTo>
                  <a:lnTo>
                    <a:pt x="7347" y="1595257"/>
                  </a:lnTo>
                  <a:cubicBezTo>
                    <a:pt x="5398" y="1595257"/>
                    <a:pt x="3530" y="1594483"/>
                    <a:pt x="2152" y="1593105"/>
                  </a:cubicBezTo>
                  <a:cubicBezTo>
                    <a:pt x="774" y="1591727"/>
                    <a:pt x="0" y="1589859"/>
                    <a:pt x="0" y="1587910"/>
                  </a:cubicBezTo>
                  <a:lnTo>
                    <a:pt x="0" y="7347"/>
                  </a:lnTo>
                  <a:cubicBezTo>
                    <a:pt x="0" y="5398"/>
                    <a:pt x="774" y="3530"/>
                    <a:pt x="2152" y="2152"/>
                  </a:cubicBezTo>
                  <a:cubicBezTo>
                    <a:pt x="3530" y="774"/>
                    <a:pt x="5398" y="0"/>
                    <a:pt x="7347"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8" name="Freeform 28"/>
            <p:cNvSpPr/>
            <p:nvPr/>
          </p:nvSpPr>
          <p:spPr>
            <a:xfrm>
              <a:off x="2555248" y="347195"/>
              <a:ext cx="7610995" cy="897825"/>
            </a:xfrm>
            <a:custGeom>
              <a:avLst/>
              <a:gdLst/>
              <a:ahLst/>
              <a:cxnLst/>
              <a:rect l="l" t="t" r="r" b="b"/>
              <a:pathLst>
                <a:path w="1455554" h="171703">
                  <a:moveTo>
                    <a:pt x="0" y="0"/>
                  </a:moveTo>
                  <a:lnTo>
                    <a:pt x="1455554" y="0"/>
                  </a:lnTo>
                  <a:lnTo>
                    <a:pt x="1455554" y="171703"/>
                  </a:lnTo>
                  <a:lnTo>
                    <a:pt x="0" y="171703"/>
                  </a:lnTo>
                  <a:close/>
                </a:path>
              </a:pathLst>
            </a:custGeom>
            <a:solidFill>
              <a:srgbClr val="959E9D"/>
            </a:solidFill>
            <a:ln>
              <a:noFill/>
            </a:ln>
          </p:spPr>
          <p:txBody>
            <a:bodyPr/>
            <a:lstStyle/>
            <a:p>
              <a:pPr algn="r" rtl="1"/>
              <a:endParaRPr lang="ar-SA" dirty="0">
                <a:cs typeface="PT Bold Heading" panose="02010400000000000000" pitchFamily="2" charset="-78"/>
              </a:endParaRPr>
            </a:p>
          </p:txBody>
        </p:sp>
        <p:sp>
          <p:nvSpPr>
            <p:cNvPr id="30" name="TextBox 30"/>
            <p:cNvSpPr txBox="1"/>
            <p:nvPr/>
          </p:nvSpPr>
          <p:spPr>
            <a:xfrm>
              <a:off x="445669" y="1578306"/>
              <a:ext cx="11753952" cy="3686736"/>
            </a:xfrm>
            <a:prstGeom prst="rect">
              <a:avLst/>
            </a:prstGeom>
          </p:spPr>
          <p:txBody>
            <a:bodyPr lIns="0" tIns="0" rIns="0" bIns="0" rtlCol="0" anchor="t">
              <a:spAutoFit/>
            </a:bodyPr>
            <a:lstStyle/>
            <a:p>
              <a:pPr algn="ctr" rtl="1">
                <a:lnSpc>
                  <a:spcPts val="3618"/>
                </a:lnSpc>
              </a:pPr>
              <a:r>
                <a:rPr lang="en-US" sz="2871" dirty="0" err="1">
                  <a:solidFill>
                    <a:srgbClr val="191C1C"/>
                  </a:solidFill>
                  <a:cs typeface="PT Bold Heading" panose="02010400000000000000" pitchFamily="2" charset="-78"/>
                </a:rPr>
                <a:t>يمكن</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أن</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تشكل</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البصمة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الرقمية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أخطارًا</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أمنية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على</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النظام</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وأن</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تسمح</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لمجرمي</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الإنترنت</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باستخدام</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المعلومات</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المتاحة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عبر</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الإنترنت</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لشنّ</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هجمات</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مستهدفة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على</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النظام</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أو</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على</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مستخدميه</a:t>
              </a:r>
              <a:r>
                <a:rPr lang="en-US" sz="2871" dirty="0">
                  <a:solidFill>
                    <a:srgbClr val="191C1C"/>
                  </a:solidFill>
                  <a:cs typeface="PT Bold Heading" panose="02010400000000000000" pitchFamily="2" charset="-78"/>
                </a:rPr>
                <a:t>. </a:t>
              </a:r>
              <a:r>
                <a:rPr lang="en-US" sz="2871" dirty="0" err="1">
                  <a:solidFill>
                    <a:srgbClr val="2654A4"/>
                  </a:solidFill>
                  <a:cs typeface="PT Bold Heading" panose="02010400000000000000" pitchFamily="2" charset="-78"/>
                </a:rPr>
                <a:t>على</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سبيل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المثال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إذا</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شارك</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موظف</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معلومات</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حساسة</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عن</a:t>
              </a:r>
              <a:r>
                <a:rPr lang="en-US" sz="2871" dirty="0">
                  <a:solidFill>
                    <a:srgbClr val="2654A4"/>
                  </a:solidFill>
                  <a:cs typeface="PT Bold Heading" panose="02010400000000000000" pitchFamily="2" charset="-78"/>
                </a:rPr>
                <a:t> غير </a:t>
              </a:r>
              <a:r>
                <a:rPr lang="en-US" sz="2871" dirty="0" err="1">
                  <a:solidFill>
                    <a:srgbClr val="2654A4"/>
                  </a:solidFill>
                  <a:cs typeface="PT Bold Heading" panose="02010400000000000000" pitchFamily="2" charset="-78"/>
                </a:rPr>
                <a:t>قصد</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على</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وسائل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التواصل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الاجتماعي</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فيمكن</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المجرمي</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الإنترنت</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استخدام</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هذه</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المعلومات</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لشنّ</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هجوم</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احتيالي</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على</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الموظف</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أو</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المنظمة</a:t>
              </a:r>
              <a:r>
                <a:rPr lang="en-US" sz="2871" dirty="0">
                  <a:solidFill>
                    <a:srgbClr val="2654A4"/>
                  </a:solidFill>
                  <a:cs typeface="PT Bold Heading" panose="02010400000000000000" pitchFamily="2" charset="-78"/>
                </a:rPr>
                <a:t> .</a:t>
              </a:r>
            </a:p>
          </p:txBody>
        </p:sp>
        <p:sp>
          <p:nvSpPr>
            <p:cNvPr id="31" name="TextBox 31"/>
            <p:cNvSpPr txBox="1"/>
            <p:nvPr/>
          </p:nvSpPr>
          <p:spPr>
            <a:xfrm>
              <a:off x="2785727" y="475873"/>
              <a:ext cx="6695198" cy="626924"/>
            </a:xfrm>
            <a:prstGeom prst="rect">
              <a:avLst/>
            </a:prstGeom>
          </p:spPr>
          <p:txBody>
            <a:bodyPr lIns="0" tIns="0" rIns="0" bIns="0" rtlCol="0" anchor="t">
              <a:spAutoFit/>
            </a:bodyPr>
            <a:lstStyle/>
            <a:p>
              <a:pPr algn="ctr" rtl="1">
                <a:lnSpc>
                  <a:spcPts val="3744"/>
                </a:lnSpc>
              </a:pPr>
              <a:r>
                <a:rPr lang="en-US" sz="2971">
                  <a:solidFill>
                    <a:srgbClr val="FFFFFF"/>
                  </a:solidFill>
                  <a:cs typeface="PT Bold Heading" panose="02010400000000000000" pitchFamily="2" charset="-78"/>
                </a:rPr>
                <a:t>الأخطار الأمنية  Security Risks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par>
                                <p:cTn id="13" presetID="2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5791200" y="2844167"/>
            <a:ext cx="12568472" cy="742588"/>
            <a:chOff x="0" y="0"/>
            <a:chExt cx="16757963" cy="990117"/>
          </a:xfrm>
        </p:grpSpPr>
        <p:sp>
          <p:nvSpPr>
            <p:cNvPr id="12" name="Freeform 12"/>
            <p:cNvSpPr/>
            <p:nvPr/>
          </p:nvSpPr>
          <p:spPr>
            <a:xfrm>
              <a:off x="0" y="0"/>
              <a:ext cx="579059" cy="990117"/>
            </a:xfrm>
            <a:custGeom>
              <a:avLst/>
              <a:gdLst/>
              <a:ahLst/>
              <a:cxnLst/>
              <a:rect l="l" t="t" r="r" b="b"/>
              <a:pathLst>
                <a:path w="100419" h="171703">
                  <a:moveTo>
                    <a:pt x="0" y="0"/>
                  </a:moveTo>
                  <a:lnTo>
                    <a:pt x="100419" y="0"/>
                  </a:lnTo>
                  <a:lnTo>
                    <a:pt x="100419"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15" name="Freeform 15"/>
            <p:cNvSpPr/>
            <p:nvPr/>
          </p:nvSpPr>
          <p:spPr>
            <a:xfrm>
              <a:off x="301612" y="0"/>
              <a:ext cx="16456351" cy="990117"/>
            </a:xfrm>
            <a:custGeom>
              <a:avLst/>
              <a:gdLst/>
              <a:ahLst/>
              <a:cxnLst/>
              <a:rect l="l" t="t" r="r" b="b"/>
              <a:pathLst>
                <a:path w="2853812" h="171703">
                  <a:moveTo>
                    <a:pt x="0" y="0"/>
                  </a:moveTo>
                  <a:lnTo>
                    <a:pt x="2853812" y="0"/>
                  </a:lnTo>
                  <a:lnTo>
                    <a:pt x="2853812"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17" name="TextBox 17"/>
            <p:cNvSpPr txBox="1"/>
            <p:nvPr/>
          </p:nvSpPr>
          <p:spPr>
            <a:xfrm>
              <a:off x="490159" y="97458"/>
              <a:ext cx="14920988"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الطرق</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أن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تؤثر</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بها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البصمة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الرقمية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على</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18" name="Group 18"/>
          <p:cNvGrpSpPr/>
          <p:nvPr/>
        </p:nvGrpSpPr>
        <p:grpSpPr>
          <a:xfrm>
            <a:off x="2216290" y="3727010"/>
            <a:ext cx="4436772" cy="4781109"/>
            <a:chOff x="13255" y="0"/>
            <a:chExt cx="5915696" cy="6374812"/>
          </a:xfrm>
        </p:grpSpPr>
        <p:sp>
          <p:nvSpPr>
            <p:cNvPr id="20" name="Freeform 20"/>
            <p:cNvSpPr/>
            <p:nvPr/>
          </p:nvSpPr>
          <p:spPr>
            <a:xfrm>
              <a:off x="13255" y="0"/>
              <a:ext cx="5915696" cy="5942212"/>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2" name="Freeform 22"/>
            <p:cNvSpPr/>
            <p:nvPr/>
          </p:nvSpPr>
          <p:spPr>
            <a:xfrm>
              <a:off x="220436" y="1148539"/>
              <a:ext cx="5501340" cy="5226273"/>
            </a:xfrm>
            <a:custGeom>
              <a:avLst/>
              <a:gdLst/>
              <a:ahLst/>
              <a:cxnLst/>
              <a:rect l="l" t="t" r="r" b="b"/>
              <a:pathLst>
                <a:path w="5501340" h="5226273">
                  <a:moveTo>
                    <a:pt x="0" y="0"/>
                  </a:moveTo>
                  <a:lnTo>
                    <a:pt x="5501340" y="0"/>
                  </a:lnTo>
                  <a:lnTo>
                    <a:pt x="5501340" y="5226273"/>
                  </a:lnTo>
                  <a:lnTo>
                    <a:pt x="0" y="52262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3" name="Group 23"/>
          <p:cNvGrpSpPr/>
          <p:nvPr/>
        </p:nvGrpSpPr>
        <p:grpSpPr>
          <a:xfrm>
            <a:off x="7065822" y="4151074"/>
            <a:ext cx="9483968" cy="3932981"/>
            <a:chOff x="0" y="0"/>
            <a:chExt cx="12645291" cy="5243974"/>
          </a:xfrm>
        </p:grpSpPr>
        <p:sp>
          <p:nvSpPr>
            <p:cNvPr id="25" name="Freeform 25"/>
            <p:cNvSpPr/>
            <p:nvPr/>
          </p:nvSpPr>
          <p:spPr>
            <a:xfrm>
              <a:off x="0" y="0"/>
              <a:ext cx="12645291" cy="5243974"/>
            </a:xfrm>
            <a:custGeom>
              <a:avLst/>
              <a:gdLst/>
              <a:ahLst/>
              <a:cxnLst/>
              <a:rect l="l" t="t" r="r" b="b"/>
              <a:pathLst>
                <a:path w="3296537" h="1367067">
                  <a:moveTo>
                    <a:pt x="7347" y="0"/>
                  </a:moveTo>
                  <a:lnTo>
                    <a:pt x="3289190" y="0"/>
                  </a:lnTo>
                  <a:cubicBezTo>
                    <a:pt x="3291138" y="0"/>
                    <a:pt x="3293007" y="774"/>
                    <a:pt x="3294385" y="2152"/>
                  </a:cubicBezTo>
                  <a:cubicBezTo>
                    <a:pt x="3295763" y="3530"/>
                    <a:pt x="3296537" y="5398"/>
                    <a:pt x="3296537" y="7347"/>
                  </a:cubicBezTo>
                  <a:lnTo>
                    <a:pt x="3296537" y="1359720"/>
                  </a:lnTo>
                  <a:cubicBezTo>
                    <a:pt x="3296537" y="1361668"/>
                    <a:pt x="3295763" y="1363537"/>
                    <a:pt x="3294385" y="1364915"/>
                  </a:cubicBezTo>
                  <a:cubicBezTo>
                    <a:pt x="3293007" y="1366292"/>
                    <a:pt x="3291138" y="1367067"/>
                    <a:pt x="3289190" y="1367067"/>
                  </a:cubicBezTo>
                  <a:lnTo>
                    <a:pt x="7347" y="1367067"/>
                  </a:lnTo>
                  <a:cubicBezTo>
                    <a:pt x="5398" y="1367067"/>
                    <a:pt x="3530" y="1366292"/>
                    <a:pt x="2152" y="1364915"/>
                  </a:cubicBezTo>
                  <a:cubicBezTo>
                    <a:pt x="774" y="1363537"/>
                    <a:pt x="0" y="1361668"/>
                    <a:pt x="0" y="1359720"/>
                  </a:cubicBezTo>
                  <a:lnTo>
                    <a:pt x="0" y="7347"/>
                  </a:lnTo>
                  <a:cubicBezTo>
                    <a:pt x="0" y="5398"/>
                    <a:pt x="774" y="3530"/>
                    <a:pt x="2152" y="2152"/>
                  </a:cubicBezTo>
                  <a:cubicBezTo>
                    <a:pt x="3530" y="774"/>
                    <a:pt x="5398" y="0"/>
                    <a:pt x="7347"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8" name="Freeform 28"/>
            <p:cNvSpPr/>
            <p:nvPr/>
          </p:nvSpPr>
          <p:spPr>
            <a:xfrm>
              <a:off x="2555248" y="347195"/>
              <a:ext cx="7610995" cy="897825"/>
            </a:xfrm>
            <a:custGeom>
              <a:avLst/>
              <a:gdLst/>
              <a:ahLst/>
              <a:cxnLst/>
              <a:rect l="l" t="t" r="r" b="b"/>
              <a:pathLst>
                <a:path w="1455554" h="171703">
                  <a:moveTo>
                    <a:pt x="0" y="0"/>
                  </a:moveTo>
                  <a:lnTo>
                    <a:pt x="1455554" y="0"/>
                  </a:lnTo>
                  <a:lnTo>
                    <a:pt x="1455554"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30" name="TextBox 30"/>
            <p:cNvSpPr txBox="1"/>
            <p:nvPr/>
          </p:nvSpPr>
          <p:spPr>
            <a:xfrm>
              <a:off x="445669" y="1578305"/>
              <a:ext cx="11753952" cy="3071182"/>
            </a:xfrm>
            <a:prstGeom prst="rect">
              <a:avLst/>
            </a:prstGeom>
          </p:spPr>
          <p:txBody>
            <a:bodyPr lIns="0" tIns="0" rIns="0" bIns="0" rtlCol="0" anchor="t">
              <a:spAutoFit/>
            </a:bodyPr>
            <a:lstStyle/>
            <a:p>
              <a:pPr algn="ctr" rtl="1">
                <a:lnSpc>
                  <a:spcPts val="3618"/>
                </a:lnSpc>
              </a:pPr>
              <a:r>
                <a:rPr lang="en-US" sz="2871">
                  <a:solidFill>
                    <a:srgbClr val="191C1C"/>
                  </a:solidFill>
                  <a:cs typeface="PT Bold Heading" panose="02010400000000000000" pitchFamily="2" charset="-78"/>
                </a:rPr>
                <a:t>يمكن أن تؤثر البصمة الرقمية أيضًا على سمعة المنظمة، كما يمكن أن تؤثر التعليقات أو المراجعات أو التعليقات السلبية حول المؤسسة عبر الإنترنت على صورة علامتها التجارية وسمعتها، والتي بدورها يمكن أن تؤثر على دورة حياة النظام، بما في ذلك المبيعات وثقة العملاء .</a:t>
              </a:r>
            </a:p>
          </p:txBody>
        </p:sp>
        <p:sp>
          <p:nvSpPr>
            <p:cNvPr id="31" name="TextBox 31"/>
            <p:cNvSpPr txBox="1"/>
            <p:nvPr/>
          </p:nvSpPr>
          <p:spPr>
            <a:xfrm>
              <a:off x="2785727" y="475875"/>
              <a:ext cx="6695198" cy="632652"/>
            </a:xfrm>
            <a:prstGeom prst="rect">
              <a:avLst/>
            </a:prstGeom>
          </p:spPr>
          <p:txBody>
            <a:bodyPr lIns="0" tIns="0" rIns="0" bIns="0" rtlCol="0" anchor="t">
              <a:spAutoFit/>
            </a:bodyPr>
            <a:lstStyle/>
            <a:p>
              <a:pPr algn="ctr" rtl="1">
                <a:lnSpc>
                  <a:spcPts val="3744"/>
                </a:lnSpc>
              </a:pPr>
              <a:r>
                <a:rPr lang="en-US" sz="2971" dirty="0">
                  <a:solidFill>
                    <a:srgbClr val="FFFFFF"/>
                  </a:solidFill>
                  <a:latin typeface="PT Bold Heading"/>
                  <a:cs typeface="PT Bold Heading" panose="02010400000000000000" pitchFamily="2" charset="-78"/>
                </a:rPr>
                <a:t> </a:t>
              </a:r>
              <a:r>
                <a:rPr lang="en-US" sz="2971" dirty="0" err="1">
                  <a:solidFill>
                    <a:srgbClr val="FFFFFF"/>
                  </a:solidFill>
                  <a:latin typeface="PT Bold Heading"/>
                  <a:cs typeface="PT Bold Heading" panose="02010400000000000000" pitchFamily="2" charset="-78"/>
                </a:rPr>
                <a:t>إدارة</a:t>
              </a:r>
              <a:r>
                <a:rPr lang="en-US" sz="2971" dirty="0">
                  <a:solidFill>
                    <a:srgbClr val="FFFFFF"/>
                  </a:solidFill>
                  <a:latin typeface="PT Bold Heading"/>
                  <a:cs typeface="PT Bold Heading" panose="02010400000000000000" pitchFamily="2" charset="-78"/>
                </a:rPr>
                <a:t> </a:t>
              </a:r>
              <a:r>
                <a:rPr lang="en-US" sz="2971" dirty="0" err="1">
                  <a:solidFill>
                    <a:srgbClr val="FFFFFF"/>
                  </a:solidFill>
                  <a:latin typeface="PT Bold Heading"/>
                  <a:cs typeface="PT Bold Heading" panose="02010400000000000000" pitchFamily="2" charset="-78"/>
                </a:rPr>
                <a:t>السمعة</a:t>
              </a:r>
              <a:r>
                <a:rPr lang="en-US" sz="2971" dirty="0">
                  <a:solidFill>
                    <a:srgbClr val="FFFFFF"/>
                  </a:solidFill>
                  <a:latin typeface="PT Bold Heading"/>
                  <a:cs typeface="PT Bold Heading" panose="02010400000000000000" pitchFamily="2" charset="-78"/>
                </a:rPr>
                <a:t> </a:t>
              </a:r>
              <a:r>
                <a:rPr lang="en-US" sz="2971" dirty="0">
                  <a:solidFill>
                    <a:srgbClr val="FFFFFF"/>
                  </a:solidFill>
                  <a:latin typeface="Abadi" panose="020B0604020104020204" pitchFamily="34" charset="0"/>
                  <a:cs typeface="PT Bold Heading" panose="02010400000000000000" pitchFamily="2" charset="-78"/>
                </a:rPr>
                <a:t>Reputation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5791200" y="2844167"/>
            <a:ext cx="12568472" cy="742588"/>
            <a:chOff x="0" y="0"/>
            <a:chExt cx="16757963" cy="990117"/>
          </a:xfrm>
        </p:grpSpPr>
        <p:sp>
          <p:nvSpPr>
            <p:cNvPr id="12" name="Freeform 12"/>
            <p:cNvSpPr/>
            <p:nvPr/>
          </p:nvSpPr>
          <p:spPr>
            <a:xfrm>
              <a:off x="0" y="0"/>
              <a:ext cx="579059" cy="990117"/>
            </a:xfrm>
            <a:custGeom>
              <a:avLst/>
              <a:gdLst/>
              <a:ahLst/>
              <a:cxnLst/>
              <a:rect l="l" t="t" r="r" b="b"/>
              <a:pathLst>
                <a:path w="100419" h="171703">
                  <a:moveTo>
                    <a:pt x="0" y="0"/>
                  </a:moveTo>
                  <a:lnTo>
                    <a:pt x="100419" y="0"/>
                  </a:lnTo>
                  <a:lnTo>
                    <a:pt x="100419"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15" name="Freeform 15"/>
            <p:cNvSpPr/>
            <p:nvPr/>
          </p:nvSpPr>
          <p:spPr>
            <a:xfrm>
              <a:off x="301612" y="0"/>
              <a:ext cx="16456351" cy="990117"/>
            </a:xfrm>
            <a:custGeom>
              <a:avLst/>
              <a:gdLst/>
              <a:ahLst/>
              <a:cxnLst/>
              <a:rect l="l" t="t" r="r" b="b"/>
              <a:pathLst>
                <a:path w="2853812" h="171703">
                  <a:moveTo>
                    <a:pt x="0" y="0"/>
                  </a:moveTo>
                  <a:lnTo>
                    <a:pt x="2853812" y="0"/>
                  </a:lnTo>
                  <a:lnTo>
                    <a:pt x="2853812"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17" name="TextBox 17"/>
            <p:cNvSpPr txBox="1"/>
            <p:nvPr/>
          </p:nvSpPr>
          <p:spPr>
            <a:xfrm>
              <a:off x="490159" y="97458"/>
              <a:ext cx="14920988"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الطرق</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أن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تؤثر</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بها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البصمة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الرقمية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على</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18" name="Group 18"/>
          <p:cNvGrpSpPr/>
          <p:nvPr/>
        </p:nvGrpSpPr>
        <p:grpSpPr>
          <a:xfrm>
            <a:off x="1998080" y="3586755"/>
            <a:ext cx="4703568" cy="4422273"/>
            <a:chOff x="0" y="0"/>
            <a:chExt cx="6271424" cy="5896364"/>
          </a:xfrm>
        </p:grpSpPr>
        <p:sp>
          <p:nvSpPr>
            <p:cNvPr id="20" name="Freeform 20"/>
            <p:cNvSpPr/>
            <p:nvPr/>
          </p:nvSpPr>
          <p:spPr>
            <a:xfrm>
              <a:off x="86600" y="0"/>
              <a:ext cx="5870052" cy="589636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2" name="Freeform 22"/>
            <p:cNvSpPr/>
            <p:nvPr/>
          </p:nvSpPr>
          <p:spPr>
            <a:xfrm>
              <a:off x="0" y="1247350"/>
              <a:ext cx="6271424" cy="4154818"/>
            </a:xfrm>
            <a:custGeom>
              <a:avLst/>
              <a:gdLst/>
              <a:ahLst/>
              <a:cxnLst/>
              <a:rect l="l" t="t" r="r" b="b"/>
              <a:pathLst>
                <a:path w="6271424" h="4154818">
                  <a:moveTo>
                    <a:pt x="0" y="0"/>
                  </a:moveTo>
                  <a:lnTo>
                    <a:pt x="6271424" y="0"/>
                  </a:lnTo>
                  <a:lnTo>
                    <a:pt x="6271424" y="4154818"/>
                  </a:lnTo>
                  <a:lnTo>
                    <a:pt x="0" y="415481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3" name="Group 23"/>
          <p:cNvGrpSpPr/>
          <p:nvPr/>
        </p:nvGrpSpPr>
        <p:grpSpPr>
          <a:xfrm>
            <a:off x="7065822" y="4151074"/>
            <a:ext cx="9483968" cy="3857953"/>
            <a:chOff x="0" y="0"/>
            <a:chExt cx="12645291" cy="5143938"/>
          </a:xfrm>
        </p:grpSpPr>
        <p:sp>
          <p:nvSpPr>
            <p:cNvPr id="25" name="Freeform 25"/>
            <p:cNvSpPr/>
            <p:nvPr/>
          </p:nvSpPr>
          <p:spPr>
            <a:xfrm>
              <a:off x="0" y="0"/>
              <a:ext cx="12645291" cy="5143938"/>
            </a:xfrm>
            <a:custGeom>
              <a:avLst/>
              <a:gdLst/>
              <a:ahLst/>
              <a:cxnLst/>
              <a:rect l="l" t="t" r="r" b="b"/>
              <a:pathLst>
                <a:path w="3296537" h="1340988">
                  <a:moveTo>
                    <a:pt x="7347" y="0"/>
                  </a:moveTo>
                  <a:lnTo>
                    <a:pt x="3289190" y="0"/>
                  </a:lnTo>
                  <a:cubicBezTo>
                    <a:pt x="3291138" y="0"/>
                    <a:pt x="3293007" y="774"/>
                    <a:pt x="3294385" y="2152"/>
                  </a:cubicBezTo>
                  <a:cubicBezTo>
                    <a:pt x="3295763" y="3530"/>
                    <a:pt x="3296537" y="5398"/>
                    <a:pt x="3296537" y="7347"/>
                  </a:cubicBezTo>
                  <a:lnTo>
                    <a:pt x="3296537" y="1333641"/>
                  </a:lnTo>
                  <a:cubicBezTo>
                    <a:pt x="3296537" y="1335589"/>
                    <a:pt x="3295763" y="1337458"/>
                    <a:pt x="3294385" y="1338836"/>
                  </a:cubicBezTo>
                  <a:cubicBezTo>
                    <a:pt x="3293007" y="1340214"/>
                    <a:pt x="3291138" y="1340988"/>
                    <a:pt x="3289190" y="1340988"/>
                  </a:cubicBezTo>
                  <a:lnTo>
                    <a:pt x="7347" y="1340988"/>
                  </a:lnTo>
                  <a:cubicBezTo>
                    <a:pt x="5398" y="1340988"/>
                    <a:pt x="3530" y="1340214"/>
                    <a:pt x="2152" y="1338836"/>
                  </a:cubicBezTo>
                  <a:cubicBezTo>
                    <a:pt x="774" y="1337458"/>
                    <a:pt x="0" y="1335589"/>
                    <a:pt x="0" y="1333641"/>
                  </a:cubicBezTo>
                  <a:lnTo>
                    <a:pt x="0" y="7347"/>
                  </a:lnTo>
                  <a:cubicBezTo>
                    <a:pt x="0" y="5398"/>
                    <a:pt x="774" y="3530"/>
                    <a:pt x="2152" y="2152"/>
                  </a:cubicBezTo>
                  <a:cubicBezTo>
                    <a:pt x="3530" y="774"/>
                    <a:pt x="5398" y="0"/>
                    <a:pt x="7347"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8" name="Freeform 28"/>
            <p:cNvSpPr/>
            <p:nvPr/>
          </p:nvSpPr>
          <p:spPr>
            <a:xfrm>
              <a:off x="2555248" y="347195"/>
              <a:ext cx="7610995" cy="897825"/>
            </a:xfrm>
            <a:custGeom>
              <a:avLst/>
              <a:gdLst/>
              <a:ahLst/>
              <a:cxnLst/>
              <a:rect l="l" t="t" r="r" b="b"/>
              <a:pathLst>
                <a:path w="1455554" h="171703">
                  <a:moveTo>
                    <a:pt x="0" y="0"/>
                  </a:moveTo>
                  <a:lnTo>
                    <a:pt x="1455554" y="0"/>
                  </a:lnTo>
                  <a:lnTo>
                    <a:pt x="1455554"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30" name="TextBox 30"/>
            <p:cNvSpPr txBox="1"/>
            <p:nvPr/>
          </p:nvSpPr>
          <p:spPr>
            <a:xfrm>
              <a:off x="445669" y="1531188"/>
              <a:ext cx="11753952" cy="3071183"/>
            </a:xfrm>
            <a:prstGeom prst="rect">
              <a:avLst/>
            </a:prstGeom>
          </p:spPr>
          <p:txBody>
            <a:bodyPr lIns="0" tIns="0" rIns="0" bIns="0" rtlCol="0" anchor="t">
              <a:spAutoFit/>
            </a:bodyPr>
            <a:lstStyle/>
            <a:p>
              <a:pPr algn="ctr" rtl="1">
                <a:lnSpc>
                  <a:spcPts val="3618"/>
                </a:lnSpc>
              </a:pPr>
              <a:r>
                <a:rPr lang="en-US" sz="2871">
                  <a:solidFill>
                    <a:srgbClr val="191C1C"/>
                  </a:solidFill>
                  <a:cs typeface="PT Bold Heading" panose="02010400000000000000" pitchFamily="2" charset="-78"/>
                </a:rPr>
                <a:t>يمكن أن تؤثر البصمة الرقمية أيضًا على متطلبات التوافق ، </a:t>
              </a:r>
              <a:r>
                <a:rPr lang="en-US" sz="2871">
                  <a:solidFill>
                    <a:srgbClr val="2654A4"/>
                  </a:solidFill>
                  <a:cs typeface="PT Bold Heading" panose="02010400000000000000" pitchFamily="2" charset="-78"/>
                </a:rPr>
                <a:t>مثل قوانين خصوصية البيانات التي يمكن أن تؤثر على دورة حياة النظام</a:t>
              </a:r>
              <a:r>
                <a:rPr lang="en-US" sz="2871">
                  <a:solidFill>
                    <a:srgbClr val="191C1C"/>
                  </a:solidFill>
                  <a:latin typeface="PT Bold Heading"/>
                  <a:cs typeface="PT Bold Heading" panose="02010400000000000000" pitchFamily="2" charset="-78"/>
                </a:rPr>
                <a:t>. </a:t>
              </a:r>
              <a:r>
                <a:rPr lang="en-US" sz="2871">
                  <a:solidFill>
                    <a:srgbClr val="BD2424"/>
                  </a:solidFill>
                  <a:cs typeface="PT Bold Heading" panose="02010400000000000000" pitchFamily="2" charset="-78"/>
                </a:rPr>
                <a:t>يجب أن تمتثل المؤسسات لقوانين خصوصية البيانات لحماية المعلومات الشخصية، وذلك لتجنب التجاوزات والغرامات والعقوبات  .</a:t>
              </a:r>
            </a:p>
          </p:txBody>
        </p:sp>
        <p:sp>
          <p:nvSpPr>
            <p:cNvPr id="31" name="TextBox 31"/>
            <p:cNvSpPr txBox="1"/>
            <p:nvPr/>
          </p:nvSpPr>
          <p:spPr>
            <a:xfrm>
              <a:off x="2785727" y="475873"/>
              <a:ext cx="6695198" cy="626924"/>
            </a:xfrm>
            <a:prstGeom prst="rect">
              <a:avLst/>
            </a:prstGeom>
          </p:spPr>
          <p:txBody>
            <a:bodyPr lIns="0" tIns="0" rIns="0" bIns="0" rtlCol="0" anchor="t">
              <a:spAutoFit/>
            </a:bodyPr>
            <a:lstStyle/>
            <a:p>
              <a:pPr algn="ctr" rtl="1">
                <a:lnSpc>
                  <a:spcPts val="3744"/>
                </a:lnSpc>
              </a:pPr>
              <a:r>
                <a:rPr lang="en-US" sz="2971">
                  <a:solidFill>
                    <a:srgbClr val="FFFFFF"/>
                  </a:solidFill>
                  <a:cs typeface="PT Bold Heading" panose="02010400000000000000" pitchFamily="2" charset="-78"/>
                </a:rPr>
                <a:t>التوافق Compliance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734709" y="315485"/>
              <a:ext cx="10686374" cy="809379"/>
            </a:xfrm>
            <a:prstGeom prst="rect">
              <a:avLst/>
            </a:prstGeom>
          </p:spPr>
          <p:txBody>
            <a:bodyPr lIns="0" tIns="0" rIns="0" bIns="0" rtlCol="0" anchor="t">
              <a:spAutoFit/>
            </a:bodyPr>
            <a:lstStyle/>
            <a:p>
              <a:pPr algn="ctr" rtl="1">
                <a:lnSpc>
                  <a:spcPts val="4420"/>
                </a:lnSpc>
              </a:pPr>
              <a:r>
                <a:rPr lang="en-US" sz="4510">
                  <a:solidFill>
                    <a:srgbClr val="17383E"/>
                  </a:solidFill>
                  <a:cs typeface="PT Bold Heading" panose="02010400000000000000" pitchFamily="2" charset="-78"/>
                </a:rPr>
                <a:t>البصمة الرقمية Digital footprint</a:t>
              </a:r>
            </a:p>
          </p:txBody>
        </p:sp>
      </p:grpSp>
      <p:grpSp>
        <p:nvGrpSpPr>
          <p:cNvPr id="10" name="Group 10"/>
          <p:cNvGrpSpPr/>
          <p:nvPr/>
        </p:nvGrpSpPr>
        <p:grpSpPr>
          <a:xfrm>
            <a:off x="5791200" y="2844167"/>
            <a:ext cx="12568472" cy="742588"/>
            <a:chOff x="0" y="0"/>
            <a:chExt cx="16757963" cy="990117"/>
          </a:xfrm>
        </p:grpSpPr>
        <p:sp>
          <p:nvSpPr>
            <p:cNvPr id="12" name="Freeform 12"/>
            <p:cNvSpPr/>
            <p:nvPr/>
          </p:nvSpPr>
          <p:spPr>
            <a:xfrm>
              <a:off x="0" y="0"/>
              <a:ext cx="579059" cy="990117"/>
            </a:xfrm>
            <a:custGeom>
              <a:avLst/>
              <a:gdLst/>
              <a:ahLst/>
              <a:cxnLst/>
              <a:rect l="l" t="t" r="r" b="b"/>
              <a:pathLst>
                <a:path w="100419" h="171703">
                  <a:moveTo>
                    <a:pt x="0" y="0"/>
                  </a:moveTo>
                  <a:lnTo>
                    <a:pt x="100419" y="0"/>
                  </a:lnTo>
                  <a:lnTo>
                    <a:pt x="100419" y="171703"/>
                  </a:lnTo>
                  <a:lnTo>
                    <a:pt x="0" y="171703"/>
                  </a:lnTo>
                  <a:close/>
                </a:path>
              </a:pathLst>
            </a:custGeom>
            <a:solidFill>
              <a:srgbClr val="191C1C"/>
            </a:solidFill>
            <a:ln>
              <a:noFill/>
            </a:ln>
          </p:spPr>
          <p:txBody>
            <a:bodyPr/>
            <a:lstStyle/>
            <a:p>
              <a:pPr algn="r" rtl="1"/>
              <a:endParaRPr lang="ar-SA">
                <a:cs typeface="PT Bold Heading" panose="02010400000000000000" pitchFamily="2" charset="-78"/>
              </a:endParaRPr>
            </a:p>
          </p:txBody>
        </p:sp>
        <p:sp>
          <p:nvSpPr>
            <p:cNvPr id="15" name="Freeform 15"/>
            <p:cNvSpPr/>
            <p:nvPr/>
          </p:nvSpPr>
          <p:spPr>
            <a:xfrm>
              <a:off x="301612" y="0"/>
              <a:ext cx="16456351" cy="990117"/>
            </a:xfrm>
            <a:custGeom>
              <a:avLst/>
              <a:gdLst/>
              <a:ahLst/>
              <a:cxnLst/>
              <a:rect l="l" t="t" r="r" b="b"/>
              <a:pathLst>
                <a:path w="2853812" h="171703">
                  <a:moveTo>
                    <a:pt x="0" y="0"/>
                  </a:moveTo>
                  <a:lnTo>
                    <a:pt x="2853812" y="0"/>
                  </a:lnTo>
                  <a:lnTo>
                    <a:pt x="2853812" y="171703"/>
                  </a:lnTo>
                  <a:lnTo>
                    <a:pt x="0" y="171703"/>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17" name="TextBox 17"/>
            <p:cNvSpPr txBox="1"/>
            <p:nvPr/>
          </p:nvSpPr>
          <p:spPr>
            <a:xfrm>
              <a:off x="490159" y="97458"/>
              <a:ext cx="14920988" cy="705625"/>
            </a:xfrm>
            <a:prstGeom prst="rect">
              <a:avLst/>
            </a:prstGeom>
          </p:spPr>
          <p:txBody>
            <a:bodyPr lIns="0" tIns="0" rIns="0" bIns="0" rtlCol="0" anchor="t">
              <a:spAutoFit/>
            </a:bodyPr>
            <a:lstStyle/>
            <a:p>
              <a:pPr algn="r" rtl="1">
                <a:lnSpc>
                  <a:spcPts val="4235"/>
                </a:lnSpc>
              </a:pPr>
              <a:r>
                <a:rPr lang="en-US" sz="3361" dirty="0" err="1">
                  <a:solidFill>
                    <a:srgbClr val="FFFFFF"/>
                  </a:solidFill>
                  <a:cs typeface="PT Bold Heading" panose="02010400000000000000" pitchFamily="2" charset="-78"/>
                </a:rPr>
                <a:t>الطرق</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التي</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يمكن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أن</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تؤثر</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بها</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البصمة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الرقمية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على</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دورة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حياة</a:t>
              </a:r>
              <a:r>
                <a:rPr lang="en-US" sz="3361" dirty="0">
                  <a:solidFill>
                    <a:srgbClr val="FFFFFF"/>
                  </a:solidFill>
                  <a:cs typeface="PT Bold Heading" panose="02010400000000000000" pitchFamily="2" charset="-78"/>
                </a:rPr>
                <a:t> </a:t>
              </a:r>
              <a:r>
                <a:rPr lang="en-US" sz="3361" dirty="0" err="1">
                  <a:solidFill>
                    <a:srgbClr val="FFFFFF"/>
                  </a:solidFill>
                  <a:cs typeface="PT Bold Heading" panose="02010400000000000000" pitchFamily="2" charset="-78"/>
                </a:rPr>
                <a:t>النظام</a:t>
              </a:r>
              <a:r>
                <a:rPr lang="en-US" sz="3361" dirty="0">
                  <a:solidFill>
                    <a:srgbClr val="FFFFFF"/>
                  </a:solidFill>
                  <a:cs typeface="PT Bold Heading" panose="02010400000000000000" pitchFamily="2" charset="-78"/>
                </a:rPr>
                <a:t> :</a:t>
              </a:r>
            </a:p>
          </p:txBody>
        </p:sp>
      </p:grpSp>
      <p:grpSp>
        <p:nvGrpSpPr>
          <p:cNvPr id="18" name="Group 18"/>
          <p:cNvGrpSpPr/>
          <p:nvPr/>
        </p:nvGrpSpPr>
        <p:grpSpPr>
          <a:xfrm>
            <a:off x="2023167" y="3778195"/>
            <a:ext cx="4695084" cy="4678481"/>
            <a:chOff x="0" y="0"/>
            <a:chExt cx="6260113" cy="6237974"/>
          </a:xfrm>
        </p:grpSpPr>
        <p:sp>
          <p:nvSpPr>
            <p:cNvPr id="20" name="Freeform 20"/>
            <p:cNvSpPr/>
            <p:nvPr/>
          </p:nvSpPr>
          <p:spPr>
            <a:xfrm>
              <a:off x="13915" y="0"/>
              <a:ext cx="6210138" cy="623797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2" name="Freeform 22"/>
            <p:cNvSpPr/>
            <p:nvPr/>
          </p:nvSpPr>
          <p:spPr>
            <a:xfrm>
              <a:off x="0" y="1441911"/>
              <a:ext cx="6260113" cy="3920396"/>
            </a:xfrm>
            <a:custGeom>
              <a:avLst/>
              <a:gdLst/>
              <a:ahLst/>
              <a:cxnLst/>
              <a:rect l="l" t="t" r="r" b="b"/>
              <a:pathLst>
                <a:path w="6260113" h="3920396">
                  <a:moveTo>
                    <a:pt x="0" y="0"/>
                  </a:moveTo>
                  <a:lnTo>
                    <a:pt x="6260113" y="0"/>
                  </a:lnTo>
                  <a:lnTo>
                    <a:pt x="6260113" y="3920395"/>
                  </a:lnTo>
                  <a:lnTo>
                    <a:pt x="0" y="392039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3" name="Group 23"/>
          <p:cNvGrpSpPr/>
          <p:nvPr/>
        </p:nvGrpSpPr>
        <p:grpSpPr>
          <a:xfrm>
            <a:off x="7065822" y="4151074"/>
            <a:ext cx="9483968" cy="3932722"/>
            <a:chOff x="0" y="0"/>
            <a:chExt cx="12645291" cy="5243630"/>
          </a:xfrm>
        </p:grpSpPr>
        <p:sp>
          <p:nvSpPr>
            <p:cNvPr id="25" name="Freeform 25"/>
            <p:cNvSpPr/>
            <p:nvPr/>
          </p:nvSpPr>
          <p:spPr>
            <a:xfrm>
              <a:off x="0" y="0"/>
              <a:ext cx="12645291" cy="5243630"/>
            </a:xfrm>
            <a:custGeom>
              <a:avLst/>
              <a:gdLst/>
              <a:ahLst/>
              <a:cxnLst/>
              <a:rect l="l" t="t" r="r" b="b"/>
              <a:pathLst>
                <a:path w="3296537" h="1366977">
                  <a:moveTo>
                    <a:pt x="7347" y="0"/>
                  </a:moveTo>
                  <a:lnTo>
                    <a:pt x="3289190" y="0"/>
                  </a:lnTo>
                  <a:cubicBezTo>
                    <a:pt x="3291138" y="0"/>
                    <a:pt x="3293007" y="774"/>
                    <a:pt x="3294385" y="2152"/>
                  </a:cubicBezTo>
                  <a:cubicBezTo>
                    <a:pt x="3295763" y="3530"/>
                    <a:pt x="3296537" y="5398"/>
                    <a:pt x="3296537" y="7347"/>
                  </a:cubicBezTo>
                  <a:lnTo>
                    <a:pt x="3296537" y="1359630"/>
                  </a:lnTo>
                  <a:cubicBezTo>
                    <a:pt x="3296537" y="1361578"/>
                    <a:pt x="3295763" y="1363447"/>
                    <a:pt x="3294385" y="1364825"/>
                  </a:cubicBezTo>
                  <a:cubicBezTo>
                    <a:pt x="3293007" y="1366203"/>
                    <a:pt x="3291138" y="1366977"/>
                    <a:pt x="3289190" y="1366977"/>
                  </a:cubicBezTo>
                  <a:lnTo>
                    <a:pt x="7347" y="1366977"/>
                  </a:lnTo>
                  <a:cubicBezTo>
                    <a:pt x="5398" y="1366977"/>
                    <a:pt x="3530" y="1366203"/>
                    <a:pt x="2152" y="1364825"/>
                  </a:cubicBezTo>
                  <a:cubicBezTo>
                    <a:pt x="774" y="1363447"/>
                    <a:pt x="0" y="1361578"/>
                    <a:pt x="0" y="1359630"/>
                  </a:cubicBezTo>
                  <a:lnTo>
                    <a:pt x="0" y="7347"/>
                  </a:lnTo>
                  <a:cubicBezTo>
                    <a:pt x="0" y="5398"/>
                    <a:pt x="774" y="3530"/>
                    <a:pt x="2152" y="2152"/>
                  </a:cubicBezTo>
                  <a:cubicBezTo>
                    <a:pt x="3530" y="774"/>
                    <a:pt x="5398" y="0"/>
                    <a:pt x="7347" y="0"/>
                  </a:cubicBezTo>
                  <a:close/>
                </a:path>
              </a:pathLst>
            </a:custGeom>
            <a:solidFill>
              <a:srgbClr val="FFFFFF"/>
            </a:solidFill>
            <a:ln w="38100">
              <a:solidFill>
                <a:srgbClr val="959E9D"/>
              </a:solidFill>
            </a:ln>
          </p:spPr>
          <p:txBody>
            <a:bodyPr/>
            <a:lstStyle/>
            <a:p>
              <a:pPr algn="r" rtl="1"/>
              <a:endParaRPr lang="ar-SA">
                <a:cs typeface="PT Bold Heading" panose="02010400000000000000" pitchFamily="2" charset="-78"/>
              </a:endParaRPr>
            </a:p>
          </p:txBody>
        </p:sp>
        <p:sp>
          <p:nvSpPr>
            <p:cNvPr id="28" name="Freeform 28"/>
            <p:cNvSpPr/>
            <p:nvPr/>
          </p:nvSpPr>
          <p:spPr>
            <a:xfrm>
              <a:off x="2555248" y="347195"/>
              <a:ext cx="7610995" cy="897825"/>
            </a:xfrm>
            <a:custGeom>
              <a:avLst/>
              <a:gdLst/>
              <a:ahLst/>
              <a:cxnLst/>
              <a:rect l="l" t="t" r="r" b="b"/>
              <a:pathLst>
                <a:path w="1455554" h="171703">
                  <a:moveTo>
                    <a:pt x="0" y="0"/>
                  </a:moveTo>
                  <a:lnTo>
                    <a:pt x="1455554" y="0"/>
                  </a:lnTo>
                  <a:lnTo>
                    <a:pt x="1455554" y="171703"/>
                  </a:lnTo>
                  <a:lnTo>
                    <a:pt x="0" y="171703"/>
                  </a:ln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30" name="TextBox 30"/>
            <p:cNvSpPr txBox="1"/>
            <p:nvPr/>
          </p:nvSpPr>
          <p:spPr>
            <a:xfrm>
              <a:off x="445669" y="1531188"/>
              <a:ext cx="11753952" cy="3071183"/>
            </a:xfrm>
            <a:prstGeom prst="rect">
              <a:avLst/>
            </a:prstGeom>
          </p:spPr>
          <p:txBody>
            <a:bodyPr lIns="0" tIns="0" rIns="0" bIns="0" rtlCol="0" anchor="t">
              <a:spAutoFit/>
            </a:bodyPr>
            <a:lstStyle/>
            <a:p>
              <a:pPr algn="ctr" rtl="1">
                <a:lnSpc>
                  <a:spcPts val="3618"/>
                </a:lnSpc>
              </a:pPr>
              <a:r>
                <a:rPr lang="en-US" sz="2871" dirty="0">
                  <a:solidFill>
                    <a:srgbClr val="191C1C"/>
                  </a:solidFill>
                  <a:latin typeface="PT Bold Heading"/>
                  <a:cs typeface="PT Bold Heading" panose="02010400000000000000" pitchFamily="2" charset="-78"/>
                </a:rPr>
                <a:t> </a:t>
              </a:r>
              <a:r>
                <a:rPr lang="en-US" sz="2871" dirty="0" err="1">
                  <a:solidFill>
                    <a:srgbClr val="191C1C"/>
                  </a:solidFill>
                  <a:cs typeface="PT Bold Heading" panose="02010400000000000000" pitchFamily="2" charset="-78"/>
                </a:rPr>
                <a:t>يجب</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على</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المؤسسات</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مراقبة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بصمتها</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الرقمية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بانتظام</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لتحديد</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أي</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أخطار</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محتملة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قد</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تؤثر</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على</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دورة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المراقبة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حياة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النظام</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والاستجابة</a:t>
              </a:r>
              <a:r>
                <a:rPr lang="en-US" sz="2871" dirty="0">
                  <a:solidFill>
                    <a:srgbClr val="191C1C"/>
                  </a:solidFill>
                  <a:cs typeface="PT Bold Heading" panose="02010400000000000000" pitchFamily="2" charset="-78"/>
                </a:rPr>
                <a:t> </a:t>
              </a:r>
              <a:r>
                <a:rPr lang="en-US" sz="2871" dirty="0" err="1">
                  <a:solidFill>
                    <a:srgbClr val="191C1C"/>
                  </a:solidFill>
                  <a:cs typeface="PT Bold Heading" panose="02010400000000000000" pitchFamily="2" charset="-78"/>
                </a:rPr>
                <a:t>لها</a:t>
              </a:r>
              <a:r>
                <a:rPr lang="en-US" sz="2871" dirty="0">
                  <a:solidFill>
                    <a:srgbClr val="191C1C"/>
                  </a:solidFill>
                  <a:cs typeface="PT Bold Heading" panose="02010400000000000000" pitchFamily="2" charset="-78"/>
                </a:rPr>
                <a:t>، </a:t>
              </a:r>
              <a:r>
                <a:rPr lang="en-US" sz="2871" dirty="0" err="1">
                  <a:solidFill>
                    <a:srgbClr val="2654A4"/>
                  </a:solidFill>
                  <a:cs typeface="PT Bold Heading" panose="02010400000000000000" pitchFamily="2" charset="-78"/>
                </a:rPr>
                <a:t>ويشمل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ذلك</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مراقبة</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وسائل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التواصل</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الاجتماعي</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والمنصات</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الرقمية</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الأخرى</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لتحديد</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أي</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أخطار</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أمنية</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محتملة</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أو</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مشكلات</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تتعلق</a:t>
              </a:r>
              <a:r>
                <a:rPr lang="en-US" sz="2871" dirty="0">
                  <a:solidFill>
                    <a:srgbClr val="2654A4"/>
                  </a:solidFill>
                  <a:cs typeface="PT Bold Heading" panose="02010400000000000000" pitchFamily="2" charset="-78"/>
                </a:rPr>
                <a:t> </a:t>
              </a:r>
              <a:r>
                <a:rPr lang="en-US" sz="2871" dirty="0" err="1">
                  <a:solidFill>
                    <a:srgbClr val="2654A4"/>
                  </a:solidFill>
                  <a:cs typeface="PT Bold Heading" panose="02010400000000000000" pitchFamily="2" charset="-78"/>
                </a:rPr>
                <a:t>بالسمعة</a:t>
              </a:r>
              <a:r>
                <a:rPr lang="en-US" sz="2871" dirty="0">
                  <a:solidFill>
                    <a:srgbClr val="2654A4"/>
                  </a:solidFill>
                  <a:cs typeface="PT Bold Heading" panose="02010400000000000000" pitchFamily="2" charset="-78"/>
                </a:rPr>
                <a:t> .</a:t>
              </a:r>
            </a:p>
          </p:txBody>
        </p:sp>
        <p:sp>
          <p:nvSpPr>
            <p:cNvPr id="31" name="TextBox 31"/>
            <p:cNvSpPr txBox="1"/>
            <p:nvPr/>
          </p:nvSpPr>
          <p:spPr>
            <a:xfrm>
              <a:off x="2785727" y="475873"/>
              <a:ext cx="6695198" cy="626924"/>
            </a:xfrm>
            <a:prstGeom prst="rect">
              <a:avLst/>
            </a:prstGeom>
          </p:spPr>
          <p:txBody>
            <a:bodyPr lIns="0" tIns="0" rIns="0" bIns="0" rtlCol="0" anchor="t">
              <a:spAutoFit/>
            </a:bodyPr>
            <a:lstStyle/>
            <a:p>
              <a:pPr algn="ctr" rtl="1">
                <a:lnSpc>
                  <a:spcPts val="3744"/>
                </a:lnSpc>
              </a:pPr>
              <a:r>
                <a:rPr lang="en-US" sz="2971">
                  <a:solidFill>
                    <a:srgbClr val="FFFFFF"/>
                  </a:solidFill>
                  <a:cs typeface="PT Bold Heading" panose="02010400000000000000" pitchFamily="2" charset="-78"/>
                </a:rPr>
                <a:t>المراقبة  Monitoring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par>
                                <p:cTn id="13" presetID="22" presetClass="entr" presetSubtype="4"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85578" y="1028700"/>
            <a:ext cx="9116845" cy="1104756"/>
            <a:chOff x="0" y="0"/>
            <a:chExt cx="12155793" cy="1473008"/>
          </a:xfrm>
        </p:grpSpPr>
        <p:sp>
          <p:nvSpPr>
            <p:cNvPr id="4" name="Freeform 4"/>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2A8D87">
                <a:alpha val="73725"/>
              </a:srgbClr>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9" name="TextBox 9"/>
            <p:cNvSpPr txBox="1"/>
            <p:nvPr/>
          </p:nvSpPr>
          <p:spPr>
            <a:xfrm>
              <a:off x="622470" y="274018"/>
              <a:ext cx="10791289" cy="802479"/>
            </a:xfrm>
            <a:prstGeom prst="rect">
              <a:avLst/>
            </a:prstGeom>
          </p:spPr>
          <p:txBody>
            <a:bodyPr lIns="0" tIns="0" rIns="0" bIns="0" rtlCol="0" anchor="t">
              <a:spAutoFit/>
            </a:bodyPr>
            <a:lstStyle/>
            <a:p>
              <a:pPr algn="ctr" rtl="1">
                <a:lnSpc>
                  <a:spcPts val="4322"/>
                </a:lnSpc>
              </a:pPr>
              <a:r>
                <a:rPr lang="en-US" sz="4410">
                  <a:solidFill>
                    <a:srgbClr val="17383E"/>
                  </a:solidFill>
                  <a:cs typeface="PT Bold Heading" panose="02010400000000000000" pitchFamily="2" charset="-78"/>
                </a:rPr>
                <a:t>آثار التعقب الرقمية Digital Traces</a:t>
              </a:r>
            </a:p>
          </p:txBody>
        </p:sp>
      </p:grpSp>
      <p:grpSp>
        <p:nvGrpSpPr>
          <p:cNvPr id="10" name="Group 10"/>
          <p:cNvGrpSpPr/>
          <p:nvPr/>
        </p:nvGrpSpPr>
        <p:grpSpPr>
          <a:xfrm>
            <a:off x="951140" y="3843678"/>
            <a:ext cx="4340159" cy="4359613"/>
            <a:chOff x="12965" y="0"/>
            <a:chExt cx="5786878" cy="5812817"/>
          </a:xfrm>
        </p:grpSpPr>
        <p:sp>
          <p:nvSpPr>
            <p:cNvPr id="12" name="Freeform 12"/>
            <p:cNvSpPr/>
            <p:nvPr/>
          </p:nvSpPr>
          <p:spPr>
            <a:xfrm>
              <a:off x="12965" y="0"/>
              <a:ext cx="5786878" cy="5812817"/>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14" name="Freeform 14"/>
            <p:cNvSpPr/>
            <p:nvPr/>
          </p:nvSpPr>
          <p:spPr>
            <a:xfrm>
              <a:off x="642786" y="855321"/>
              <a:ext cx="4527245" cy="4000953"/>
            </a:xfrm>
            <a:custGeom>
              <a:avLst/>
              <a:gdLst/>
              <a:ahLst/>
              <a:cxnLst/>
              <a:rect l="l" t="t" r="r" b="b"/>
              <a:pathLst>
                <a:path w="4527245" h="4000953">
                  <a:moveTo>
                    <a:pt x="0" y="0"/>
                  </a:moveTo>
                  <a:lnTo>
                    <a:pt x="4527245" y="0"/>
                  </a:lnTo>
                  <a:lnTo>
                    <a:pt x="4527245" y="4000953"/>
                  </a:lnTo>
                  <a:lnTo>
                    <a:pt x="0" y="40009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5" name="Group 15"/>
          <p:cNvGrpSpPr/>
          <p:nvPr/>
        </p:nvGrpSpPr>
        <p:grpSpPr>
          <a:xfrm>
            <a:off x="5635619" y="3710374"/>
            <a:ext cx="12025841" cy="4633525"/>
            <a:chOff x="0" y="0"/>
            <a:chExt cx="16034455" cy="4453080"/>
          </a:xfrm>
        </p:grpSpPr>
        <p:sp>
          <p:nvSpPr>
            <p:cNvPr id="17" name="Freeform 17"/>
            <p:cNvSpPr/>
            <p:nvPr/>
          </p:nvSpPr>
          <p:spPr>
            <a:xfrm>
              <a:off x="10930803" y="7019"/>
              <a:ext cx="5103652" cy="4446061"/>
            </a:xfrm>
            <a:custGeom>
              <a:avLst/>
              <a:gdLst/>
              <a:ahLst/>
              <a:cxnLst/>
              <a:rect l="l" t="t" r="r" b="b"/>
              <a:pathLst>
                <a:path w="980986" h="854589">
                  <a:moveTo>
                    <a:pt x="0" y="0"/>
                  </a:moveTo>
                  <a:lnTo>
                    <a:pt x="980986" y="0"/>
                  </a:lnTo>
                  <a:lnTo>
                    <a:pt x="980986" y="854589"/>
                  </a:lnTo>
                  <a:lnTo>
                    <a:pt x="0" y="854589"/>
                  </a:lnTo>
                  <a:close/>
                </a:path>
              </a:pathLst>
            </a:custGeom>
            <a:solidFill>
              <a:srgbClr val="5BC4BF">
                <a:alpha val="32941"/>
              </a:srgbClr>
            </a:solidFill>
            <a:ln>
              <a:noFill/>
            </a:ln>
          </p:spPr>
          <p:txBody>
            <a:bodyPr/>
            <a:lstStyle/>
            <a:p>
              <a:pPr algn="r" rtl="1"/>
              <a:endParaRPr lang="ar-SA">
                <a:cs typeface="PT Bold Heading" panose="02010400000000000000" pitchFamily="2" charset="-78"/>
              </a:endParaRPr>
            </a:p>
          </p:txBody>
        </p:sp>
        <p:sp>
          <p:nvSpPr>
            <p:cNvPr id="20" name="Freeform 20"/>
            <p:cNvSpPr/>
            <p:nvPr/>
          </p:nvSpPr>
          <p:spPr>
            <a:xfrm>
              <a:off x="0" y="0"/>
              <a:ext cx="10930803" cy="4446061"/>
            </a:xfrm>
            <a:custGeom>
              <a:avLst/>
              <a:gdLst/>
              <a:ahLst/>
              <a:cxnLst/>
              <a:rect l="l" t="t" r="r" b="b"/>
              <a:pathLst>
                <a:path w="2101037" h="854589">
                  <a:moveTo>
                    <a:pt x="0" y="0"/>
                  </a:moveTo>
                  <a:lnTo>
                    <a:pt x="2101037" y="0"/>
                  </a:lnTo>
                  <a:lnTo>
                    <a:pt x="2101037" y="854589"/>
                  </a:lnTo>
                  <a:lnTo>
                    <a:pt x="0" y="854589"/>
                  </a:lnTo>
                  <a:close/>
                </a:path>
              </a:pathLst>
            </a:custGeom>
            <a:solidFill>
              <a:srgbClr val="FEE56E">
                <a:alpha val="32941"/>
              </a:srgbClr>
            </a:solidFill>
            <a:ln>
              <a:noFill/>
            </a:ln>
          </p:spPr>
          <p:txBody>
            <a:bodyPr/>
            <a:lstStyle/>
            <a:p>
              <a:pPr algn="r" rtl="1"/>
              <a:endParaRPr lang="ar-SA">
                <a:cs typeface="PT Bold Heading" panose="02010400000000000000" pitchFamily="2" charset="-78"/>
              </a:endParaRPr>
            </a:p>
          </p:txBody>
        </p:sp>
        <p:sp>
          <p:nvSpPr>
            <p:cNvPr id="23" name="Freeform 23"/>
            <p:cNvSpPr/>
            <p:nvPr/>
          </p:nvSpPr>
          <p:spPr>
            <a:xfrm>
              <a:off x="299727" y="240392"/>
              <a:ext cx="15559663" cy="3965277"/>
            </a:xfrm>
            <a:custGeom>
              <a:avLst/>
              <a:gdLst/>
              <a:ahLst/>
              <a:cxnLst/>
              <a:rect l="l" t="t" r="r" b="b"/>
              <a:pathLst>
                <a:path w="3419038" h="871319">
                  <a:moveTo>
                    <a:pt x="5971" y="0"/>
                  </a:moveTo>
                  <a:lnTo>
                    <a:pt x="3413067" y="0"/>
                  </a:lnTo>
                  <a:cubicBezTo>
                    <a:pt x="3416365" y="0"/>
                    <a:pt x="3419038" y="2673"/>
                    <a:pt x="3419038" y="5971"/>
                  </a:cubicBezTo>
                  <a:lnTo>
                    <a:pt x="3419038" y="865348"/>
                  </a:lnTo>
                  <a:cubicBezTo>
                    <a:pt x="3419038" y="868646"/>
                    <a:pt x="3416365" y="871319"/>
                    <a:pt x="3413067" y="871319"/>
                  </a:cubicBezTo>
                  <a:lnTo>
                    <a:pt x="5971" y="871319"/>
                  </a:lnTo>
                  <a:cubicBezTo>
                    <a:pt x="2673" y="871319"/>
                    <a:pt x="0" y="868646"/>
                    <a:pt x="0" y="865348"/>
                  </a:cubicBezTo>
                  <a:lnTo>
                    <a:pt x="0" y="5971"/>
                  </a:lnTo>
                  <a:cubicBezTo>
                    <a:pt x="0" y="2673"/>
                    <a:pt x="2673" y="0"/>
                    <a:pt x="5971"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25" name="TextBox 25"/>
            <p:cNvSpPr txBox="1"/>
            <p:nvPr/>
          </p:nvSpPr>
          <p:spPr>
            <a:xfrm>
              <a:off x="772085" y="511073"/>
              <a:ext cx="14815055" cy="3642169"/>
            </a:xfrm>
            <a:prstGeom prst="rect">
              <a:avLst/>
            </a:prstGeom>
          </p:spPr>
          <p:txBody>
            <a:bodyPr lIns="0" tIns="0" rIns="0" bIns="0" rtlCol="0" anchor="t">
              <a:spAutoFit/>
            </a:bodyPr>
            <a:lstStyle/>
            <a:p>
              <a:pPr marL="721018" lvl="1" indent="-360509" algn="r" rtl="1">
                <a:lnSpc>
                  <a:spcPct val="150000"/>
                </a:lnSpc>
                <a:buFont typeface="Arial"/>
                <a:buChar char="•"/>
              </a:pPr>
              <a:r>
                <a:rPr lang="en-US" sz="3339" dirty="0" err="1">
                  <a:solidFill>
                    <a:srgbClr val="2A8D87"/>
                  </a:solidFill>
                  <a:cs typeface="PT Bold Heading" panose="02010400000000000000" pitchFamily="2" charset="-78"/>
                </a:rPr>
                <a:t>تعد</a:t>
              </a:r>
              <a:r>
                <a:rPr lang="en-US" sz="3339" dirty="0">
                  <a:solidFill>
                    <a:srgbClr val="2A8D87"/>
                  </a:solidFill>
                  <a:cs typeface="PT Bold Heading" panose="02010400000000000000" pitchFamily="2" charset="-78"/>
                </a:rPr>
                <a:t> </a:t>
              </a:r>
              <a:r>
                <a:rPr lang="en-US" sz="3339" dirty="0" err="1">
                  <a:solidFill>
                    <a:srgbClr val="2A8D87"/>
                  </a:solidFill>
                  <a:cs typeface="PT Bold Heading" panose="02010400000000000000" pitchFamily="2" charset="-78"/>
                </a:rPr>
                <a:t>آثار</a:t>
              </a:r>
              <a:r>
                <a:rPr lang="en-US" sz="3339" dirty="0">
                  <a:solidFill>
                    <a:srgbClr val="2A8D87"/>
                  </a:solidFill>
                  <a:cs typeface="PT Bold Heading" panose="02010400000000000000" pitchFamily="2" charset="-78"/>
                </a:rPr>
                <a:t> </a:t>
              </a:r>
              <a:r>
                <a:rPr lang="en-US" sz="3339" dirty="0" err="1">
                  <a:solidFill>
                    <a:srgbClr val="2A8D87"/>
                  </a:solidFill>
                  <a:cs typeface="PT Bold Heading" panose="02010400000000000000" pitchFamily="2" charset="-78"/>
                </a:rPr>
                <a:t>التعقب</a:t>
              </a:r>
              <a:r>
                <a:rPr lang="en-US" sz="3339" dirty="0">
                  <a:solidFill>
                    <a:srgbClr val="2A8D87"/>
                  </a:solidFill>
                  <a:cs typeface="PT Bold Heading" panose="02010400000000000000" pitchFamily="2" charset="-78"/>
                </a:rPr>
                <a:t> </a:t>
              </a:r>
              <a:r>
                <a:rPr lang="en-US" sz="3339" dirty="0" err="1">
                  <a:solidFill>
                    <a:srgbClr val="2A8D87"/>
                  </a:solidFill>
                  <a:cs typeface="PT Bold Heading" panose="02010400000000000000" pitchFamily="2" charset="-78"/>
                </a:rPr>
                <a:t>الرقمية</a:t>
              </a:r>
              <a:r>
                <a:rPr lang="en-US" sz="3339" dirty="0">
                  <a:solidFill>
                    <a:srgbClr val="2A8D87"/>
                  </a:solidFill>
                  <a:cs typeface="PT Bold Heading" panose="02010400000000000000" pitchFamily="2" charset="-78"/>
                </a:rPr>
                <a:t> : </a:t>
              </a:r>
              <a:r>
                <a:rPr lang="ar-SA" sz="3339" dirty="0">
                  <a:solidFill>
                    <a:srgbClr val="2A8D87"/>
                  </a:solidFill>
                  <a:cs typeface="PT Bold Heading" panose="02010400000000000000" pitchFamily="2" charset="-78"/>
                </a:rPr>
                <a:t> </a:t>
              </a:r>
              <a:r>
                <a:rPr lang="en-US" sz="3339" dirty="0" err="1">
                  <a:solidFill>
                    <a:srgbClr val="000000"/>
                  </a:solidFill>
                  <a:cs typeface="PT Bold Heading" panose="02010400000000000000" pitchFamily="2" charset="-78"/>
                </a:rPr>
                <a:t>كالآثار</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الطبيعية</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وتتراكم</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لإنشاء</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بصمتك</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الرقمية</a:t>
              </a:r>
              <a:r>
                <a:rPr lang="en-US" sz="3339" dirty="0">
                  <a:solidFill>
                    <a:srgbClr val="000000"/>
                  </a:solidFill>
                  <a:cs typeface="PT Bold Heading" panose="02010400000000000000" pitchFamily="2" charset="-78"/>
                </a:rPr>
                <a:t>، </a:t>
              </a:r>
              <a:r>
                <a:rPr lang="en-US" sz="3339" dirty="0" err="1">
                  <a:solidFill>
                    <a:srgbClr val="000000"/>
                  </a:solidFill>
                  <a:cs typeface="PT Bold Heading" panose="02010400000000000000" pitchFamily="2" charset="-78"/>
                </a:rPr>
                <a:t>حيث</a:t>
              </a:r>
              <a:r>
                <a:rPr lang="en-US" sz="3339" dirty="0">
                  <a:solidFill>
                    <a:srgbClr val="000000"/>
                  </a:solidFill>
                  <a:cs typeface="PT Bold Heading" panose="02010400000000000000" pitchFamily="2" charset="-78"/>
                </a:rPr>
                <a:t> </a:t>
              </a:r>
              <a:r>
                <a:rPr lang="en-US" sz="3339" dirty="0" err="1">
                  <a:solidFill>
                    <a:srgbClr val="2654A4"/>
                  </a:solidFill>
                  <a:cs typeface="PT Bold Heading" panose="02010400000000000000" pitchFamily="2" charset="-78"/>
                </a:rPr>
                <a:t>تتضمن</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البصمة</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الرقمية</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الخاصة</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بك</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جميع</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آثار</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نشاطك</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عبر</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الإنترنت</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بما</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في</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ذلك</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تعليقاتك</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على</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المقالات</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الإخبارية</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والمنشورات</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على</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وسائل</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التواصل</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الاجتماعي</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وسجلات</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عمليات</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الشراء</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عبر</a:t>
              </a:r>
              <a:r>
                <a:rPr lang="en-US" sz="3339" dirty="0">
                  <a:solidFill>
                    <a:srgbClr val="2654A4"/>
                  </a:solidFill>
                  <a:cs typeface="PT Bold Heading" panose="02010400000000000000" pitchFamily="2" charset="-78"/>
                </a:rPr>
                <a:t> </a:t>
              </a:r>
              <a:r>
                <a:rPr lang="en-US" sz="3339" dirty="0" err="1">
                  <a:solidFill>
                    <a:srgbClr val="2654A4"/>
                  </a:solidFill>
                  <a:cs typeface="PT Bold Heading" panose="02010400000000000000" pitchFamily="2" charset="-78"/>
                </a:rPr>
                <a:t>الإنترنت</a:t>
              </a:r>
              <a:r>
                <a:rPr lang="en-US" sz="3339" dirty="0">
                  <a:solidFill>
                    <a:srgbClr val="2654A4"/>
                  </a:solidFill>
                  <a:cs typeface="PT Bold Heading" panose="02010400000000000000" pitchFamily="2" charset="-78"/>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5AF70052-9D67-43AD-6E40-9D96DEBAEF73}"/>
              </a:ext>
            </a:extLst>
          </p:cNvPr>
          <p:cNvSpPr>
            <a:spLocks noGrp="1"/>
          </p:cNvSpPr>
          <p:nvPr>
            <p:ph idx="1"/>
          </p:nvPr>
        </p:nvSpPr>
        <p:spPr>
          <a:xfrm>
            <a:off x="1446624" y="2644959"/>
            <a:ext cx="15561296" cy="2084121"/>
          </a:xfrm>
        </p:spPr>
        <p:txBody>
          <a:bodyPr>
            <a:normAutofit/>
          </a:bodyPr>
          <a:lstStyle/>
          <a:p>
            <a:pPr marL="0" indent="-54000" defTabSz="1371600">
              <a:lnSpc>
                <a:spcPct val="150000"/>
              </a:lnSpc>
              <a:spcBef>
                <a:spcPts val="0"/>
              </a:spcBef>
              <a:buNone/>
              <a:defRPr/>
            </a:pPr>
            <a:r>
              <a:rPr lang="ar-SA" sz="3600" b="1" dirty="0">
                <a:solidFill>
                  <a:srgbClr val="0070C0"/>
                </a:solidFill>
                <a:latin typeface="Adobe Arabic" panose="02040503050201020203" pitchFamily="18" charset="-78"/>
                <a:cs typeface="Adobe Arabic" panose="02040503050201020203" pitchFamily="18" charset="-78"/>
              </a:rPr>
              <a:t>طالبتي الرائعة،، </a:t>
            </a:r>
            <a:r>
              <a:rPr lang="ar-SA" sz="3600" b="1" dirty="0">
                <a:solidFill>
                  <a:srgbClr val="C31828"/>
                </a:solidFill>
                <a:latin typeface="Adobe Arabic" panose="02040503050201020203" pitchFamily="18" charset="-78"/>
                <a:cs typeface="Adobe Arabic" panose="02040503050201020203" pitchFamily="18" charset="-78"/>
              </a:rPr>
              <a:t>حددي التأثير التي يمكن أن تؤثر به البصمة الرقمية على دورة حياة النظام بناء على التصرفات التالية:</a:t>
            </a:r>
          </a:p>
        </p:txBody>
      </p:sp>
      <p:sp>
        <p:nvSpPr>
          <p:cNvPr id="4" name="مستطيل 3">
            <a:extLst>
              <a:ext uri="{FF2B5EF4-FFF2-40B4-BE49-F238E27FC236}">
                <a16:creationId xmlns:a16="http://schemas.microsoft.com/office/drawing/2014/main" id="{B085ABE6-5E97-1C91-768D-4C578A9D303C}"/>
              </a:ext>
            </a:extLst>
          </p:cNvPr>
          <p:cNvSpPr/>
          <p:nvPr/>
        </p:nvSpPr>
        <p:spPr>
          <a:xfrm>
            <a:off x="3504701" y="6408587"/>
            <a:ext cx="4472267" cy="85048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3000" dirty="0">
                <a:solidFill>
                  <a:schemeClr val="tx1"/>
                </a:solidFill>
                <a:latin typeface="Calibri" panose="020F0502020204030204" pitchFamily="34" charset="0"/>
                <a:cs typeface="Sakkal Majalla" panose="02000000000000000000" pitchFamily="2" charset="-78"/>
              </a:rPr>
              <a:t>الأخطار الأمنية</a:t>
            </a:r>
          </a:p>
          <a:p>
            <a:pPr algn="ctr" rtl="1"/>
            <a:r>
              <a:rPr lang="ar-SA" sz="3000" dirty="0">
                <a:solidFill>
                  <a:schemeClr val="tx1"/>
                </a:solidFill>
                <a:latin typeface="Calibri" panose="020F0502020204030204" pitchFamily="34" charset="0"/>
                <a:cs typeface="Sakkal Majalla" panose="02000000000000000000" pitchFamily="2" charset="-78"/>
              </a:rPr>
              <a:t> </a:t>
            </a:r>
            <a:r>
              <a:rPr lang="en-US" sz="3000" dirty="0">
                <a:solidFill>
                  <a:schemeClr val="tx1"/>
                </a:solidFill>
                <a:latin typeface="Calibri" panose="020F0502020204030204" pitchFamily="34" charset="0"/>
                <a:cs typeface="Sakkal Majalla" panose="02000000000000000000" pitchFamily="2" charset="-78"/>
              </a:rPr>
              <a:t>Security Risks</a:t>
            </a:r>
            <a:endParaRPr lang="ar-SA" sz="3000" dirty="0">
              <a:solidFill>
                <a:schemeClr val="tx1"/>
              </a:solidFill>
              <a:latin typeface="Calibri" panose="020F0502020204030204" pitchFamily="34" charset="0"/>
              <a:cs typeface="Sakkal Majalla" panose="02000000000000000000" pitchFamily="2" charset="-78"/>
            </a:endParaRPr>
          </a:p>
        </p:txBody>
      </p:sp>
      <p:sp>
        <p:nvSpPr>
          <p:cNvPr id="5" name="مستطيل 4">
            <a:extLst>
              <a:ext uri="{FF2B5EF4-FFF2-40B4-BE49-F238E27FC236}">
                <a16:creationId xmlns:a16="http://schemas.microsoft.com/office/drawing/2014/main" id="{C2BB2F3F-26B4-84FA-3833-A2ADA6F1B8C8}"/>
              </a:ext>
            </a:extLst>
          </p:cNvPr>
          <p:cNvSpPr/>
          <p:nvPr/>
        </p:nvSpPr>
        <p:spPr>
          <a:xfrm>
            <a:off x="11497095" y="6412859"/>
            <a:ext cx="4483383" cy="850481"/>
          </a:xfrm>
          <a:prstGeom prst="rect">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1371600" rtl="1">
              <a:defRPr/>
            </a:pPr>
            <a:r>
              <a:rPr lang="ar-BH" sz="3000" dirty="0">
                <a:solidFill>
                  <a:schemeClr val="tx1"/>
                </a:solidFill>
                <a:latin typeface="Calibri" panose="020F0502020204030204" pitchFamily="34" charset="0"/>
                <a:cs typeface="Sakkal Majalla" panose="02000000000000000000" pitchFamily="2" charset="-78"/>
              </a:rPr>
              <a:t>إدارة السمعة</a:t>
            </a:r>
          </a:p>
          <a:p>
            <a:pPr algn="ctr" defTabSz="1371600" rtl="1">
              <a:defRPr/>
            </a:pPr>
            <a:r>
              <a:rPr lang="en-US" sz="3000" dirty="0">
                <a:solidFill>
                  <a:schemeClr val="tx1"/>
                </a:solidFill>
              </a:rPr>
              <a:t>Reputation Management</a:t>
            </a:r>
            <a:endParaRPr lang="ar-SA" sz="3000" dirty="0">
              <a:solidFill>
                <a:schemeClr val="tx1"/>
              </a:solidFill>
              <a:latin typeface="Calibri" panose="020F0502020204030204" pitchFamily="34" charset="0"/>
              <a:cs typeface="Sakkal Majalla" panose="02000000000000000000" pitchFamily="2" charset="-78"/>
            </a:endParaRPr>
          </a:p>
        </p:txBody>
      </p:sp>
      <p:sp>
        <p:nvSpPr>
          <p:cNvPr id="6" name="مستطيل 5">
            <a:extLst>
              <a:ext uri="{FF2B5EF4-FFF2-40B4-BE49-F238E27FC236}">
                <a16:creationId xmlns:a16="http://schemas.microsoft.com/office/drawing/2014/main" id="{9D5AB12E-99B2-2E14-8EB7-F7FD4E2ADD9B}"/>
              </a:ext>
            </a:extLst>
          </p:cNvPr>
          <p:cNvSpPr/>
          <p:nvPr/>
        </p:nvSpPr>
        <p:spPr>
          <a:xfrm>
            <a:off x="11497094" y="7642045"/>
            <a:ext cx="4483383" cy="85048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1371600" rtl="1">
              <a:defRPr/>
            </a:pPr>
            <a:r>
              <a:rPr lang="ar-BH" sz="3000" dirty="0">
                <a:solidFill>
                  <a:schemeClr val="tx1"/>
                </a:solidFill>
                <a:latin typeface="Calibri" panose="020F0502020204030204" pitchFamily="34" charset="0"/>
                <a:cs typeface="Sakkal Majalla" panose="02000000000000000000" pitchFamily="2" charset="-78"/>
              </a:rPr>
              <a:t>التوافق</a:t>
            </a:r>
          </a:p>
          <a:p>
            <a:pPr algn="ctr" defTabSz="1371600" rtl="1">
              <a:defRPr/>
            </a:pPr>
            <a:r>
              <a:rPr lang="en-US" sz="3000" dirty="0">
                <a:solidFill>
                  <a:schemeClr val="tx1"/>
                </a:solidFill>
              </a:rPr>
              <a:t>Compliance</a:t>
            </a:r>
            <a:endParaRPr lang="ar-SA" sz="3000" dirty="0">
              <a:solidFill>
                <a:schemeClr val="tx1"/>
              </a:solidFill>
              <a:latin typeface="Calibri" panose="020F0502020204030204" pitchFamily="34" charset="0"/>
              <a:cs typeface="Sakkal Majalla" panose="02000000000000000000" pitchFamily="2" charset="-78"/>
            </a:endParaRPr>
          </a:p>
        </p:txBody>
      </p:sp>
      <p:sp>
        <p:nvSpPr>
          <p:cNvPr id="7" name="مستطيل 6">
            <a:extLst>
              <a:ext uri="{FF2B5EF4-FFF2-40B4-BE49-F238E27FC236}">
                <a16:creationId xmlns:a16="http://schemas.microsoft.com/office/drawing/2014/main" id="{8E8D91C3-A187-C2B8-C7A5-6141C5D69602}"/>
              </a:ext>
            </a:extLst>
          </p:cNvPr>
          <p:cNvSpPr/>
          <p:nvPr/>
        </p:nvSpPr>
        <p:spPr>
          <a:xfrm>
            <a:off x="3504702" y="7642045"/>
            <a:ext cx="4483383" cy="850481"/>
          </a:xfrm>
          <a:prstGeom prst="rect">
            <a:avLst/>
          </a:prstGeom>
          <a:noFill/>
          <a:ln w="19050">
            <a:solidFill>
              <a:srgbClr val="D76F62"/>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BH" sz="3000" dirty="0">
                <a:solidFill>
                  <a:schemeClr val="tx1"/>
                </a:solidFill>
                <a:latin typeface="Calibri" panose="020F0502020204030204" pitchFamily="34" charset="0"/>
                <a:cs typeface="Sakkal Majalla" panose="02000000000000000000" pitchFamily="2" charset="-78"/>
              </a:rPr>
              <a:t>المراقبة</a:t>
            </a:r>
          </a:p>
          <a:p>
            <a:pPr algn="ctr" rtl="1"/>
            <a:r>
              <a:rPr lang="en-US" sz="3000" dirty="0">
                <a:solidFill>
                  <a:schemeClr val="tx1"/>
                </a:solidFill>
              </a:rPr>
              <a:t>Monitoring</a:t>
            </a:r>
            <a:endParaRPr lang="ar-SA" sz="3000" dirty="0">
              <a:solidFill>
                <a:schemeClr val="tx1"/>
              </a:solidFill>
              <a:latin typeface="Calibri" panose="020F0502020204030204" pitchFamily="34" charset="0"/>
              <a:cs typeface="Sakkal Majalla" panose="02000000000000000000" pitchFamily="2" charset="-78"/>
            </a:endParaRPr>
          </a:p>
        </p:txBody>
      </p:sp>
      <p:sp>
        <p:nvSpPr>
          <p:cNvPr id="8" name="مستطيل 7">
            <a:extLst>
              <a:ext uri="{FF2B5EF4-FFF2-40B4-BE49-F238E27FC236}">
                <a16:creationId xmlns:a16="http://schemas.microsoft.com/office/drawing/2014/main" id="{49807A87-1AD7-350E-7AF3-1DFDFBF68AF4}"/>
              </a:ext>
            </a:extLst>
          </p:cNvPr>
          <p:cNvSpPr/>
          <p:nvPr/>
        </p:nvSpPr>
        <p:spPr>
          <a:xfrm>
            <a:off x="1781299" y="4560127"/>
            <a:ext cx="15045158" cy="116675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rtl="1" fontAlgn="t">
              <a:lnSpc>
                <a:spcPct val="107000"/>
              </a:lnSpc>
              <a:spcAft>
                <a:spcPts val="1200"/>
              </a:spcAft>
            </a:pPr>
            <a:r>
              <a:rPr lang="ar-SA" sz="3600" b="1" dirty="0">
                <a:solidFill>
                  <a:schemeClr val="tx1"/>
                </a:solidFill>
                <a:latin typeface="Adobe Arabic" panose="02040503050201020203" pitchFamily="18" charset="-78"/>
                <a:cs typeface="Adobe Arabic" panose="02040503050201020203" pitchFamily="18" charset="-78"/>
              </a:rPr>
              <a:t>شارك الموظف معلومات حساسة عن النظام من غير قصد على وسائل التواصل الاجتماعي، وتم استخدام هذه المعلومات في هجوم احتيالي على المنظمة.</a:t>
            </a:r>
          </a:p>
        </p:txBody>
      </p:sp>
      <p:pic>
        <p:nvPicPr>
          <p:cNvPr id="12" name="رسم 11" descr="شارة علامة 1 مع تعبئة خالصة">
            <a:extLst>
              <a:ext uri="{FF2B5EF4-FFF2-40B4-BE49-F238E27FC236}">
                <a16:creationId xmlns:a16="http://schemas.microsoft.com/office/drawing/2014/main" id="{33CE5094-29DA-91EF-0FAE-FBDA96B03C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988085" y="6109853"/>
            <a:ext cx="1371600" cy="1371600"/>
          </a:xfrm>
          <a:prstGeom prst="rect">
            <a:avLst/>
          </a:prstGeom>
        </p:spPr>
      </p:pic>
      <p:grpSp>
        <p:nvGrpSpPr>
          <p:cNvPr id="9" name="مجموعة 8">
            <a:extLst>
              <a:ext uri="{FF2B5EF4-FFF2-40B4-BE49-F238E27FC236}">
                <a16:creationId xmlns:a16="http://schemas.microsoft.com/office/drawing/2014/main" id="{A02CA69A-4AAC-A2C0-7D61-F1629C435319}"/>
              </a:ext>
            </a:extLst>
          </p:cNvPr>
          <p:cNvGrpSpPr/>
          <p:nvPr/>
        </p:nvGrpSpPr>
        <p:grpSpPr>
          <a:xfrm>
            <a:off x="1858407" y="368566"/>
            <a:ext cx="14665433" cy="2136830"/>
            <a:chOff x="4721019" y="2312028"/>
            <a:chExt cx="12857550" cy="3166092"/>
          </a:xfrm>
        </p:grpSpPr>
        <p:grpSp>
          <p:nvGrpSpPr>
            <p:cNvPr id="10" name="Group 13">
              <a:extLst>
                <a:ext uri="{FF2B5EF4-FFF2-40B4-BE49-F238E27FC236}">
                  <a16:creationId xmlns:a16="http://schemas.microsoft.com/office/drawing/2014/main" id="{F23A0E38-B45D-61FD-C41D-78DE9BABE0A9}"/>
                </a:ext>
              </a:extLst>
            </p:cNvPr>
            <p:cNvGrpSpPr/>
            <p:nvPr/>
          </p:nvGrpSpPr>
          <p:grpSpPr>
            <a:xfrm>
              <a:off x="6018873" y="4515916"/>
              <a:ext cx="11101701" cy="962204"/>
              <a:chOff x="0" y="200392"/>
              <a:chExt cx="14802268" cy="1282937"/>
            </a:xfrm>
          </p:grpSpPr>
          <p:sp>
            <p:nvSpPr>
              <p:cNvPr id="29" name="Freeform 15">
                <a:extLst>
                  <a:ext uri="{FF2B5EF4-FFF2-40B4-BE49-F238E27FC236}">
                    <a16:creationId xmlns:a16="http://schemas.microsoft.com/office/drawing/2014/main" id="{9EE31A84-D068-4B06-124D-CCA6B2EB6300}"/>
                  </a:ext>
                </a:extLst>
              </p:cNvPr>
              <p:cNvSpPr/>
              <p:nvPr/>
            </p:nvSpPr>
            <p:spPr>
              <a:xfrm>
                <a:off x="0" y="212950"/>
                <a:ext cx="14229757" cy="121231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30" name="Freeform 18">
                <a:extLst>
                  <a:ext uri="{FF2B5EF4-FFF2-40B4-BE49-F238E27FC236}">
                    <a16:creationId xmlns:a16="http://schemas.microsoft.com/office/drawing/2014/main" id="{DEB21B34-9D8A-9D02-892E-04A9663BCFD4}"/>
                  </a:ext>
                </a:extLst>
              </p:cNvPr>
              <p:cNvSpPr/>
              <p:nvPr/>
            </p:nvSpPr>
            <p:spPr>
              <a:xfrm>
                <a:off x="14205179" y="200392"/>
                <a:ext cx="597089" cy="1224871"/>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1" name="TextBox 20">
                <a:extLst>
                  <a:ext uri="{FF2B5EF4-FFF2-40B4-BE49-F238E27FC236}">
                    <a16:creationId xmlns:a16="http://schemas.microsoft.com/office/drawing/2014/main" id="{30BD41CC-7370-AE00-32FB-2413E93BE4FD}"/>
                  </a:ext>
                </a:extLst>
              </p:cNvPr>
              <p:cNvSpPr txBox="1"/>
              <p:nvPr/>
            </p:nvSpPr>
            <p:spPr>
              <a:xfrm>
                <a:off x="5844133" y="258458"/>
                <a:ext cx="7200703" cy="1224871"/>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 المناقشة والحوار</a:t>
                </a:r>
                <a:endParaRPr lang="en-US" sz="3200" dirty="0">
                  <a:solidFill>
                    <a:srgbClr val="FFFFFF"/>
                  </a:solidFill>
                  <a:cs typeface="PT Bold Heading" panose="02010400000000000000" pitchFamily="2" charset="-78"/>
                </a:endParaRPr>
              </a:p>
            </p:txBody>
          </p:sp>
        </p:grpSp>
        <p:sp>
          <p:nvSpPr>
            <p:cNvPr id="11" name="Freeform 22">
              <a:extLst>
                <a:ext uri="{FF2B5EF4-FFF2-40B4-BE49-F238E27FC236}">
                  <a16:creationId xmlns:a16="http://schemas.microsoft.com/office/drawing/2014/main" id="{442E95A4-AD62-1712-8A95-BBB5B8E66439}"/>
                </a:ext>
              </a:extLst>
            </p:cNvPr>
            <p:cNvSpPr/>
            <p:nvPr/>
          </p:nvSpPr>
          <p:spPr>
            <a:xfrm>
              <a:off x="6018873" y="2312028"/>
              <a:ext cx="11503024" cy="181564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13" name="Freeform 25">
              <a:extLst>
                <a:ext uri="{FF2B5EF4-FFF2-40B4-BE49-F238E27FC236}">
                  <a16:creationId xmlns:a16="http://schemas.microsoft.com/office/drawing/2014/main" id="{4741F41A-FAC0-3DB0-6513-33AF045D73C0}"/>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4" name="Freeform 28">
              <a:extLst>
                <a:ext uri="{FF2B5EF4-FFF2-40B4-BE49-F238E27FC236}">
                  <a16:creationId xmlns:a16="http://schemas.microsoft.com/office/drawing/2014/main" id="{F9272CCA-4572-CDBA-F6DA-84F2C3018DEA}"/>
                </a:ext>
              </a:extLst>
            </p:cNvPr>
            <p:cNvSpPr/>
            <p:nvPr/>
          </p:nvSpPr>
          <p:spPr>
            <a:xfrm>
              <a:off x="15384091" y="3323646"/>
              <a:ext cx="1860306" cy="624822"/>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15" name="Freeform 31">
              <a:extLst>
                <a:ext uri="{FF2B5EF4-FFF2-40B4-BE49-F238E27FC236}">
                  <a16:creationId xmlns:a16="http://schemas.microsoft.com/office/drawing/2014/main" id="{5D38FCC4-1F31-CF4C-37D1-C5C4C0DA4EDB}"/>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6" name="Freeform 34">
              <a:extLst>
                <a:ext uri="{FF2B5EF4-FFF2-40B4-BE49-F238E27FC236}">
                  <a16:creationId xmlns:a16="http://schemas.microsoft.com/office/drawing/2014/main" id="{C9043DA6-F151-1747-5F28-B475E721ADB4}"/>
                </a:ext>
              </a:extLst>
            </p:cNvPr>
            <p:cNvSpPr/>
            <p:nvPr/>
          </p:nvSpPr>
          <p:spPr>
            <a:xfrm>
              <a:off x="13769349" y="3306693"/>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17" name="TextBox 36">
              <a:extLst>
                <a:ext uri="{FF2B5EF4-FFF2-40B4-BE49-F238E27FC236}">
                  <a16:creationId xmlns:a16="http://schemas.microsoft.com/office/drawing/2014/main" id="{D069616E-091E-7690-E036-EC81737BC2E6}"/>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18" name="TextBox 37">
              <a:extLst>
                <a:ext uri="{FF2B5EF4-FFF2-40B4-BE49-F238E27FC236}">
                  <a16:creationId xmlns:a16="http://schemas.microsoft.com/office/drawing/2014/main" id="{9665FB40-A25B-E431-BC0B-9D138D277441}"/>
                </a:ext>
              </a:extLst>
            </p:cNvPr>
            <p:cNvSpPr txBox="1"/>
            <p:nvPr/>
          </p:nvSpPr>
          <p:spPr>
            <a:xfrm>
              <a:off x="15082665" y="3254615"/>
              <a:ext cx="2495904" cy="720568"/>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19" name="TextBox 38">
              <a:extLst>
                <a:ext uri="{FF2B5EF4-FFF2-40B4-BE49-F238E27FC236}">
                  <a16:creationId xmlns:a16="http://schemas.microsoft.com/office/drawing/2014/main" id="{4AF34599-A7EF-8F7B-EA2F-8E53BD6D9FD5}"/>
                </a:ext>
              </a:extLst>
            </p:cNvPr>
            <p:cNvSpPr txBox="1"/>
            <p:nvPr/>
          </p:nvSpPr>
          <p:spPr>
            <a:xfrm>
              <a:off x="14075170" y="2424585"/>
              <a:ext cx="882808" cy="572882"/>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5</a:t>
              </a:r>
            </a:p>
          </p:txBody>
        </p:sp>
        <p:sp>
          <p:nvSpPr>
            <p:cNvPr id="20" name="TextBox 39">
              <a:extLst>
                <a:ext uri="{FF2B5EF4-FFF2-40B4-BE49-F238E27FC236}">
                  <a16:creationId xmlns:a16="http://schemas.microsoft.com/office/drawing/2014/main" id="{1197C6A7-1019-F2DF-FE3F-2832BB6633E5}"/>
                </a:ext>
              </a:extLst>
            </p:cNvPr>
            <p:cNvSpPr txBox="1"/>
            <p:nvPr/>
          </p:nvSpPr>
          <p:spPr>
            <a:xfrm>
              <a:off x="14102509" y="3206466"/>
              <a:ext cx="882808" cy="743455"/>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3</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21" name="Freeform 41">
              <a:extLst>
                <a:ext uri="{FF2B5EF4-FFF2-40B4-BE49-F238E27FC236}">
                  <a16:creationId xmlns:a16="http://schemas.microsoft.com/office/drawing/2014/main" id="{E74BBD0D-1134-EF97-D4FF-C7776E32F776}"/>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22" name="Freeform 44">
              <a:extLst>
                <a:ext uri="{FF2B5EF4-FFF2-40B4-BE49-F238E27FC236}">
                  <a16:creationId xmlns:a16="http://schemas.microsoft.com/office/drawing/2014/main" id="{F315DE35-201A-1A5B-A3B0-581DFC405BE4}"/>
                </a:ext>
              </a:extLst>
            </p:cNvPr>
            <p:cNvSpPr/>
            <p:nvPr/>
          </p:nvSpPr>
          <p:spPr>
            <a:xfrm>
              <a:off x="11426631" y="3402673"/>
              <a:ext cx="1936166" cy="573415"/>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23" name="Freeform 47">
              <a:extLst>
                <a:ext uri="{FF2B5EF4-FFF2-40B4-BE49-F238E27FC236}">
                  <a16:creationId xmlns:a16="http://schemas.microsoft.com/office/drawing/2014/main" id="{31FB92CB-A7AD-304E-17B1-DA5C3BA56C54}"/>
                </a:ext>
              </a:extLst>
            </p:cNvPr>
            <p:cNvSpPr/>
            <p:nvPr/>
          </p:nvSpPr>
          <p:spPr>
            <a:xfrm>
              <a:off x="6164367" y="2471739"/>
              <a:ext cx="5133210" cy="733569"/>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4" name="Freeform 50">
              <a:extLst>
                <a:ext uri="{FF2B5EF4-FFF2-40B4-BE49-F238E27FC236}">
                  <a16:creationId xmlns:a16="http://schemas.microsoft.com/office/drawing/2014/main" id="{D1C1E72F-53C3-549A-8C79-927F27AFF3E1}"/>
                </a:ext>
              </a:extLst>
            </p:cNvPr>
            <p:cNvSpPr/>
            <p:nvPr/>
          </p:nvSpPr>
          <p:spPr>
            <a:xfrm>
              <a:off x="6293682" y="339614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5" name="TextBox 52">
              <a:extLst>
                <a:ext uri="{FF2B5EF4-FFF2-40B4-BE49-F238E27FC236}">
                  <a16:creationId xmlns:a16="http://schemas.microsoft.com/office/drawing/2014/main" id="{9E4C90FB-6E1F-E28E-8700-A37BEA4DE2A4}"/>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26" name="TextBox 53">
              <a:extLst>
                <a:ext uri="{FF2B5EF4-FFF2-40B4-BE49-F238E27FC236}">
                  <a16:creationId xmlns:a16="http://schemas.microsoft.com/office/drawing/2014/main" id="{16A69CA7-4477-4B63-C7A2-46A26AE60E03}"/>
                </a:ext>
              </a:extLst>
            </p:cNvPr>
            <p:cNvSpPr txBox="1"/>
            <p:nvPr/>
          </p:nvSpPr>
          <p:spPr>
            <a:xfrm>
              <a:off x="11070169" y="3295029"/>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27" name="TextBox 54">
              <a:extLst>
                <a:ext uri="{FF2B5EF4-FFF2-40B4-BE49-F238E27FC236}">
                  <a16:creationId xmlns:a16="http://schemas.microsoft.com/office/drawing/2014/main" id="{BC9CBA79-122D-3AF9-4703-B97D1ACC8D5D}"/>
                </a:ext>
              </a:extLst>
            </p:cNvPr>
            <p:cNvSpPr txBox="1"/>
            <p:nvPr/>
          </p:nvSpPr>
          <p:spPr>
            <a:xfrm>
              <a:off x="4721019" y="2465879"/>
              <a:ext cx="7844947" cy="544380"/>
            </a:xfrm>
            <a:prstGeom prst="rect">
              <a:avLst/>
            </a:prstGeom>
          </p:spPr>
          <p:txBody>
            <a:bodyPr wrap="square" lIns="0" tIns="0" rIns="0" bIns="0" rtlCol="0" anchor="t">
              <a:spAutoFit/>
            </a:bodyPr>
            <a:lstStyle/>
            <a:p>
              <a:pPr algn="ctr" rtl="1">
                <a:lnSpc>
                  <a:spcPts val="3073"/>
                </a:lnSpc>
              </a:pPr>
              <a:r>
                <a:rPr lang="ar-SA" dirty="0">
                  <a:solidFill>
                    <a:srgbClr val="17383E"/>
                  </a:solidFill>
                  <a:cs typeface="PT Bold Heading" panose="02010400000000000000" pitchFamily="2" charset="-78"/>
                </a:rPr>
                <a:t>استنتاج الطريقة التي يمكن أن تؤثر بها البصمة على دورة حياة النظام</a:t>
              </a:r>
              <a:endParaRPr lang="en-US" dirty="0">
                <a:solidFill>
                  <a:srgbClr val="17383E"/>
                </a:solidFill>
                <a:cs typeface="PT Bold Heading" panose="02010400000000000000" pitchFamily="2" charset="-78"/>
              </a:endParaRPr>
            </a:p>
          </p:txBody>
        </p:sp>
        <p:sp>
          <p:nvSpPr>
            <p:cNvPr id="28" name="TextBox 55">
              <a:extLst>
                <a:ext uri="{FF2B5EF4-FFF2-40B4-BE49-F238E27FC236}">
                  <a16:creationId xmlns:a16="http://schemas.microsoft.com/office/drawing/2014/main" id="{63C50588-77F5-6D64-BA8A-BF3AFCCF6734}"/>
                </a:ext>
              </a:extLst>
            </p:cNvPr>
            <p:cNvSpPr txBox="1"/>
            <p:nvPr/>
          </p:nvSpPr>
          <p:spPr>
            <a:xfrm>
              <a:off x="6598020" y="3263076"/>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جماعي</a:t>
              </a:r>
              <a:endParaRPr lang="en-US" dirty="0">
                <a:solidFill>
                  <a:srgbClr val="17383E"/>
                </a:solidFill>
                <a:cs typeface="PT Bold Heading" panose="02010400000000000000" pitchFamily="2" charset="-78"/>
              </a:endParaRPr>
            </a:p>
          </p:txBody>
        </p:sp>
      </p:grpSp>
    </p:spTree>
    <p:extLst>
      <p:ext uri="{BB962C8B-B14F-4D97-AF65-F5344CB8AC3E}">
        <p14:creationId xmlns:p14="http://schemas.microsoft.com/office/powerpoint/2010/main" val="115902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5AF70052-9D67-43AD-6E40-9D96DEBAEF73}"/>
              </a:ext>
            </a:extLst>
          </p:cNvPr>
          <p:cNvSpPr>
            <a:spLocks noGrp="1"/>
          </p:cNvSpPr>
          <p:nvPr>
            <p:ph idx="1"/>
          </p:nvPr>
        </p:nvSpPr>
        <p:spPr>
          <a:xfrm>
            <a:off x="1461545" y="2476005"/>
            <a:ext cx="15561296" cy="2084121"/>
          </a:xfrm>
        </p:spPr>
        <p:txBody>
          <a:bodyPr>
            <a:normAutofit/>
          </a:bodyPr>
          <a:lstStyle/>
          <a:p>
            <a:pPr marL="0" indent="-54000" defTabSz="1371600">
              <a:lnSpc>
                <a:spcPct val="150000"/>
              </a:lnSpc>
              <a:spcBef>
                <a:spcPts val="0"/>
              </a:spcBef>
              <a:buNone/>
              <a:defRPr/>
            </a:pPr>
            <a:r>
              <a:rPr lang="ar-SA" sz="3600" b="1" dirty="0">
                <a:solidFill>
                  <a:srgbClr val="0070C0"/>
                </a:solidFill>
                <a:latin typeface="Adobe Arabic" panose="02040503050201020203" pitchFamily="18" charset="-78"/>
                <a:cs typeface="Adobe Arabic" panose="02040503050201020203" pitchFamily="18" charset="-78"/>
              </a:rPr>
              <a:t>طالبتي الرائعة،، </a:t>
            </a:r>
            <a:endParaRPr lang="ar-SA" sz="3600" b="1" dirty="0">
              <a:solidFill>
                <a:schemeClr val="accent2">
                  <a:lumMod val="75000"/>
                </a:schemeClr>
              </a:solidFill>
              <a:latin typeface="Adobe Arabic" panose="02040503050201020203" pitchFamily="18" charset="-78"/>
              <a:cs typeface="Adobe Arabic" panose="02040503050201020203" pitchFamily="18" charset="-78"/>
            </a:endParaRPr>
          </a:p>
          <a:p>
            <a:pPr marL="0" indent="-54000" defTabSz="1371600">
              <a:lnSpc>
                <a:spcPct val="150000"/>
              </a:lnSpc>
              <a:spcBef>
                <a:spcPts val="0"/>
              </a:spcBef>
              <a:buNone/>
              <a:defRPr/>
            </a:pPr>
            <a:r>
              <a:rPr lang="ar-SA" sz="3600" b="1" dirty="0">
                <a:solidFill>
                  <a:srgbClr val="C31828"/>
                </a:solidFill>
                <a:latin typeface="Adobe Arabic" panose="02040503050201020203" pitchFamily="18" charset="-78"/>
                <a:cs typeface="Adobe Arabic" panose="02040503050201020203" pitchFamily="18" charset="-78"/>
              </a:rPr>
              <a:t>حددي التأثير التي يمكن أن تؤثر به البصمة الرقمية على دورة حياة النظام بناء على التصرفات التالية:</a:t>
            </a:r>
          </a:p>
        </p:txBody>
      </p:sp>
      <p:sp>
        <p:nvSpPr>
          <p:cNvPr id="4" name="مستطيل 3">
            <a:extLst>
              <a:ext uri="{FF2B5EF4-FFF2-40B4-BE49-F238E27FC236}">
                <a16:creationId xmlns:a16="http://schemas.microsoft.com/office/drawing/2014/main" id="{B085ABE6-5E97-1C91-768D-4C578A9D303C}"/>
              </a:ext>
            </a:extLst>
          </p:cNvPr>
          <p:cNvSpPr/>
          <p:nvPr/>
        </p:nvSpPr>
        <p:spPr>
          <a:xfrm>
            <a:off x="3504701" y="6408587"/>
            <a:ext cx="4472267" cy="850481"/>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SA" sz="3000" dirty="0">
                <a:solidFill>
                  <a:schemeClr val="tx1"/>
                </a:solidFill>
                <a:latin typeface="Calibri" panose="020F0502020204030204" pitchFamily="34" charset="0"/>
                <a:cs typeface="Sakkal Majalla" panose="02000000000000000000" pitchFamily="2" charset="-78"/>
              </a:rPr>
              <a:t>الأخطار الأمنية</a:t>
            </a:r>
          </a:p>
          <a:p>
            <a:pPr algn="ctr" rtl="1"/>
            <a:r>
              <a:rPr lang="ar-SA" sz="3000" dirty="0">
                <a:solidFill>
                  <a:schemeClr val="tx1"/>
                </a:solidFill>
                <a:latin typeface="Calibri" panose="020F0502020204030204" pitchFamily="34" charset="0"/>
                <a:cs typeface="Sakkal Majalla" panose="02000000000000000000" pitchFamily="2" charset="-78"/>
              </a:rPr>
              <a:t> </a:t>
            </a:r>
            <a:r>
              <a:rPr lang="en-US" sz="3000" dirty="0">
                <a:solidFill>
                  <a:schemeClr val="tx1"/>
                </a:solidFill>
                <a:latin typeface="Calibri" panose="020F0502020204030204" pitchFamily="34" charset="0"/>
                <a:cs typeface="Sakkal Majalla" panose="02000000000000000000" pitchFamily="2" charset="-78"/>
              </a:rPr>
              <a:t>Security Risks</a:t>
            </a:r>
            <a:endParaRPr lang="ar-SA" sz="3000" dirty="0">
              <a:solidFill>
                <a:schemeClr val="tx1"/>
              </a:solidFill>
              <a:latin typeface="Calibri" panose="020F0502020204030204" pitchFamily="34" charset="0"/>
              <a:cs typeface="Sakkal Majalla" panose="02000000000000000000" pitchFamily="2" charset="-78"/>
            </a:endParaRPr>
          </a:p>
        </p:txBody>
      </p:sp>
      <p:sp>
        <p:nvSpPr>
          <p:cNvPr id="5" name="مستطيل 4">
            <a:extLst>
              <a:ext uri="{FF2B5EF4-FFF2-40B4-BE49-F238E27FC236}">
                <a16:creationId xmlns:a16="http://schemas.microsoft.com/office/drawing/2014/main" id="{C2BB2F3F-26B4-84FA-3833-A2ADA6F1B8C8}"/>
              </a:ext>
            </a:extLst>
          </p:cNvPr>
          <p:cNvSpPr/>
          <p:nvPr/>
        </p:nvSpPr>
        <p:spPr>
          <a:xfrm>
            <a:off x="11497095" y="6412859"/>
            <a:ext cx="4483383" cy="850481"/>
          </a:xfrm>
          <a:prstGeom prst="rect">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1371600" rtl="1">
              <a:defRPr/>
            </a:pPr>
            <a:r>
              <a:rPr lang="ar-BH" sz="3000" dirty="0">
                <a:solidFill>
                  <a:schemeClr val="tx1"/>
                </a:solidFill>
                <a:latin typeface="Calibri" panose="020F0502020204030204" pitchFamily="34" charset="0"/>
                <a:cs typeface="Sakkal Majalla" panose="02000000000000000000" pitchFamily="2" charset="-78"/>
              </a:rPr>
              <a:t>إدارة السمعة</a:t>
            </a:r>
          </a:p>
          <a:p>
            <a:pPr algn="ctr" defTabSz="1371600" rtl="1">
              <a:defRPr/>
            </a:pPr>
            <a:r>
              <a:rPr lang="en-US" sz="3000" dirty="0">
                <a:solidFill>
                  <a:schemeClr val="tx1"/>
                </a:solidFill>
              </a:rPr>
              <a:t>Reputation Management</a:t>
            </a:r>
            <a:endParaRPr lang="ar-SA" sz="3000" dirty="0">
              <a:solidFill>
                <a:schemeClr val="tx1"/>
              </a:solidFill>
              <a:latin typeface="Calibri" panose="020F0502020204030204" pitchFamily="34" charset="0"/>
              <a:cs typeface="Sakkal Majalla" panose="02000000000000000000" pitchFamily="2" charset="-78"/>
            </a:endParaRPr>
          </a:p>
        </p:txBody>
      </p:sp>
      <p:sp>
        <p:nvSpPr>
          <p:cNvPr id="6" name="مستطيل 5">
            <a:extLst>
              <a:ext uri="{FF2B5EF4-FFF2-40B4-BE49-F238E27FC236}">
                <a16:creationId xmlns:a16="http://schemas.microsoft.com/office/drawing/2014/main" id="{9D5AB12E-99B2-2E14-8EB7-F7FD4E2ADD9B}"/>
              </a:ext>
            </a:extLst>
          </p:cNvPr>
          <p:cNvSpPr/>
          <p:nvPr/>
        </p:nvSpPr>
        <p:spPr>
          <a:xfrm>
            <a:off x="11497094" y="7642045"/>
            <a:ext cx="4483383" cy="850481"/>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defTabSz="1371600" rtl="1">
              <a:defRPr/>
            </a:pPr>
            <a:r>
              <a:rPr lang="ar-BH" sz="3000" dirty="0">
                <a:solidFill>
                  <a:schemeClr val="tx1"/>
                </a:solidFill>
                <a:latin typeface="Calibri" panose="020F0502020204030204" pitchFamily="34" charset="0"/>
                <a:cs typeface="Sakkal Majalla" panose="02000000000000000000" pitchFamily="2" charset="-78"/>
              </a:rPr>
              <a:t>التوافق</a:t>
            </a:r>
          </a:p>
          <a:p>
            <a:pPr algn="ctr" defTabSz="1371600" rtl="1">
              <a:defRPr/>
            </a:pPr>
            <a:r>
              <a:rPr lang="en-US" sz="3000" dirty="0">
                <a:solidFill>
                  <a:schemeClr val="tx1"/>
                </a:solidFill>
              </a:rPr>
              <a:t>Compliance</a:t>
            </a:r>
            <a:endParaRPr lang="ar-SA" sz="3000" dirty="0">
              <a:solidFill>
                <a:schemeClr val="tx1"/>
              </a:solidFill>
              <a:latin typeface="Calibri" panose="020F0502020204030204" pitchFamily="34" charset="0"/>
              <a:cs typeface="Sakkal Majalla" panose="02000000000000000000" pitchFamily="2" charset="-78"/>
            </a:endParaRPr>
          </a:p>
        </p:txBody>
      </p:sp>
      <p:sp>
        <p:nvSpPr>
          <p:cNvPr id="7" name="مستطيل 6">
            <a:extLst>
              <a:ext uri="{FF2B5EF4-FFF2-40B4-BE49-F238E27FC236}">
                <a16:creationId xmlns:a16="http://schemas.microsoft.com/office/drawing/2014/main" id="{8E8D91C3-A187-C2B8-C7A5-6141C5D69602}"/>
              </a:ext>
            </a:extLst>
          </p:cNvPr>
          <p:cNvSpPr/>
          <p:nvPr/>
        </p:nvSpPr>
        <p:spPr>
          <a:xfrm>
            <a:off x="3504702" y="7642045"/>
            <a:ext cx="4483383" cy="850481"/>
          </a:xfrm>
          <a:prstGeom prst="rect">
            <a:avLst/>
          </a:prstGeom>
          <a:noFill/>
          <a:ln w="19050">
            <a:solidFill>
              <a:srgbClr val="D76F62"/>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BH" sz="3000" dirty="0">
                <a:solidFill>
                  <a:schemeClr val="tx1"/>
                </a:solidFill>
                <a:latin typeface="Calibri" panose="020F0502020204030204" pitchFamily="34" charset="0"/>
                <a:cs typeface="Sakkal Majalla" panose="02000000000000000000" pitchFamily="2" charset="-78"/>
              </a:rPr>
              <a:t>المراقبة</a:t>
            </a:r>
          </a:p>
          <a:p>
            <a:pPr algn="ctr" rtl="1"/>
            <a:r>
              <a:rPr lang="en-US" sz="3000" dirty="0">
                <a:solidFill>
                  <a:schemeClr val="tx1"/>
                </a:solidFill>
              </a:rPr>
              <a:t>Monitoring</a:t>
            </a:r>
            <a:endParaRPr lang="ar-SA" sz="3000" dirty="0">
              <a:solidFill>
                <a:schemeClr val="tx1"/>
              </a:solidFill>
              <a:latin typeface="Calibri" panose="020F0502020204030204" pitchFamily="34" charset="0"/>
              <a:cs typeface="Sakkal Majalla" panose="02000000000000000000" pitchFamily="2" charset="-78"/>
            </a:endParaRPr>
          </a:p>
        </p:txBody>
      </p:sp>
      <p:sp>
        <p:nvSpPr>
          <p:cNvPr id="8" name="مستطيل 7">
            <a:extLst>
              <a:ext uri="{FF2B5EF4-FFF2-40B4-BE49-F238E27FC236}">
                <a16:creationId xmlns:a16="http://schemas.microsoft.com/office/drawing/2014/main" id="{49807A87-1AD7-350E-7AF3-1DFDFBF68AF4}"/>
              </a:ext>
            </a:extLst>
          </p:cNvPr>
          <p:cNvSpPr/>
          <p:nvPr/>
        </p:nvSpPr>
        <p:spPr>
          <a:xfrm>
            <a:off x="914400" y="4181419"/>
            <a:ext cx="15912057" cy="1545458"/>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r" rtl="1" fontAlgn="t">
              <a:lnSpc>
                <a:spcPct val="107000"/>
              </a:lnSpc>
              <a:spcAft>
                <a:spcPts val="1200"/>
              </a:spcAft>
            </a:pPr>
            <a:r>
              <a:rPr lang="ar-SA" sz="3200" b="1" dirty="0">
                <a:solidFill>
                  <a:schemeClr val="tx1"/>
                </a:solidFill>
                <a:latin typeface="Adobe Arabic" panose="02040503050201020203" pitchFamily="18" charset="-78"/>
                <a:cs typeface="Adobe Arabic" panose="02040503050201020203" pitchFamily="18" charset="-78"/>
              </a:rPr>
              <a:t>خسرت شركة خطوط الطيران (</a:t>
            </a:r>
            <a:r>
              <a:rPr lang="en-US" sz="3200" b="1" dirty="0">
                <a:solidFill>
                  <a:schemeClr val="tx1"/>
                </a:solidFill>
                <a:latin typeface="Adobe Arabic" panose="02040503050201020203" pitchFamily="18" charset="-78"/>
                <a:cs typeface="Adobe Arabic" panose="02040503050201020203" pitchFamily="18" charset="-78"/>
              </a:rPr>
              <a:t>United Airlines</a:t>
            </a:r>
            <a:r>
              <a:rPr lang="ar-SA" sz="3200" b="1" dirty="0">
                <a:solidFill>
                  <a:schemeClr val="tx1"/>
                </a:solidFill>
                <a:latin typeface="Adobe Arabic" panose="02040503050201020203" pitchFamily="18" charset="-78"/>
                <a:cs typeface="Adobe Arabic" panose="02040503050201020203" pitchFamily="18" charset="-78"/>
              </a:rPr>
              <a:t>) أكثر من مليار دولار من قيمتها السوقية بعد أن انتشر مقطع فيديو لراكب أُجبر بعنف على الابتعاد عن رحلة مكتظة. حصل الفيديو على أكثر من مليون إشارة في اليوم وأكثر من 100 مليون مشاهدة.</a:t>
            </a:r>
          </a:p>
        </p:txBody>
      </p:sp>
      <p:pic>
        <p:nvPicPr>
          <p:cNvPr id="12" name="رسم 11" descr="شارة علامة 1 مع تعبئة خالصة">
            <a:extLst>
              <a:ext uri="{FF2B5EF4-FFF2-40B4-BE49-F238E27FC236}">
                <a16:creationId xmlns:a16="http://schemas.microsoft.com/office/drawing/2014/main" id="{33CE5094-29DA-91EF-0FAE-FBDA96B03C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980477" y="6105581"/>
            <a:ext cx="1371600" cy="1371600"/>
          </a:xfrm>
          <a:prstGeom prst="rect">
            <a:avLst/>
          </a:prstGeom>
        </p:spPr>
      </p:pic>
      <p:grpSp>
        <p:nvGrpSpPr>
          <p:cNvPr id="32" name="مجموعة 31">
            <a:extLst>
              <a:ext uri="{FF2B5EF4-FFF2-40B4-BE49-F238E27FC236}">
                <a16:creationId xmlns:a16="http://schemas.microsoft.com/office/drawing/2014/main" id="{52393504-6168-53D3-1C17-8FDA68ADEA72}"/>
              </a:ext>
            </a:extLst>
          </p:cNvPr>
          <p:cNvGrpSpPr/>
          <p:nvPr/>
        </p:nvGrpSpPr>
        <p:grpSpPr>
          <a:xfrm>
            <a:off x="1858407" y="368566"/>
            <a:ext cx="14665433" cy="2136830"/>
            <a:chOff x="4721019" y="2312028"/>
            <a:chExt cx="12857550" cy="3166092"/>
          </a:xfrm>
        </p:grpSpPr>
        <p:grpSp>
          <p:nvGrpSpPr>
            <p:cNvPr id="33" name="Group 13">
              <a:extLst>
                <a:ext uri="{FF2B5EF4-FFF2-40B4-BE49-F238E27FC236}">
                  <a16:creationId xmlns:a16="http://schemas.microsoft.com/office/drawing/2014/main" id="{EA8B0773-B1E8-4E12-67E7-9CFF62BFA42F}"/>
                </a:ext>
              </a:extLst>
            </p:cNvPr>
            <p:cNvGrpSpPr/>
            <p:nvPr/>
          </p:nvGrpSpPr>
          <p:grpSpPr>
            <a:xfrm>
              <a:off x="6018873" y="4515916"/>
              <a:ext cx="11101701" cy="962204"/>
              <a:chOff x="0" y="200392"/>
              <a:chExt cx="14802268" cy="1282937"/>
            </a:xfrm>
          </p:grpSpPr>
          <p:sp>
            <p:nvSpPr>
              <p:cNvPr id="51" name="Freeform 15">
                <a:extLst>
                  <a:ext uri="{FF2B5EF4-FFF2-40B4-BE49-F238E27FC236}">
                    <a16:creationId xmlns:a16="http://schemas.microsoft.com/office/drawing/2014/main" id="{3A98C04F-6FBA-A2E6-0DE0-113298EC2FF0}"/>
                  </a:ext>
                </a:extLst>
              </p:cNvPr>
              <p:cNvSpPr/>
              <p:nvPr/>
            </p:nvSpPr>
            <p:spPr>
              <a:xfrm>
                <a:off x="0" y="212950"/>
                <a:ext cx="14229757" cy="1212313"/>
              </a:xfrm>
              <a:custGeom>
                <a:avLst/>
                <a:gdLst/>
                <a:ahLst/>
                <a:cxnLst/>
                <a:rect l="l" t="t" r="r" b="b"/>
                <a:pathLst>
                  <a:path w="2550347" h="255445">
                    <a:moveTo>
                      <a:pt x="0" y="0"/>
                    </a:moveTo>
                    <a:lnTo>
                      <a:pt x="2550347" y="0"/>
                    </a:lnTo>
                    <a:lnTo>
                      <a:pt x="2550347" y="255445"/>
                    </a:lnTo>
                    <a:lnTo>
                      <a:pt x="0" y="255445"/>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52" name="Freeform 18">
                <a:extLst>
                  <a:ext uri="{FF2B5EF4-FFF2-40B4-BE49-F238E27FC236}">
                    <a16:creationId xmlns:a16="http://schemas.microsoft.com/office/drawing/2014/main" id="{03FBC80A-2592-2DD2-A1D7-56390BE76C0F}"/>
                  </a:ext>
                </a:extLst>
              </p:cNvPr>
              <p:cNvSpPr/>
              <p:nvPr/>
            </p:nvSpPr>
            <p:spPr>
              <a:xfrm>
                <a:off x="14205179" y="200392"/>
                <a:ext cx="597089" cy="1224871"/>
              </a:xfrm>
              <a:custGeom>
                <a:avLst/>
                <a:gdLst/>
                <a:ahLst/>
                <a:cxnLst/>
                <a:rect l="l" t="t" r="r" b="b"/>
                <a:pathLst>
                  <a:path w="107014" h="255445">
                    <a:moveTo>
                      <a:pt x="0" y="0"/>
                    </a:moveTo>
                    <a:lnTo>
                      <a:pt x="107014" y="0"/>
                    </a:lnTo>
                    <a:lnTo>
                      <a:pt x="107014" y="255445"/>
                    </a:lnTo>
                    <a:lnTo>
                      <a:pt x="0" y="255445"/>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53" name="TextBox 20">
                <a:extLst>
                  <a:ext uri="{FF2B5EF4-FFF2-40B4-BE49-F238E27FC236}">
                    <a16:creationId xmlns:a16="http://schemas.microsoft.com/office/drawing/2014/main" id="{C75F68D4-3823-3FA9-6444-5DB21757E982}"/>
                  </a:ext>
                </a:extLst>
              </p:cNvPr>
              <p:cNvSpPr txBox="1"/>
              <p:nvPr/>
            </p:nvSpPr>
            <p:spPr>
              <a:xfrm>
                <a:off x="5844133" y="258458"/>
                <a:ext cx="7200703" cy="1224871"/>
              </a:xfrm>
              <a:prstGeom prst="rect">
                <a:avLst/>
              </a:prstGeom>
            </p:spPr>
            <p:txBody>
              <a:bodyPr wrap="square" lIns="0" tIns="0" rIns="0" bIns="0" rtlCol="0" anchor="t">
                <a:spAutoFit/>
              </a:bodyPr>
              <a:lstStyle/>
              <a:p>
                <a:pPr algn="r" rtl="1">
                  <a:lnSpc>
                    <a:spcPts val="3661"/>
                  </a:lnSpc>
                </a:pPr>
                <a:r>
                  <a:rPr lang="ar-SA" sz="3200" dirty="0">
                    <a:solidFill>
                      <a:srgbClr val="FFFFFF"/>
                    </a:solidFill>
                    <a:cs typeface="PT Bold Heading" panose="02010400000000000000" pitchFamily="2" charset="-78"/>
                  </a:rPr>
                  <a:t>استراتيجية : المناقشة والحوار</a:t>
                </a:r>
                <a:endParaRPr lang="en-US" sz="3200" dirty="0">
                  <a:solidFill>
                    <a:srgbClr val="FFFFFF"/>
                  </a:solidFill>
                  <a:cs typeface="PT Bold Heading" panose="02010400000000000000" pitchFamily="2" charset="-78"/>
                </a:endParaRPr>
              </a:p>
            </p:txBody>
          </p:sp>
        </p:grpSp>
        <p:sp>
          <p:nvSpPr>
            <p:cNvPr id="34" name="Freeform 22">
              <a:extLst>
                <a:ext uri="{FF2B5EF4-FFF2-40B4-BE49-F238E27FC236}">
                  <a16:creationId xmlns:a16="http://schemas.microsoft.com/office/drawing/2014/main" id="{3F60CD98-B26F-4EE3-6836-AC4F076BCCAA}"/>
                </a:ext>
              </a:extLst>
            </p:cNvPr>
            <p:cNvSpPr/>
            <p:nvPr/>
          </p:nvSpPr>
          <p:spPr>
            <a:xfrm>
              <a:off x="6018873" y="2312028"/>
              <a:ext cx="11503024" cy="1815647"/>
            </a:xfrm>
            <a:custGeom>
              <a:avLst/>
              <a:gdLst/>
              <a:ahLst/>
              <a:cxnLst/>
              <a:rect l="l" t="t" r="r" b="b"/>
              <a:pathLst>
                <a:path w="2659761" h="369385">
                  <a:moveTo>
                    <a:pt x="0" y="0"/>
                  </a:moveTo>
                  <a:lnTo>
                    <a:pt x="2659761" y="0"/>
                  </a:lnTo>
                  <a:lnTo>
                    <a:pt x="2659761" y="369385"/>
                  </a:lnTo>
                  <a:lnTo>
                    <a:pt x="0" y="369385"/>
                  </a:lnTo>
                  <a:close/>
                </a:path>
              </a:pathLst>
            </a:custGeom>
            <a:solidFill>
              <a:srgbClr val="959E9D">
                <a:alpha val="27843"/>
              </a:srgbClr>
            </a:solidFill>
            <a:ln>
              <a:noFill/>
            </a:ln>
          </p:spPr>
          <p:txBody>
            <a:bodyPr/>
            <a:lstStyle/>
            <a:p>
              <a:pPr algn="r" rtl="1"/>
              <a:endParaRPr lang="ar-SA">
                <a:cs typeface="PT Bold Heading" panose="02010400000000000000" pitchFamily="2" charset="-78"/>
              </a:endParaRPr>
            </a:p>
          </p:txBody>
        </p:sp>
        <p:sp>
          <p:nvSpPr>
            <p:cNvPr id="35" name="Freeform 25">
              <a:extLst>
                <a:ext uri="{FF2B5EF4-FFF2-40B4-BE49-F238E27FC236}">
                  <a16:creationId xmlns:a16="http://schemas.microsoft.com/office/drawing/2014/main" id="{1940E559-7463-A09A-FD7E-D31690329402}"/>
                </a:ext>
              </a:extLst>
            </p:cNvPr>
            <p:cNvSpPr/>
            <p:nvPr/>
          </p:nvSpPr>
          <p:spPr>
            <a:xfrm>
              <a:off x="15384091" y="2465879"/>
              <a:ext cx="1860307" cy="460108"/>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36" name="Freeform 28">
              <a:extLst>
                <a:ext uri="{FF2B5EF4-FFF2-40B4-BE49-F238E27FC236}">
                  <a16:creationId xmlns:a16="http://schemas.microsoft.com/office/drawing/2014/main" id="{13EBAB9D-C627-BADC-079D-9898B372D994}"/>
                </a:ext>
              </a:extLst>
            </p:cNvPr>
            <p:cNvSpPr/>
            <p:nvPr/>
          </p:nvSpPr>
          <p:spPr>
            <a:xfrm>
              <a:off x="15384091" y="3323646"/>
              <a:ext cx="1860306" cy="624822"/>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37" name="Freeform 31">
              <a:extLst>
                <a:ext uri="{FF2B5EF4-FFF2-40B4-BE49-F238E27FC236}">
                  <a16:creationId xmlns:a16="http://schemas.microsoft.com/office/drawing/2014/main" id="{E66A3342-4008-07EA-FBDB-D4C12B79E6F9}"/>
                </a:ext>
              </a:extLst>
            </p:cNvPr>
            <p:cNvSpPr/>
            <p:nvPr/>
          </p:nvSpPr>
          <p:spPr>
            <a:xfrm>
              <a:off x="13738760" y="2469450"/>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8" name="Freeform 34">
              <a:extLst>
                <a:ext uri="{FF2B5EF4-FFF2-40B4-BE49-F238E27FC236}">
                  <a16:creationId xmlns:a16="http://schemas.microsoft.com/office/drawing/2014/main" id="{07A0EF0E-D177-BB64-D316-33A3C14BDF85}"/>
                </a:ext>
              </a:extLst>
            </p:cNvPr>
            <p:cNvSpPr/>
            <p:nvPr/>
          </p:nvSpPr>
          <p:spPr>
            <a:xfrm>
              <a:off x="13769349" y="3306693"/>
              <a:ext cx="1494449" cy="617076"/>
            </a:xfrm>
            <a:custGeom>
              <a:avLst/>
              <a:gdLst/>
              <a:ahLst/>
              <a:cxnLst/>
              <a:rect l="l" t="t" r="r" b="b"/>
              <a:pathLst>
                <a:path w="345551" h="142682">
                  <a:moveTo>
                    <a:pt x="0" y="0"/>
                  </a:moveTo>
                  <a:lnTo>
                    <a:pt x="345551" y="0"/>
                  </a:lnTo>
                  <a:lnTo>
                    <a:pt x="345551"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9" name="TextBox 36">
              <a:extLst>
                <a:ext uri="{FF2B5EF4-FFF2-40B4-BE49-F238E27FC236}">
                  <a16:creationId xmlns:a16="http://schemas.microsoft.com/office/drawing/2014/main" id="{B0220EBB-DB0A-88AE-7D26-8EB085746F7F}"/>
                </a:ext>
              </a:extLst>
            </p:cNvPr>
            <p:cNvSpPr txBox="1"/>
            <p:nvPr/>
          </p:nvSpPr>
          <p:spPr>
            <a:xfrm>
              <a:off x="15051778" y="2347603"/>
              <a:ext cx="2495904" cy="720568"/>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ورقة عمل</a:t>
              </a:r>
              <a:endParaRPr lang="en-US" dirty="0">
                <a:solidFill>
                  <a:srgbClr val="17383E"/>
                </a:solidFill>
                <a:cs typeface="PT Bold Heading" panose="02010400000000000000" pitchFamily="2" charset="-78"/>
              </a:endParaRPr>
            </a:p>
          </p:txBody>
        </p:sp>
        <p:sp>
          <p:nvSpPr>
            <p:cNvPr id="40" name="TextBox 37">
              <a:extLst>
                <a:ext uri="{FF2B5EF4-FFF2-40B4-BE49-F238E27FC236}">
                  <a16:creationId xmlns:a16="http://schemas.microsoft.com/office/drawing/2014/main" id="{E25FBD41-1520-5A3F-359D-DA3B1EA1A09A}"/>
                </a:ext>
              </a:extLst>
            </p:cNvPr>
            <p:cNvSpPr txBox="1"/>
            <p:nvPr/>
          </p:nvSpPr>
          <p:spPr>
            <a:xfrm>
              <a:off x="15082665" y="3254615"/>
              <a:ext cx="2495904" cy="720568"/>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مد</a:t>
              </a:r>
              <a:r>
                <a:rPr lang="ar-SA" dirty="0">
                  <a:solidFill>
                    <a:srgbClr val="17383E"/>
                  </a:solidFill>
                  <a:cs typeface="PT Bold Heading" panose="02010400000000000000" pitchFamily="2" charset="-78"/>
                </a:rPr>
                <a:t>ته</a:t>
              </a:r>
              <a:endParaRPr lang="en-US" dirty="0">
                <a:solidFill>
                  <a:srgbClr val="17383E"/>
                </a:solidFill>
                <a:cs typeface="PT Bold Heading" panose="02010400000000000000" pitchFamily="2" charset="-78"/>
              </a:endParaRPr>
            </a:p>
          </p:txBody>
        </p:sp>
        <p:sp>
          <p:nvSpPr>
            <p:cNvPr id="41" name="TextBox 38">
              <a:extLst>
                <a:ext uri="{FF2B5EF4-FFF2-40B4-BE49-F238E27FC236}">
                  <a16:creationId xmlns:a16="http://schemas.microsoft.com/office/drawing/2014/main" id="{AEA3F1E7-F0CD-B597-1311-102FD7A7052E}"/>
                </a:ext>
              </a:extLst>
            </p:cNvPr>
            <p:cNvSpPr txBox="1"/>
            <p:nvPr/>
          </p:nvSpPr>
          <p:spPr>
            <a:xfrm>
              <a:off x="14075170" y="2424585"/>
              <a:ext cx="882808" cy="572882"/>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5</a:t>
              </a:r>
            </a:p>
          </p:txBody>
        </p:sp>
        <p:sp>
          <p:nvSpPr>
            <p:cNvPr id="42" name="TextBox 39">
              <a:extLst>
                <a:ext uri="{FF2B5EF4-FFF2-40B4-BE49-F238E27FC236}">
                  <a16:creationId xmlns:a16="http://schemas.microsoft.com/office/drawing/2014/main" id="{368B9F30-97A6-F4F4-D360-81209BB92B98}"/>
                </a:ext>
              </a:extLst>
            </p:cNvPr>
            <p:cNvSpPr txBox="1"/>
            <p:nvPr/>
          </p:nvSpPr>
          <p:spPr>
            <a:xfrm>
              <a:off x="14102509" y="3206466"/>
              <a:ext cx="882808" cy="743455"/>
            </a:xfrm>
            <a:prstGeom prst="rect">
              <a:avLst/>
            </a:prstGeom>
          </p:spPr>
          <p:txBody>
            <a:bodyPr lIns="0" tIns="0" rIns="0" bIns="0" rtlCol="0" anchor="t">
              <a:spAutoFit/>
            </a:bodyPr>
            <a:lstStyle/>
            <a:p>
              <a:pPr algn="ctr" rtl="1">
                <a:lnSpc>
                  <a:spcPts val="3269"/>
                </a:lnSpc>
              </a:pPr>
              <a:r>
                <a:rPr lang="en-US" dirty="0">
                  <a:solidFill>
                    <a:srgbClr val="000000"/>
                  </a:solidFill>
                  <a:latin typeface="PT Bold Heading"/>
                  <a:cs typeface="PT Bold Heading" panose="02010400000000000000" pitchFamily="2" charset="-78"/>
                </a:rPr>
                <a:t>3</a:t>
              </a:r>
              <a:r>
                <a:rPr lang="ar-SA" dirty="0">
                  <a:solidFill>
                    <a:srgbClr val="000000"/>
                  </a:solidFill>
                  <a:latin typeface="PT Bold Heading"/>
                  <a:cs typeface="PT Bold Heading" panose="02010400000000000000" pitchFamily="2" charset="-78"/>
                </a:rPr>
                <a:t> </a:t>
              </a:r>
              <a:r>
                <a:rPr lang="en-US" dirty="0">
                  <a:solidFill>
                    <a:srgbClr val="000000"/>
                  </a:solidFill>
                  <a:latin typeface="PT Bold Heading"/>
                  <a:cs typeface="PT Bold Heading" panose="02010400000000000000" pitchFamily="2" charset="-78"/>
                </a:rPr>
                <a:t>د</a:t>
              </a:r>
            </a:p>
          </p:txBody>
        </p:sp>
        <p:sp>
          <p:nvSpPr>
            <p:cNvPr id="43" name="Freeform 41">
              <a:extLst>
                <a:ext uri="{FF2B5EF4-FFF2-40B4-BE49-F238E27FC236}">
                  <a16:creationId xmlns:a16="http://schemas.microsoft.com/office/drawing/2014/main" id="{F77235C6-9815-F9C7-705D-89B2AABB6F38}"/>
                </a:ext>
              </a:extLst>
            </p:cNvPr>
            <p:cNvSpPr/>
            <p:nvPr/>
          </p:nvSpPr>
          <p:spPr>
            <a:xfrm>
              <a:off x="11497041" y="2465879"/>
              <a:ext cx="1908208" cy="617076"/>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dirty="0">
                <a:cs typeface="PT Bold Heading" panose="02010400000000000000" pitchFamily="2" charset="-78"/>
              </a:endParaRPr>
            </a:p>
          </p:txBody>
        </p:sp>
        <p:sp>
          <p:nvSpPr>
            <p:cNvPr id="44" name="Freeform 44">
              <a:extLst>
                <a:ext uri="{FF2B5EF4-FFF2-40B4-BE49-F238E27FC236}">
                  <a16:creationId xmlns:a16="http://schemas.microsoft.com/office/drawing/2014/main" id="{03CEB5F6-695D-169D-0D31-36C7F8D3A482}"/>
                </a:ext>
              </a:extLst>
            </p:cNvPr>
            <p:cNvSpPr/>
            <p:nvPr/>
          </p:nvSpPr>
          <p:spPr>
            <a:xfrm>
              <a:off x="11426631" y="3402673"/>
              <a:ext cx="1936166" cy="573415"/>
            </a:xfrm>
            <a:custGeom>
              <a:avLst/>
              <a:gdLst/>
              <a:ahLst/>
              <a:cxnLst/>
              <a:rect l="l" t="t" r="r" b="b"/>
              <a:pathLst>
                <a:path w="553728" h="142682">
                  <a:moveTo>
                    <a:pt x="0" y="0"/>
                  </a:moveTo>
                  <a:lnTo>
                    <a:pt x="553728" y="0"/>
                  </a:lnTo>
                  <a:lnTo>
                    <a:pt x="553728" y="142682"/>
                  </a:lnTo>
                  <a:lnTo>
                    <a:pt x="0" y="142682"/>
                  </a:lnTo>
                  <a:close/>
                </a:path>
              </a:pathLst>
            </a:custGeom>
            <a:solidFill>
              <a:srgbClr val="FFFFFF"/>
            </a:solidFill>
            <a:ln w="38100">
              <a:solidFill>
                <a:srgbClr val="5D53A5"/>
              </a:solidFill>
            </a:ln>
          </p:spPr>
          <p:txBody>
            <a:bodyPr/>
            <a:lstStyle/>
            <a:p>
              <a:pPr algn="r" rtl="1"/>
              <a:endParaRPr lang="ar-SA">
                <a:cs typeface="PT Bold Heading" panose="02010400000000000000" pitchFamily="2" charset="-78"/>
              </a:endParaRPr>
            </a:p>
          </p:txBody>
        </p:sp>
        <p:sp>
          <p:nvSpPr>
            <p:cNvPr id="45" name="Freeform 47">
              <a:extLst>
                <a:ext uri="{FF2B5EF4-FFF2-40B4-BE49-F238E27FC236}">
                  <a16:creationId xmlns:a16="http://schemas.microsoft.com/office/drawing/2014/main" id="{36D2FDF6-A320-675D-3574-63CAE0AFFDB6}"/>
                </a:ext>
              </a:extLst>
            </p:cNvPr>
            <p:cNvSpPr/>
            <p:nvPr/>
          </p:nvSpPr>
          <p:spPr>
            <a:xfrm>
              <a:off x="6164367" y="2471739"/>
              <a:ext cx="5133210" cy="733569"/>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6" name="Freeform 50">
              <a:extLst>
                <a:ext uri="{FF2B5EF4-FFF2-40B4-BE49-F238E27FC236}">
                  <a16:creationId xmlns:a16="http://schemas.microsoft.com/office/drawing/2014/main" id="{43E492C7-F42B-CC36-FA8B-9F98A2357384}"/>
                </a:ext>
              </a:extLst>
            </p:cNvPr>
            <p:cNvSpPr/>
            <p:nvPr/>
          </p:nvSpPr>
          <p:spPr>
            <a:xfrm>
              <a:off x="6293682" y="3396147"/>
              <a:ext cx="4082904" cy="617076"/>
            </a:xfrm>
            <a:custGeom>
              <a:avLst/>
              <a:gdLst/>
              <a:ahLst/>
              <a:cxnLst/>
              <a:rect l="l" t="t" r="r" b="b"/>
              <a:pathLst>
                <a:path w="944060" h="142682">
                  <a:moveTo>
                    <a:pt x="0" y="0"/>
                  </a:moveTo>
                  <a:lnTo>
                    <a:pt x="944060" y="0"/>
                  </a:lnTo>
                  <a:lnTo>
                    <a:pt x="944060" y="142682"/>
                  </a:lnTo>
                  <a:lnTo>
                    <a:pt x="0" y="14268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7" name="TextBox 52">
              <a:extLst>
                <a:ext uri="{FF2B5EF4-FFF2-40B4-BE49-F238E27FC236}">
                  <a16:creationId xmlns:a16="http://schemas.microsoft.com/office/drawing/2014/main" id="{6A62A446-66EF-D140-3A7B-4D9CC2D69EA1}"/>
                </a:ext>
              </a:extLst>
            </p:cNvPr>
            <p:cNvSpPr txBox="1"/>
            <p:nvPr/>
          </p:nvSpPr>
          <p:spPr>
            <a:xfrm>
              <a:off x="11207412" y="2370883"/>
              <a:ext cx="2495904" cy="684720"/>
            </a:xfrm>
            <a:prstGeom prst="rect">
              <a:avLst/>
            </a:prstGeom>
          </p:spPr>
          <p:txBody>
            <a:bodyPr lIns="0" tIns="0" rIns="0" bIns="0" rtlCol="0" anchor="t">
              <a:spAutoFit/>
            </a:bodyPr>
            <a:lstStyle/>
            <a:p>
              <a:pPr algn="ctr" rtl="1">
                <a:lnSpc>
                  <a:spcPts val="3073"/>
                </a:lnSpc>
              </a:pPr>
              <a:r>
                <a:rPr lang="en-US" dirty="0" err="1">
                  <a:solidFill>
                    <a:srgbClr val="17383E"/>
                  </a:solidFill>
                  <a:cs typeface="PT Bold Heading" panose="02010400000000000000" pitchFamily="2" charset="-78"/>
                </a:rPr>
                <a:t>موضوع</a:t>
              </a:r>
              <a:endParaRPr lang="en-US" dirty="0">
                <a:solidFill>
                  <a:srgbClr val="17383E"/>
                </a:solidFill>
                <a:cs typeface="PT Bold Heading" panose="02010400000000000000" pitchFamily="2" charset="-78"/>
              </a:endParaRPr>
            </a:p>
          </p:txBody>
        </p:sp>
        <p:sp>
          <p:nvSpPr>
            <p:cNvPr id="48" name="TextBox 53">
              <a:extLst>
                <a:ext uri="{FF2B5EF4-FFF2-40B4-BE49-F238E27FC236}">
                  <a16:creationId xmlns:a16="http://schemas.microsoft.com/office/drawing/2014/main" id="{AF828EF4-E28F-F24F-7962-E5010A5BAC86}"/>
                </a:ext>
              </a:extLst>
            </p:cNvPr>
            <p:cNvSpPr txBox="1"/>
            <p:nvPr/>
          </p:nvSpPr>
          <p:spPr>
            <a:xfrm>
              <a:off x="11070169" y="3295029"/>
              <a:ext cx="2495904" cy="720566"/>
            </a:xfrm>
            <a:prstGeom prst="rect">
              <a:avLst/>
            </a:prstGeom>
          </p:spPr>
          <p:txBody>
            <a:bodyPr lIns="0" tIns="0" rIns="0" bIns="0" rtlCol="0" anchor="t">
              <a:spAutoFit/>
            </a:bodyPr>
            <a:lstStyle/>
            <a:p>
              <a:pPr algn="ctr" rtl="1">
                <a:lnSpc>
                  <a:spcPts val="3269"/>
                </a:lnSpc>
              </a:pPr>
              <a:r>
                <a:rPr lang="en-US" dirty="0" err="1">
                  <a:solidFill>
                    <a:srgbClr val="17383E"/>
                  </a:solidFill>
                  <a:cs typeface="PT Bold Heading" panose="02010400000000000000" pitchFamily="2" charset="-78"/>
                </a:rPr>
                <a:t>نوع</a:t>
              </a:r>
              <a:r>
                <a:rPr lang="en-US" dirty="0">
                  <a:solidFill>
                    <a:srgbClr val="17383E"/>
                  </a:solidFill>
                  <a:cs typeface="PT Bold Heading" panose="02010400000000000000" pitchFamily="2" charset="-78"/>
                </a:rPr>
                <a:t> </a:t>
              </a:r>
              <a:r>
                <a:rPr lang="en-US" dirty="0" err="1">
                  <a:solidFill>
                    <a:srgbClr val="17383E"/>
                  </a:solidFill>
                  <a:cs typeface="PT Bold Heading" panose="02010400000000000000" pitchFamily="2" charset="-78"/>
                </a:rPr>
                <a:t>النشاط</a:t>
              </a:r>
              <a:endParaRPr lang="en-US" dirty="0">
                <a:solidFill>
                  <a:srgbClr val="17383E"/>
                </a:solidFill>
                <a:cs typeface="PT Bold Heading" panose="02010400000000000000" pitchFamily="2" charset="-78"/>
              </a:endParaRPr>
            </a:p>
          </p:txBody>
        </p:sp>
        <p:sp>
          <p:nvSpPr>
            <p:cNvPr id="49" name="TextBox 54">
              <a:extLst>
                <a:ext uri="{FF2B5EF4-FFF2-40B4-BE49-F238E27FC236}">
                  <a16:creationId xmlns:a16="http://schemas.microsoft.com/office/drawing/2014/main" id="{BAF98759-1151-00AE-5A07-97941DE938EA}"/>
                </a:ext>
              </a:extLst>
            </p:cNvPr>
            <p:cNvSpPr txBox="1"/>
            <p:nvPr/>
          </p:nvSpPr>
          <p:spPr>
            <a:xfrm>
              <a:off x="4721019" y="2465879"/>
              <a:ext cx="7844947" cy="544380"/>
            </a:xfrm>
            <a:prstGeom prst="rect">
              <a:avLst/>
            </a:prstGeom>
          </p:spPr>
          <p:txBody>
            <a:bodyPr wrap="square" lIns="0" tIns="0" rIns="0" bIns="0" rtlCol="0" anchor="t">
              <a:spAutoFit/>
            </a:bodyPr>
            <a:lstStyle/>
            <a:p>
              <a:pPr algn="ctr" rtl="1">
                <a:lnSpc>
                  <a:spcPts val="3073"/>
                </a:lnSpc>
              </a:pPr>
              <a:r>
                <a:rPr lang="ar-SA" dirty="0">
                  <a:solidFill>
                    <a:srgbClr val="17383E"/>
                  </a:solidFill>
                  <a:cs typeface="PT Bold Heading" panose="02010400000000000000" pitchFamily="2" charset="-78"/>
                </a:rPr>
                <a:t>استنتاج الطريقة التي يمكن أن تؤثر بها البصمة على دورة حياة النظام</a:t>
              </a:r>
              <a:endParaRPr lang="en-US" dirty="0">
                <a:solidFill>
                  <a:srgbClr val="17383E"/>
                </a:solidFill>
                <a:cs typeface="PT Bold Heading" panose="02010400000000000000" pitchFamily="2" charset="-78"/>
              </a:endParaRPr>
            </a:p>
          </p:txBody>
        </p:sp>
        <p:sp>
          <p:nvSpPr>
            <p:cNvPr id="50" name="TextBox 55">
              <a:extLst>
                <a:ext uri="{FF2B5EF4-FFF2-40B4-BE49-F238E27FC236}">
                  <a16:creationId xmlns:a16="http://schemas.microsoft.com/office/drawing/2014/main" id="{4ACBDBC4-DA6C-75E8-53CE-27A3B3444DD2}"/>
                </a:ext>
              </a:extLst>
            </p:cNvPr>
            <p:cNvSpPr txBox="1"/>
            <p:nvPr/>
          </p:nvSpPr>
          <p:spPr>
            <a:xfrm>
              <a:off x="6598020" y="3263076"/>
              <a:ext cx="3452507" cy="572882"/>
            </a:xfrm>
            <a:prstGeom prst="rect">
              <a:avLst/>
            </a:prstGeom>
          </p:spPr>
          <p:txBody>
            <a:bodyPr lIns="0" tIns="0" rIns="0" bIns="0" rtlCol="0" anchor="t">
              <a:spAutoFit/>
            </a:bodyPr>
            <a:lstStyle/>
            <a:p>
              <a:pPr algn="ctr" rtl="1">
                <a:lnSpc>
                  <a:spcPts val="3269"/>
                </a:lnSpc>
              </a:pPr>
              <a:r>
                <a:rPr lang="ar-SA" dirty="0">
                  <a:solidFill>
                    <a:srgbClr val="17383E"/>
                  </a:solidFill>
                  <a:cs typeface="PT Bold Heading" panose="02010400000000000000" pitchFamily="2" charset="-78"/>
                </a:rPr>
                <a:t>جماعي</a:t>
              </a:r>
              <a:endParaRPr lang="en-US" dirty="0">
                <a:solidFill>
                  <a:srgbClr val="17383E"/>
                </a:solidFill>
                <a:cs typeface="PT Bold Heading" panose="02010400000000000000" pitchFamily="2" charset="-78"/>
              </a:endParaRPr>
            </a:p>
          </p:txBody>
        </p:sp>
      </p:grpSp>
    </p:spTree>
    <p:extLst>
      <p:ext uri="{BB962C8B-B14F-4D97-AF65-F5344CB8AC3E}">
        <p14:creationId xmlns:p14="http://schemas.microsoft.com/office/powerpoint/2010/main" val="163152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مجموعة 23">
            <a:extLst>
              <a:ext uri="{FF2B5EF4-FFF2-40B4-BE49-F238E27FC236}">
                <a16:creationId xmlns:a16="http://schemas.microsoft.com/office/drawing/2014/main" id="{14ED32A3-7EFE-891F-CDE5-5CC2170AF89C}"/>
              </a:ext>
            </a:extLst>
          </p:cNvPr>
          <p:cNvGrpSpPr/>
          <p:nvPr/>
        </p:nvGrpSpPr>
        <p:grpSpPr>
          <a:xfrm>
            <a:off x="6781800" y="3390900"/>
            <a:ext cx="11811000" cy="1376253"/>
            <a:chOff x="6781800" y="3390900"/>
            <a:chExt cx="11811000" cy="1376253"/>
          </a:xfrm>
        </p:grpSpPr>
        <p:sp>
          <p:nvSpPr>
            <p:cNvPr id="17" name="Freeform 25">
              <a:extLst>
                <a:ext uri="{FF2B5EF4-FFF2-40B4-BE49-F238E27FC236}">
                  <a16:creationId xmlns:a16="http://schemas.microsoft.com/office/drawing/2014/main" id="{73CAD204-33E9-5955-C32D-B652B502FD8B}"/>
                </a:ext>
              </a:extLst>
            </p:cNvPr>
            <p:cNvSpPr/>
            <p:nvPr/>
          </p:nvSpPr>
          <p:spPr>
            <a:xfrm>
              <a:off x="11125200" y="3866103"/>
              <a:ext cx="7467600" cy="383561"/>
            </a:xfrm>
            <a:custGeom>
              <a:avLst/>
              <a:gdLst/>
              <a:ahLst/>
              <a:cxnLst/>
              <a:rect l="l" t="t" r="r" b="b"/>
              <a:pathLst>
                <a:path w="1879359" h="311974">
                  <a:moveTo>
                    <a:pt x="0" y="0"/>
                  </a:moveTo>
                  <a:lnTo>
                    <a:pt x="1879359" y="0"/>
                  </a:lnTo>
                  <a:lnTo>
                    <a:pt x="1879359" y="311974"/>
                  </a:lnTo>
                  <a:lnTo>
                    <a:pt x="0" y="311974"/>
                  </a:lnTo>
                  <a:close/>
                </a:path>
              </a:pathLst>
            </a:custGeom>
            <a:solidFill>
              <a:srgbClr val="1C262A"/>
            </a:solidFill>
            <a:ln>
              <a:noFill/>
            </a:ln>
          </p:spPr>
          <p:txBody>
            <a:bodyPr/>
            <a:lstStyle/>
            <a:p>
              <a:pPr algn="r" rtl="1"/>
              <a:r>
                <a:rPr lang="en-US" dirty="0">
                  <a:cs typeface="PT Bold Heading" panose="02010400000000000000" pitchFamily="2" charset="-78"/>
                </a:rPr>
                <a:t>G</a:t>
              </a:r>
              <a:endParaRPr lang="ar-SA" dirty="0">
                <a:cs typeface="PT Bold Heading" panose="02010400000000000000" pitchFamily="2" charset="-78"/>
              </a:endParaRPr>
            </a:p>
          </p:txBody>
        </p:sp>
        <p:grpSp>
          <p:nvGrpSpPr>
            <p:cNvPr id="10" name="Group 10"/>
            <p:cNvGrpSpPr/>
            <p:nvPr/>
          </p:nvGrpSpPr>
          <p:grpSpPr>
            <a:xfrm>
              <a:off x="6781800" y="3390900"/>
              <a:ext cx="9325896" cy="1376253"/>
              <a:chOff x="0" y="-36455"/>
              <a:chExt cx="9149892" cy="1156288"/>
            </a:xfrm>
          </p:grpSpPr>
          <p:sp>
            <p:nvSpPr>
              <p:cNvPr id="12" name="Freeform 12"/>
              <p:cNvSpPr/>
              <p:nvPr/>
            </p:nvSpPr>
            <p:spPr>
              <a:xfrm>
                <a:off x="320761" y="0"/>
                <a:ext cx="8829131" cy="1119833"/>
              </a:xfrm>
              <a:custGeom>
                <a:avLst/>
                <a:gdLst/>
                <a:ahLst/>
                <a:cxnLst/>
                <a:rect l="l" t="t" r="r" b="b"/>
                <a:pathLst>
                  <a:path w="1697070" h="215246">
                    <a:moveTo>
                      <a:pt x="0" y="0"/>
                    </a:moveTo>
                    <a:lnTo>
                      <a:pt x="1697070" y="0"/>
                    </a:lnTo>
                    <a:lnTo>
                      <a:pt x="1697070" y="215246"/>
                    </a:lnTo>
                    <a:lnTo>
                      <a:pt x="0" y="215246"/>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14" name="TextBox 14"/>
              <p:cNvSpPr txBox="1"/>
              <p:nvPr/>
            </p:nvSpPr>
            <p:spPr>
              <a:xfrm>
                <a:off x="691050" y="304047"/>
                <a:ext cx="8187609" cy="465453"/>
              </a:xfrm>
              <a:prstGeom prst="rect">
                <a:avLst/>
              </a:prstGeom>
            </p:spPr>
            <p:txBody>
              <a:bodyPr lIns="0" tIns="0" rIns="0" bIns="0" rtlCol="0" anchor="t">
                <a:spAutoFit/>
              </a:bodyPr>
              <a:lstStyle/>
              <a:p>
                <a:pPr algn="r" rtl="1">
                  <a:lnSpc>
                    <a:spcPts val="3955"/>
                  </a:lnSpc>
                </a:pPr>
                <a:r>
                  <a:rPr lang="en-US" sz="4400" dirty="0">
                    <a:solidFill>
                      <a:srgbClr val="FFFFFF"/>
                    </a:solidFill>
                    <a:latin typeface="PT Bold Heading"/>
                    <a:cs typeface="PT Bold Heading" panose="02010400000000000000" pitchFamily="2" charset="-78"/>
                  </a:rPr>
                  <a:t> </a:t>
                </a:r>
                <a:r>
                  <a:rPr lang="en-US" sz="4400" dirty="0" err="1">
                    <a:solidFill>
                      <a:srgbClr val="FFFFFF"/>
                    </a:solidFill>
                    <a:cs typeface="PT Bold Heading" panose="02010400000000000000" pitchFamily="2" charset="-78"/>
                  </a:rPr>
                  <a:t>تنقسم</a:t>
                </a:r>
                <a:r>
                  <a:rPr lang="en-US" sz="4400" dirty="0">
                    <a:solidFill>
                      <a:srgbClr val="FFFFFF"/>
                    </a:solidFill>
                    <a:cs typeface="PT Bold Heading" panose="02010400000000000000" pitchFamily="2" charset="-78"/>
                  </a:rPr>
                  <a:t> </a:t>
                </a:r>
                <a:r>
                  <a:rPr lang="en-US" sz="4400" dirty="0" err="1">
                    <a:solidFill>
                      <a:srgbClr val="FFFFFF"/>
                    </a:solidFill>
                    <a:cs typeface="PT Bold Heading" panose="02010400000000000000" pitchFamily="2" charset="-78"/>
                  </a:rPr>
                  <a:t>آثار</a:t>
                </a:r>
                <a:r>
                  <a:rPr lang="en-US" sz="4400" dirty="0">
                    <a:solidFill>
                      <a:srgbClr val="FFFFFF"/>
                    </a:solidFill>
                    <a:cs typeface="PT Bold Heading" panose="02010400000000000000" pitchFamily="2" charset="-78"/>
                  </a:rPr>
                  <a:t> </a:t>
                </a:r>
                <a:r>
                  <a:rPr lang="en-US" sz="4400" dirty="0" err="1">
                    <a:solidFill>
                      <a:srgbClr val="FFFFFF"/>
                    </a:solidFill>
                    <a:cs typeface="PT Bold Heading" panose="02010400000000000000" pitchFamily="2" charset="-78"/>
                  </a:rPr>
                  <a:t>التعقب</a:t>
                </a:r>
                <a:r>
                  <a:rPr lang="en-US" sz="4400" dirty="0">
                    <a:solidFill>
                      <a:srgbClr val="FFFFFF"/>
                    </a:solidFill>
                    <a:cs typeface="PT Bold Heading" panose="02010400000000000000" pitchFamily="2" charset="-78"/>
                  </a:rPr>
                  <a:t> </a:t>
                </a:r>
                <a:r>
                  <a:rPr lang="en-US" sz="4400" dirty="0" err="1">
                    <a:solidFill>
                      <a:srgbClr val="FFFFFF"/>
                    </a:solidFill>
                    <a:cs typeface="PT Bold Heading" panose="02010400000000000000" pitchFamily="2" charset="-78"/>
                  </a:rPr>
                  <a:t>الرقمية</a:t>
                </a:r>
                <a:r>
                  <a:rPr lang="en-US" sz="4400" dirty="0">
                    <a:solidFill>
                      <a:srgbClr val="FFFFFF"/>
                    </a:solidFill>
                    <a:cs typeface="PT Bold Heading" panose="02010400000000000000" pitchFamily="2" charset="-78"/>
                  </a:rPr>
                  <a:t> </a:t>
                </a:r>
                <a:r>
                  <a:rPr lang="en-US" sz="4400" dirty="0" err="1">
                    <a:solidFill>
                      <a:srgbClr val="FFFFFF"/>
                    </a:solidFill>
                    <a:cs typeface="PT Bold Heading" panose="02010400000000000000" pitchFamily="2" charset="-78"/>
                  </a:rPr>
                  <a:t>إلى</a:t>
                </a:r>
                <a:r>
                  <a:rPr lang="en-US" sz="4400" dirty="0">
                    <a:solidFill>
                      <a:srgbClr val="FFFFFF"/>
                    </a:solidFill>
                    <a:cs typeface="PT Bold Heading" panose="02010400000000000000" pitchFamily="2" charset="-78"/>
                  </a:rPr>
                  <a:t> </a:t>
                </a:r>
                <a:r>
                  <a:rPr lang="en-US" sz="4400" dirty="0" err="1">
                    <a:solidFill>
                      <a:srgbClr val="FFFFFF"/>
                    </a:solidFill>
                    <a:cs typeface="PT Bold Heading" panose="02010400000000000000" pitchFamily="2" charset="-78"/>
                  </a:rPr>
                  <a:t>نوعين</a:t>
                </a:r>
                <a:r>
                  <a:rPr lang="en-US" sz="4400" dirty="0">
                    <a:solidFill>
                      <a:srgbClr val="FFFFFF"/>
                    </a:solidFill>
                    <a:cs typeface="PT Bold Heading" panose="02010400000000000000" pitchFamily="2" charset="-78"/>
                  </a:rPr>
                  <a:t> :</a:t>
                </a:r>
              </a:p>
            </p:txBody>
          </p:sp>
          <p:sp>
            <p:nvSpPr>
              <p:cNvPr id="16" name="Freeform 16"/>
              <p:cNvSpPr/>
              <p:nvPr/>
            </p:nvSpPr>
            <p:spPr>
              <a:xfrm>
                <a:off x="0" y="-36455"/>
                <a:ext cx="641521" cy="626616"/>
              </a:xfrm>
              <a:custGeom>
                <a:avLst/>
                <a:gdLst/>
                <a:ahLst/>
                <a:cxnLst/>
                <a:rect l="l" t="t" r="r" b="b"/>
                <a:pathLst>
                  <a:path w="123309" h="120443">
                    <a:moveTo>
                      <a:pt x="0" y="0"/>
                    </a:moveTo>
                    <a:lnTo>
                      <a:pt x="123309" y="0"/>
                    </a:lnTo>
                    <a:lnTo>
                      <a:pt x="123309" y="120443"/>
                    </a:lnTo>
                    <a:lnTo>
                      <a:pt x="0" y="120443"/>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19" name="Freeform 19"/>
              <p:cNvSpPr/>
              <p:nvPr/>
            </p:nvSpPr>
            <p:spPr>
              <a:xfrm>
                <a:off x="0" y="573144"/>
                <a:ext cx="641521" cy="541840"/>
              </a:xfrm>
              <a:custGeom>
                <a:avLst/>
                <a:gdLst/>
                <a:ahLst/>
                <a:cxnLst/>
                <a:rect l="l" t="t" r="r" b="b"/>
                <a:pathLst>
                  <a:path w="123309" h="120443">
                    <a:moveTo>
                      <a:pt x="0" y="0"/>
                    </a:moveTo>
                    <a:lnTo>
                      <a:pt x="123309" y="0"/>
                    </a:lnTo>
                    <a:lnTo>
                      <a:pt x="123309" y="120443"/>
                    </a:lnTo>
                    <a:lnTo>
                      <a:pt x="0" y="120443"/>
                    </a:lnTo>
                    <a:close/>
                  </a:path>
                </a:pathLst>
              </a:custGeom>
              <a:solidFill>
                <a:srgbClr val="5BC4BF"/>
              </a:solidFill>
              <a:ln>
                <a:noFill/>
              </a:ln>
            </p:spPr>
            <p:txBody>
              <a:bodyPr/>
              <a:lstStyle/>
              <a:p>
                <a:pPr algn="r" rtl="1"/>
                <a:endParaRPr lang="ar-SA" dirty="0">
                  <a:cs typeface="PT Bold Heading" panose="02010400000000000000" pitchFamily="2" charset="-78"/>
                </a:endParaRPr>
              </a:p>
            </p:txBody>
          </p:sp>
        </p:grpSp>
      </p:grpSp>
      <p:grpSp>
        <p:nvGrpSpPr>
          <p:cNvPr id="26" name="Group 26"/>
          <p:cNvGrpSpPr/>
          <p:nvPr/>
        </p:nvGrpSpPr>
        <p:grpSpPr>
          <a:xfrm>
            <a:off x="2106020" y="4433480"/>
            <a:ext cx="4328964" cy="4348368"/>
            <a:chOff x="12932" y="0"/>
            <a:chExt cx="5771952" cy="5797824"/>
          </a:xfrm>
        </p:grpSpPr>
        <p:sp>
          <p:nvSpPr>
            <p:cNvPr id="28" name="Freeform 28"/>
            <p:cNvSpPr/>
            <p:nvPr/>
          </p:nvSpPr>
          <p:spPr>
            <a:xfrm>
              <a:off x="12932" y="0"/>
              <a:ext cx="5771952" cy="579782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30" name="Freeform 30"/>
            <p:cNvSpPr/>
            <p:nvPr/>
          </p:nvSpPr>
          <p:spPr>
            <a:xfrm>
              <a:off x="739848" y="869610"/>
              <a:ext cx="4318128" cy="4318128"/>
            </a:xfrm>
            <a:custGeom>
              <a:avLst/>
              <a:gdLst/>
              <a:ahLst/>
              <a:cxnLst/>
              <a:rect l="l" t="t" r="r" b="b"/>
              <a:pathLst>
                <a:path w="4318128" h="4318128">
                  <a:moveTo>
                    <a:pt x="0" y="0"/>
                  </a:moveTo>
                  <a:lnTo>
                    <a:pt x="4318128" y="0"/>
                  </a:lnTo>
                  <a:lnTo>
                    <a:pt x="4318128" y="4318128"/>
                  </a:lnTo>
                  <a:lnTo>
                    <a:pt x="0" y="43181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31" name="Group 31"/>
          <p:cNvGrpSpPr/>
          <p:nvPr/>
        </p:nvGrpSpPr>
        <p:grpSpPr>
          <a:xfrm>
            <a:off x="4585578" y="1028700"/>
            <a:ext cx="9116845" cy="1104756"/>
            <a:chOff x="0" y="0"/>
            <a:chExt cx="12155793" cy="1473008"/>
          </a:xfrm>
        </p:grpSpPr>
        <p:sp>
          <p:nvSpPr>
            <p:cNvPr id="33" name="Freeform 33"/>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2A8D87">
                <a:alpha val="73725"/>
              </a:srgbClr>
            </a:solidFill>
            <a:ln>
              <a:noFill/>
            </a:ln>
          </p:spPr>
          <p:txBody>
            <a:bodyPr/>
            <a:lstStyle/>
            <a:p>
              <a:pPr algn="r" rtl="1"/>
              <a:endParaRPr lang="ar-SA">
                <a:cs typeface="PT Bold Heading" panose="02010400000000000000" pitchFamily="2" charset="-78"/>
              </a:endParaRPr>
            </a:p>
          </p:txBody>
        </p:sp>
        <p:sp>
          <p:nvSpPr>
            <p:cNvPr id="36" name="Freeform 36"/>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38" name="TextBox 38"/>
            <p:cNvSpPr txBox="1"/>
            <p:nvPr/>
          </p:nvSpPr>
          <p:spPr>
            <a:xfrm>
              <a:off x="622470" y="274018"/>
              <a:ext cx="10791289" cy="802479"/>
            </a:xfrm>
            <a:prstGeom prst="rect">
              <a:avLst/>
            </a:prstGeom>
          </p:spPr>
          <p:txBody>
            <a:bodyPr lIns="0" tIns="0" rIns="0" bIns="0" rtlCol="0" anchor="t">
              <a:spAutoFit/>
            </a:bodyPr>
            <a:lstStyle/>
            <a:p>
              <a:pPr algn="ctr" rtl="1">
                <a:lnSpc>
                  <a:spcPts val="4322"/>
                </a:lnSpc>
              </a:pPr>
              <a:r>
                <a:rPr lang="en-US" sz="4410" dirty="0" err="1">
                  <a:solidFill>
                    <a:srgbClr val="17383E"/>
                  </a:solidFill>
                  <a:cs typeface="PT Bold Heading" panose="02010400000000000000" pitchFamily="2" charset="-78"/>
                </a:rPr>
                <a:t>آثار</a:t>
              </a:r>
              <a:r>
                <a:rPr lang="en-US" sz="4410" dirty="0">
                  <a:solidFill>
                    <a:srgbClr val="17383E"/>
                  </a:solidFill>
                  <a:cs typeface="PT Bold Heading" panose="02010400000000000000" pitchFamily="2" charset="-78"/>
                </a:rPr>
                <a:t> </a:t>
              </a:r>
              <a:r>
                <a:rPr lang="en-US" sz="4410" dirty="0" err="1">
                  <a:solidFill>
                    <a:srgbClr val="17383E"/>
                  </a:solidFill>
                  <a:cs typeface="PT Bold Heading" panose="02010400000000000000" pitchFamily="2" charset="-78"/>
                </a:rPr>
                <a:t>التعقب</a:t>
              </a:r>
              <a:r>
                <a:rPr lang="en-US" sz="4410" dirty="0">
                  <a:solidFill>
                    <a:srgbClr val="17383E"/>
                  </a:solidFill>
                  <a:cs typeface="PT Bold Heading" panose="02010400000000000000" pitchFamily="2" charset="-78"/>
                </a:rPr>
                <a:t> </a:t>
              </a:r>
              <a:r>
                <a:rPr lang="en-US" sz="4410" dirty="0" err="1">
                  <a:solidFill>
                    <a:srgbClr val="17383E"/>
                  </a:solidFill>
                  <a:cs typeface="PT Bold Heading" panose="02010400000000000000" pitchFamily="2" charset="-78"/>
                </a:rPr>
                <a:t>الرقمية</a:t>
              </a:r>
              <a:r>
                <a:rPr lang="en-US" sz="4410" dirty="0">
                  <a:solidFill>
                    <a:srgbClr val="17383E"/>
                  </a:solidFill>
                  <a:cs typeface="PT Bold Heading" panose="02010400000000000000" pitchFamily="2" charset="-78"/>
                </a:rPr>
                <a:t> Digital Traces</a:t>
              </a:r>
            </a:p>
          </p:txBody>
        </p:sp>
      </p:grpSp>
      <p:grpSp>
        <p:nvGrpSpPr>
          <p:cNvPr id="18" name="مجموعة 17">
            <a:extLst>
              <a:ext uri="{FF2B5EF4-FFF2-40B4-BE49-F238E27FC236}">
                <a16:creationId xmlns:a16="http://schemas.microsoft.com/office/drawing/2014/main" id="{84F28549-C9EC-9CED-FF2A-0D4427AB9BBA}"/>
              </a:ext>
            </a:extLst>
          </p:cNvPr>
          <p:cNvGrpSpPr/>
          <p:nvPr/>
        </p:nvGrpSpPr>
        <p:grpSpPr>
          <a:xfrm>
            <a:off x="7460525" y="4986816"/>
            <a:ext cx="8541475" cy="1764586"/>
            <a:chOff x="7543800" y="7252982"/>
            <a:chExt cx="7467600" cy="1095877"/>
          </a:xfrm>
        </p:grpSpPr>
        <p:sp>
          <p:nvSpPr>
            <p:cNvPr id="3" name="Freeform 25">
              <a:extLst>
                <a:ext uri="{FF2B5EF4-FFF2-40B4-BE49-F238E27FC236}">
                  <a16:creationId xmlns:a16="http://schemas.microsoft.com/office/drawing/2014/main" id="{4A2D8452-5BC6-97A0-7D20-140A0C206AD5}"/>
                </a:ext>
              </a:extLst>
            </p:cNvPr>
            <p:cNvSpPr/>
            <p:nvPr/>
          </p:nvSpPr>
          <p:spPr>
            <a:xfrm>
              <a:off x="7543800" y="7252982"/>
              <a:ext cx="7467600" cy="1095877"/>
            </a:xfrm>
            <a:custGeom>
              <a:avLst/>
              <a:gdLst/>
              <a:ahLst/>
              <a:cxnLst/>
              <a:rect l="l" t="t" r="r" b="b"/>
              <a:pathLst>
                <a:path w="1879359" h="311974">
                  <a:moveTo>
                    <a:pt x="0" y="0"/>
                  </a:moveTo>
                  <a:lnTo>
                    <a:pt x="1879359" y="0"/>
                  </a:lnTo>
                  <a:lnTo>
                    <a:pt x="1879359" y="311974"/>
                  </a:lnTo>
                  <a:lnTo>
                    <a:pt x="0" y="311974"/>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4" name="Freeform 28">
              <a:extLst>
                <a:ext uri="{FF2B5EF4-FFF2-40B4-BE49-F238E27FC236}">
                  <a16:creationId xmlns:a16="http://schemas.microsoft.com/office/drawing/2014/main" id="{D9478AE2-527B-78E9-32B0-3271BA0589CB}"/>
                </a:ext>
              </a:extLst>
            </p:cNvPr>
            <p:cNvSpPr/>
            <p:nvPr/>
          </p:nvSpPr>
          <p:spPr>
            <a:xfrm>
              <a:off x="7696200" y="7338190"/>
              <a:ext cx="7162800" cy="897306"/>
            </a:xfrm>
            <a:custGeom>
              <a:avLst/>
              <a:gdLst/>
              <a:ahLst/>
              <a:cxnLst/>
              <a:rect l="l" t="t" r="r" b="b"/>
              <a:pathLst>
                <a:path w="1680565" h="255445">
                  <a:moveTo>
                    <a:pt x="14426" y="0"/>
                  </a:moveTo>
                  <a:lnTo>
                    <a:pt x="1666139" y="0"/>
                  </a:lnTo>
                  <a:cubicBezTo>
                    <a:pt x="1674106" y="0"/>
                    <a:pt x="1680565" y="6459"/>
                    <a:pt x="1680565" y="14426"/>
                  </a:cubicBezTo>
                  <a:lnTo>
                    <a:pt x="1680565" y="241019"/>
                  </a:lnTo>
                  <a:cubicBezTo>
                    <a:pt x="1680565" y="244845"/>
                    <a:pt x="1679045" y="248514"/>
                    <a:pt x="1676340" y="251220"/>
                  </a:cubicBezTo>
                  <a:cubicBezTo>
                    <a:pt x="1673634" y="253925"/>
                    <a:pt x="1669965" y="255445"/>
                    <a:pt x="1666139" y="255445"/>
                  </a:cubicBezTo>
                  <a:lnTo>
                    <a:pt x="14426" y="255445"/>
                  </a:lnTo>
                  <a:cubicBezTo>
                    <a:pt x="10600" y="255445"/>
                    <a:pt x="6931" y="253925"/>
                    <a:pt x="4225" y="251220"/>
                  </a:cubicBezTo>
                  <a:cubicBezTo>
                    <a:pt x="1520" y="248514"/>
                    <a:pt x="0" y="244845"/>
                    <a:pt x="0" y="241019"/>
                  </a:cubicBezTo>
                  <a:lnTo>
                    <a:pt x="0" y="14426"/>
                  </a:lnTo>
                  <a:cubicBezTo>
                    <a:pt x="0" y="10600"/>
                    <a:pt x="1520" y="6931"/>
                    <a:pt x="4225" y="4225"/>
                  </a:cubicBezTo>
                  <a:cubicBezTo>
                    <a:pt x="6931" y="1520"/>
                    <a:pt x="10600" y="0"/>
                    <a:pt x="14426" y="0"/>
                  </a:cubicBezTo>
                  <a:close/>
                </a:path>
              </a:pathLst>
            </a:custGeom>
            <a:solidFill>
              <a:srgbClr val="FFFFFF"/>
            </a:solidFill>
            <a:ln w="28575">
              <a:solidFill>
                <a:srgbClr val="5BC4BF"/>
              </a:solidFill>
            </a:ln>
          </p:spPr>
          <p:txBody>
            <a:bodyPr/>
            <a:lstStyle/>
            <a:p>
              <a:pPr algn="r" rtl="1"/>
              <a:endParaRPr lang="ar-SA">
                <a:cs typeface="PT Bold Heading" panose="02010400000000000000" pitchFamily="2" charset="-78"/>
              </a:endParaRPr>
            </a:p>
          </p:txBody>
        </p:sp>
        <p:sp>
          <p:nvSpPr>
            <p:cNvPr id="6" name="TextBox 33">
              <a:extLst>
                <a:ext uri="{FF2B5EF4-FFF2-40B4-BE49-F238E27FC236}">
                  <a16:creationId xmlns:a16="http://schemas.microsoft.com/office/drawing/2014/main" id="{F5A43EF0-2CF2-0002-0727-8CA5F60F21E8}"/>
                </a:ext>
              </a:extLst>
            </p:cNvPr>
            <p:cNvSpPr txBox="1"/>
            <p:nvPr/>
          </p:nvSpPr>
          <p:spPr>
            <a:xfrm>
              <a:off x="8691451" y="7638049"/>
              <a:ext cx="4926843" cy="326135"/>
            </a:xfrm>
            <a:prstGeom prst="rect">
              <a:avLst/>
            </a:prstGeom>
          </p:spPr>
          <p:txBody>
            <a:bodyPr lIns="0" tIns="0" rIns="0" bIns="0" rtlCol="0" anchor="t">
              <a:spAutoFit/>
            </a:bodyPr>
            <a:lstStyle/>
            <a:p>
              <a:pPr algn="ctr" rtl="1">
                <a:lnSpc>
                  <a:spcPts val="3669"/>
                </a:lnSpc>
              </a:pPr>
              <a:r>
                <a:rPr lang="en-US" sz="4000" dirty="0">
                  <a:solidFill>
                    <a:srgbClr val="17383E"/>
                  </a:solidFill>
                  <a:latin typeface="PT Bold Heading"/>
                  <a:cs typeface="PT Bold Heading" panose="02010400000000000000" pitchFamily="2" charset="-78"/>
                </a:rPr>
                <a:t> </a:t>
              </a:r>
              <a:r>
                <a:rPr lang="en-US" sz="4400" dirty="0" err="1">
                  <a:solidFill>
                    <a:srgbClr val="1D545D"/>
                  </a:solidFill>
                  <a:cs typeface="PT Bold Heading" panose="02010400000000000000" pitchFamily="2" charset="-78"/>
                </a:rPr>
                <a:t>الآثار</a:t>
              </a:r>
              <a:r>
                <a:rPr lang="en-US" sz="4400" dirty="0">
                  <a:solidFill>
                    <a:srgbClr val="1D545D"/>
                  </a:solidFill>
                  <a:cs typeface="PT Bold Heading" panose="02010400000000000000" pitchFamily="2" charset="-78"/>
                </a:rPr>
                <a:t> </a:t>
              </a:r>
              <a:r>
                <a:rPr lang="en-US" sz="4400" dirty="0" err="1">
                  <a:solidFill>
                    <a:srgbClr val="1D545D"/>
                  </a:solidFill>
                  <a:cs typeface="PT Bold Heading" panose="02010400000000000000" pitchFamily="2" charset="-78"/>
                </a:rPr>
                <a:t>المقصودة</a:t>
              </a:r>
              <a:r>
                <a:rPr lang="en-US" sz="4400" dirty="0">
                  <a:solidFill>
                    <a:srgbClr val="1D545D"/>
                  </a:solidFill>
                  <a:cs typeface="PT Bold Heading" panose="02010400000000000000" pitchFamily="2" charset="-78"/>
                </a:rPr>
                <a:t> </a:t>
              </a:r>
              <a:r>
                <a:rPr lang="en-US" sz="4400" dirty="0" err="1">
                  <a:solidFill>
                    <a:srgbClr val="1D545D"/>
                  </a:solidFill>
                  <a:cs typeface="PT Bold Heading" panose="02010400000000000000" pitchFamily="2" charset="-78"/>
                </a:rPr>
                <a:t>والمرئية</a:t>
              </a:r>
              <a:endParaRPr lang="en-US" sz="4000" dirty="0">
                <a:solidFill>
                  <a:srgbClr val="17383E"/>
                </a:solidFill>
                <a:cs typeface="PT Bold Heading" panose="02010400000000000000" pitchFamily="2" charset="-78"/>
              </a:endParaRPr>
            </a:p>
          </p:txBody>
        </p:sp>
      </p:grpSp>
      <p:grpSp>
        <p:nvGrpSpPr>
          <p:cNvPr id="20" name="مجموعة 19">
            <a:extLst>
              <a:ext uri="{FF2B5EF4-FFF2-40B4-BE49-F238E27FC236}">
                <a16:creationId xmlns:a16="http://schemas.microsoft.com/office/drawing/2014/main" id="{05F090AB-33DF-8898-3A26-03E20349BB0D}"/>
              </a:ext>
            </a:extLst>
          </p:cNvPr>
          <p:cNvGrpSpPr/>
          <p:nvPr/>
        </p:nvGrpSpPr>
        <p:grpSpPr>
          <a:xfrm>
            <a:off x="7460525" y="7049183"/>
            <a:ext cx="8541475" cy="1764586"/>
            <a:chOff x="7543800" y="8467223"/>
            <a:chExt cx="7467600" cy="1095877"/>
          </a:xfrm>
        </p:grpSpPr>
        <p:sp>
          <p:nvSpPr>
            <p:cNvPr id="8" name="Freeform 25">
              <a:extLst>
                <a:ext uri="{FF2B5EF4-FFF2-40B4-BE49-F238E27FC236}">
                  <a16:creationId xmlns:a16="http://schemas.microsoft.com/office/drawing/2014/main" id="{8AA46D7B-0EA2-8CBB-2F41-8850172EDA19}"/>
                </a:ext>
              </a:extLst>
            </p:cNvPr>
            <p:cNvSpPr/>
            <p:nvPr/>
          </p:nvSpPr>
          <p:spPr>
            <a:xfrm>
              <a:off x="7543800" y="8467223"/>
              <a:ext cx="7467600" cy="1095877"/>
            </a:xfrm>
            <a:custGeom>
              <a:avLst/>
              <a:gdLst/>
              <a:ahLst/>
              <a:cxnLst/>
              <a:rect l="l" t="t" r="r" b="b"/>
              <a:pathLst>
                <a:path w="1879359" h="311974">
                  <a:moveTo>
                    <a:pt x="0" y="0"/>
                  </a:moveTo>
                  <a:lnTo>
                    <a:pt x="1879359" y="0"/>
                  </a:lnTo>
                  <a:lnTo>
                    <a:pt x="1879359" y="311974"/>
                  </a:lnTo>
                  <a:lnTo>
                    <a:pt x="0" y="311974"/>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9" name="Freeform 28">
              <a:extLst>
                <a:ext uri="{FF2B5EF4-FFF2-40B4-BE49-F238E27FC236}">
                  <a16:creationId xmlns:a16="http://schemas.microsoft.com/office/drawing/2014/main" id="{816B5453-6EF6-3AEF-462D-0E6A6D855490}"/>
                </a:ext>
              </a:extLst>
            </p:cNvPr>
            <p:cNvSpPr/>
            <p:nvPr/>
          </p:nvSpPr>
          <p:spPr>
            <a:xfrm>
              <a:off x="7696200" y="8552431"/>
              <a:ext cx="7162800" cy="897306"/>
            </a:xfrm>
            <a:custGeom>
              <a:avLst/>
              <a:gdLst/>
              <a:ahLst/>
              <a:cxnLst/>
              <a:rect l="l" t="t" r="r" b="b"/>
              <a:pathLst>
                <a:path w="1680565" h="255445">
                  <a:moveTo>
                    <a:pt x="14426" y="0"/>
                  </a:moveTo>
                  <a:lnTo>
                    <a:pt x="1666139" y="0"/>
                  </a:lnTo>
                  <a:cubicBezTo>
                    <a:pt x="1674106" y="0"/>
                    <a:pt x="1680565" y="6459"/>
                    <a:pt x="1680565" y="14426"/>
                  </a:cubicBezTo>
                  <a:lnTo>
                    <a:pt x="1680565" y="241019"/>
                  </a:lnTo>
                  <a:cubicBezTo>
                    <a:pt x="1680565" y="244845"/>
                    <a:pt x="1679045" y="248514"/>
                    <a:pt x="1676340" y="251220"/>
                  </a:cubicBezTo>
                  <a:cubicBezTo>
                    <a:pt x="1673634" y="253925"/>
                    <a:pt x="1669965" y="255445"/>
                    <a:pt x="1666139" y="255445"/>
                  </a:cubicBezTo>
                  <a:lnTo>
                    <a:pt x="14426" y="255445"/>
                  </a:lnTo>
                  <a:cubicBezTo>
                    <a:pt x="10600" y="255445"/>
                    <a:pt x="6931" y="253925"/>
                    <a:pt x="4225" y="251220"/>
                  </a:cubicBezTo>
                  <a:cubicBezTo>
                    <a:pt x="1520" y="248514"/>
                    <a:pt x="0" y="244845"/>
                    <a:pt x="0" y="241019"/>
                  </a:cubicBezTo>
                  <a:lnTo>
                    <a:pt x="0" y="14426"/>
                  </a:lnTo>
                  <a:cubicBezTo>
                    <a:pt x="0" y="10600"/>
                    <a:pt x="1520" y="6931"/>
                    <a:pt x="4225" y="4225"/>
                  </a:cubicBezTo>
                  <a:cubicBezTo>
                    <a:pt x="6931" y="1520"/>
                    <a:pt x="10600" y="0"/>
                    <a:pt x="14426" y="0"/>
                  </a:cubicBezTo>
                  <a:close/>
                </a:path>
              </a:pathLst>
            </a:custGeom>
            <a:solidFill>
              <a:srgbClr val="FFFFFF"/>
            </a:solidFill>
            <a:ln w="28575">
              <a:solidFill>
                <a:srgbClr val="5BC4BF"/>
              </a:solidFill>
            </a:ln>
          </p:spPr>
          <p:txBody>
            <a:bodyPr/>
            <a:lstStyle/>
            <a:p>
              <a:pPr algn="r" rtl="1"/>
              <a:endParaRPr lang="ar-SA">
                <a:cs typeface="PT Bold Heading" panose="02010400000000000000" pitchFamily="2" charset="-78"/>
              </a:endParaRPr>
            </a:p>
          </p:txBody>
        </p:sp>
        <p:sp>
          <p:nvSpPr>
            <p:cNvPr id="15" name="TextBox 33">
              <a:extLst>
                <a:ext uri="{FF2B5EF4-FFF2-40B4-BE49-F238E27FC236}">
                  <a16:creationId xmlns:a16="http://schemas.microsoft.com/office/drawing/2014/main" id="{3414E50C-D06B-C954-37F4-6F868D5213EA}"/>
                </a:ext>
              </a:extLst>
            </p:cNvPr>
            <p:cNvSpPr txBox="1"/>
            <p:nvPr/>
          </p:nvSpPr>
          <p:spPr>
            <a:xfrm>
              <a:off x="7906299" y="8852094"/>
              <a:ext cx="6707886" cy="326135"/>
            </a:xfrm>
            <a:prstGeom prst="rect">
              <a:avLst/>
            </a:prstGeom>
          </p:spPr>
          <p:txBody>
            <a:bodyPr wrap="square" lIns="0" tIns="0" rIns="0" bIns="0" rtlCol="0" anchor="t">
              <a:spAutoFit/>
            </a:bodyPr>
            <a:lstStyle/>
            <a:p>
              <a:pPr algn="ctr" rtl="1">
                <a:lnSpc>
                  <a:spcPts val="3669"/>
                </a:lnSpc>
              </a:pPr>
              <a:r>
                <a:rPr lang="en-US" sz="4000" dirty="0">
                  <a:solidFill>
                    <a:srgbClr val="17383E"/>
                  </a:solidFill>
                  <a:latin typeface="PT Bold Heading"/>
                  <a:cs typeface="PT Bold Heading" panose="02010400000000000000" pitchFamily="2" charset="-78"/>
                </a:rPr>
                <a:t> </a:t>
              </a:r>
              <a:r>
                <a:rPr lang="en-US" sz="4400" dirty="0" err="1">
                  <a:solidFill>
                    <a:srgbClr val="1D545D"/>
                  </a:solidFill>
                  <a:latin typeface="PT Bold Heading"/>
                  <a:cs typeface="PT Bold Heading" panose="02010400000000000000" pitchFamily="2" charset="-78"/>
                </a:rPr>
                <a:t>الآثار</a:t>
              </a:r>
              <a:r>
                <a:rPr lang="en-US" sz="4400" dirty="0">
                  <a:solidFill>
                    <a:srgbClr val="1D545D"/>
                  </a:solidFill>
                  <a:latin typeface="PT Bold Heading"/>
                  <a:cs typeface="PT Bold Heading" panose="02010400000000000000" pitchFamily="2" charset="-78"/>
                </a:rPr>
                <a:t> </a:t>
              </a:r>
              <a:r>
                <a:rPr lang="en-US" sz="4400" dirty="0" err="1">
                  <a:solidFill>
                    <a:srgbClr val="1D545D"/>
                  </a:solidFill>
                  <a:latin typeface="PT Bold Heading"/>
                  <a:cs typeface="PT Bold Heading" panose="02010400000000000000" pitchFamily="2" charset="-78"/>
                </a:rPr>
                <a:t>غير</a:t>
              </a:r>
              <a:r>
                <a:rPr lang="en-US" sz="4400" dirty="0">
                  <a:solidFill>
                    <a:srgbClr val="1D545D"/>
                  </a:solidFill>
                  <a:latin typeface="PT Bold Heading"/>
                  <a:cs typeface="PT Bold Heading" panose="02010400000000000000" pitchFamily="2" charset="-78"/>
                </a:rPr>
                <a:t> </a:t>
              </a:r>
              <a:r>
                <a:rPr lang="en-US" sz="4400" dirty="0" err="1">
                  <a:solidFill>
                    <a:srgbClr val="1D545D"/>
                  </a:solidFill>
                  <a:latin typeface="PT Bold Heading"/>
                  <a:cs typeface="PT Bold Heading" panose="02010400000000000000" pitchFamily="2" charset="-78"/>
                </a:rPr>
                <a:t>المقصودة</a:t>
              </a:r>
              <a:r>
                <a:rPr lang="en-US" sz="4400" dirty="0">
                  <a:solidFill>
                    <a:srgbClr val="1D545D"/>
                  </a:solidFill>
                  <a:latin typeface="PT Bold Heading"/>
                  <a:cs typeface="PT Bold Heading" panose="02010400000000000000" pitchFamily="2" charset="-78"/>
                </a:rPr>
                <a:t> </a:t>
              </a:r>
              <a:r>
                <a:rPr lang="en-US" sz="4400" dirty="0" err="1">
                  <a:solidFill>
                    <a:srgbClr val="1D545D"/>
                  </a:solidFill>
                  <a:latin typeface="PT Bold Heading"/>
                  <a:cs typeface="PT Bold Heading" panose="02010400000000000000" pitchFamily="2" charset="-78"/>
                </a:rPr>
                <a:t>وغير</a:t>
              </a:r>
              <a:r>
                <a:rPr lang="en-US" sz="4400" dirty="0">
                  <a:solidFill>
                    <a:srgbClr val="1D545D"/>
                  </a:solidFill>
                  <a:latin typeface="PT Bold Heading"/>
                  <a:cs typeface="PT Bold Heading" panose="02010400000000000000" pitchFamily="2" charset="-78"/>
                </a:rPr>
                <a:t> </a:t>
              </a:r>
              <a:r>
                <a:rPr lang="en-US" sz="4400" dirty="0" err="1">
                  <a:solidFill>
                    <a:srgbClr val="1D545D"/>
                  </a:solidFill>
                  <a:latin typeface="PT Bold Heading"/>
                  <a:cs typeface="PT Bold Heading" panose="02010400000000000000" pitchFamily="2" charset="-78"/>
                </a:rPr>
                <a:t>المرئية</a:t>
              </a:r>
              <a:endParaRPr lang="en-US" sz="4400" dirty="0">
                <a:solidFill>
                  <a:srgbClr val="BD2424"/>
                </a:solidFill>
                <a:cs typeface="PT Bold Heading" panose="02010400000000000000" pitchFamily="2" charset="-7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par>
                                <p:cTn id="8" presetID="16" presetClass="entr" presetSubtype="21"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000"/>
                                        <p:tgtEl>
                                          <p:spTgt spid="18"/>
                                        </p:tgtEl>
                                      </p:cBhvr>
                                    </p:animEffect>
                                    <p:anim calcmode="lin" valueType="num">
                                      <p:cBhvr>
                                        <p:cTn id="16" dur="1000" fill="hold"/>
                                        <p:tgtEl>
                                          <p:spTgt spid="18"/>
                                        </p:tgtEl>
                                        <p:attrNameLst>
                                          <p:attrName>ppt_x</p:attrName>
                                        </p:attrNameLst>
                                      </p:cBhvr>
                                      <p:tavLst>
                                        <p:tav tm="0">
                                          <p:val>
                                            <p:strVal val="#ppt_x"/>
                                          </p:val>
                                        </p:tav>
                                        <p:tav tm="100000">
                                          <p:val>
                                            <p:strVal val="#ppt_x"/>
                                          </p:val>
                                        </p:tav>
                                      </p:tavLst>
                                    </p:anim>
                                    <p:anim calcmode="lin" valueType="num">
                                      <p:cBhvr>
                                        <p:cTn id="17" dur="1000" fill="hold"/>
                                        <p:tgtEl>
                                          <p:spTgt spid="1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1000"/>
                                        <p:tgtEl>
                                          <p:spTgt spid="20"/>
                                        </p:tgtEl>
                                      </p:cBhvr>
                                    </p:animEffect>
                                    <p:anim calcmode="lin" valueType="num">
                                      <p:cBhvr>
                                        <p:cTn id="21" dur="1000" fill="hold"/>
                                        <p:tgtEl>
                                          <p:spTgt spid="20"/>
                                        </p:tgtEl>
                                        <p:attrNameLst>
                                          <p:attrName>ppt_x</p:attrName>
                                        </p:attrNameLst>
                                      </p:cBhvr>
                                      <p:tavLst>
                                        <p:tav tm="0">
                                          <p:val>
                                            <p:strVal val="#ppt_x"/>
                                          </p:val>
                                        </p:tav>
                                        <p:tav tm="100000">
                                          <p:val>
                                            <p:strVal val="#ppt_x"/>
                                          </p:val>
                                        </p:tav>
                                      </p:tavLst>
                                    </p:anim>
                                    <p:anim calcmode="lin" valueType="num">
                                      <p:cBhvr>
                                        <p:cTn id="2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411257" y="4178399"/>
            <a:ext cx="12184154" cy="3979659"/>
            <a:chOff x="0" y="0"/>
            <a:chExt cx="16245539" cy="5306212"/>
          </a:xfrm>
        </p:grpSpPr>
        <p:sp>
          <p:nvSpPr>
            <p:cNvPr id="4" name="Freeform 4"/>
            <p:cNvSpPr/>
            <p:nvPr/>
          </p:nvSpPr>
          <p:spPr>
            <a:xfrm>
              <a:off x="0" y="0"/>
              <a:ext cx="15957176" cy="5306212"/>
            </a:xfrm>
            <a:custGeom>
              <a:avLst/>
              <a:gdLst/>
              <a:ahLst/>
              <a:cxnLst/>
              <a:rect l="l" t="t" r="r" b="b"/>
              <a:pathLst>
                <a:path w="3282591" h="1091554">
                  <a:moveTo>
                    <a:pt x="0" y="0"/>
                  </a:moveTo>
                  <a:lnTo>
                    <a:pt x="3282591" y="0"/>
                  </a:lnTo>
                  <a:lnTo>
                    <a:pt x="3282591" y="1091554"/>
                  </a:lnTo>
                  <a:lnTo>
                    <a:pt x="0" y="1091554"/>
                  </a:lnTo>
                  <a:close/>
                </a:path>
              </a:pathLst>
            </a:custGeom>
            <a:solidFill>
              <a:srgbClr val="A1CCD1"/>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407871" y="241425"/>
              <a:ext cx="15360959" cy="4830927"/>
            </a:xfrm>
            <a:custGeom>
              <a:avLst/>
              <a:gdLst/>
              <a:ahLst/>
              <a:cxnLst/>
              <a:rect l="l" t="t" r="r" b="b"/>
              <a:pathLst>
                <a:path w="3612443" h="1136091">
                  <a:moveTo>
                    <a:pt x="0" y="0"/>
                  </a:moveTo>
                  <a:lnTo>
                    <a:pt x="3612443" y="0"/>
                  </a:lnTo>
                  <a:lnTo>
                    <a:pt x="3612443" y="1136091"/>
                  </a:lnTo>
                  <a:lnTo>
                    <a:pt x="0" y="1136091"/>
                  </a:lnTo>
                  <a:close/>
                </a:path>
              </a:pathLst>
            </a:custGeom>
            <a:solidFill>
              <a:srgbClr val="FFFFFF"/>
            </a:solidFill>
            <a:ln>
              <a:noFill/>
            </a:ln>
          </p:spPr>
          <p:txBody>
            <a:bodyPr/>
            <a:lstStyle/>
            <a:p>
              <a:pPr algn="r" rtl="1"/>
              <a:endParaRPr lang="ar-SA">
                <a:cs typeface="PT Bold Heading" panose="02010400000000000000" pitchFamily="2" charset="-78"/>
              </a:endParaRPr>
            </a:p>
          </p:txBody>
        </p:sp>
        <p:sp>
          <p:nvSpPr>
            <p:cNvPr id="9" name="Freeform 9"/>
            <p:cNvSpPr/>
            <p:nvPr/>
          </p:nvSpPr>
          <p:spPr>
            <a:xfrm flipH="1">
              <a:off x="15292123" y="801582"/>
              <a:ext cx="953416" cy="953416"/>
            </a:xfrm>
            <a:custGeom>
              <a:avLst/>
              <a:gdLst/>
              <a:ahLst/>
              <a:cxnLst/>
              <a:rect l="l" t="t" r="r" b="b"/>
              <a:pathLst>
                <a:path w="953416" h="953416">
                  <a:moveTo>
                    <a:pt x="953416" y="0"/>
                  </a:moveTo>
                  <a:lnTo>
                    <a:pt x="0" y="0"/>
                  </a:lnTo>
                  <a:lnTo>
                    <a:pt x="0" y="953415"/>
                  </a:lnTo>
                  <a:lnTo>
                    <a:pt x="953416" y="953415"/>
                  </a:lnTo>
                  <a:lnTo>
                    <a:pt x="95341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10" name="Group 10"/>
          <p:cNvGrpSpPr/>
          <p:nvPr/>
        </p:nvGrpSpPr>
        <p:grpSpPr>
          <a:xfrm>
            <a:off x="11472136" y="2904684"/>
            <a:ext cx="6862418" cy="867216"/>
            <a:chOff x="0" y="-36455"/>
            <a:chExt cx="9149892" cy="1156288"/>
          </a:xfrm>
        </p:grpSpPr>
        <p:sp>
          <p:nvSpPr>
            <p:cNvPr id="12" name="Freeform 12"/>
            <p:cNvSpPr/>
            <p:nvPr/>
          </p:nvSpPr>
          <p:spPr>
            <a:xfrm>
              <a:off x="320761" y="0"/>
              <a:ext cx="8829131" cy="1119833"/>
            </a:xfrm>
            <a:custGeom>
              <a:avLst/>
              <a:gdLst/>
              <a:ahLst/>
              <a:cxnLst/>
              <a:rect l="l" t="t" r="r" b="b"/>
              <a:pathLst>
                <a:path w="1697070" h="215246">
                  <a:moveTo>
                    <a:pt x="0" y="0"/>
                  </a:moveTo>
                  <a:lnTo>
                    <a:pt x="1697070" y="0"/>
                  </a:lnTo>
                  <a:lnTo>
                    <a:pt x="1697070" y="215246"/>
                  </a:lnTo>
                  <a:lnTo>
                    <a:pt x="0" y="215246"/>
                  </a:ln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14" name="TextBox 14"/>
            <p:cNvSpPr txBox="1"/>
            <p:nvPr/>
          </p:nvSpPr>
          <p:spPr>
            <a:xfrm>
              <a:off x="641521" y="185242"/>
              <a:ext cx="8187609" cy="674031"/>
            </a:xfrm>
            <a:prstGeom prst="rect">
              <a:avLst/>
            </a:prstGeom>
          </p:spPr>
          <p:txBody>
            <a:bodyPr lIns="0" tIns="0" rIns="0" bIns="0" rtlCol="0" anchor="t">
              <a:spAutoFit/>
            </a:bodyPr>
            <a:lstStyle/>
            <a:p>
              <a:pPr algn="r" rtl="1">
                <a:lnSpc>
                  <a:spcPts val="3955"/>
                </a:lnSpc>
              </a:pPr>
              <a:r>
                <a:rPr lang="en-US" sz="3139" dirty="0">
                  <a:solidFill>
                    <a:srgbClr val="FFFFFF"/>
                  </a:solidFill>
                  <a:latin typeface="PT Bold Heading"/>
                  <a:cs typeface="PT Bold Heading" panose="02010400000000000000" pitchFamily="2" charset="-78"/>
                </a:rPr>
                <a:t> </a:t>
              </a:r>
              <a:r>
                <a:rPr lang="en-US" sz="3139" dirty="0" err="1">
                  <a:solidFill>
                    <a:srgbClr val="FFFFFF"/>
                  </a:solidFill>
                  <a:cs typeface="PT Bold Heading" panose="02010400000000000000" pitchFamily="2" charset="-78"/>
                </a:rPr>
                <a:t>تنقسم</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آثار</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التعقب</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الرقمية</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إلى</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نوعين</a:t>
              </a:r>
              <a:r>
                <a:rPr lang="en-US" sz="3139" dirty="0">
                  <a:solidFill>
                    <a:srgbClr val="FFFFFF"/>
                  </a:solidFill>
                  <a:cs typeface="PT Bold Heading" panose="02010400000000000000" pitchFamily="2" charset="-78"/>
                </a:rPr>
                <a:t> :</a:t>
              </a:r>
            </a:p>
          </p:txBody>
        </p:sp>
        <p:sp>
          <p:nvSpPr>
            <p:cNvPr id="16" name="Freeform 16"/>
            <p:cNvSpPr/>
            <p:nvPr/>
          </p:nvSpPr>
          <p:spPr>
            <a:xfrm>
              <a:off x="0" y="-36455"/>
              <a:ext cx="641521" cy="626616"/>
            </a:xfrm>
            <a:custGeom>
              <a:avLst/>
              <a:gdLst/>
              <a:ahLst/>
              <a:cxnLst/>
              <a:rect l="l" t="t" r="r" b="b"/>
              <a:pathLst>
                <a:path w="123309" h="120443">
                  <a:moveTo>
                    <a:pt x="0" y="0"/>
                  </a:moveTo>
                  <a:lnTo>
                    <a:pt x="123309" y="0"/>
                  </a:lnTo>
                  <a:lnTo>
                    <a:pt x="123309" y="120443"/>
                  </a:lnTo>
                  <a:lnTo>
                    <a:pt x="0" y="120443"/>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19" name="Freeform 19"/>
            <p:cNvSpPr/>
            <p:nvPr/>
          </p:nvSpPr>
          <p:spPr>
            <a:xfrm>
              <a:off x="0" y="573144"/>
              <a:ext cx="641521" cy="541840"/>
            </a:xfrm>
            <a:custGeom>
              <a:avLst/>
              <a:gdLst/>
              <a:ahLst/>
              <a:cxnLst/>
              <a:rect l="l" t="t" r="r" b="b"/>
              <a:pathLst>
                <a:path w="123309" h="120443">
                  <a:moveTo>
                    <a:pt x="0" y="0"/>
                  </a:moveTo>
                  <a:lnTo>
                    <a:pt x="123309" y="0"/>
                  </a:lnTo>
                  <a:lnTo>
                    <a:pt x="123309" y="120443"/>
                  </a:lnTo>
                  <a:lnTo>
                    <a:pt x="0" y="120443"/>
                  </a:lnTo>
                  <a:close/>
                </a:path>
              </a:pathLst>
            </a:custGeom>
            <a:solidFill>
              <a:srgbClr val="5BC4BF"/>
            </a:solidFill>
            <a:ln>
              <a:noFill/>
            </a:ln>
          </p:spPr>
          <p:txBody>
            <a:bodyPr/>
            <a:lstStyle/>
            <a:p>
              <a:pPr algn="r" rtl="1"/>
              <a:endParaRPr lang="ar-SA" dirty="0">
                <a:cs typeface="PT Bold Heading" panose="02010400000000000000" pitchFamily="2" charset="-78"/>
              </a:endParaRPr>
            </a:p>
          </p:txBody>
        </p:sp>
      </p:grpSp>
      <p:grpSp>
        <p:nvGrpSpPr>
          <p:cNvPr id="21" name="Group 21"/>
          <p:cNvGrpSpPr/>
          <p:nvPr/>
        </p:nvGrpSpPr>
        <p:grpSpPr>
          <a:xfrm>
            <a:off x="8214163" y="4586501"/>
            <a:ext cx="6523687" cy="743273"/>
            <a:chOff x="0" y="0"/>
            <a:chExt cx="8698250" cy="991031"/>
          </a:xfrm>
        </p:grpSpPr>
        <p:sp>
          <p:nvSpPr>
            <p:cNvPr id="23" name="Freeform 23"/>
            <p:cNvSpPr/>
            <p:nvPr/>
          </p:nvSpPr>
          <p:spPr>
            <a:xfrm>
              <a:off x="544325" y="0"/>
              <a:ext cx="7663682" cy="991031"/>
            </a:xfrm>
            <a:custGeom>
              <a:avLst/>
              <a:gdLst/>
              <a:ahLst/>
              <a:cxnLst/>
              <a:rect l="l" t="t" r="r" b="b"/>
              <a:pathLst>
                <a:path w="1383593" h="178920">
                  <a:moveTo>
                    <a:pt x="0" y="0"/>
                  </a:moveTo>
                  <a:lnTo>
                    <a:pt x="1383593" y="0"/>
                  </a:lnTo>
                  <a:lnTo>
                    <a:pt x="1383593" y="178920"/>
                  </a:lnTo>
                  <a:lnTo>
                    <a:pt x="0" y="17892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25" name="TextBox 25"/>
            <p:cNvSpPr txBox="1"/>
            <p:nvPr/>
          </p:nvSpPr>
          <p:spPr>
            <a:xfrm>
              <a:off x="0" y="105364"/>
              <a:ext cx="8698250" cy="710451"/>
            </a:xfrm>
            <a:prstGeom prst="rect">
              <a:avLst/>
            </a:prstGeom>
          </p:spPr>
          <p:txBody>
            <a:bodyPr lIns="0" tIns="0" rIns="0" bIns="0" rtlCol="0" anchor="t">
              <a:spAutoFit/>
            </a:bodyPr>
            <a:lstStyle/>
            <a:p>
              <a:pPr algn="ctr" rtl="1">
                <a:lnSpc>
                  <a:spcPts val="4220"/>
                </a:lnSpc>
              </a:pPr>
              <a:r>
                <a:rPr lang="en-US" sz="3349">
                  <a:solidFill>
                    <a:srgbClr val="1D545D"/>
                  </a:solidFill>
                  <a:latin typeface="PT Bold Heading"/>
                  <a:cs typeface="PT Bold Heading" panose="02010400000000000000" pitchFamily="2" charset="-78"/>
                </a:rPr>
                <a:t> </a:t>
              </a:r>
              <a:r>
                <a:rPr lang="en-US" sz="3349">
                  <a:solidFill>
                    <a:srgbClr val="1D545D"/>
                  </a:solidFill>
                  <a:cs typeface="PT Bold Heading" panose="02010400000000000000" pitchFamily="2" charset="-78"/>
                </a:rPr>
                <a:t>الآثار المقصودة والمرئية </a:t>
              </a:r>
              <a:r>
                <a:rPr lang="en-US" sz="3349">
                  <a:solidFill>
                    <a:srgbClr val="BD2424"/>
                  </a:solidFill>
                  <a:cs typeface="PT Bold Heading" panose="02010400000000000000" pitchFamily="2" charset="-78"/>
                </a:rPr>
                <a:t>مثل :</a:t>
              </a:r>
            </a:p>
          </p:txBody>
        </p:sp>
      </p:grpSp>
      <p:grpSp>
        <p:nvGrpSpPr>
          <p:cNvPr id="26" name="Group 26"/>
          <p:cNvGrpSpPr/>
          <p:nvPr/>
        </p:nvGrpSpPr>
        <p:grpSpPr>
          <a:xfrm>
            <a:off x="702288" y="3910117"/>
            <a:ext cx="4328964" cy="4348368"/>
            <a:chOff x="12932" y="0"/>
            <a:chExt cx="5771952" cy="5797824"/>
          </a:xfrm>
        </p:grpSpPr>
        <p:sp>
          <p:nvSpPr>
            <p:cNvPr id="28" name="Freeform 28"/>
            <p:cNvSpPr/>
            <p:nvPr/>
          </p:nvSpPr>
          <p:spPr>
            <a:xfrm>
              <a:off x="12932" y="0"/>
              <a:ext cx="5771952" cy="5797824"/>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30" name="Freeform 30"/>
            <p:cNvSpPr/>
            <p:nvPr/>
          </p:nvSpPr>
          <p:spPr>
            <a:xfrm>
              <a:off x="739848" y="869610"/>
              <a:ext cx="4318128" cy="4318128"/>
            </a:xfrm>
            <a:custGeom>
              <a:avLst/>
              <a:gdLst/>
              <a:ahLst/>
              <a:cxnLst/>
              <a:rect l="l" t="t" r="r" b="b"/>
              <a:pathLst>
                <a:path w="4318128" h="4318128">
                  <a:moveTo>
                    <a:pt x="0" y="0"/>
                  </a:moveTo>
                  <a:lnTo>
                    <a:pt x="4318128" y="0"/>
                  </a:lnTo>
                  <a:lnTo>
                    <a:pt x="4318128" y="4318128"/>
                  </a:lnTo>
                  <a:lnTo>
                    <a:pt x="0" y="43181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31" name="Group 31"/>
          <p:cNvGrpSpPr/>
          <p:nvPr/>
        </p:nvGrpSpPr>
        <p:grpSpPr>
          <a:xfrm>
            <a:off x="4585578" y="1028700"/>
            <a:ext cx="9116845" cy="1104756"/>
            <a:chOff x="0" y="0"/>
            <a:chExt cx="12155793" cy="1473008"/>
          </a:xfrm>
        </p:grpSpPr>
        <p:sp>
          <p:nvSpPr>
            <p:cNvPr id="33" name="Freeform 33"/>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2A8D87">
                <a:alpha val="73725"/>
              </a:srgbClr>
            </a:solidFill>
            <a:ln>
              <a:noFill/>
            </a:ln>
          </p:spPr>
          <p:txBody>
            <a:bodyPr/>
            <a:lstStyle/>
            <a:p>
              <a:pPr algn="r" rtl="1"/>
              <a:endParaRPr lang="ar-SA">
                <a:cs typeface="PT Bold Heading" panose="02010400000000000000" pitchFamily="2" charset="-78"/>
              </a:endParaRPr>
            </a:p>
          </p:txBody>
        </p:sp>
        <p:sp>
          <p:nvSpPr>
            <p:cNvPr id="36" name="Freeform 36"/>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38" name="TextBox 38"/>
            <p:cNvSpPr txBox="1"/>
            <p:nvPr/>
          </p:nvSpPr>
          <p:spPr>
            <a:xfrm>
              <a:off x="622470" y="274018"/>
              <a:ext cx="10791289" cy="802479"/>
            </a:xfrm>
            <a:prstGeom prst="rect">
              <a:avLst/>
            </a:prstGeom>
          </p:spPr>
          <p:txBody>
            <a:bodyPr lIns="0" tIns="0" rIns="0" bIns="0" rtlCol="0" anchor="t">
              <a:spAutoFit/>
            </a:bodyPr>
            <a:lstStyle/>
            <a:p>
              <a:pPr algn="ctr" rtl="1">
                <a:lnSpc>
                  <a:spcPts val="4322"/>
                </a:lnSpc>
              </a:pPr>
              <a:r>
                <a:rPr lang="en-US" sz="4410">
                  <a:solidFill>
                    <a:srgbClr val="17383E"/>
                  </a:solidFill>
                  <a:cs typeface="PT Bold Heading" panose="02010400000000000000" pitchFamily="2" charset="-78"/>
                </a:rPr>
                <a:t>آثار التعقب الرقمية Digital Traces</a:t>
              </a:r>
            </a:p>
          </p:txBody>
        </p:sp>
      </p:grpSp>
      <p:sp>
        <p:nvSpPr>
          <p:cNvPr id="39" name="TextBox 39"/>
          <p:cNvSpPr txBox="1"/>
          <p:nvPr/>
        </p:nvSpPr>
        <p:spPr>
          <a:xfrm>
            <a:off x="6303458" y="5857354"/>
            <a:ext cx="4262629" cy="507768"/>
          </a:xfrm>
          <a:prstGeom prst="rect">
            <a:avLst/>
          </a:prstGeom>
        </p:spPr>
        <p:txBody>
          <a:bodyPr lIns="0" tIns="0" rIns="0" bIns="0" rtlCol="0" anchor="t">
            <a:spAutoFit/>
          </a:bodyPr>
          <a:lstStyle/>
          <a:p>
            <a:pPr marL="690557" lvl="1" indent="-345278" algn="r" rtl="1">
              <a:lnSpc>
                <a:spcPts val="4030"/>
              </a:lnSpc>
              <a:buFont typeface="Arial"/>
              <a:buChar char="•"/>
            </a:pPr>
            <a:r>
              <a:rPr lang="en-US" sz="3198">
                <a:solidFill>
                  <a:srgbClr val="2654A4"/>
                </a:solidFill>
                <a:cs typeface="PT Bold Heading" panose="02010400000000000000" pitchFamily="2" charset="-78"/>
              </a:rPr>
              <a:t>النصوص .</a:t>
            </a:r>
          </a:p>
        </p:txBody>
      </p:sp>
      <p:sp>
        <p:nvSpPr>
          <p:cNvPr id="40" name="TextBox 40"/>
          <p:cNvSpPr txBox="1"/>
          <p:nvPr/>
        </p:nvSpPr>
        <p:spPr>
          <a:xfrm>
            <a:off x="11974734" y="5799869"/>
            <a:ext cx="5170106" cy="507768"/>
          </a:xfrm>
          <a:prstGeom prst="rect">
            <a:avLst/>
          </a:prstGeom>
        </p:spPr>
        <p:txBody>
          <a:bodyPr lIns="0" tIns="0" rIns="0" bIns="0" rtlCol="0" anchor="t">
            <a:spAutoFit/>
          </a:bodyPr>
          <a:lstStyle/>
          <a:p>
            <a:pPr marL="690557" lvl="1" indent="-345278" algn="r" rtl="1">
              <a:lnSpc>
                <a:spcPts val="4030"/>
              </a:lnSpc>
              <a:buFont typeface="Arial"/>
              <a:buChar char="•"/>
            </a:pPr>
            <a:r>
              <a:rPr lang="en-US" sz="3198" dirty="0" err="1">
                <a:solidFill>
                  <a:srgbClr val="2654A4"/>
                </a:solidFill>
                <a:cs typeface="PT Bold Heading" panose="02010400000000000000" pitchFamily="2" charset="-78"/>
              </a:rPr>
              <a:t>رسائل</a:t>
            </a:r>
            <a:r>
              <a:rPr lang="en-US" sz="3198" dirty="0">
                <a:solidFill>
                  <a:srgbClr val="2654A4"/>
                </a:solidFill>
                <a:cs typeface="PT Bold Heading" panose="02010400000000000000" pitchFamily="2" charset="-78"/>
              </a:rPr>
              <a:t> </a:t>
            </a:r>
            <a:r>
              <a:rPr lang="en-US" sz="3198" dirty="0" err="1">
                <a:solidFill>
                  <a:srgbClr val="2654A4"/>
                </a:solidFill>
                <a:cs typeface="PT Bold Heading" panose="02010400000000000000" pitchFamily="2" charset="-78"/>
              </a:rPr>
              <a:t>البريد</a:t>
            </a:r>
            <a:r>
              <a:rPr lang="en-US" sz="3198" dirty="0">
                <a:solidFill>
                  <a:srgbClr val="2654A4"/>
                </a:solidFill>
                <a:cs typeface="PT Bold Heading" panose="02010400000000000000" pitchFamily="2" charset="-78"/>
              </a:rPr>
              <a:t> </a:t>
            </a:r>
            <a:r>
              <a:rPr lang="en-US" sz="3198" dirty="0" err="1">
                <a:solidFill>
                  <a:srgbClr val="2654A4"/>
                </a:solidFill>
                <a:cs typeface="PT Bold Heading" panose="02010400000000000000" pitchFamily="2" charset="-78"/>
              </a:rPr>
              <a:t>الإلكتروني</a:t>
            </a:r>
            <a:r>
              <a:rPr lang="en-US" sz="3198" dirty="0">
                <a:solidFill>
                  <a:srgbClr val="2654A4"/>
                </a:solidFill>
                <a:cs typeface="PT Bold Heading" panose="02010400000000000000" pitchFamily="2" charset="-78"/>
              </a:rPr>
              <a:t> .</a:t>
            </a:r>
          </a:p>
        </p:txBody>
      </p:sp>
      <p:sp>
        <p:nvSpPr>
          <p:cNvPr id="41" name="TextBox 41"/>
          <p:cNvSpPr txBox="1"/>
          <p:nvPr/>
        </p:nvSpPr>
        <p:spPr>
          <a:xfrm>
            <a:off x="6303458" y="6377643"/>
            <a:ext cx="4262629" cy="507768"/>
          </a:xfrm>
          <a:prstGeom prst="rect">
            <a:avLst/>
          </a:prstGeom>
        </p:spPr>
        <p:txBody>
          <a:bodyPr lIns="0" tIns="0" rIns="0" bIns="0" rtlCol="0" anchor="t">
            <a:spAutoFit/>
          </a:bodyPr>
          <a:lstStyle/>
          <a:p>
            <a:pPr marL="690557" lvl="1" indent="-345278" algn="r" rtl="1">
              <a:lnSpc>
                <a:spcPts val="4030"/>
              </a:lnSpc>
              <a:buFont typeface="Arial"/>
              <a:buChar char="•"/>
            </a:pPr>
            <a:r>
              <a:rPr lang="en-US" sz="3198">
                <a:solidFill>
                  <a:srgbClr val="2654A4"/>
                </a:solidFill>
                <a:cs typeface="PT Bold Heading" panose="02010400000000000000" pitchFamily="2" charset="-78"/>
              </a:rPr>
              <a:t>الصور الفوتوغرافية .</a:t>
            </a:r>
          </a:p>
        </p:txBody>
      </p:sp>
      <p:sp>
        <p:nvSpPr>
          <p:cNvPr id="42" name="TextBox 42"/>
          <p:cNvSpPr txBox="1"/>
          <p:nvPr/>
        </p:nvSpPr>
        <p:spPr>
          <a:xfrm>
            <a:off x="11410149" y="6348900"/>
            <a:ext cx="5753741" cy="507768"/>
          </a:xfrm>
          <a:prstGeom prst="rect">
            <a:avLst/>
          </a:prstGeom>
        </p:spPr>
        <p:txBody>
          <a:bodyPr lIns="0" tIns="0" rIns="0" bIns="0" rtlCol="0" anchor="t">
            <a:spAutoFit/>
          </a:bodyPr>
          <a:lstStyle/>
          <a:p>
            <a:pPr marL="690557" lvl="1" indent="-345278" algn="r" rtl="1">
              <a:lnSpc>
                <a:spcPts val="4030"/>
              </a:lnSpc>
              <a:buFont typeface="Arial"/>
              <a:buChar char="•"/>
            </a:pPr>
            <a:r>
              <a:rPr lang="en-US" sz="3198">
                <a:solidFill>
                  <a:srgbClr val="2654A4"/>
                </a:solidFill>
                <a:cs typeface="PT Bold Heading" panose="02010400000000000000" pitchFamily="2" charset="-78"/>
              </a:rPr>
              <a:t>مشاركات المدونات و عبر تويتر .</a:t>
            </a:r>
          </a:p>
        </p:txBody>
      </p:sp>
      <p:sp>
        <p:nvSpPr>
          <p:cNvPr id="43" name="TextBox 43"/>
          <p:cNvSpPr txBox="1"/>
          <p:nvPr/>
        </p:nvSpPr>
        <p:spPr>
          <a:xfrm>
            <a:off x="5981651" y="6953178"/>
            <a:ext cx="4584436" cy="512961"/>
          </a:xfrm>
          <a:prstGeom prst="rect">
            <a:avLst/>
          </a:prstGeom>
        </p:spPr>
        <p:txBody>
          <a:bodyPr lIns="0" tIns="0" rIns="0" bIns="0" rtlCol="0" anchor="t">
            <a:spAutoFit/>
          </a:bodyPr>
          <a:lstStyle/>
          <a:p>
            <a:pPr marL="690557" lvl="1" indent="-345278" algn="r" rtl="1">
              <a:lnSpc>
                <a:spcPts val="4030"/>
              </a:lnSpc>
              <a:buFont typeface="Arial"/>
              <a:buChar char="•"/>
            </a:pPr>
            <a:r>
              <a:rPr lang="en-US" sz="3198">
                <a:solidFill>
                  <a:srgbClr val="2654A4"/>
                </a:solidFill>
                <a:latin typeface="PT Bold Heading"/>
                <a:cs typeface="PT Bold Heading" panose="02010400000000000000" pitchFamily="2" charset="-78"/>
              </a:rPr>
              <a:t> الإعجابات على فيسبوك .</a:t>
            </a:r>
          </a:p>
        </p:txBody>
      </p:sp>
      <p:sp>
        <p:nvSpPr>
          <p:cNvPr id="44" name="TextBox 44"/>
          <p:cNvSpPr txBox="1"/>
          <p:nvPr/>
        </p:nvSpPr>
        <p:spPr>
          <a:xfrm>
            <a:off x="10255430" y="6895693"/>
            <a:ext cx="6908459" cy="507768"/>
          </a:xfrm>
          <a:prstGeom prst="rect">
            <a:avLst/>
          </a:prstGeom>
        </p:spPr>
        <p:txBody>
          <a:bodyPr lIns="0" tIns="0" rIns="0" bIns="0" rtlCol="0" anchor="t">
            <a:spAutoFit/>
          </a:bodyPr>
          <a:lstStyle/>
          <a:p>
            <a:pPr marL="690557" lvl="1" indent="-345278" algn="r" rtl="1">
              <a:lnSpc>
                <a:spcPts val="4030"/>
              </a:lnSpc>
              <a:buFont typeface="Arial"/>
              <a:buChar char="•"/>
            </a:pPr>
            <a:r>
              <a:rPr lang="en-US" sz="3198">
                <a:solidFill>
                  <a:srgbClr val="2654A4"/>
                </a:solidFill>
                <a:cs typeface="PT Bold Heading" panose="02010400000000000000" pitchFamily="2" charset="-78"/>
              </a:rPr>
              <a:t>التعليقات على مقاطع فيديو يوتيوب .</a:t>
            </a:r>
          </a:p>
        </p:txBody>
      </p:sp>
    </p:spTree>
    <p:extLst>
      <p:ext uri="{BB962C8B-B14F-4D97-AF65-F5344CB8AC3E}">
        <p14:creationId xmlns:p14="http://schemas.microsoft.com/office/powerpoint/2010/main" val="269360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Vertical)">
                                      <p:cBhvr>
                                        <p:cTn id="12" dur="500"/>
                                        <p:tgtEl>
                                          <p:spTgt spid="26"/>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wipe(down)">
                                      <p:cBhvr>
                                        <p:cTn id="20" dur="500"/>
                                        <p:tgtEl>
                                          <p:spTgt spid="4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down)">
                                      <p:cBhvr>
                                        <p:cTn id="23" dur="500"/>
                                        <p:tgtEl>
                                          <p:spTgt spid="42"/>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down)">
                                      <p:cBhvr>
                                        <p:cTn id="26" dur="500"/>
                                        <p:tgtEl>
                                          <p:spTgt spid="44"/>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down)">
                                      <p:cBhvr>
                                        <p:cTn id="29" dur="500"/>
                                        <p:tgtEl>
                                          <p:spTgt spid="3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down)">
                                      <p:cBhvr>
                                        <p:cTn id="32" dur="500"/>
                                        <p:tgtEl>
                                          <p:spTgt spid="4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down)">
                                      <p:cBhvr>
                                        <p:cTn id="35" dur="500"/>
                                        <p:tgtEl>
                                          <p:spTgt spid="43"/>
                                        </p:tgtEl>
                                      </p:cBhvr>
                                    </p:animEffect>
                                  </p:childTnLst>
                                </p:cTn>
                              </p:par>
                              <p:par>
                                <p:cTn id="36" presetID="16" presetClass="entr" presetSubtype="21"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756746" y="3896166"/>
            <a:ext cx="12071612" cy="3707644"/>
            <a:chOff x="0" y="0"/>
            <a:chExt cx="16095483" cy="4943525"/>
          </a:xfrm>
        </p:grpSpPr>
        <p:sp>
          <p:nvSpPr>
            <p:cNvPr id="4" name="Freeform 4"/>
            <p:cNvSpPr/>
            <p:nvPr/>
          </p:nvSpPr>
          <p:spPr>
            <a:xfrm>
              <a:off x="0" y="0"/>
              <a:ext cx="15807122" cy="4943525"/>
            </a:xfrm>
            <a:custGeom>
              <a:avLst/>
              <a:gdLst/>
              <a:ahLst/>
              <a:cxnLst/>
              <a:rect l="l" t="t" r="r" b="b"/>
              <a:pathLst>
                <a:path w="3251722" h="1016945">
                  <a:moveTo>
                    <a:pt x="0" y="0"/>
                  </a:moveTo>
                  <a:lnTo>
                    <a:pt x="3251722" y="0"/>
                  </a:lnTo>
                  <a:lnTo>
                    <a:pt x="3251722" y="1016945"/>
                  </a:lnTo>
                  <a:lnTo>
                    <a:pt x="0" y="1016945"/>
                  </a:lnTo>
                  <a:close/>
                </a:path>
              </a:pathLst>
            </a:custGeom>
            <a:solidFill>
              <a:srgbClr val="A1CCD1"/>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57816" y="241425"/>
              <a:ext cx="15360959" cy="4380760"/>
            </a:xfrm>
            <a:custGeom>
              <a:avLst/>
              <a:gdLst/>
              <a:ahLst/>
              <a:cxnLst/>
              <a:rect l="l" t="t" r="r" b="b"/>
              <a:pathLst>
                <a:path w="3612443" h="1030225">
                  <a:moveTo>
                    <a:pt x="0" y="0"/>
                  </a:moveTo>
                  <a:lnTo>
                    <a:pt x="3612443" y="0"/>
                  </a:lnTo>
                  <a:lnTo>
                    <a:pt x="3612443" y="1030225"/>
                  </a:lnTo>
                  <a:lnTo>
                    <a:pt x="0" y="1030225"/>
                  </a:lnTo>
                  <a:close/>
                </a:path>
              </a:pathLst>
            </a:custGeom>
            <a:solidFill>
              <a:srgbClr val="FFFFFF"/>
            </a:solidFill>
            <a:ln>
              <a:noFill/>
            </a:ln>
          </p:spPr>
          <p:txBody>
            <a:bodyPr/>
            <a:lstStyle/>
            <a:p>
              <a:pPr algn="r" rtl="1"/>
              <a:endParaRPr lang="ar-SA">
                <a:cs typeface="PT Bold Heading" panose="02010400000000000000" pitchFamily="2" charset="-78"/>
              </a:endParaRPr>
            </a:p>
          </p:txBody>
        </p:sp>
        <p:sp>
          <p:nvSpPr>
            <p:cNvPr id="9" name="Freeform 9"/>
            <p:cNvSpPr/>
            <p:nvPr/>
          </p:nvSpPr>
          <p:spPr>
            <a:xfrm flipH="1">
              <a:off x="15142067" y="801582"/>
              <a:ext cx="953416" cy="953416"/>
            </a:xfrm>
            <a:custGeom>
              <a:avLst/>
              <a:gdLst/>
              <a:ahLst/>
              <a:cxnLst/>
              <a:rect l="l" t="t" r="r" b="b"/>
              <a:pathLst>
                <a:path w="953416" h="953416">
                  <a:moveTo>
                    <a:pt x="953416" y="0"/>
                  </a:moveTo>
                  <a:lnTo>
                    <a:pt x="0" y="0"/>
                  </a:lnTo>
                  <a:lnTo>
                    <a:pt x="0" y="953415"/>
                  </a:lnTo>
                  <a:lnTo>
                    <a:pt x="953416" y="953415"/>
                  </a:lnTo>
                  <a:lnTo>
                    <a:pt x="95341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grpSp>
      <p:grpSp>
        <p:nvGrpSpPr>
          <p:cNvPr id="21" name="Group 21"/>
          <p:cNvGrpSpPr/>
          <p:nvPr/>
        </p:nvGrpSpPr>
        <p:grpSpPr>
          <a:xfrm>
            <a:off x="1038169" y="3627884"/>
            <a:ext cx="4226261" cy="4245205"/>
            <a:chOff x="12625" y="0"/>
            <a:chExt cx="5635014" cy="5660273"/>
          </a:xfrm>
        </p:grpSpPr>
        <p:sp>
          <p:nvSpPr>
            <p:cNvPr id="23" name="Freeform 23"/>
            <p:cNvSpPr/>
            <p:nvPr/>
          </p:nvSpPr>
          <p:spPr>
            <a:xfrm>
              <a:off x="12625" y="0"/>
              <a:ext cx="5635014" cy="566027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alpha val="37647"/>
              </a:srgbClr>
            </a:solidFill>
          </p:spPr>
          <p:txBody>
            <a:bodyPr/>
            <a:lstStyle/>
            <a:p>
              <a:pPr algn="r" rtl="1"/>
              <a:endParaRPr lang="ar-SA">
                <a:cs typeface="PT Bold Heading" panose="02010400000000000000" pitchFamily="2" charset="-78"/>
              </a:endParaRPr>
            </a:p>
          </p:txBody>
        </p:sp>
        <p:sp>
          <p:nvSpPr>
            <p:cNvPr id="25" name="Freeform 25"/>
            <p:cNvSpPr/>
            <p:nvPr/>
          </p:nvSpPr>
          <p:spPr>
            <a:xfrm>
              <a:off x="280124" y="772749"/>
              <a:ext cx="5081050" cy="4528486"/>
            </a:xfrm>
            <a:custGeom>
              <a:avLst/>
              <a:gdLst/>
              <a:ahLst/>
              <a:cxnLst/>
              <a:rect l="l" t="t" r="r" b="b"/>
              <a:pathLst>
                <a:path w="5081050" h="4528486">
                  <a:moveTo>
                    <a:pt x="0" y="0"/>
                  </a:moveTo>
                  <a:lnTo>
                    <a:pt x="5081051" y="0"/>
                  </a:lnTo>
                  <a:lnTo>
                    <a:pt x="5081051" y="4528486"/>
                  </a:lnTo>
                  <a:lnTo>
                    <a:pt x="0" y="45284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26" name="Group 26"/>
          <p:cNvGrpSpPr/>
          <p:nvPr/>
        </p:nvGrpSpPr>
        <p:grpSpPr>
          <a:xfrm>
            <a:off x="7746894" y="4304159"/>
            <a:ext cx="7829780" cy="743273"/>
            <a:chOff x="0" y="0"/>
            <a:chExt cx="10439707" cy="991031"/>
          </a:xfrm>
        </p:grpSpPr>
        <p:sp>
          <p:nvSpPr>
            <p:cNvPr id="28" name="Freeform 28"/>
            <p:cNvSpPr/>
            <p:nvPr/>
          </p:nvSpPr>
          <p:spPr>
            <a:xfrm>
              <a:off x="0" y="0"/>
              <a:ext cx="10439707" cy="991031"/>
            </a:xfrm>
            <a:custGeom>
              <a:avLst/>
              <a:gdLst/>
              <a:ahLst/>
              <a:cxnLst/>
              <a:rect l="l" t="t" r="r" b="b"/>
              <a:pathLst>
                <a:path w="1884773" h="178920">
                  <a:moveTo>
                    <a:pt x="0" y="0"/>
                  </a:moveTo>
                  <a:lnTo>
                    <a:pt x="1884773" y="0"/>
                  </a:lnTo>
                  <a:lnTo>
                    <a:pt x="1884773" y="178920"/>
                  </a:lnTo>
                  <a:lnTo>
                    <a:pt x="0" y="178920"/>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0" name="TextBox 30"/>
            <p:cNvSpPr txBox="1"/>
            <p:nvPr/>
          </p:nvSpPr>
          <p:spPr>
            <a:xfrm>
              <a:off x="706135" y="105364"/>
              <a:ext cx="8698250" cy="705742"/>
            </a:xfrm>
            <a:prstGeom prst="rect">
              <a:avLst/>
            </a:prstGeom>
          </p:spPr>
          <p:txBody>
            <a:bodyPr lIns="0" tIns="0" rIns="0" bIns="0" rtlCol="0" anchor="t">
              <a:spAutoFit/>
            </a:bodyPr>
            <a:lstStyle/>
            <a:p>
              <a:pPr algn="ctr" rtl="1">
                <a:lnSpc>
                  <a:spcPts val="4220"/>
                </a:lnSpc>
              </a:pPr>
              <a:r>
                <a:rPr lang="en-US" sz="3349" dirty="0">
                  <a:solidFill>
                    <a:srgbClr val="1D545D"/>
                  </a:solidFill>
                  <a:latin typeface="PT Bold Heading"/>
                  <a:cs typeface="PT Bold Heading" panose="02010400000000000000" pitchFamily="2" charset="-78"/>
                </a:rPr>
                <a:t> </a:t>
              </a:r>
              <a:r>
                <a:rPr lang="en-US" sz="3349" dirty="0" err="1">
                  <a:solidFill>
                    <a:srgbClr val="1D545D"/>
                  </a:solidFill>
                  <a:latin typeface="PT Bold Heading"/>
                  <a:cs typeface="PT Bold Heading" panose="02010400000000000000" pitchFamily="2" charset="-78"/>
                </a:rPr>
                <a:t>الآثار</a:t>
              </a:r>
              <a:r>
                <a:rPr lang="en-US" sz="3349" dirty="0">
                  <a:solidFill>
                    <a:srgbClr val="1D545D"/>
                  </a:solidFill>
                  <a:latin typeface="PT Bold Heading"/>
                  <a:cs typeface="PT Bold Heading" panose="02010400000000000000" pitchFamily="2" charset="-78"/>
                </a:rPr>
                <a:t> غير </a:t>
              </a:r>
              <a:r>
                <a:rPr lang="en-US" sz="3349" dirty="0" err="1">
                  <a:solidFill>
                    <a:srgbClr val="1D545D"/>
                  </a:solidFill>
                  <a:latin typeface="PT Bold Heading"/>
                  <a:cs typeface="PT Bold Heading" panose="02010400000000000000" pitchFamily="2" charset="-78"/>
                </a:rPr>
                <a:t>المقصودة</a:t>
              </a:r>
              <a:r>
                <a:rPr lang="en-US" sz="3349" dirty="0">
                  <a:solidFill>
                    <a:srgbClr val="1D545D"/>
                  </a:solidFill>
                  <a:latin typeface="PT Bold Heading"/>
                  <a:cs typeface="PT Bold Heading" panose="02010400000000000000" pitchFamily="2" charset="-78"/>
                </a:rPr>
                <a:t> </a:t>
              </a:r>
              <a:r>
                <a:rPr lang="en-US" sz="3349" dirty="0" err="1">
                  <a:solidFill>
                    <a:srgbClr val="1D545D"/>
                  </a:solidFill>
                  <a:latin typeface="PT Bold Heading"/>
                  <a:cs typeface="PT Bold Heading" panose="02010400000000000000" pitchFamily="2" charset="-78"/>
                </a:rPr>
                <a:t>وغير</a:t>
              </a:r>
              <a:r>
                <a:rPr lang="en-US" sz="3349" dirty="0">
                  <a:solidFill>
                    <a:srgbClr val="1D545D"/>
                  </a:solidFill>
                  <a:latin typeface="PT Bold Heading"/>
                  <a:cs typeface="PT Bold Heading" panose="02010400000000000000" pitchFamily="2" charset="-78"/>
                </a:rPr>
                <a:t> </a:t>
              </a:r>
              <a:r>
                <a:rPr lang="en-US" sz="3349" dirty="0" err="1">
                  <a:solidFill>
                    <a:srgbClr val="1D545D"/>
                  </a:solidFill>
                  <a:latin typeface="PT Bold Heading"/>
                  <a:cs typeface="PT Bold Heading" panose="02010400000000000000" pitchFamily="2" charset="-78"/>
                </a:rPr>
                <a:t>المرئية</a:t>
              </a:r>
              <a:r>
                <a:rPr lang="en-US" sz="3349" dirty="0">
                  <a:solidFill>
                    <a:srgbClr val="1D545D"/>
                  </a:solidFill>
                  <a:latin typeface="PT Bold Heading"/>
                  <a:cs typeface="PT Bold Heading" panose="02010400000000000000" pitchFamily="2" charset="-78"/>
                </a:rPr>
                <a:t> </a:t>
              </a:r>
              <a:r>
                <a:rPr lang="en-US" sz="3349" dirty="0" err="1">
                  <a:solidFill>
                    <a:srgbClr val="BD2424"/>
                  </a:solidFill>
                  <a:cs typeface="PT Bold Heading" panose="02010400000000000000" pitchFamily="2" charset="-78"/>
                </a:rPr>
                <a:t>مثل</a:t>
              </a:r>
              <a:r>
                <a:rPr lang="en-US" sz="3349" dirty="0">
                  <a:solidFill>
                    <a:srgbClr val="BD2424"/>
                  </a:solidFill>
                  <a:cs typeface="PT Bold Heading" panose="02010400000000000000" pitchFamily="2" charset="-78"/>
                </a:rPr>
                <a:t> </a:t>
              </a:r>
              <a:r>
                <a:rPr lang="en-US" sz="3349" dirty="0">
                  <a:solidFill>
                    <a:srgbClr val="1D545D"/>
                  </a:solidFill>
                  <a:latin typeface="PT Bold Heading"/>
                  <a:cs typeface="PT Bold Heading" panose="02010400000000000000" pitchFamily="2" charset="-78"/>
                </a:rPr>
                <a:t>:</a:t>
              </a:r>
            </a:p>
          </p:txBody>
        </p:sp>
      </p:grpSp>
      <p:grpSp>
        <p:nvGrpSpPr>
          <p:cNvPr id="31" name="Group 31"/>
          <p:cNvGrpSpPr/>
          <p:nvPr/>
        </p:nvGrpSpPr>
        <p:grpSpPr>
          <a:xfrm>
            <a:off x="4585578" y="1028700"/>
            <a:ext cx="9116845" cy="1104756"/>
            <a:chOff x="0" y="0"/>
            <a:chExt cx="12155793" cy="1473008"/>
          </a:xfrm>
        </p:grpSpPr>
        <p:sp>
          <p:nvSpPr>
            <p:cNvPr id="33" name="Freeform 33"/>
            <p:cNvSpPr/>
            <p:nvPr/>
          </p:nvSpPr>
          <p:spPr>
            <a:xfrm>
              <a:off x="0" y="271035"/>
              <a:ext cx="12155793" cy="930937"/>
            </a:xfrm>
            <a:custGeom>
              <a:avLst/>
              <a:gdLst/>
              <a:ahLst/>
              <a:cxnLst/>
              <a:rect l="l" t="t" r="r" b="b"/>
              <a:pathLst>
                <a:path w="2108022" h="161440">
                  <a:moveTo>
                    <a:pt x="0" y="0"/>
                  </a:moveTo>
                  <a:lnTo>
                    <a:pt x="2108022" y="0"/>
                  </a:lnTo>
                  <a:lnTo>
                    <a:pt x="2108022" y="161440"/>
                  </a:lnTo>
                  <a:lnTo>
                    <a:pt x="0" y="161440"/>
                  </a:lnTo>
                  <a:close/>
                </a:path>
              </a:pathLst>
            </a:custGeom>
            <a:solidFill>
              <a:srgbClr val="2A8D87">
                <a:alpha val="73725"/>
              </a:srgbClr>
            </a:solidFill>
            <a:ln>
              <a:noFill/>
            </a:ln>
          </p:spPr>
          <p:txBody>
            <a:bodyPr/>
            <a:lstStyle/>
            <a:p>
              <a:pPr algn="r" rtl="1"/>
              <a:endParaRPr lang="ar-SA">
                <a:cs typeface="PT Bold Heading" panose="02010400000000000000" pitchFamily="2" charset="-78"/>
              </a:endParaRPr>
            </a:p>
          </p:txBody>
        </p:sp>
        <p:sp>
          <p:nvSpPr>
            <p:cNvPr id="36" name="Freeform 36"/>
            <p:cNvSpPr/>
            <p:nvPr/>
          </p:nvSpPr>
          <p:spPr>
            <a:xfrm>
              <a:off x="393799" y="0"/>
              <a:ext cx="11368194" cy="1473008"/>
            </a:xfrm>
            <a:custGeom>
              <a:avLst/>
              <a:gdLst/>
              <a:ahLst/>
              <a:cxnLst/>
              <a:rect l="l" t="t" r="r" b="b"/>
              <a:pathLst>
                <a:path w="1971439" h="255445">
                  <a:moveTo>
                    <a:pt x="9988" y="0"/>
                  </a:moveTo>
                  <a:lnTo>
                    <a:pt x="1961451" y="0"/>
                  </a:lnTo>
                  <a:cubicBezTo>
                    <a:pt x="1966967" y="0"/>
                    <a:pt x="1971439" y="4472"/>
                    <a:pt x="1971439" y="9988"/>
                  </a:cubicBezTo>
                  <a:lnTo>
                    <a:pt x="1971439" y="245457"/>
                  </a:lnTo>
                  <a:cubicBezTo>
                    <a:pt x="1971439" y="248106"/>
                    <a:pt x="1970387" y="250646"/>
                    <a:pt x="1968514" y="252519"/>
                  </a:cubicBezTo>
                  <a:cubicBezTo>
                    <a:pt x="1966641" y="254392"/>
                    <a:pt x="1964100" y="255445"/>
                    <a:pt x="1961451" y="255445"/>
                  </a:cubicBezTo>
                  <a:lnTo>
                    <a:pt x="9988" y="255445"/>
                  </a:lnTo>
                  <a:cubicBezTo>
                    <a:pt x="7339" y="255445"/>
                    <a:pt x="4799" y="254392"/>
                    <a:pt x="2925" y="252519"/>
                  </a:cubicBezTo>
                  <a:cubicBezTo>
                    <a:pt x="1052" y="250646"/>
                    <a:pt x="0" y="248106"/>
                    <a:pt x="0" y="245457"/>
                  </a:cubicBezTo>
                  <a:lnTo>
                    <a:pt x="0" y="9988"/>
                  </a:lnTo>
                  <a:cubicBezTo>
                    <a:pt x="0" y="7339"/>
                    <a:pt x="1052" y="4799"/>
                    <a:pt x="2925" y="2925"/>
                  </a:cubicBezTo>
                  <a:cubicBezTo>
                    <a:pt x="4799" y="1052"/>
                    <a:pt x="7339" y="0"/>
                    <a:pt x="9988" y="0"/>
                  </a:cubicBezTo>
                  <a:close/>
                </a:path>
              </a:pathLst>
            </a:custGeom>
            <a:solidFill>
              <a:srgbClr val="FFFFFF"/>
            </a:solidFill>
            <a:ln w="38100">
              <a:solidFill>
                <a:srgbClr val="191C1C"/>
              </a:solidFill>
            </a:ln>
          </p:spPr>
          <p:txBody>
            <a:bodyPr/>
            <a:lstStyle/>
            <a:p>
              <a:pPr algn="r" rtl="1"/>
              <a:endParaRPr lang="ar-SA">
                <a:cs typeface="PT Bold Heading" panose="02010400000000000000" pitchFamily="2" charset="-78"/>
              </a:endParaRPr>
            </a:p>
          </p:txBody>
        </p:sp>
        <p:sp>
          <p:nvSpPr>
            <p:cNvPr id="38" name="TextBox 38"/>
            <p:cNvSpPr txBox="1"/>
            <p:nvPr/>
          </p:nvSpPr>
          <p:spPr>
            <a:xfrm>
              <a:off x="682251" y="361549"/>
              <a:ext cx="10791289" cy="802479"/>
            </a:xfrm>
            <a:prstGeom prst="rect">
              <a:avLst/>
            </a:prstGeom>
          </p:spPr>
          <p:txBody>
            <a:bodyPr lIns="0" tIns="0" rIns="0" bIns="0" rtlCol="0" anchor="t">
              <a:spAutoFit/>
            </a:bodyPr>
            <a:lstStyle/>
            <a:p>
              <a:pPr algn="ctr" rtl="1">
                <a:lnSpc>
                  <a:spcPts val="4322"/>
                </a:lnSpc>
              </a:pPr>
              <a:r>
                <a:rPr lang="en-US" sz="4410" dirty="0" err="1">
                  <a:solidFill>
                    <a:srgbClr val="17383E"/>
                  </a:solidFill>
                  <a:cs typeface="PT Bold Heading" panose="02010400000000000000" pitchFamily="2" charset="-78"/>
                </a:rPr>
                <a:t>آثار</a:t>
              </a:r>
              <a:r>
                <a:rPr lang="en-US" sz="4410" dirty="0">
                  <a:solidFill>
                    <a:srgbClr val="17383E"/>
                  </a:solidFill>
                  <a:cs typeface="PT Bold Heading" panose="02010400000000000000" pitchFamily="2" charset="-78"/>
                </a:rPr>
                <a:t> </a:t>
              </a:r>
              <a:r>
                <a:rPr lang="en-US" sz="4410" dirty="0" err="1">
                  <a:solidFill>
                    <a:srgbClr val="17383E"/>
                  </a:solidFill>
                  <a:cs typeface="PT Bold Heading" panose="02010400000000000000" pitchFamily="2" charset="-78"/>
                </a:rPr>
                <a:t>التعقب</a:t>
              </a:r>
              <a:r>
                <a:rPr lang="en-US" sz="4410" dirty="0">
                  <a:solidFill>
                    <a:srgbClr val="17383E"/>
                  </a:solidFill>
                  <a:cs typeface="PT Bold Heading" panose="02010400000000000000" pitchFamily="2" charset="-78"/>
                </a:rPr>
                <a:t> </a:t>
              </a:r>
              <a:r>
                <a:rPr lang="en-US" sz="4410" dirty="0" err="1">
                  <a:solidFill>
                    <a:srgbClr val="17383E"/>
                  </a:solidFill>
                  <a:cs typeface="PT Bold Heading" panose="02010400000000000000" pitchFamily="2" charset="-78"/>
                </a:rPr>
                <a:t>الرقمية</a:t>
              </a:r>
              <a:r>
                <a:rPr lang="en-US" sz="4410" dirty="0">
                  <a:solidFill>
                    <a:srgbClr val="17383E"/>
                  </a:solidFill>
                  <a:cs typeface="PT Bold Heading" panose="02010400000000000000" pitchFamily="2" charset="-78"/>
                </a:rPr>
                <a:t> Digital Traces</a:t>
              </a:r>
            </a:p>
          </p:txBody>
        </p:sp>
      </p:grpSp>
      <p:grpSp>
        <p:nvGrpSpPr>
          <p:cNvPr id="39" name="Group 39"/>
          <p:cNvGrpSpPr/>
          <p:nvPr/>
        </p:nvGrpSpPr>
        <p:grpSpPr>
          <a:xfrm>
            <a:off x="5756746" y="7813360"/>
            <a:ext cx="12607454" cy="1325845"/>
            <a:chOff x="672800" y="0"/>
            <a:chExt cx="16809939" cy="1767794"/>
          </a:xfrm>
        </p:grpSpPr>
        <p:sp>
          <p:nvSpPr>
            <p:cNvPr id="41" name="Freeform 41"/>
            <p:cNvSpPr/>
            <p:nvPr/>
          </p:nvSpPr>
          <p:spPr>
            <a:xfrm>
              <a:off x="672800" y="0"/>
              <a:ext cx="16809939" cy="1767794"/>
            </a:xfrm>
            <a:custGeom>
              <a:avLst/>
              <a:gdLst/>
              <a:ahLst/>
              <a:cxnLst/>
              <a:rect l="l" t="t" r="r" b="b"/>
              <a:pathLst>
                <a:path w="3596418" h="363657">
                  <a:moveTo>
                    <a:pt x="0" y="0"/>
                  </a:moveTo>
                  <a:lnTo>
                    <a:pt x="3596418" y="0"/>
                  </a:lnTo>
                  <a:lnTo>
                    <a:pt x="3596418" y="363657"/>
                  </a:lnTo>
                  <a:lnTo>
                    <a:pt x="0" y="363657"/>
                  </a:lnTo>
                  <a:close/>
                </a:path>
              </a:pathLst>
            </a:custGeom>
            <a:solidFill>
              <a:srgbClr val="DBDBDB"/>
            </a:solidFill>
            <a:ln>
              <a:noFill/>
            </a:ln>
          </p:spPr>
          <p:txBody>
            <a:bodyPr/>
            <a:lstStyle/>
            <a:p>
              <a:pPr algn="r" rtl="1"/>
              <a:endParaRPr lang="ar-SA" dirty="0">
                <a:cs typeface="PT Bold Heading" panose="02010400000000000000" pitchFamily="2" charset="-78"/>
              </a:endParaRPr>
            </a:p>
          </p:txBody>
        </p:sp>
        <p:sp>
          <p:nvSpPr>
            <p:cNvPr id="43" name="TextBox 43"/>
            <p:cNvSpPr txBox="1"/>
            <p:nvPr/>
          </p:nvSpPr>
          <p:spPr>
            <a:xfrm>
              <a:off x="1035956" y="200843"/>
              <a:ext cx="15837667" cy="1256499"/>
            </a:xfrm>
            <a:prstGeom prst="rect">
              <a:avLst/>
            </a:prstGeom>
          </p:spPr>
          <p:txBody>
            <a:bodyPr lIns="0" tIns="0" rIns="0" bIns="0" rtlCol="0" anchor="t">
              <a:spAutoFit/>
            </a:bodyPr>
            <a:lstStyle/>
            <a:p>
              <a:pPr marL="634704" lvl="1" indent="-317352" algn="r" rtl="1">
                <a:lnSpc>
                  <a:spcPts val="3704"/>
                </a:lnSpc>
                <a:buFont typeface="Arial"/>
                <a:buChar char="•"/>
              </a:pP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يمكن</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الحصول</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على</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صورة</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واضحة</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حول</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تفاصيل</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حياتك</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بما</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في</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ذلك</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التفاصيل</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التي</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تفترض</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أنها</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خاصة</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من</a:t>
              </a:r>
              <a:r>
                <a:rPr lang="en-US" sz="2939" dirty="0">
                  <a:solidFill>
                    <a:srgbClr val="000000"/>
                  </a:solidFill>
                  <a:latin typeface="PT Bold Heading"/>
                  <a:cs typeface="PT Bold Heading" panose="02010400000000000000" pitchFamily="2" charset="-78"/>
                </a:rPr>
                <a:t> </a:t>
              </a:r>
              <a:r>
                <a:rPr lang="en-US" sz="2939" dirty="0" err="1">
                  <a:solidFill>
                    <a:srgbClr val="000000"/>
                  </a:solidFill>
                  <a:latin typeface="PT Bold Heading"/>
                  <a:cs typeface="PT Bold Heading" panose="02010400000000000000" pitchFamily="2" charset="-78"/>
                </a:rPr>
                <a:t>خلال</a:t>
              </a:r>
              <a:r>
                <a:rPr lang="en-US" sz="2939" dirty="0">
                  <a:solidFill>
                    <a:srgbClr val="000000"/>
                  </a:solidFill>
                  <a:latin typeface="PT Bold Heading"/>
                  <a:cs typeface="PT Bold Heading" panose="02010400000000000000" pitchFamily="2" charset="-78"/>
                </a:rPr>
                <a:t> </a:t>
              </a:r>
              <a:r>
                <a:rPr lang="en-US" sz="2939" dirty="0" err="1">
                  <a:solidFill>
                    <a:srgbClr val="BD2424"/>
                  </a:solidFill>
                  <a:cs typeface="PT Bold Heading" panose="02010400000000000000" pitchFamily="2" charset="-78"/>
                </a:rPr>
                <a:t>تعقب</a:t>
              </a:r>
              <a:r>
                <a:rPr lang="en-US" sz="2939" dirty="0">
                  <a:solidFill>
                    <a:srgbClr val="BD2424"/>
                  </a:solidFill>
                  <a:cs typeface="PT Bold Heading" panose="02010400000000000000" pitchFamily="2" charset="-78"/>
                </a:rPr>
                <a:t> </a:t>
              </a:r>
              <a:r>
                <a:rPr lang="en-US" sz="2939" dirty="0" err="1">
                  <a:solidFill>
                    <a:srgbClr val="BD2424"/>
                  </a:solidFill>
                  <a:cs typeface="PT Bold Heading" panose="02010400000000000000" pitchFamily="2" charset="-78"/>
                </a:rPr>
                <a:t>الآثار</a:t>
              </a:r>
              <a:r>
                <a:rPr lang="en-US" sz="2939" dirty="0">
                  <a:solidFill>
                    <a:srgbClr val="BD2424"/>
                  </a:solidFill>
                  <a:cs typeface="PT Bold Heading" panose="02010400000000000000" pitchFamily="2" charset="-78"/>
                </a:rPr>
                <a:t> </a:t>
              </a:r>
              <a:r>
                <a:rPr lang="en-US" sz="2939" dirty="0" err="1">
                  <a:solidFill>
                    <a:srgbClr val="BD2424"/>
                  </a:solidFill>
                  <a:cs typeface="PT Bold Heading" panose="02010400000000000000" pitchFamily="2" charset="-78"/>
                </a:rPr>
                <a:t>المرئية</a:t>
              </a:r>
              <a:r>
                <a:rPr lang="en-US" sz="2939" dirty="0">
                  <a:solidFill>
                    <a:srgbClr val="BD2424"/>
                  </a:solidFill>
                  <a:cs typeface="PT Bold Heading" panose="02010400000000000000" pitchFamily="2" charset="-78"/>
                </a:rPr>
                <a:t> </a:t>
              </a:r>
              <a:r>
                <a:rPr lang="en-US" sz="2939" dirty="0" err="1">
                  <a:solidFill>
                    <a:srgbClr val="BD2424"/>
                  </a:solidFill>
                  <a:cs typeface="PT Bold Heading" panose="02010400000000000000" pitchFamily="2" charset="-78"/>
                </a:rPr>
                <a:t>وغير</a:t>
              </a:r>
              <a:r>
                <a:rPr lang="en-US" sz="2939" dirty="0">
                  <a:solidFill>
                    <a:srgbClr val="BD2424"/>
                  </a:solidFill>
                  <a:cs typeface="PT Bold Heading" panose="02010400000000000000" pitchFamily="2" charset="-78"/>
                </a:rPr>
                <a:t> </a:t>
              </a:r>
              <a:r>
                <a:rPr lang="en-US" sz="2939" dirty="0" err="1">
                  <a:solidFill>
                    <a:srgbClr val="BD2424"/>
                  </a:solidFill>
                  <a:cs typeface="PT Bold Heading" panose="02010400000000000000" pitchFamily="2" charset="-78"/>
                </a:rPr>
                <a:t>المرئية</a:t>
              </a:r>
              <a:r>
                <a:rPr lang="en-US" sz="2939" dirty="0">
                  <a:solidFill>
                    <a:srgbClr val="BD2424"/>
                  </a:solidFill>
                  <a:cs typeface="PT Bold Heading" panose="02010400000000000000" pitchFamily="2" charset="-78"/>
                </a:rPr>
                <a:t> </a:t>
              </a:r>
              <a:r>
                <a:rPr lang="en-US" sz="2939" dirty="0" err="1">
                  <a:solidFill>
                    <a:srgbClr val="BD2424"/>
                  </a:solidFill>
                  <a:cs typeface="PT Bold Heading" panose="02010400000000000000" pitchFamily="2" charset="-78"/>
                </a:rPr>
                <a:t>معا</a:t>
              </a:r>
              <a:r>
                <a:rPr lang="en-US" sz="2939" dirty="0">
                  <a:solidFill>
                    <a:srgbClr val="000000"/>
                  </a:solidFill>
                  <a:latin typeface="PT Bold Heading"/>
                  <a:cs typeface="PT Bold Heading" panose="02010400000000000000" pitchFamily="2" charset="-78"/>
                </a:rPr>
                <a:t> .</a:t>
              </a:r>
            </a:p>
          </p:txBody>
        </p:sp>
      </p:grpSp>
      <p:sp>
        <p:nvSpPr>
          <p:cNvPr id="44" name="TextBox 44"/>
          <p:cNvSpPr txBox="1"/>
          <p:nvPr/>
        </p:nvSpPr>
        <p:spPr>
          <a:xfrm>
            <a:off x="6745141" y="5356538"/>
            <a:ext cx="9766009" cy="1020279"/>
          </a:xfrm>
          <a:prstGeom prst="rect">
            <a:avLst/>
          </a:prstGeom>
        </p:spPr>
        <p:txBody>
          <a:bodyPr lIns="0" tIns="0" rIns="0" bIns="0" rtlCol="0" anchor="t">
            <a:spAutoFit/>
          </a:bodyPr>
          <a:lstStyle/>
          <a:p>
            <a:pPr marL="687978" lvl="1" indent="-343989" algn="r" rtl="1">
              <a:lnSpc>
                <a:spcPts val="4015"/>
              </a:lnSpc>
              <a:buFont typeface="Arial"/>
              <a:buChar char="•"/>
            </a:pPr>
            <a:r>
              <a:rPr lang="en-US" sz="3186" dirty="0" err="1">
                <a:solidFill>
                  <a:srgbClr val="2654A4"/>
                </a:solidFill>
                <a:cs typeface="PT Bold Heading" panose="02010400000000000000" pitchFamily="2" charset="-78"/>
              </a:rPr>
              <a:t>سجلات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زيارات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المواقع</a:t>
            </a:r>
            <a:r>
              <a:rPr lang="en-US" sz="3186" dirty="0">
                <a:solidFill>
                  <a:srgbClr val="2654A4"/>
                </a:solidFill>
                <a:cs typeface="PT Bold Heading" panose="02010400000000000000" pitchFamily="2" charset="-78"/>
              </a:rPr>
              <a:t> و </a:t>
            </a:r>
            <a:r>
              <a:rPr lang="en-US" sz="3186" dirty="0" err="1">
                <a:solidFill>
                  <a:srgbClr val="2654A4"/>
                </a:solidFill>
                <a:cs typeface="PT Bold Heading" panose="02010400000000000000" pitchFamily="2" charset="-78"/>
              </a:rPr>
              <a:t>عمليات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البحث</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والسجلات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المتعلقة</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بتحركات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المستخدم</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على</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شبكة</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الإنترنت</a:t>
            </a:r>
            <a:r>
              <a:rPr lang="en-US" sz="3186" dirty="0">
                <a:solidFill>
                  <a:srgbClr val="2654A4"/>
                </a:solidFill>
                <a:cs typeface="PT Bold Heading" panose="02010400000000000000" pitchFamily="2" charset="-78"/>
              </a:rPr>
              <a:t> .</a:t>
            </a:r>
          </a:p>
        </p:txBody>
      </p:sp>
      <p:sp>
        <p:nvSpPr>
          <p:cNvPr id="45" name="TextBox 45"/>
          <p:cNvSpPr txBox="1"/>
          <p:nvPr/>
        </p:nvSpPr>
        <p:spPr>
          <a:xfrm>
            <a:off x="7222759" y="6502167"/>
            <a:ext cx="9288391" cy="507318"/>
          </a:xfrm>
          <a:prstGeom prst="rect">
            <a:avLst/>
          </a:prstGeom>
        </p:spPr>
        <p:txBody>
          <a:bodyPr lIns="0" tIns="0" rIns="0" bIns="0" rtlCol="0" anchor="t">
            <a:spAutoFit/>
          </a:bodyPr>
          <a:lstStyle/>
          <a:p>
            <a:pPr marL="687978" lvl="1" indent="-343989" algn="r" rtl="1">
              <a:lnSpc>
                <a:spcPts val="4015"/>
              </a:lnSpc>
              <a:buFont typeface="Arial"/>
              <a:buChar char="•"/>
            </a:pPr>
            <a:r>
              <a:rPr lang="en-US" sz="3186" dirty="0" err="1">
                <a:solidFill>
                  <a:srgbClr val="2654A4"/>
                </a:solidFill>
                <a:cs typeface="PT Bold Heading" panose="02010400000000000000" pitchFamily="2" charset="-78"/>
              </a:rPr>
              <a:t>وعمليات</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التواصل</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التي</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يجريها</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مع</a:t>
            </a:r>
            <a:r>
              <a:rPr lang="en-US" sz="3186" dirty="0">
                <a:solidFill>
                  <a:srgbClr val="2654A4"/>
                </a:solidFill>
                <a:cs typeface="PT Bold Heading" panose="02010400000000000000" pitchFamily="2" charset="-78"/>
              </a:rPr>
              <a:t> </a:t>
            </a:r>
            <a:r>
              <a:rPr lang="en-US" sz="3186" dirty="0" err="1">
                <a:solidFill>
                  <a:srgbClr val="2654A4"/>
                </a:solidFill>
                <a:cs typeface="PT Bold Heading" panose="02010400000000000000" pitchFamily="2" charset="-78"/>
              </a:rPr>
              <a:t>الآخرين</a:t>
            </a:r>
            <a:r>
              <a:rPr lang="en-US" sz="3186" dirty="0">
                <a:solidFill>
                  <a:srgbClr val="2654A4"/>
                </a:solidFill>
                <a:cs typeface="PT Bold Heading" panose="02010400000000000000" pitchFamily="2" charset="-78"/>
              </a:rPr>
              <a:t> .</a:t>
            </a:r>
          </a:p>
        </p:txBody>
      </p:sp>
      <p:grpSp>
        <p:nvGrpSpPr>
          <p:cNvPr id="46" name="Group 10">
            <a:extLst>
              <a:ext uri="{FF2B5EF4-FFF2-40B4-BE49-F238E27FC236}">
                <a16:creationId xmlns:a16="http://schemas.microsoft.com/office/drawing/2014/main" id="{EF9A7722-6F37-173D-459F-66FC643AD9DA}"/>
              </a:ext>
            </a:extLst>
          </p:cNvPr>
          <p:cNvGrpSpPr/>
          <p:nvPr/>
        </p:nvGrpSpPr>
        <p:grpSpPr>
          <a:xfrm>
            <a:off x="11487097" y="2775538"/>
            <a:ext cx="6862418" cy="867216"/>
            <a:chOff x="0" y="-36455"/>
            <a:chExt cx="9149892" cy="1156288"/>
          </a:xfrm>
        </p:grpSpPr>
        <p:sp>
          <p:nvSpPr>
            <p:cNvPr id="47" name="Freeform 12">
              <a:extLst>
                <a:ext uri="{FF2B5EF4-FFF2-40B4-BE49-F238E27FC236}">
                  <a16:creationId xmlns:a16="http://schemas.microsoft.com/office/drawing/2014/main" id="{E3F22BBB-92DE-17B7-C6D4-BCFCEB19DAF1}"/>
                </a:ext>
              </a:extLst>
            </p:cNvPr>
            <p:cNvSpPr/>
            <p:nvPr/>
          </p:nvSpPr>
          <p:spPr>
            <a:xfrm>
              <a:off x="320761" y="0"/>
              <a:ext cx="8829131" cy="1119833"/>
            </a:xfrm>
            <a:custGeom>
              <a:avLst/>
              <a:gdLst/>
              <a:ahLst/>
              <a:cxnLst/>
              <a:rect l="l" t="t" r="r" b="b"/>
              <a:pathLst>
                <a:path w="1697070" h="215246">
                  <a:moveTo>
                    <a:pt x="0" y="0"/>
                  </a:moveTo>
                  <a:lnTo>
                    <a:pt x="1697070" y="0"/>
                  </a:lnTo>
                  <a:lnTo>
                    <a:pt x="1697070" y="215246"/>
                  </a:lnTo>
                  <a:lnTo>
                    <a:pt x="0" y="215246"/>
                  </a:lnTo>
                  <a:close/>
                </a:path>
              </a:pathLst>
            </a:custGeom>
            <a:solidFill>
              <a:srgbClr val="2A8D87"/>
            </a:solidFill>
            <a:ln>
              <a:noFill/>
            </a:ln>
          </p:spPr>
          <p:txBody>
            <a:bodyPr/>
            <a:lstStyle/>
            <a:p>
              <a:pPr algn="r" rtl="1"/>
              <a:endParaRPr lang="ar-SA" dirty="0">
                <a:cs typeface="PT Bold Heading" panose="02010400000000000000" pitchFamily="2" charset="-78"/>
              </a:endParaRPr>
            </a:p>
          </p:txBody>
        </p:sp>
        <p:sp>
          <p:nvSpPr>
            <p:cNvPr id="48" name="TextBox 14">
              <a:extLst>
                <a:ext uri="{FF2B5EF4-FFF2-40B4-BE49-F238E27FC236}">
                  <a16:creationId xmlns:a16="http://schemas.microsoft.com/office/drawing/2014/main" id="{9B85EF00-AB2D-7CCC-CE46-315BC710D036}"/>
                </a:ext>
              </a:extLst>
            </p:cNvPr>
            <p:cNvSpPr txBox="1"/>
            <p:nvPr/>
          </p:nvSpPr>
          <p:spPr>
            <a:xfrm>
              <a:off x="641521" y="185242"/>
              <a:ext cx="8187609" cy="674031"/>
            </a:xfrm>
            <a:prstGeom prst="rect">
              <a:avLst/>
            </a:prstGeom>
          </p:spPr>
          <p:txBody>
            <a:bodyPr lIns="0" tIns="0" rIns="0" bIns="0" rtlCol="0" anchor="t">
              <a:spAutoFit/>
            </a:bodyPr>
            <a:lstStyle/>
            <a:p>
              <a:pPr algn="r" rtl="1">
                <a:lnSpc>
                  <a:spcPts val="3955"/>
                </a:lnSpc>
              </a:pPr>
              <a:r>
                <a:rPr lang="en-US" sz="3139" dirty="0">
                  <a:solidFill>
                    <a:srgbClr val="FFFFFF"/>
                  </a:solidFill>
                  <a:latin typeface="PT Bold Heading"/>
                  <a:cs typeface="PT Bold Heading" panose="02010400000000000000" pitchFamily="2" charset="-78"/>
                </a:rPr>
                <a:t> </a:t>
              </a:r>
              <a:r>
                <a:rPr lang="en-US" sz="3139" dirty="0" err="1">
                  <a:solidFill>
                    <a:srgbClr val="FFFFFF"/>
                  </a:solidFill>
                  <a:cs typeface="PT Bold Heading" panose="02010400000000000000" pitchFamily="2" charset="-78"/>
                </a:rPr>
                <a:t>تنقسم</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آثار</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التعقب</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الرقمية</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إلى</a:t>
              </a:r>
              <a:r>
                <a:rPr lang="en-US" sz="3139" dirty="0">
                  <a:solidFill>
                    <a:srgbClr val="FFFFFF"/>
                  </a:solidFill>
                  <a:cs typeface="PT Bold Heading" panose="02010400000000000000" pitchFamily="2" charset="-78"/>
                </a:rPr>
                <a:t> </a:t>
              </a:r>
              <a:r>
                <a:rPr lang="en-US" sz="3139" dirty="0" err="1">
                  <a:solidFill>
                    <a:srgbClr val="FFFFFF"/>
                  </a:solidFill>
                  <a:cs typeface="PT Bold Heading" panose="02010400000000000000" pitchFamily="2" charset="-78"/>
                </a:rPr>
                <a:t>نوعين</a:t>
              </a:r>
              <a:r>
                <a:rPr lang="en-US" sz="3139" dirty="0">
                  <a:solidFill>
                    <a:srgbClr val="FFFFFF"/>
                  </a:solidFill>
                  <a:cs typeface="PT Bold Heading" panose="02010400000000000000" pitchFamily="2" charset="-78"/>
                </a:rPr>
                <a:t> :</a:t>
              </a:r>
            </a:p>
          </p:txBody>
        </p:sp>
        <p:sp>
          <p:nvSpPr>
            <p:cNvPr id="53" name="Freeform 16">
              <a:extLst>
                <a:ext uri="{FF2B5EF4-FFF2-40B4-BE49-F238E27FC236}">
                  <a16:creationId xmlns:a16="http://schemas.microsoft.com/office/drawing/2014/main" id="{06F06C2C-1809-9EDE-31B5-ABCE98C0A9B0}"/>
                </a:ext>
              </a:extLst>
            </p:cNvPr>
            <p:cNvSpPr/>
            <p:nvPr/>
          </p:nvSpPr>
          <p:spPr>
            <a:xfrm>
              <a:off x="0" y="-36455"/>
              <a:ext cx="641521" cy="626616"/>
            </a:xfrm>
            <a:custGeom>
              <a:avLst/>
              <a:gdLst/>
              <a:ahLst/>
              <a:cxnLst/>
              <a:rect l="l" t="t" r="r" b="b"/>
              <a:pathLst>
                <a:path w="123309" h="120443">
                  <a:moveTo>
                    <a:pt x="0" y="0"/>
                  </a:moveTo>
                  <a:lnTo>
                    <a:pt x="123309" y="0"/>
                  </a:lnTo>
                  <a:lnTo>
                    <a:pt x="123309" y="120443"/>
                  </a:lnTo>
                  <a:lnTo>
                    <a:pt x="0" y="120443"/>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51" name="Freeform 19">
              <a:extLst>
                <a:ext uri="{FF2B5EF4-FFF2-40B4-BE49-F238E27FC236}">
                  <a16:creationId xmlns:a16="http://schemas.microsoft.com/office/drawing/2014/main" id="{01D2B039-C2CF-E6C5-29B8-4C63653337AA}"/>
                </a:ext>
              </a:extLst>
            </p:cNvPr>
            <p:cNvSpPr/>
            <p:nvPr/>
          </p:nvSpPr>
          <p:spPr>
            <a:xfrm>
              <a:off x="0" y="573144"/>
              <a:ext cx="641521" cy="541840"/>
            </a:xfrm>
            <a:custGeom>
              <a:avLst/>
              <a:gdLst/>
              <a:ahLst/>
              <a:cxnLst/>
              <a:rect l="l" t="t" r="r" b="b"/>
              <a:pathLst>
                <a:path w="123309" h="120443">
                  <a:moveTo>
                    <a:pt x="0" y="0"/>
                  </a:moveTo>
                  <a:lnTo>
                    <a:pt x="123309" y="0"/>
                  </a:lnTo>
                  <a:lnTo>
                    <a:pt x="123309" y="120443"/>
                  </a:lnTo>
                  <a:lnTo>
                    <a:pt x="0" y="120443"/>
                  </a:lnTo>
                  <a:close/>
                </a:path>
              </a:pathLst>
            </a:custGeom>
            <a:solidFill>
              <a:srgbClr val="5BC4BF"/>
            </a:solidFill>
            <a:ln>
              <a:noFill/>
            </a:ln>
          </p:spPr>
          <p:txBody>
            <a:bodyPr/>
            <a:lstStyle/>
            <a:p>
              <a:pPr algn="r" rtl="1"/>
              <a:endParaRPr lang="ar-SA" dirty="0">
                <a:cs typeface="PT Bold Heading" panose="02010400000000000000" pitchFamily="2" charset="-78"/>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barn(inVertical)">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down)">
                                      <p:cBhvr>
                                        <p:cTn id="23" dur="500"/>
                                        <p:tgtEl>
                                          <p:spTgt spid="44"/>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wipe(down)">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1000"/>
                                        <p:tgtEl>
                                          <p:spTgt spid="39"/>
                                        </p:tgtEl>
                                      </p:cBhvr>
                                    </p:animEffect>
                                    <p:anim calcmode="lin" valueType="num">
                                      <p:cBhvr>
                                        <p:cTn id="32" dur="1000" fill="hold"/>
                                        <p:tgtEl>
                                          <p:spTgt spid="39"/>
                                        </p:tgtEl>
                                        <p:attrNameLst>
                                          <p:attrName>ppt_x</p:attrName>
                                        </p:attrNameLst>
                                      </p:cBhvr>
                                      <p:tavLst>
                                        <p:tav tm="0">
                                          <p:val>
                                            <p:strVal val="#ppt_x"/>
                                          </p:val>
                                        </p:tav>
                                        <p:tav tm="100000">
                                          <p:val>
                                            <p:strVal val="#ppt_x"/>
                                          </p:val>
                                        </p:tav>
                                      </p:tavLst>
                                    </p:anim>
                                    <p:anim calcmode="lin" valueType="num">
                                      <p:cBhvr>
                                        <p:cTn id="3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4">
            <a:extLst>
              <a:ext uri="{FF2B5EF4-FFF2-40B4-BE49-F238E27FC236}">
                <a16:creationId xmlns:a16="http://schemas.microsoft.com/office/drawing/2014/main" id="{60DEC0ED-9B68-48B7-77D6-E0B1C75E6175}"/>
              </a:ext>
            </a:extLst>
          </p:cNvPr>
          <p:cNvGrpSpPr/>
          <p:nvPr/>
        </p:nvGrpSpPr>
        <p:grpSpPr>
          <a:xfrm>
            <a:off x="6553202" y="2876174"/>
            <a:ext cx="10439400" cy="6509594"/>
            <a:chOff x="651659" y="237687"/>
            <a:chExt cx="14922301" cy="4898436"/>
          </a:xfrm>
        </p:grpSpPr>
        <p:sp>
          <p:nvSpPr>
            <p:cNvPr id="7" name="Freeform 26">
              <a:extLst>
                <a:ext uri="{FF2B5EF4-FFF2-40B4-BE49-F238E27FC236}">
                  <a16:creationId xmlns:a16="http://schemas.microsoft.com/office/drawing/2014/main" id="{9745A95F-5086-B61A-806F-A72135E320BA}"/>
                </a:ext>
              </a:extLst>
            </p:cNvPr>
            <p:cNvSpPr/>
            <p:nvPr/>
          </p:nvSpPr>
          <p:spPr>
            <a:xfrm>
              <a:off x="15064896" y="237687"/>
              <a:ext cx="509064" cy="4898436"/>
            </a:xfrm>
            <a:custGeom>
              <a:avLst/>
              <a:gdLst/>
              <a:ahLst/>
              <a:cxnLst/>
              <a:rect l="l" t="t" r="r" b="b"/>
              <a:pathLst>
                <a:path w="96938" h="965542">
                  <a:moveTo>
                    <a:pt x="0" y="0"/>
                  </a:moveTo>
                  <a:lnTo>
                    <a:pt x="96938" y="0"/>
                  </a:lnTo>
                  <a:lnTo>
                    <a:pt x="96938" y="965542"/>
                  </a:lnTo>
                  <a:lnTo>
                    <a:pt x="0" y="965542"/>
                  </a:lnTo>
                  <a:close/>
                </a:path>
              </a:pathLst>
            </a:custGeom>
            <a:solidFill>
              <a:srgbClr val="FFE194"/>
            </a:solidFill>
            <a:ln>
              <a:noFill/>
            </a:ln>
          </p:spPr>
          <p:txBody>
            <a:bodyPr/>
            <a:lstStyle/>
            <a:p>
              <a:pPr algn="r" rtl="1"/>
              <a:endParaRPr lang="ar-SA" dirty="0">
                <a:cs typeface="PT Bold Heading" panose="02010400000000000000" pitchFamily="2" charset="-78"/>
              </a:endParaRPr>
            </a:p>
          </p:txBody>
        </p:sp>
        <p:sp>
          <p:nvSpPr>
            <p:cNvPr id="8" name="Freeform 29">
              <a:extLst>
                <a:ext uri="{FF2B5EF4-FFF2-40B4-BE49-F238E27FC236}">
                  <a16:creationId xmlns:a16="http://schemas.microsoft.com/office/drawing/2014/main" id="{ABDA08CE-3832-2A2D-691A-00713C562556}"/>
                </a:ext>
              </a:extLst>
            </p:cNvPr>
            <p:cNvSpPr/>
            <p:nvPr/>
          </p:nvSpPr>
          <p:spPr>
            <a:xfrm>
              <a:off x="651659" y="250107"/>
              <a:ext cx="14631608" cy="4886016"/>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grpSp>
      <p:grpSp>
        <p:nvGrpSpPr>
          <p:cNvPr id="19" name="Group 35">
            <a:extLst>
              <a:ext uri="{FF2B5EF4-FFF2-40B4-BE49-F238E27FC236}">
                <a16:creationId xmlns:a16="http://schemas.microsoft.com/office/drawing/2014/main" id="{12CE4A32-E63B-56B1-5FBC-73E116E16D65}"/>
              </a:ext>
            </a:extLst>
          </p:cNvPr>
          <p:cNvGrpSpPr/>
          <p:nvPr/>
        </p:nvGrpSpPr>
        <p:grpSpPr>
          <a:xfrm>
            <a:off x="6697009" y="7971593"/>
            <a:ext cx="9764401" cy="1051570"/>
            <a:chOff x="1461012" y="-185636"/>
            <a:chExt cx="13019200" cy="1402094"/>
          </a:xfrm>
        </p:grpSpPr>
        <p:sp>
          <p:nvSpPr>
            <p:cNvPr id="20" name="Freeform 36">
              <a:extLst>
                <a:ext uri="{FF2B5EF4-FFF2-40B4-BE49-F238E27FC236}">
                  <a16:creationId xmlns:a16="http://schemas.microsoft.com/office/drawing/2014/main" id="{69932D2E-8484-FB1E-8AC3-D5BB128CE77F}"/>
                </a:ext>
              </a:extLst>
            </p:cNvPr>
            <p:cNvSpPr/>
            <p:nvPr/>
          </p:nvSpPr>
          <p:spPr>
            <a:xfrm flipH="1">
              <a:off x="14022541" y="-22460"/>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1600">
                <a:cs typeface="PT Bold Heading" panose="02010400000000000000" pitchFamily="2" charset="-78"/>
              </a:endParaRPr>
            </a:p>
          </p:txBody>
        </p:sp>
        <p:sp>
          <p:nvSpPr>
            <p:cNvPr id="21" name="TextBox 37">
              <a:extLst>
                <a:ext uri="{FF2B5EF4-FFF2-40B4-BE49-F238E27FC236}">
                  <a16:creationId xmlns:a16="http://schemas.microsoft.com/office/drawing/2014/main" id="{D167CE84-F727-576C-8677-10B54B2A40B0}"/>
                </a:ext>
              </a:extLst>
            </p:cNvPr>
            <p:cNvSpPr txBox="1"/>
            <p:nvPr/>
          </p:nvSpPr>
          <p:spPr>
            <a:xfrm>
              <a:off x="1461012" y="-185636"/>
              <a:ext cx="12790364" cy="1402094"/>
            </a:xfrm>
            <a:prstGeom prst="rect">
              <a:avLst/>
            </a:prstGeom>
          </p:spPr>
          <p:txBody>
            <a:bodyPr wrap="square" lIns="0" tIns="0" rIns="0" bIns="0" rtlCol="0" anchor="t">
              <a:spAutoFit/>
            </a:bodyPr>
            <a:lstStyle/>
            <a:p>
              <a:pPr marL="343989" lvl="1" algn="r" rtl="1">
                <a:lnSpc>
                  <a:spcPts val="4015"/>
                </a:lnSpc>
              </a:pPr>
              <a:r>
                <a:rPr lang="en-US" sz="3600" dirty="0" err="1">
                  <a:cs typeface="PT Bold Heading" panose="02010400000000000000" pitchFamily="2" charset="-78"/>
                </a:rPr>
                <a:t>سجلات</a:t>
              </a:r>
              <a:r>
                <a:rPr lang="en-US" sz="3600" dirty="0">
                  <a:cs typeface="PT Bold Heading" panose="02010400000000000000" pitchFamily="2" charset="-78"/>
                </a:rPr>
                <a:t> </a:t>
              </a:r>
              <a:r>
                <a:rPr lang="en-US" sz="3600" dirty="0" err="1">
                  <a:cs typeface="PT Bold Heading" panose="02010400000000000000" pitchFamily="2" charset="-78"/>
                </a:rPr>
                <a:t>زيارات</a:t>
              </a:r>
              <a:r>
                <a:rPr lang="en-US" sz="3600" dirty="0">
                  <a:cs typeface="PT Bold Heading" panose="02010400000000000000" pitchFamily="2" charset="-78"/>
                </a:rPr>
                <a:t> </a:t>
              </a:r>
              <a:r>
                <a:rPr lang="en-US" sz="3600" dirty="0" err="1">
                  <a:cs typeface="PT Bold Heading" panose="02010400000000000000" pitchFamily="2" charset="-78"/>
                </a:rPr>
                <a:t>المواقع</a:t>
              </a:r>
              <a:r>
                <a:rPr lang="en-US" sz="3600" dirty="0">
                  <a:cs typeface="PT Bold Heading" panose="02010400000000000000" pitchFamily="2" charset="-78"/>
                </a:rPr>
                <a:t> و </a:t>
              </a:r>
              <a:r>
                <a:rPr lang="en-US" sz="3600" dirty="0" err="1">
                  <a:cs typeface="PT Bold Heading" panose="02010400000000000000" pitchFamily="2" charset="-78"/>
                </a:rPr>
                <a:t>عمليات</a:t>
              </a:r>
              <a:r>
                <a:rPr lang="en-US" sz="3600" dirty="0">
                  <a:cs typeface="PT Bold Heading" panose="02010400000000000000" pitchFamily="2" charset="-78"/>
                </a:rPr>
                <a:t> </a:t>
              </a:r>
              <a:r>
                <a:rPr lang="en-US" sz="3600" dirty="0" err="1">
                  <a:cs typeface="PT Bold Heading" panose="02010400000000000000" pitchFamily="2" charset="-78"/>
                </a:rPr>
                <a:t>البحث</a:t>
              </a:r>
              <a:r>
                <a:rPr lang="en-US" sz="3600" dirty="0">
                  <a:cs typeface="PT Bold Heading" panose="02010400000000000000" pitchFamily="2" charset="-78"/>
                </a:rPr>
                <a:t> </a:t>
              </a:r>
              <a:r>
                <a:rPr lang="en-US" sz="3600" dirty="0" err="1">
                  <a:cs typeface="PT Bold Heading" panose="02010400000000000000" pitchFamily="2" charset="-78"/>
                </a:rPr>
                <a:t>والسجلات</a:t>
              </a:r>
              <a:r>
                <a:rPr lang="en-US" sz="3600" dirty="0">
                  <a:cs typeface="PT Bold Heading" panose="02010400000000000000" pitchFamily="2" charset="-78"/>
                </a:rPr>
                <a:t> </a:t>
              </a:r>
              <a:r>
                <a:rPr lang="en-US" sz="3600" dirty="0" err="1">
                  <a:cs typeface="PT Bold Heading" panose="02010400000000000000" pitchFamily="2" charset="-78"/>
                </a:rPr>
                <a:t>المتعلقة</a:t>
              </a:r>
              <a:r>
                <a:rPr lang="en-US" sz="3600" dirty="0">
                  <a:cs typeface="PT Bold Heading" panose="02010400000000000000" pitchFamily="2" charset="-78"/>
                </a:rPr>
                <a:t> </a:t>
              </a:r>
              <a:r>
                <a:rPr lang="en-US" sz="3600" dirty="0" err="1">
                  <a:cs typeface="PT Bold Heading" panose="02010400000000000000" pitchFamily="2" charset="-78"/>
                </a:rPr>
                <a:t>بتحركات</a:t>
              </a:r>
              <a:r>
                <a:rPr lang="en-US" sz="3600" dirty="0">
                  <a:cs typeface="PT Bold Heading" panose="02010400000000000000" pitchFamily="2" charset="-78"/>
                </a:rPr>
                <a:t> </a:t>
              </a:r>
              <a:r>
                <a:rPr lang="en-US" sz="3600" dirty="0" err="1">
                  <a:cs typeface="PT Bold Heading" panose="02010400000000000000" pitchFamily="2" charset="-78"/>
                </a:rPr>
                <a:t>المستخدم</a:t>
              </a:r>
              <a:r>
                <a:rPr lang="en-US" sz="3600" dirty="0">
                  <a:cs typeface="PT Bold Heading" panose="02010400000000000000" pitchFamily="2" charset="-78"/>
                </a:rPr>
                <a:t> </a:t>
              </a:r>
              <a:r>
                <a:rPr lang="en-US" sz="3600" dirty="0" err="1">
                  <a:cs typeface="PT Bold Heading" panose="02010400000000000000" pitchFamily="2" charset="-78"/>
                </a:rPr>
                <a:t>على</a:t>
              </a:r>
              <a:r>
                <a:rPr lang="en-US" sz="3600" dirty="0">
                  <a:cs typeface="PT Bold Heading" panose="02010400000000000000" pitchFamily="2" charset="-78"/>
                </a:rPr>
                <a:t> </a:t>
              </a:r>
              <a:r>
                <a:rPr lang="en-US" sz="3600" dirty="0" err="1">
                  <a:cs typeface="PT Bold Heading" panose="02010400000000000000" pitchFamily="2" charset="-78"/>
                </a:rPr>
                <a:t>شبكة</a:t>
              </a:r>
              <a:r>
                <a:rPr lang="en-US" sz="3600" dirty="0">
                  <a:cs typeface="PT Bold Heading" panose="02010400000000000000" pitchFamily="2" charset="-78"/>
                </a:rPr>
                <a:t> </a:t>
              </a:r>
              <a:r>
                <a:rPr lang="en-US" sz="3600" dirty="0" err="1">
                  <a:cs typeface="PT Bold Heading" panose="02010400000000000000" pitchFamily="2" charset="-78"/>
                </a:rPr>
                <a:t>الإنترنت</a:t>
              </a:r>
              <a:r>
                <a:rPr lang="en-US" sz="3600" dirty="0">
                  <a:cs typeface="PT Bold Heading" panose="02010400000000000000" pitchFamily="2" charset="-78"/>
                </a:rPr>
                <a:t> .</a:t>
              </a:r>
            </a:p>
          </p:txBody>
        </p:sp>
      </p:grpSp>
      <p:grpSp>
        <p:nvGrpSpPr>
          <p:cNvPr id="33" name="مجموعة 32">
            <a:extLst>
              <a:ext uri="{FF2B5EF4-FFF2-40B4-BE49-F238E27FC236}">
                <a16:creationId xmlns:a16="http://schemas.microsoft.com/office/drawing/2014/main" id="{B2B6C00B-4E1D-A423-058D-A193A2CF9888}"/>
              </a:ext>
            </a:extLst>
          </p:cNvPr>
          <p:cNvGrpSpPr/>
          <p:nvPr/>
        </p:nvGrpSpPr>
        <p:grpSpPr>
          <a:xfrm>
            <a:off x="4193321" y="2224244"/>
            <a:ext cx="1978881" cy="7161524"/>
            <a:chOff x="3866926" y="2149043"/>
            <a:chExt cx="1978881" cy="7161524"/>
          </a:xfrm>
        </p:grpSpPr>
        <p:sp>
          <p:nvSpPr>
            <p:cNvPr id="27" name="Freeform 29">
              <a:extLst>
                <a:ext uri="{FF2B5EF4-FFF2-40B4-BE49-F238E27FC236}">
                  <a16:creationId xmlns:a16="http://schemas.microsoft.com/office/drawing/2014/main" id="{B8215F5B-B550-1B50-F2A8-5E0F21512011}"/>
                </a:ext>
              </a:extLst>
            </p:cNvPr>
            <p:cNvSpPr/>
            <p:nvPr/>
          </p:nvSpPr>
          <p:spPr>
            <a:xfrm flipH="1">
              <a:off x="3866926" y="2817478"/>
              <a:ext cx="1978881" cy="6493089"/>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sp>
          <p:nvSpPr>
            <p:cNvPr id="31" name="TextBox 22">
              <a:extLst>
                <a:ext uri="{FF2B5EF4-FFF2-40B4-BE49-F238E27FC236}">
                  <a16:creationId xmlns:a16="http://schemas.microsoft.com/office/drawing/2014/main" id="{4F37304E-9A19-ED0C-8E63-13387885C57D}"/>
                </a:ext>
              </a:extLst>
            </p:cNvPr>
            <p:cNvSpPr txBox="1"/>
            <p:nvPr/>
          </p:nvSpPr>
          <p:spPr>
            <a:xfrm>
              <a:off x="4003310" y="2149043"/>
              <a:ext cx="1518250" cy="552074"/>
            </a:xfrm>
            <a:prstGeom prst="rect">
              <a:avLst/>
            </a:prstGeom>
          </p:spPr>
          <p:txBody>
            <a:bodyPr wrap="square" lIns="0" tIns="0" rIns="0" bIns="0" rtlCol="0" anchor="t">
              <a:spAutoFit/>
            </a:bodyPr>
            <a:lstStyle/>
            <a:p>
              <a:pPr algn="r" rtl="1">
                <a:lnSpc>
                  <a:spcPts val="4257"/>
                </a:lnSpc>
              </a:pPr>
              <a:r>
                <a:rPr lang="ar-SA" sz="3600" dirty="0">
                  <a:solidFill>
                    <a:srgbClr val="C00000"/>
                  </a:solidFill>
                  <a:cs typeface="PT Bold Heading" panose="02010400000000000000" pitchFamily="2" charset="-78"/>
                </a:rPr>
                <a:t>مرئية</a:t>
              </a:r>
              <a:endParaRPr lang="en-US" sz="3600" dirty="0">
                <a:solidFill>
                  <a:srgbClr val="C00000"/>
                </a:solidFill>
                <a:cs typeface="PT Bold Heading" panose="02010400000000000000" pitchFamily="2" charset="-78"/>
              </a:endParaRPr>
            </a:p>
          </p:txBody>
        </p:sp>
      </p:grpSp>
      <p:grpSp>
        <p:nvGrpSpPr>
          <p:cNvPr id="34" name="مجموعة 33">
            <a:extLst>
              <a:ext uri="{FF2B5EF4-FFF2-40B4-BE49-F238E27FC236}">
                <a16:creationId xmlns:a16="http://schemas.microsoft.com/office/drawing/2014/main" id="{3CF6ED95-BF79-F6CF-F3C4-086C750FF826}"/>
              </a:ext>
            </a:extLst>
          </p:cNvPr>
          <p:cNvGrpSpPr/>
          <p:nvPr/>
        </p:nvGrpSpPr>
        <p:grpSpPr>
          <a:xfrm>
            <a:off x="1524000" y="2224911"/>
            <a:ext cx="2174304" cy="7160857"/>
            <a:chOff x="1492257" y="2205293"/>
            <a:chExt cx="2174304" cy="7160857"/>
          </a:xfrm>
        </p:grpSpPr>
        <p:grpSp>
          <p:nvGrpSpPr>
            <p:cNvPr id="28" name="Group 24">
              <a:extLst>
                <a:ext uri="{FF2B5EF4-FFF2-40B4-BE49-F238E27FC236}">
                  <a16:creationId xmlns:a16="http://schemas.microsoft.com/office/drawing/2014/main" id="{DE69641D-8DE9-E513-3A78-C7791D14CD56}"/>
                </a:ext>
              </a:extLst>
            </p:cNvPr>
            <p:cNvGrpSpPr/>
            <p:nvPr/>
          </p:nvGrpSpPr>
          <p:grpSpPr>
            <a:xfrm flipH="1">
              <a:off x="1492257" y="2856556"/>
              <a:ext cx="2174304" cy="6509594"/>
              <a:chOff x="12644757" y="247309"/>
              <a:chExt cx="2899071" cy="4898436"/>
            </a:xfrm>
          </p:grpSpPr>
          <p:sp>
            <p:nvSpPr>
              <p:cNvPr id="29" name="Freeform 26">
                <a:extLst>
                  <a:ext uri="{FF2B5EF4-FFF2-40B4-BE49-F238E27FC236}">
                    <a16:creationId xmlns:a16="http://schemas.microsoft.com/office/drawing/2014/main" id="{865F0AF7-41B2-A55B-DF3B-8D3387BD6753}"/>
                  </a:ext>
                </a:extLst>
              </p:cNvPr>
              <p:cNvSpPr/>
              <p:nvPr/>
            </p:nvSpPr>
            <p:spPr>
              <a:xfrm>
                <a:off x="14969023" y="247309"/>
                <a:ext cx="574805" cy="4898436"/>
              </a:xfrm>
              <a:custGeom>
                <a:avLst/>
                <a:gdLst/>
                <a:ahLst/>
                <a:cxnLst/>
                <a:rect l="l" t="t" r="r" b="b"/>
                <a:pathLst>
                  <a:path w="96938" h="965542">
                    <a:moveTo>
                      <a:pt x="0" y="0"/>
                    </a:moveTo>
                    <a:lnTo>
                      <a:pt x="96938" y="0"/>
                    </a:lnTo>
                    <a:lnTo>
                      <a:pt x="96938" y="965542"/>
                    </a:lnTo>
                    <a:lnTo>
                      <a:pt x="0" y="965542"/>
                    </a:lnTo>
                    <a:close/>
                  </a:path>
                </a:pathLst>
              </a:custGeom>
              <a:solidFill>
                <a:srgbClr val="FFE194"/>
              </a:solidFill>
              <a:ln>
                <a:noFill/>
              </a:ln>
            </p:spPr>
            <p:txBody>
              <a:bodyPr/>
              <a:lstStyle/>
              <a:p>
                <a:pPr algn="r" rtl="1"/>
                <a:endParaRPr lang="ar-SA">
                  <a:cs typeface="PT Bold Heading" panose="02010400000000000000" pitchFamily="2" charset="-78"/>
                </a:endParaRPr>
              </a:p>
            </p:txBody>
          </p:sp>
          <p:sp>
            <p:nvSpPr>
              <p:cNvPr id="30" name="Freeform 29">
                <a:extLst>
                  <a:ext uri="{FF2B5EF4-FFF2-40B4-BE49-F238E27FC236}">
                    <a16:creationId xmlns:a16="http://schemas.microsoft.com/office/drawing/2014/main" id="{8C05869E-D770-E46B-42C3-63B1BD07BD5C}"/>
                  </a:ext>
                </a:extLst>
              </p:cNvPr>
              <p:cNvSpPr/>
              <p:nvPr/>
            </p:nvSpPr>
            <p:spPr>
              <a:xfrm>
                <a:off x="12644757" y="250107"/>
                <a:ext cx="2638508" cy="4886016"/>
              </a:xfrm>
              <a:custGeom>
                <a:avLst/>
                <a:gdLst/>
                <a:ahLst/>
                <a:cxnLst/>
                <a:rect l="l" t="t" r="r" b="b"/>
                <a:pathLst>
                  <a:path w="3133613" h="1001807">
                    <a:moveTo>
                      <a:pt x="6079" y="0"/>
                    </a:moveTo>
                    <a:lnTo>
                      <a:pt x="3127534" y="0"/>
                    </a:lnTo>
                    <a:cubicBezTo>
                      <a:pt x="3129146" y="0"/>
                      <a:pt x="3130692" y="640"/>
                      <a:pt x="3131832" y="1780"/>
                    </a:cubicBezTo>
                    <a:cubicBezTo>
                      <a:pt x="3132972" y="2920"/>
                      <a:pt x="3133613" y="4467"/>
                      <a:pt x="3133613" y="6079"/>
                    </a:cubicBezTo>
                    <a:lnTo>
                      <a:pt x="3133613" y="995728"/>
                    </a:lnTo>
                    <a:cubicBezTo>
                      <a:pt x="3133613" y="997340"/>
                      <a:pt x="3132972" y="998887"/>
                      <a:pt x="3131832" y="1000026"/>
                    </a:cubicBezTo>
                    <a:cubicBezTo>
                      <a:pt x="3130692" y="1001166"/>
                      <a:pt x="3129146" y="1001807"/>
                      <a:pt x="3127534" y="1001807"/>
                    </a:cubicBezTo>
                    <a:lnTo>
                      <a:pt x="6079" y="1001807"/>
                    </a:lnTo>
                    <a:cubicBezTo>
                      <a:pt x="4467" y="1001807"/>
                      <a:pt x="2920" y="1001166"/>
                      <a:pt x="1780" y="1000026"/>
                    </a:cubicBezTo>
                    <a:cubicBezTo>
                      <a:pt x="640" y="998887"/>
                      <a:pt x="0" y="997340"/>
                      <a:pt x="0" y="995728"/>
                    </a:cubicBezTo>
                    <a:lnTo>
                      <a:pt x="0" y="6079"/>
                    </a:lnTo>
                    <a:cubicBezTo>
                      <a:pt x="0" y="4467"/>
                      <a:pt x="640" y="2920"/>
                      <a:pt x="1780" y="1780"/>
                    </a:cubicBezTo>
                    <a:cubicBezTo>
                      <a:pt x="2920" y="640"/>
                      <a:pt x="4467" y="0"/>
                      <a:pt x="6079" y="0"/>
                    </a:cubicBezTo>
                    <a:close/>
                  </a:path>
                </a:pathLst>
              </a:custGeom>
              <a:solidFill>
                <a:srgbClr val="FFFFFF"/>
              </a:solidFill>
              <a:ln w="38100">
                <a:solidFill>
                  <a:srgbClr val="2A8D87"/>
                </a:solidFill>
              </a:ln>
            </p:spPr>
            <p:txBody>
              <a:bodyPr/>
              <a:lstStyle/>
              <a:p>
                <a:pPr algn="r" rtl="1"/>
                <a:endParaRPr lang="ar-SA" dirty="0">
                  <a:cs typeface="PT Bold Heading" panose="02010400000000000000" pitchFamily="2" charset="-78"/>
                </a:endParaRPr>
              </a:p>
            </p:txBody>
          </p:sp>
        </p:grpSp>
        <p:sp>
          <p:nvSpPr>
            <p:cNvPr id="32" name="TextBox 22">
              <a:extLst>
                <a:ext uri="{FF2B5EF4-FFF2-40B4-BE49-F238E27FC236}">
                  <a16:creationId xmlns:a16="http://schemas.microsoft.com/office/drawing/2014/main" id="{19BA6DE6-BB50-79FA-6675-5C94FEA29AC6}"/>
                </a:ext>
              </a:extLst>
            </p:cNvPr>
            <p:cNvSpPr txBox="1"/>
            <p:nvPr/>
          </p:nvSpPr>
          <p:spPr>
            <a:xfrm>
              <a:off x="1707809" y="2205293"/>
              <a:ext cx="1829873" cy="552074"/>
            </a:xfrm>
            <a:prstGeom prst="rect">
              <a:avLst/>
            </a:prstGeom>
          </p:spPr>
          <p:txBody>
            <a:bodyPr wrap="square" lIns="0" tIns="0" rIns="0" bIns="0" rtlCol="0" anchor="t">
              <a:spAutoFit/>
            </a:bodyPr>
            <a:lstStyle/>
            <a:p>
              <a:pPr algn="r" rtl="1">
                <a:lnSpc>
                  <a:spcPts val="4257"/>
                </a:lnSpc>
              </a:pPr>
              <a:r>
                <a:rPr lang="ar-SA" sz="3600" dirty="0">
                  <a:solidFill>
                    <a:srgbClr val="C00000"/>
                  </a:solidFill>
                  <a:cs typeface="PT Bold Heading" panose="02010400000000000000" pitchFamily="2" charset="-78"/>
                </a:rPr>
                <a:t>غير مرئية</a:t>
              </a:r>
              <a:endParaRPr lang="en-US" sz="3600" dirty="0">
                <a:solidFill>
                  <a:srgbClr val="C00000"/>
                </a:solidFill>
                <a:cs typeface="PT Bold Heading" panose="02010400000000000000" pitchFamily="2" charset="-78"/>
              </a:endParaRPr>
            </a:p>
          </p:txBody>
        </p:sp>
      </p:grpSp>
      <p:grpSp>
        <p:nvGrpSpPr>
          <p:cNvPr id="41" name="مجموعة 40">
            <a:extLst>
              <a:ext uri="{FF2B5EF4-FFF2-40B4-BE49-F238E27FC236}">
                <a16:creationId xmlns:a16="http://schemas.microsoft.com/office/drawing/2014/main" id="{A54F6F93-817A-6C83-C2FF-66A3E6B9A771}"/>
              </a:ext>
            </a:extLst>
          </p:cNvPr>
          <p:cNvGrpSpPr/>
          <p:nvPr/>
        </p:nvGrpSpPr>
        <p:grpSpPr>
          <a:xfrm>
            <a:off x="1742812" y="3115716"/>
            <a:ext cx="15021189" cy="806622"/>
            <a:chOff x="2010000" y="3039394"/>
            <a:chExt cx="15516000" cy="806622"/>
          </a:xfrm>
        </p:grpSpPr>
        <p:grpSp>
          <p:nvGrpSpPr>
            <p:cNvPr id="16" name="Group 32">
              <a:extLst>
                <a:ext uri="{FF2B5EF4-FFF2-40B4-BE49-F238E27FC236}">
                  <a16:creationId xmlns:a16="http://schemas.microsoft.com/office/drawing/2014/main" id="{F64EDFE0-003D-903E-DE1F-A775F530CE10}"/>
                </a:ext>
              </a:extLst>
            </p:cNvPr>
            <p:cNvGrpSpPr/>
            <p:nvPr/>
          </p:nvGrpSpPr>
          <p:grpSpPr>
            <a:xfrm>
              <a:off x="6554936" y="3039394"/>
              <a:ext cx="10649956" cy="509755"/>
              <a:chOff x="255583" y="36318"/>
              <a:chExt cx="14199941" cy="679675"/>
            </a:xfrm>
          </p:grpSpPr>
          <p:sp>
            <p:nvSpPr>
              <p:cNvPr id="17" name="Freeform 33">
                <a:extLst>
                  <a:ext uri="{FF2B5EF4-FFF2-40B4-BE49-F238E27FC236}">
                    <a16:creationId xmlns:a16="http://schemas.microsoft.com/office/drawing/2014/main" id="{C82673DF-E893-8530-EC05-E39344C75465}"/>
                  </a:ext>
                </a:extLst>
              </p:cNvPr>
              <p:cNvSpPr/>
              <p:nvPr/>
            </p:nvSpPr>
            <p:spPr>
              <a:xfrm flipH="1">
                <a:off x="13997853" y="167990"/>
                <a:ext cx="457671" cy="457670"/>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1600">
                  <a:cs typeface="PT Bold Heading" panose="02010400000000000000" pitchFamily="2" charset="-78"/>
                </a:endParaRPr>
              </a:p>
            </p:txBody>
          </p:sp>
          <p:sp>
            <p:nvSpPr>
              <p:cNvPr id="18" name="TextBox 34">
                <a:extLst>
                  <a:ext uri="{FF2B5EF4-FFF2-40B4-BE49-F238E27FC236}">
                    <a16:creationId xmlns:a16="http://schemas.microsoft.com/office/drawing/2014/main" id="{685C651F-7A67-6049-0C5F-66A6B18654B6}"/>
                  </a:ext>
                </a:extLst>
              </p:cNvPr>
              <p:cNvSpPr txBox="1"/>
              <p:nvPr/>
            </p:nvSpPr>
            <p:spPr>
              <a:xfrm>
                <a:off x="255583" y="36318"/>
                <a:ext cx="13563752" cy="679675"/>
              </a:xfrm>
              <a:prstGeom prst="rect">
                <a:avLst/>
              </a:prstGeom>
            </p:spPr>
            <p:txBody>
              <a:bodyPr wrap="square" lIns="0" tIns="0" rIns="0" bIns="0" rtlCol="0" anchor="t">
                <a:spAutoFit/>
              </a:bodyPr>
              <a:lstStyle/>
              <a:p>
                <a:pPr algn="r" rtl="1">
                  <a:lnSpc>
                    <a:spcPts val="3712"/>
                  </a:lnSpc>
                </a:pPr>
                <a:r>
                  <a:rPr lang="en-US" sz="3600" dirty="0" err="1">
                    <a:cs typeface="PT Bold Heading" panose="02010400000000000000" pitchFamily="2" charset="-78"/>
                  </a:rPr>
                  <a:t>رسائل</a:t>
                </a:r>
                <a:r>
                  <a:rPr lang="en-US" sz="3600" dirty="0">
                    <a:cs typeface="PT Bold Heading" panose="02010400000000000000" pitchFamily="2" charset="-78"/>
                  </a:rPr>
                  <a:t> </a:t>
                </a:r>
                <a:r>
                  <a:rPr lang="en-US" sz="3600" dirty="0" err="1">
                    <a:cs typeface="PT Bold Heading" panose="02010400000000000000" pitchFamily="2" charset="-78"/>
                  </a:rPr>
                  <a:t>البريد</a:t>
                </a:r>
                <a:r>
                  <a:rPr lang="en-US" sz="3600" dirty="0">
                    <a:cs typeface="PT Bold Heading" panose="02010400000000000000" pitchFamily="2" charset="-78"/>
                  </a:rPr>
                  <a:t> </a:t>
                </a:r>
                <a:r>
                  <a:rPr lang="en-US" sz="3600" dirty="0" err="1">
                    <a:cs typeface="PT Bold Heading" panose="02010400000000000000" pitchFamily="2" charset="-78"/>
                  </a:rPr>
                  <a:t>الإلكتروني</a:t>
                </a:r>
                <a:endParaRPr lang="en-US" sz="3600" dirty="0">
                  <a:cs typeface="PT Bold Heading" panose="02010400000000000000" pitchFamily="2" charset="-78"/>
                </a:endParaRPr>
              </a:p>
            </p:txBody>
          </p:sp>
        </p:grpSp>
        <p:cxnSp>
          <p:nvCxnSpPr>
            <p:cNvPr id="36" name="رابط مستقيم 35">
              <a:extLst>
                <a:ext uri="{FF2B5EF4-FFF2-40B4-BE49-F238E27FC236}">
                  <a16:creationId xmlns:a16="http://schemas.microsoft.com/office/drawing/2014/main" id="{09FF9351-4116-BDEF-C5D3-28F9AE493EE4}"/>
                </a:ext>
              </a:extLst>
            </p:cNvPr>
            <p:cNvCxnSpPr>
              <a:cxnSpLocks/>
            </p:cNvCxnSpPr>
            <p:nvPr/>
          </p:nvCxnSpPr>
          <p:spPr>
            <a:xfrm flipH="1">
              <a:off x="2010000" y="3846016"/>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2" name="مجموعة 41">
            <a:extLst>
              <a:ext uri="{FF2B5EF4-FFF2-40B4-BE49-F238E27FC236}">
                <a16:creationId xmlns:a16="http://schemas.microsoft.com/office/drawing/2014/main" id="{B044592E-0D6E-7F24-EB98-B5B575847B8B}"/>
              </a:ext>
            </a:extLst>
          </p:cNvPr>
          <p:cNvGrpSpPr/>
          <p:nvPr/>
        </p:nvGrpSpPr>
        <p:grpSpPr>
          <a:xfrm>
            <a:off x="1719426" y="4216383"/>
            <a:ext cx="15021189" cy="773718"/>
            <a:chOff x="1986614" y="4139345"/>
            <a:chExt cx="15516000" cy="773718"/>
          </a:xfrm>
        </p:grpSpPr>
        <p:grpSp>
          <p:nvGrpSpPr>
            <p:cNvPr id="22" name="Group 38">
              <a:extLst>
                <a:ext uri="{FF2B5EF4-FFF2-40B4-BE49-F238E27FC236}">
                  <a16:creationId xmlns:a16="http://schemas.microsoft.com/office/drawing/2014/main" id="{2D8F093D-85FF-4784-AD04-5CA6A5ADD7B1}"/>
                </a:ext>
              </a:extLst>
            </p:cNvPr>
            <p:cNvGrpSpPr/>
            <p:nvPr/>
          </p:nvGrpSpPr>
          <p:grpSpPr>
            <a:xfrm>
              <a:off x="6904147" y="4139345"/>
              <a:ext cx="10332359" cy="538609"/>
              <a:chOff x="1001230" y="472406"/>
              <a:chExt cx="13776478" cy="718146"/>
            </a:xfrm>
          </p:grpSpPr>
          <p:sp>
            <p:nvSpPr>
              <p:cNvPr id="23" name="Freeform 39">
                <a:extLst>
                  <a:ext uri="{FF2B5EF4-FFF2-40B4-BE49-F238E27FC236}">
                    <a16:creationId xmlns:a16="http://schemas.microsoft.com/office/drawing/2014/main" id="{83139598-52A2-81B3-B017-E4F477738175}"/>
                  </a:ext>
                </a:extLst>
              </p:cNvPr>
              <p:cNvSpPr/>
              <p:nvPr/>
            </p:nvSpPr>
            <p:spPr>
              <a:xfrm flipH="1">
                <a:off x="14320037" y="660121"/>
                <a:ext cx="457671" cy="457671"/>
              </a:xfrm>
              <a:custGeom>
                <a:avLst/>
                <a:gdLst/>
                <a:ahLst/>
                <a:cxnLst/>
                <a:rect l="l" t="t" r="r" b="b"/>
                <a:pathLst>
                  <a:path w="457671" h="457671">
                    <a:moveTo>
                      <a:pt x="457671" y="0"/>
                    </a:moveTo>
                    <a:lnTo>
                      <a:pt x="0" y="0"/>
                    </a:lnTo>
                    <a:lnTo>
                      <a:pt x="0" y="457671"/>
                    </a:lnTo>
                    <a:lnTo>
                      <a:pt x="457671" y="457671"/>
                    </a:lnTo>
                    <a:lnTo>
                      <a:pt x="45767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1600">
                  <a:cs typeface="PT Bold Heading" panose="02010400000000000000" pitchFamily="2" charset="-78"/>
                </a:endParaRPr>
              </a:p>
            </p:txBody>
          </p:sp>
          <p:sp>
            <p:nvSpPr>
              <p:cNvPr id="24" name="TextBox 40">
                <a:extLst>
                  <a:ext uri="{FF2B5EF4-FFF2-40B4-BE49-F238E27FC236}">
                    <a16:creationId xmlns:a16="http://schemas.microsoft.com/office/drawing/2014/main" id="{9D08A1F1-22DC-9B4B-0B72-10ECAAD142C0}"/>
                  </a:ext>
                </a:extLst>
              </p:cNvPr>
              <p:cNvSpPr txBox="1"/>
              <p:nvPr/>
            </p:nvSpPr>
            <p:spPr>
              <a:xfrm>
                <a:off x="1001230" y="472406"/>
                <a:ext cx="13563750" cy="718146"/>
              </a:xfrm>
              <a:prstGeom prst="rect">
                <a:avLst/>
              </a:prstGeom>
            </p:spPr>
            <p:txBody>
              <a:bodyPr wrap="square" lIns="0" tIns="0" rIns="0" bIns="0" rtlCol="0" anchor="t">
                <a:spAutoFit/>
              </a:bodyPr>
              <a:lstStyle/>
              <a:p>
                <a:pPr marL="343989" lvl="1" algn="r" rtl="1">
                  <a:lnSpc>
                    <a:spcPts val="4015"/>
                  </a:lnSpc>
                </a:pPr>
                <a:r>
                  <a:rPr lang="en-US" sz="3600" dirty="0" err="1">
                    <a:cs typeface="PT Bold Heading" panose="02010400000000000000" pitchFamily="2" charset="-78"/>
                  </a:rPr>
                  <a:t>عمليات</a:t>
                </a:r>
                <a:r>
                  <a:rPr lang="en-US" sz="3600" dirty="0">
                    <a:cs typeface="PT Bold Heading" panose="02010400000000000000" pitchFamily="2" charset="-78"/>
                  </a:rPr>
                  <a:t> </a:t>
                </a:r>
                <a:r>
                  <a:rPr lang="en-US" sz="3600" dirty="0" err="1">
                    <a:cs typeface="PT Bold Heading" panose="02010400000000000000" pitchFamily="2" charset="-78"/>
                  </a:rPr>
                  <a:t>التواصل</a:t>
                </a:r>
                <a:r>
                  <a:rPr lang="en-US" sz="3600" dirty="0">
                    <a:cs typeface="PT Bold Heading" panose="02010400000000000000" pitchFamily="2" charset="-78"/>
                  </a:rPr>
                  <a:t> </a:t>
                </a:r>
                <a:r>
                  <a:rPr lang="en-US" sz="3600" dirty="0" err="1">
                    <a:cs typeface="PT Bold Heading" panose="02010400000000000000" pitchFamily="2" charset="-78"/>
                  </a:rPr>
                  <a:t>التي</a:t>
                </a:r>
                <a:r>
                  <a:rPr lang="en-US" sz="3600" dirty="0">
                    <a:cs typeface="PT Bold Heading" panose="02010400000000000000" pitchFamily="2" charset="-78"/>
                  </a:rPr>
                  <a:t> </a:t>
                </a:r>
                <a:r>
                  <a:rPr lang="en-US" sz="3600" dirty="0" err="1">
                    <a:cs typeface="PT Bold Heading" panose="02010400000000000000" pitchFamily="2" charset="-78"/>
                  </a:rPr>
                  <a:t>يجريها</a:t>
                </a:r>
                <a:r>
                  <a:rPr lang="en-US" sz="3600" dirty="0">
                    <a:cs typeface="PT Bold Heading" panose="02010400000000000000" pitchFamily="2" charset="-78"/>
                  </a:rPr>
                  <a:t> </a:t>
                </a:r>
                <a:r>
                  <a:rPr lang="en-US" sz="3600" dirty="0" err="1">
                    <a:cs typeface="PT Bold Heading" panose="02010400000000000000" pitchFamily="2" charset="-78"/>
                  </a:rPr>
                  <a:t>مع</a:t>
                </a:r>
                <a:r>
                  <a:rPr lang="en-US" sz="3600" dirty="0">
                    <a:cs typeface="PT Bold Heading" panose="02010400000000000000" pitchFamily="2" charset="-78"/>
                  </a:rPr>
                  <a:t> </a:t>
                </a:r>
                <a:r>
                  <a:rPr lang="en-US" sz="3600" dirty="0" err="1">
                    <a:cs typeface="PT Bold Heading" panose="02010400000000000000" pitchFamily="2" charset="-78"/>
                  </a:rPr>
                  <a:t>الآخرين</a:t>
                </a:r>
                <a:r>
                  <a:rPr lang="en-US" sz="3600" dirty="0">
                    <a:cs typeface="PT Bold Heading" panose="02010400000000000000" pitchFamily="2" charset="-78"/>
                  </a:rPr>
                  <a:t> .</a:t>
                </a:r>
              </a:p>
            </p:txBody>
          </p:sp>
        </p:grpSp>
        <p:cxnSp>
          <p:nvCxnSpPr>
            <p:cNvPr id="38" name="رابط مستقيم 37">
              <a:extLst>
                <a:ext uri="{FF2B5EF4-FFF2-40B4-BE49-F238E27FC236}">
                  <a16:creationId xmlns:a16="http://schemas.microsoft.com/office/drawing/2014/main" id="{D7445B5A-DAA1-F3EF-1EBF-77C3490139CF}"/>
                </a:ext>
              </a:extLst>
            </p:cNvPr>
            <p:cNvCxnSpPr>
              <a:cxnSpLocks/>
            </p:cNvCxnSpPr>
            <p:nvPr/>
          </p:nvCxnSpPr>
          <p:spPr>
            <a:xfrm flipH="1">
              <a:off x="1986614" y="4913063"/>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3" name="مجموعة 42">
            <a:extLst>
              <a:ext uri="{FF2B5EF4-FFF2-40B4-BE49-F238E27FC236}">
                <a16:creationId xmlns:a16="http://schemas.microsoft.com/office/drawing/2014/main" id="{5A171571-0E37-8DB6-B428-2756BC61FCAB}"/>
              </a:ext>
            </a:extLst>
          </p:cNvPr>
          <p:cNvGrpSpPr/>
          <p:nvPr/>
        </p:nvGrpSpPr>
        <p:grpSpPr>
          <a:xfrm>
            <a:off x="1742812" y="5240694"/>
            <a:ext cx="15021189" cy="1233877"/>
            <a:chOff x="2010000" y="5509823"/>
            <a:chExt cx="15516000" cy="1233877"/>
          </a:xfrm>
        </p:grpSpPr>
        <p:grpSp>
          <p:nvGrpSpPr>
            <p:cNvPr id="10" name="Group 32">
              <a:extLst>
                <a:ext uri="{FF2B5EF4-FFF2-40B4-BE49-F238E27FC236}">
                  <a16:creationId xmlns:a16="http://schemas.microsoft.com/office/drawing/2014/main" id="{BAAAEAD4-6E12-FD19-2DD1-083B098EA784}"/>
                </a:ext>
              </a:extLst>
            </p:cNvPr>
            <p:cNvGrpSpPr/>
            <p:nvPr/>
          </p:nvGrpSpPr>
          <p:grpSpPr>
            <a:xfrm>
              <a:off x="7096621" y="5509823"/>
              <a:ext cx="10125378" cy="1074012"/>
              <a:chOff x="65254" y="-19049"/>
              <a:chExt cx="13500504" cy="1432017"/>
            </a:xfrm>
          </p:grpSpPr>
          <p:sp>
            <p:nvSpPr>
              <p:cNvPr id="11" name="Freeform 33">
                <a:extLst>
                  <a:ext uri="{FF2B5EF4-FFF2-40B4-BE49-F238E27FC236}">
                    <a16:creationId xmlns:a16="http://schemas.microsoft.com/office/drawing/2014/main" id="{9AFED35B-7779-3ACA-3D91-C00E4CE1B52E}"/>
                  </a:ext>
                </a:extLst>
              </p:cNvPr>
              <p:cNvSpPr/>
              <p:nvPr/>
            </p:nvSpPr>
            <p:spPr>
              <a:xfrm flipH="1">
                <a:off x="13075271" y="120699"/>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1600">
                  <a:cs typeface="PT Bold Heading" panose="02010400000000000000" pitchFamily="2" charset="-78"/>
                </a:endParaRPr>
              </a:p>
            </p:txBody>
          </p:sp>
          <p:sp>
            <p:nvSpPr>
              <p:cNvPr id="12" name="TextBox 34">
                <a:extLst>
                  <a:ext uri="{FF2B5EF4-FFF2-40B4-BE49-F238E27FC236}">
                    <a16:creationId xmlns:a16="http://schemas.microsoft.com/office/drawing/2014/main" id="{C708DB51-837E-18BC-773A-EE4972FA8C46}"/>
                  </a:ext>
                </a:extLst>
              </p:cNvPr>
              <p:cNvSpPr txBox="1"/>
              <p:nvPr/>
            </p:nvSpPr>
            <p:spPr>
              <a:xfrm>
                <a:off x="65254" y="-19049"/>
                <a:ext cx="12818696" cy="1432017"/>
              </a:xfrm>
              <a:prstGeom prst="rect">
                <a:avLst/>
              </a:prstGeom>
            </p:spPr>
            <p:txBody>
              <a:bodyPr wrap="square" lIns="0" tIns="0" rIns="0" bIns="0" rtlCol="0" anchor="t">
                <a:spAutoFit/>
              </a:bodyPr>
              <a:lstStyle/>
              <a:p>
                <a:pPr algn="r" rtl="1">
                  <a:lnSpc>
                    <a:spcPts val="4104"/>
                  </a:lnSpc>
                </a:pPr>
                <a:r>
                  <a:rPr lang="en-US" sz="3200" dirty="0" err="1">
                    <a:cs typeface="PT Bold Heading" panose="02010400000000000000" pitchFamily="2" charset="-78"/>
                  </a:rPr>
                  <a:t>مشاركات</a:t>
                </a:r>
                <a:r>
                  <a:rPr lang="en-US" sz="3200" dirty="0">
                    <a:cs typeface="PT Bold Heading" panose="02010400000000000000" pitchFamily="2" charset="-78"/>
                  </a:rPr>
                  <a:t> </a:t>
                </a:r>
                <a:r>
                  <a:rPr lang="en-US" sz="3200" dirty="0" err="1">
                    <a:cs typeface="PT Bold Heading" panose="02010400000000000000" pitchFamily="2" charset="-78"/>
                  </a:rPr>
                  <a:t>المدونات</a:t>
                </a:r>
                <a:r>
                  <a:rPr lang="en-US" sz="3200" dirty="0">
                    <a:cs typeface="PT Bold Heading" panose="02010400000000000000" pitchFamily="2" charset="-78"/>
                  </a:rPr>
                  <a:t> و </a:t>
                </a:r>
                <a:r>
                  <a:rPr lang="en-US" sz="3200" dirty="0" err="1">
                    <a:cs typeface="PT Bold Heading" panose="02010400000000000000" pitchFamily="2" charset="-78"/>
                  </a:rPr>
                  <a:t>عبر</a:t>
                </a:r>
                <a:r>
                  <a:rPr lang="en-US" sz="3200" dirty="0">
                    <a:cs typeface="PT Bold Heading" panose="02010400000000000000" pitchFamily="2" charset="-78"/>
                  </a:rPr>
                  <a:t> </a:t>
                </a:r>
                <a:r>
                  <a:rPr lang="en-US" sz="3200" dirty="0" err="1">
                    <a:cs typeface="PT Bold Heading" panose="02010400000000000000" pitchFamily="2" charset="-78"/>
                  </a:rPr>
                  <a:t>تويتر</a:t>
                </a:r>
                <a:r>
                  <a:rPr lang="en-US" sz="3200" dirty="0">
                    <a:cs typeface="PT Bold Heading" panose="02010400000000000000" pitchFamily="2" charset="-78"/>
                  </a:rPr>
                  <a:t> </a:t>
                </a:r>
                <a:r>
                  <a:rPr lang="ar-SA" sz="3200" dirty="0">
                    <a:cs typeface="PT Bold Heading" panose="02010400000000000000" pitchFamily="2" charset="-78"/>
                  </a:rPr>
                  <a:t>و </a:t>
                </a:r>
                <a:r>
                  <a:rPr lang="en-US" sz="3200" dirty="0" err="1">
                    <a:latin typeface="PT Bold Heading"/>
                    <a:cs typeface="PT Bold Heading" panose="02010400000000000000" pitchFamily="2" charset="-78"/>
                  </a:rPr>
                  <a:t>الإعجابات</a:t>
                </a:r>
                <a:r>
                  <a:rPr lang="en-US" sz="3200" dirty="0">
                    <a:latin typeface="PT Bold Heading"/>
                    <a:cs typeface="PT Bold Heading" panose="02010400000000000000" pitchFamily="2" charset="-78"/>
                  </a:rPr>
                  <a:t> </a:t>
                </a:r>
                <a:r>
                  <a:rPr lang="en-US" sz="3200" dirty="0" err="1">
                    <a:latin typeface="PT Bold Heading"/>
                    <a:cs typeface="PT Bold Heading" panose="02010400000000000000" pitchFamily="2" charset="-78"/>
                  </a:rPr>
                  <a:t>على</a:t>
                </a:r>
                <a:r>
                  <a:rPr lang="en-US" sz="3200" dirty="0">
                    <a:latin typeface="PT Bold Heading"/>
                    <a:cs typeface="PT Bold Heading" panose="02010400000000000000" pitchFamily="2" charset="-78"/>
                  </a:rPr>
                  <a:t> </a:t>
                </a:r>
                <a:r>
                  <a:rPr lang="en-US" sz="3200" dirty="0" err="1">
                    <a:latin typeface="PT Bold Heading"/>
                    <a:cs typeface="PT Bold Heading" panose="02010400000000000000" pitchFamily="2" charset="-78"/>
                  </a:rPr>
                  <a:t>فيسبوك</a:t>
                </a:r>
                <a:r>
                  <a:rPr lang="en-US" sz="3200" dirty="0">
                    <a:latin typeface="PT Bold Heading"/>
                    <a:cs typeface="PT Bold Heading" panose="02010400000000000000" pitchFamily="2" charset="-78"/>
                  </a:rPr>
                  <a:t> </a:t>
                </a:r>
                <a:r>
                  <a:rPr lang="en-US" sz="3200" dirty="0" err="1">
                    <a:cs typeface="PT Bold Heading" panose="02010400000000000000" pitchFamily="2" charset="-78"/>
                  </a:rPr>
                  <a:t>الصور</a:t>
                </a:r>
                <a:r>
                  <a:rPr lang="en-US" sz="3200" dirty="0">
                    <a:cs typeface="PT Bold Heading" panose="02010400000000000000" pitchFamily="2" charset="-78"/>
                  </a:rPr>
                  <a:t> </a:t>
                </a:r>
                <a:r>
                  <a:rPr lang="en-US" sz="3200" dirty="0" err="1">
                    <a:cs typeface="PT Bold Heading" panose="02010400000000000000" pitchFamily="2" charset="-78"/>
                  </a:rPr>
                  <a:t>الفوتوغرافية</a:t>
                </a:r>
                <a:r>
                  <a:rPr lang="en-US" sz="3200" dirty="0">
                    <a:cs typeface="PT Bold Heading" panose="02010400000000000000" pitchFamily="2" charset="-78"/>
                  </a:rPr>
                  <a:t> .</a:t>
                </a:r>
                <a:endParaRPr lang="en-US" sz="2800" dirty="0">
                  <a:cs typeface="PT Bold Heading" panose="02010400000000000000" pitchFamily="2" charset="-78"/>
                </a:endParaRPr>
              </a:p>
            </p:txBody>
          </p:sp>
        </p:grpSp>
        <p:cxnSp>
          <p:nvCxnSpPr>
            <p:cNvPr id="39" name="رابط مستقيم 38">
              <a:extLst>
                <a:ext uri="{FF2B5EF4-FFF2-40B4-BE49-F238E27FC236}">
                  <a16:creationId xmlns:a16="http://schemas.microsoft.com/office/drawing/2014/main" id="{A9E03443-5610-8E92-FBA4-16DFCE16705F}"/>
                </a:ext>
              </a:extLst>
            </p:cNvPr>
            <p:cNvCxnSpPr>
              <a:cxnSpLocks/>
            </p:cNvCxnSpPr>
            <p:nvPr/>
          </p:nvCxnSpPr>
          <p:spPr>
            <a:xfrm flipH="1">
              <a:off x="2010000" y="6743700"/>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4" name="مجموعة 43">
            <a:extLst>
              <a:ext uri="{FF2B5EF4-FFF2-40B4-BE49-F238E27FC236}">
                <a16:creationId xmlns:a16="http://schemas.microsoft.com/office/drawing/2014/main" id="{D3ED80A7-FB8A-B09B-FC1F-FCEA798B1A7E}"/>
              </a:ext>
            </a:extLst>
          </p:cNvPr>
          <p:cNvGrpSpPr/>
          <p:nvPr/>
        </p:nvGrpSpPr>
        <p:grpSpPr>
          <a:xfrm>
            <a:off x="1719426" y="6806602"/>
            <a:ext cx="15021189" cy="891957"/>
            <a:chOff x="1986614" y="6766143"/>
            <a:chExt cx="15516000" cy="891957"/>
          </a:xfrm>
        </p:grpSpPr>
        <p:grpSp>
          <p:nvGrpSpPr>
            <p:cNvPr id="13" name="Group 35">
              <a:extLst>
                <a:ext uri="{FF2B5EF4-FFF2-40B4-BE49-F238E27FC236}">
                  <a16:creationId xmlns:a16="http://schemas.microsoft.com/office/drawing/2014/main" id="{4F75E9F8-A510-F45A-4072-E041545D8417}"/>
                </a:ext>
              </a:extLst>
            </p:cNvPr>
            <p:cNvGrpSpPr/>
            <p:nvPr/>
          </p:nvGrpSpPr>
          <p:grpSpPr>
            <a:xfrm>
              <a:off x="7050029" y="6766143"/>
              <a:ext cx="10122570" cy="538609"/>
              <a:chOff x="3131" y="-188523"/>
              <a:chExt cx="13496760" cy="718146"/>
            </a:xfrm>
          </p:grpSpPr>
          <p:sp>
            <p:nvSpPr>
              <p:cNvPr id="14" name="Freeform 36">
                <a:extLst>
                  <a:ext uri="{FF2B5EF4-FFF2-40B4-BE49-F238E27FC236}">
                    <a16:creationId xmlns:a16="http://schemas.microsoft.com/office/drawing/2014/main" id="{719F39D9-DEEA-DA32-6840-2BE53E8E8739}"/>
                  </a:ext>
                </a:extLst>
              </p:cNvPr>
              <p:cNvSpPr/>
              <p:nvPr/>
            </p:nvSpPr>
            <p:spPr>
              <a:xfrm flipH="1">
                <a:off x="13009404" y="-146652"/>
                <a:ext cx="490487" cy="490487"/>
              </a:xfrm>
              <a:custGeom>
                <a:avLst/>
                <a:gdLst/>
                <a:ahLst/>
                <a:cxnLst/>
                <a:rect l="l" t="t" r="r" b="b"/>
                <a:pathLst>
                  <a:path w="490487" h="490487">
                    <a:moveTo>
                      <a:pt x="490487" y="0"/>
                    </a:moveTo>
                    <a:lnTo>
                      <a:pt x="0" y="0"/>
                    </a:lnTo>
                    <a:lnTo>
                      <a:pt x="0" y="490487"/>
                    </a:lnTo>
                    <a:lnTo>
                      <a:pt x="490487" y="490487"/>
                    </a:lnTo>
                    <a:lnTo>
                      <a:pt x="490487"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1600">
                  <a:cs typeface="PT Bold Heading" panose="02010400000000000000" pitchFamily="2" charset="-78"/>
                </a:endParaRPr>
              </a:p>
            </p:txBody>
          </p:sp>
          <p:sp>
            <p:nvSpPr>
              <p:cNvPr id="15" name="TextBox 37">
                <a:extLst>
                  <a:ext uri="{FF2B5EF4-FFF2-40B4-BE49-F238E27FC236}">
                    <a16:creationId xmlns:a16="http://schemas.microsoft.com/office/drawing/2014/main" id="{2EDE8105-6170-2F0F-B06E-5C53C64E3474}"/>
                  </a:ext>
                </a:extLst>
              </p:cNvPr>
              <p:cNvSpPr txBox="1"/>
              <p:nvPr/>
            </p:nvSpPr>
            <p:spPr>
              <a:xfrm>
                <a:off x="3131" y="-188523"/>
                <a:ext cx="13305707" cy="718146"/>
              </a:xfrm>
              <a:prstGeom prst="rect">
                <a:avLst/>
              </a:prstGeom>
            </p:spPr>
            <p:txBody>
              <a:bodyPr wrap="square" lIns="0" tIns="0" rIns="0" bIns="0" rtlCol="0" anchor="t">
                <a:spAutoFit/>
              </a:bodyPr>
              <a:lstStyle/>
              <a:p>
                <a:pPr marL="345279" lvl="1" algn="r" rtl="1">
                  <a:lnSpc>
                    <a:spcPts val="4030"/>
                  </a:lnSpc>
                </a:pPr>
                <a:r>
                  <a:rPr lang="en-US" sz="3600" dirty="0" err="1">
                    <a:cs typeface="PT Bold Heading" panose="02010400000000000000" pitchFamily="2" charset="-78"/>
                  </a:rPr>
                  <a:t>التعليقات</a:t>
                </a:r>
                <a:r>
                  <a:rPr lang="en-US" sz="3600" dirty="0">
                    <a:cs typeface="PT Bold Heading" panose="02010400000000000000" pitchFamily="2" charset="-78"/>
                  </a:rPr>
                  <a:t> </a:t>
                </a:r>
                <a:r>
                  <a:rPr lang="en-US" sz="3600" dirty="0" err="1">
                    <a:cs typeface="PT Bold Heading" panose="02010400000000000000" pitchFamily="2" charset="-78"/>
                  </a:rPr>
                  <a:t>على</a:t>
                </a:r>
                <a:r>
                  <a:rPr lang="en-US" sz="3600" dirty="0">
                    <a:cs typeface="PT Bold Heading" panose="02010400000000000000" pitchFamily="2" charset="-78"/>
                  </a:rPr>
                  <a:t> </a:t>
                </a:r>
                <a:r>
                  <a:rPr lang="en-US" sz="3600" dirty="0" err="1">
                    <a:cs typeface="PT Bold Heading" panose="02010400000000000000" pitchFamily="2" charset="-78"/>
                  </a:rPr>
                  <a:t>مقاطع</a:t>
                </a:r>
                <a:r>
                  <a:rPr lang="en-US" sz="3600" dirty="0">
                    <a:cs typeface="PT Bold Heading" panose="02010400000000000000" pitchFamily="2" charset="-78"/>
                  </a:rPr>
                  <a:t> </a:t>
                </a:r>
                <a:r>
                  <a:rPr lang="en-US" sz="3600" dirty="0" err="1">
                    <a:cs typeface="PT Bold Heading" panose="02010400000000000000" pitchFamily="2" charset="-78"/>
                  </a:rPr>
                  <a:t>فيديو</a:t>
                </a:r>
                <a:r>
                  <a:rPr lang="en-US" sz="3600" dirty="0">
                    <a:cs typeface="PT Bold Heading" panose="02010400000000000000" pitchFamily="2" charset="-78"/>
                  </a:rPr>
                  <a:t> </a:t>
                </a:r>
                <a:r>
                  <a:rPr lang="en-US" sz="3600" dirty="0" err="1">
                    <a:cs typeface="PT Bold Heading" panose="02010400000000000000" pitchFamily="2" charset="-78"/>
                  </a:rPr>
                  <a:t>يوتيوب</a:t>
                </a:r>
                <a:r>
                  <a:rPr lang="en-US" sz="3600" dirty="0">
                    <a:cs typeface="PT Bold Heading" panose="02010400000000000000" pitchFamily="2" charset="-78"/>
                  </a:rPr>
                  <a:t> .</a:t>
                </a:r>
              </a:p>
            </p:txBody>
          </p:sp>
        </p:grpSp>
        <p:cxnSp>
          <p:nvCxnSpPr>
            <p:cNvPr id="40" name="رابط مستقيم 39">
              <a:extLst>
                <a:ext uri="{FF2B5EF4-FFF2-40B4-BE49-F238E27FC236}">
                  <a16:creationId xmlns:a16="http://schemas.microsoft.com/office/drawing/2014/main" id="{45232753-C293-653A-52ED-2C69F1504A1E}"/>
                </a:ext>
              </a:extLst>
            </p:cNvPr>
            <p:cNvCxnSpPr>
              <a:cxnSpLocks/>
            </p:cNvCxnSpPr>
            <p:nvPr/>
          </p:nvCxnSpPr>
          <p:spPr>
            <a:xfrm flipH="1">
              <a:off x="1986614" y="7658100"/>
              <a:ext cx="15516000" cy="0"/>
            </a:xfrm>
            <a:prstGeom prst="line">
              <a:avLst/>
            </a:prstGeom>
            <a:ln w="28575">
              <a:solidFill>
                <a:srgbClr val="2A8D87"/>
              </a:solidFill>
            </a:ln>
          </p:spPr>
          <p:style>
            <a:lnRef idx="1">
              <a:schemeClr val="accent1"/>
            </a:lnRef>
            <a:fillRef idx="0">
              <a:schemeClr val="accent1"/>
            </a:fillRef>
            <a:effectRef idx="0">
              <a:schemeClr val="accent1"/>
            </a:effectRef>
            <a:fontRef idx="minor">
              <a:schemeClr val="tx1"/>
            </a:fontRef>
          </p:style>
        </p:cxnSp>
      </p:grpSp>
      <p:grpSp>
        <p:nvGrpSpPr>
          <p:cNvPr id="45" name="مجموعة 44">
            <a:extLst>
              <a:ext uri="{FF2B5EF4-FFF2-40B4-BE49-F238E27FC236}">
                <a16:creationId xmlns:a16="http://schemas.microsoft.com/office/drawing/2014/main" id="{6619512A-10FC-38E1-C2D9-351DF0175219}"/>
              </a:ext>
            </a:extLst>
          </p:cNvPr>
          <p:cNvGrpSpPr/>
          <p:nvPr/>
        </p:nvGrpSpPr>
        <p:grpSpPr>
          <a:xfrm>
            <a:off x="4876802" y="3095081"/>
            <a:ext cx="675820" cy="675820"/>
            <a:chOff x="5162453" y="5175617"/>
            <a:chExt cx="813078" cy="816723"/>
          </a:xfrm>
        </p:grpSpPr>
        <p:sp>
          <p:nvSpPr>
            <p:cNvPr id="46" name="Freeform 6">
              <a:extLst>
                <a:ext uri="{FF2B5EF4-FFF2-40B4-BE49-F238E27FC236}">
                  <a16:creationId xmlns:a16="http://schemas.microsoft.com/office/drawing/2014/main" id="{75CA10F3-544E-F75F-3FDC-6AB8C78A61D2}"/>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47" name="Freeform 15">
              <a:extLst>
                <a:ext uri="{FF2B5EF4-FFF2-40B4-BE49-F238E27FC236}">
                  <a16:creationId xmlns:a16="http://schemas.microsoft.com/office/drawing/2014/main" id="{E048113D-BAE6-A3F9-D1BA-1BC2A34B0F95}"/>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48" name="مجموعة 47">
            <a:extLst>
              <a:ext uri="{FF2B5EF4-FFF2-40B4-BE49-F238E27FC236}">
                <a16:creationId xmlns:a16="http://schemas.microsoft.com/office/drawing/2014/main" id="{26083E33-8564-62F1-4407-780311B9ECBA}"/>
              </a:ext>
            </a:extLst>
          </p:cNvPr>
          <p:cNvGrpSpPr/>
          <p:nvPr/>
        </p:nvGrpSpPr>
        <p:grpSpPr>
          <a:xfrm>
            <a:off x="2407444" y="4006053"/>
            <a:ext cx="675820" cy="675820"/>
            <a:chOff x="5162453" y="5175617"/>
            <a:chExt cx="813078" cy="816723"/>
          </a:xfrm>
        </p:grpSpPr>
        <p:sp>
          <p:nvSpPr>
            <p:cNvPr id="49" name="Freeform 6">
              <a:extLst>
                <a:ext uri="{FF2B5EF4-FFF2-40B4-BE49-F238E27FC236}">
                  <a16:creationId xmlns:a16="http://schemas.microsoft.com/office/drawing/2014/main" id="{C56D8D48-B4FA-F0FD-9EAE-3CED08AFA70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0" name="Freeform 15">
              <a:extLst>
                <a:ext uri="{FF2B5EF4-FFF2-40B4-BE49-F238E27FC236}">
                  <a16:creationId xmlns:a16="http://schemas.microsoft.com/office/drawing/2014/main" id="{7D068FAE-7514-5405-1051-AA4091FE920F}"/>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1" name="مجموعة 50">
            <a:extLst>
              <a:ext uri="{FF2B5EF4-FFF2-40B4-BE49-F238E27FC236}">
                <a16:creationId xmlns:a16="http://schemas.microsoft.com/office/drawing/2014/main" id="{C951E5CE-A2B1-3433-090D-FDD346A54A1A}"/>
              </a:ext>
            </a:extLst>
          </p:cNvPr>
          <p:cNvGrpSpPr/>
          <p:nvPr/>
        </p:nvGrpSpPr>
        <p:grpSpPr>
          <a:xfrm>
            <a:off x="4781129" y="5328534"/>
            <a:ext cx="675820" cy="675820"/>
            <a:chOff x="5162453" y="5175617"/>
            <a:chExt cx="813078" cy="816723"/>
          </a:xfrm>
        </p:grpSpPr>
        <p:sp>
          <p:nvSpPr>
            <p:cNvPr id="52" name="Freeform 6">
              <a:extLst>
                <a:ext uri="{FF2B5EF4-FFF2-40B4-BE49-F238E27FC236}">
                  <a16:creationId xmlns:a16="http://schemas.microsoft.com/office/drawing/2014/main" id="{88D827F1-16E7-5449-9B60-AA350AC9847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3" name="Freeform 15">
              <a:extLst>
                <a:ext uri="{FF2B5EF4-FFF2-40B4-BE49-F238E27FC236}">
                  <a16:creationId xmlns:a16="http://schemas.microsoft.com/office/drawing/2014/main" id="{5A98104F-5748-978A-C47C-EF8ADC956935}"/>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4" name="مجموعة 53">
            <a:extLst>
              <a:ext uri="{FF2B5EF4-FFF2-40B4-BE49-F238E27FC236}">
                <a16:creationId xmlns:a16="http://schemas.microsoft.com/office/drawing/2014/main" id="{08761452-0C6C-A23B-D3F3-BB9920C41D63}"/>
              </a:ext>
            </a:extLst>
          </p:cNvPr>
          <p:cNvGrpSpPr/>
          <p:nvPr/>
        </p:nvGrpSpPr>
        <p:grpSpPr>
          <a:xfrm>
            <a:off x="4800668" y="6856410"/>
            <a:ext cx="675820" cy="675820"/>
            <a:chOff x="5162453" y="5175617"/>
            <a:chExt cx="813078" cy="816723"/>
          </a:xfrm>
        </p:grpSpPr>
        <p:sp>
          <p:nvSpPr>
            <p:cNvPr id="55" name="Freeform 6">
              <a:extLst>
                <a:ext uri="{FF2B5EF4-FFF2-40B4-BE49-F238E27FC236}">
                  <a16:creationId xmlns:a16="http://schemas.microsoft.com/office/drawing/2014/main" id="{F39BF363-956C-65EF-54FD-2BACABD48D11}"/>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6" name="Freeform 15">
              <a:extLst>
                <a:ext uri="{FF2B5EF4-FFF2-40B4-BE49-F238E27FC236}">
                  <a16:creationId xmlns:a16="http://schemas.microsoft.com/office/drawing/2014/main" id="{6014F09B-46AB-7FFB-92A4-55B1B2D758A6}"/>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57" name="مجموعة 56">
            <a:extLst>
              <a:ext uri="{FF2B5EF4-FFF2-40B4-BE49-F238E27FC236}">
                <a16:creationId xmlns:a16="http://schemas.microsoft.com/office/drawing/2014/main" id="{995814FE-0224-4CAD-0F7E-6A91B3BEF3F6}"/>
              </a:ext>
            </a:extLst>
          </p:cNvPr>
          <p:cNvGrpSpPr/>
          <p:nvPr/>
        </p:nvGrpSpPr>
        <p:grpSpPr>
          <a:xfrm>
            <a:off x="2386430" y="8364503"/>
            <a:ext cx="675820" cy="675820"/>
            <a:chOff x="5162453" y="5175617"/>
            <a:chExt cx="813078" cy="816723"/>
          </a:xfrm>
        </p:grpSpPr>
        <p:sp>
          <p:nvSpPr>
            <p:cNvPr id="58" name="Freeform 6">
              <a:extLst>
                <a:ext uri="{FF2B5EF4-FFF2-40B4-BE49-F238E27FC236}">
                  <a16:creationId xmlns:a16="http://schemas.microsoft.com/office/drawing/2014/main" id="{9289B0C2-BCA7-03CD-89E8-B0005BFEC786}"/>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59" name="Freeform 15">
              <a:extLst>
                <a:ext uri="{FF2B5EF4-FFF2-40B4-BE49-F238E27FC236}">
                  <a16:creationId xmlns:a16="http://schemas.microsoft.com/office/drawing/2014/main" id="{43000B6E-61F2-B5CF-3535-E91E97FBF5C4}"/>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grpSp>
      <p:grpSp>
        <p:nvGrpSpPr>
          <p:cNvPr id="9" name="مجموعة 8">
            <a:extLst>
              <a:ext uri="{FF2B5EF4-FFF2-40B4-BE49-F238E27FC236}">
                <a16:creationId xmlns:a16="http://schemas.microsoft.com/office/drawing/2014/main" id="{2FA61371-6D52-C0D4-7044-7D78F665D290}"/>
              </a:ext>
            </a:extLst>
          </p:cNvPr>
          <p:cNvGrpSpPr/>
          <p:nvPr/>
        </p:nvGrpSpPr>
        <p:grpSpPr>
          <a:xfrm>
            <a:off x="6422517" y="1445973"/>
            <a:ext cx="10570083" cy="1226947"/>
            <a:chOff x="6651117" y="1325060"/>
            <a:chExt cx="10570083" cy="1226947"/>
          </a:xfrm>
        </p:grpSpPr>
        <p:sp>
          <p:nvSpPr>
            <p:cNvPr id="25" name="Freeform 20">
              <a:extLst>
                <a:ext uri="{FF2B5EF4-FFF2-40B4-BE49-F238E27FC236}">
                  <a16:creationId xmlns:a16="http://schemas.microsoft.com/office/drawing/2014/main" id="{1481BB64-1408-D94F-6C4F-34A3846BB1C0}"/>
                </a:ext>
              </a:extLst>
            </p:cNvPr>
            <p:cNvSpPr/>
            <p:nvPr/>
          </p:nvSpPr>
          <p:spPr>
            <a:xfrm>
              <a:off x="16815833" y="1325060"/>
              <a:ext cx="405367" cy="1226947"/>
            </a:xfrm>
            <a:custGeom>
              <a:avLst/>
              <a:gdLst/>
              <a:ahLst/>
              <a:cxnLst/>
              <a:rect l="l" t="t" r="r" b="b"/>
              <a:pathLst>
                <a:path w="195255" h="114065">
                  <a:moveTo>
                    <a:pt x="0" y="0"/>
                  </a:moveTo>
                  <a:lnTo>
                    <a:pt x="195255" y="0"/>
                  </a:lnTo>
                  <a:lnTo>
                    <a:pt x="195255" y="114065"/>
                  </a:lnTo>
                  <a:lnTo>
                    <a:pt x="0" y="114065"/>
                  </a:lnTo>
                  <a:close/>
                </a:path>
              </a:pathLst>
            </a:custGeom>
            <a:solidFill>
              <a:srgbClr val="1DA8A7"/>
            </a:solidFill>
            <a:ln>
              <a:noFill/>
            </a:ln>
          </p:spPr>
          <p:txBody>
            <a:bodyPr/>
            <a:lstStyle/>
            <a:p>
              <a:pPr algn="r" rtl="1"/>
              <a:endParaRPr lang="ar-SA">
                <a:cs typeface="PT Bold Heading" panose="02010400000000000000" pitchFamily="2" charset="-78"/>
              </a:endParaRPr>
            </a:p>
          </p:txBody>
        </p:sp>
        <p:sp>
          <p:nvSpPr>
            <p:cNvPr id="26" name="Freeform 17">
              <a:extLst>
                <a:ext uri="{FF2B5EF4-FFF2-40B4-BE49-F238E27FC236}">
                  <a16:creationId xmlns:a16="http://schemas.microsoft.com/office/drawing/2014/main" id="{4EE4A5A0-4D90-1B93-6CB9-FB2A2A18D348}"/>
                </a:ext>
              </a:extLst>
            </p:cNvPr>
            <p:cNvSpPr/>
            <p:nvPr/>
          </p:nvSpPr>
          <p:spPr>
            <a:xfrm>
              <a:off x="6781801" y="1325060"/>
              <a:ext cx="10058399" cy="1226947"/>
            </a:xfrm>
            <a:custGeom>
              <a:avLst/>
              <a:gdLst/>
              <a:ahLst/>
              <a:cxnLst/>
              <a:rect l="l" t="t" r="r" b="b"/>
              <a:pathLst>
                <a:path w="2570915" h="239228">
                  <a:moveTo>
                    <a:pt x="0" y="0"/>
                  </a:moveTo>
                  <a:lnTo>
                    <a:pt x="2570915" y="0"/>
                  </a:lnTo>
                  <a:lnTo>
                    <a:pt x="2570915" y="239228"/>
                  </a:lnTo>
                  <a:lnTo>
                    <a:pt x="0" y="239228"/>
                  </a:lnTo>
                  <a:close/>
                </a:path>
              </a:pathLst>
            </a:custGeom>
            <a:solidFill>
              <a:srgbClr val="2A8D87">
                <a:alpha val="17647"/>
              </a:srgbClr>
            </a:solidFill>
            <a:ln>
              <a:noFill/>
            </a:ln>
          </p:spPr>
          <p:txBody>
            <a:bodyPr/>
            <a:lstStyle/>
            <a:p>
              <a:pPr algn="r" rtl="1"/>
              <a:endParaRPr lang="ar-SA" dirty="0">
                <a:cs typeface="PT Bold Heading" panose="02010400000000000000" pitchFamily="2" charset="-78"/>
              </a:endParaRPr>
            </a:p>
          </p:txBody>
        </p:sp>
        <p:sp>
          <p:nvSpPr>
            <p:cNvPr id="35" name="TextBox 22">
              <a:extLst>
                <a:ext uri="{FF2B5EF4-FFF2-40B4-BE49-F238E27FC236}">
                  <a16:creationId xmlns:a16="http://schemas.microsoft.com/office/drawing/2014/main" id="{213E1571-408E-E57C-3C00-A1166F8B00F7}"/>
                </a:ext>
              </a:extLst>
            </p:cNvPr>
            <p:cNvSpPr txBox="1"/>
            <p:nvPr/>
          </p:nvSpPr>
          <p:spPr>
            <a:xfrm>
              <a:off x="6651117" y="1369517"/>
              <a:ext cx="9897119" cy="1088118"/>
            </a:xfrm>
            <a:prstGeom prst="rect">
              <a:avLst/>
            </a:prstGeom>
          </p:spPr>
          <p:txBody>
            <a:bodyPr wrap="square" lIns="0" tIns="0" rIns="0" bIns="0" rtlCol="0" anchor="t">
              <a:spAutoFit/>
            </a:bodyPr>
            <a:lstStyle/>
            <a:p>
              <a:pPr algn="r" rtl="1">
                <a:lnSpc>
                  <a:spcPts val="4257"/>
                </a:lnSpc>
              </a:pPr>
              <a:r>
                <a:rPr lang="ar-SA" sz="3200" dirty="0">
                  <a:solidFill>
                    <a:srgbClr val="C00000"/>
                  </a:solidFill>
                  <a:cs typeface="PT Bold Heading" panose="02010400000000000000" pitchFamily="2" charset="-78"/>
                </a:rPr>
                <a:t>صنفي </a:t>
              </a:r>
              <a:r>
                <a:rPr lang="en-US" sz="3200" dirty="0" err="1">
                  <a:solidFill>
                    <a:srgbClr val="C00000"/>
                  </a:solidFill>
                  <a:cs typeface="PT Bold Heading" panose="02010400000000000000" pitchFamily="2" charset="-78"/>
                </a:rPr>
                <a:t>آثار</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التعقب</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الرقمية</a:t>
              </a:r>
              <a:r>
                <a:rPr lang="en-US" sz="3200" dirty="0">
                  <a:solidFill>
                    <a:srgbClr val="C00000"/>
                  </a:solidFill>
                  <a:cs typeface="PT Bold Heading" panose="02010400000000000000" pitchFamily="2" charset="-78"/>
                </a:rPr>
                <a:t> </a:t>
              </a:r>
              <a:r>
                <a:rPr lang="ar-SA" sz="3200" dirty="0">
                  <a:solidFill>
                    <a:srgbClr val="C00000"/>
                  </a:solidFill>
                  <a:cs typeface="PT Bold Heading" panose="02010400000000000000" pitchFamily="2" charset="-78"/>
                </a:rPr>
                <a:t>إلى أ</a:t>
              </a:r>
              <a:r>
                <a:rPr lang="en-US" sz="3200" dirty="0" err="1">
                  <a:solidFill>
                    <a:srgbClr val="C00000"/>
                  </a:solidFill>
                  <a:cs typeface="PT Bold Heading" panose="02010400000000000000" pitchFamily="2" charset="-78"/>
                </a:rPr>
                <a:t>ثار</a:t>
              </a:r>
              <a:r>
                <a:rPr lang="en-US" sz="3200" dirty="0">
                  <a:solidFill>
                    <a:srgbClr val="C00000"/>
                  </a:solidFill>
                  <a:cs typeface="PT Bold Heading" panose="02010400000000000000" pitchFamily="2" charset="-78"/>
                </a:rPr>
                <a:t> </a:t>
              </a:r>
              <a:r>
                <a:rPr lang="ar-SA" sz="3200" dirty="0">
                  <a:solidFill>
                    <a:srgbClr val="C00000"/>
                  </a:solidFill>
                  <a:cs typeface="PT Bold Heading" panose="02010400000000000000" pitchFamily="2" charset="-78"/>
                </a:rPr>
                <a:t>م</a:t>
              </a:r>
              <a:r>
                <a:rPr lang="en-US" sz="3200" dirty="0" err="1">
                  <a:solidFill>
                    <a:srgbClr val="C00000"/>
                  </a:solidFill>
                  <a:cs typeface="PT Bold Heading" panose="02010400000000000000" pitchFamily="2" charset="-78"/>
                </a:rPr>
                <a:t>قصودة</a:t>
              </a:r>
              <a:r>
                <a:rPr lang="en-US" sz="3200" dirty="0">
                  <a:solidFill>
                    <a:srgbClr val="C00000"/>
                  </a:solidFill>
                  <a:cs typeface="PT Bold Heading" panose="02010400000000000000" pitchFamily="2" charset="-78"/>
                </a:rPr>
                <a:t> </a:t>
              </a:r>
              <a:r>
                <a:rPr lang="ar-SA" sz="3200" dirty="0">
                  <a:solidFill>
                    <a:srgbClr val="C00000"/>
                  </a:solidFill>
                  <a:cs typeface="PT Bold Heading" panose="02010400000000000000" pitchFamily="2" charset="-78"/>
                </a:rPr>
                <a:t>و</a:t>
              </a:r>
              <a:r>
                <a:rPr lang="en-US" sz="3200" dirty="0" err="1">
                  <a:solidFill>
                    <a:srgbClr val="C00000"/>
                  </a:solidFill>
                  <a:cs typeface="PT Bold Heading" panose="02010400000000000000" pitchFamily="2" charset="-78"/>
                </a:rPr>
                <a:t>مرئية</a:t>
              </a:r>
              <a:r>
                <a:rPr lang="en-US" sz="3200" dirty="0">
                  <a:solidFill>
                    <a:srgbClr val="C00000"/>
                  </a:solidFill>
                  <a:cs typeface="PT Bold Heading" panose="02010400000000000000" pitchFamily="2" charset="-78"/>
                </a:rPr>
                <a:t> </a:t>
              </a:r>
              <a:r>
                <a:rPr lang="ar-SA" sz="3200" dirty="0">
                  <a:solidFill>
                    <a:srgbClr val="C00000"/>
                  </a:solidFill>
                  <a:cs typeface="PT Bold Heading" panose="02010400000000000000" pitchFamily="2" charset="-78"/>
                </a:rPr>
                <a:t>أو </a:t>
              </a:r>
              <a:r>
                <a:rPr lang="en-US" sz="3200" dirty="0" err="1">
                  <a:solidFill>
                    <a:srgbClr val="C00000"/>
                  </a:solidFill>
                  <a:cs typeface="PT Bold Heading" panose="02010400000000000000" pitchFamily="2" charset="-78"/>
                </a:rPr>
                <a:t>آثار</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غير</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المقصودة</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وغير</a:t>
              </a:r>
              <a:r>
                <a:rPr lang="en-US" sz="3200" dirty="0">
                  <a:solidFill>
                    <a:srgbClr val="C00000"/>
                  </a:solidFill>
                  <a:cs typeface="PT Bold Heading" panose="02010400000000000000" pitchFamily="2" charset="-78"/>
                </a:rPr>
                <a:t> </a:t>
              </a:r>
              <a:r>
                <a:rPr lang="en-US" sz="3200" dirty="0" err="1">
                  <a:solidFill>
                    <a:srgbClr val="C00000"/>
                  </a:solidFill>
                  <a:cs typeface="PT Bold Heading" panose="02010400000000000000" pitchFamily="2" charset="-78"/>
                </a:rPr>
                <a:t>المرئية</a:t>
              </a:r>
              <a:r>
                <a:rPr lang="ar-SA" sz="3200" dirty="0">
                  <a:solidFill>
                    <a:srgbClr val="C00000"/>
                  </a:solidFill>
                  <a:cs typeface="PT Bold Heading" panose="02010400000000000000" pitchFamily="2" charset="-78"/>
                </a:rPr>
                <a:t> ؟</a:t>
              </a:r>
              <a:endParaRPr lang="en-US" sz="3200" dirty="0">
                <a:solidFill>
                  <a:srgbClr val="C00000"/>
                </a:solidFill>
                <a:cs typeface="PT Bold Heading" panose="02010400000000000000" pitchFamily="2" charset="-78"/>
              </a:endParaRPr>
            </a:p>
          </p:txBody>
        </p:sp>
      </p:grpSp>
    </p:spTree>
    <p:extLst>
      <p:ext uri="{BB962C8B-B14F-4D97-AF65-F5344CB8AC3E}">
        <p14:creationId xmlns:p14="http://schemas.microsoft.com/office/powerpoint/2010/main" val="145237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1000"/>
                                        <p:tgtEl>
                                          <p:spTgt spid="41"/>
                                        </p:tgtEl>
                                      </p:cBhvr>
                                    </p:animEffect>
                                    <p:anim calcmode="lin" valueType="num">
                                      <p:cBhvr>
                                        <p:cTn id="12" dur="1000" fill="hold"/>
                                        <p:tgtEl>
                                          <p:spTgt spid="41"/>
                                        </p:tgtEl>
                                        <p:attrNameLst>
                                          <p:attrName>ppt_x</p:attrName>
                                        </p:attrNameLst>
                                      </p:cBhvr>
                                      <p:tavLst>
                                        <p:tav tm="0">
                                          <p:val>
                                            <p:strVal val="#ppt_x"/>
                                          </p:val>
                                        </p:tav>
                                        <p:tav tm="100000">
                                          <p:val>
                                            <p:strVal val="#ppt_x"/>
                                          </p:val>
                                        </p:tav>
                                      </p:tavLst>
                                    </p:anim>
                                    <p:anim calcmode="lin" valueType="num">
                                      <p:cBhvr>
                                        <p:cTn id="1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1000"/>
                                        <p:tgtEl>
                                          <p:spTgt spid="45"/>
                                        </p:tgtEl>
                                      </p:cBhvr>
                                    </p:animEffect>
                                    <p:anim calcmode="lin" valueType="num">
                                      <p:cBhvr>
                                        <p:cTn id="19" dur="1000" fill="hold"/>
                                        <p:tgtEl>
                                          <p:spTgt spid="45"/>
                                        </p:tgtEl>
                                        <p:attrNameLst>
                                          <p:attrName>ppt_x</p:attrName>
                                        </p:attrNameLst>
                                      </p:cBhvr>
                                      <p:tavLst>
                                        <p:tav tm="0">
                                          <p:val>
                                            <p:strVal val="#ppt_x"/>
                                          </p:val>
                                        </p:tav>
                                        <p:tav tm="100000">
                                          <p:val>
                                            <p:strVal val="#ppt_x"/>
                                          </p:val>
                                        </p:tav>
                                      </p:tavLst>
                                    </p:anim>
                                    <p:anim calcmode="lin" valueType="num">
                                      <p:cBhvr>
                                        <p:cTn id="20" dur="1000" fill="hold"/>
                                        <p:tgtEl>
                                          <p:spTgt spid="45"/>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1000"/>
                                        <p:tgtEl>
                                          <p:spTgt spid="42"/>
                                        </p:tgtEl>
                                      </p:cBhvr>
                                    </p:animEffect>
                                    <p:anim calcmode="lin" valueType="num">
                                      <p:cBhvr>
                                        <p:cTn id="25" dur="1000" fill="hold"/>
                                        <p:tgtEl>
                                          <p:spTgt spid="42"/>
                                        </p:tgtEl>
                                        <p:attrNameLst>
                                          <p:attrName>ppt_x</p:attrName>
                                        </p:attrNameLst>
                                      </p:cBhvr>
                                      <p:tavLst>
                                        <p:tav tm="0">
                                          <p:val>
                                            <p:strVal val="#ppt_x"/>
                                          </p:val>
                                        </p:tav>
                                        <p:tav tm="100000">
                                          <p:val>
                                            <p:strVal val="#ppt_x"/>
                                          </p:val>
                                        </p:tav>
                                      </p:tavLst>
                                    </p:anim>
                                    <p:anim calcmode="lin" valueType="num">
                                      <p:cBhvr>
                                        <p:cTn id="26"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1000"/>
                                        <p:tgtEl>
                                          <p:spTgt spid="48"/>
                                        </p:tgtEl>
                                      </p:cBhvr>
                                    </p:animEffect>
                                    <p:anim calcmode="lin" valueType="num">
                                      <p:cBhvr>
                                        <p:cTn id="32" dur="1000" fill="hold"/>
                                        <p:tgtEl>
                                          <p:spTgt spid="48"/>
                                        </p:tgtEl>
                                        <p:attrNameLst>
                                          <p:attrName>ppt_x</p:attrName>
                                        </p:attrNameLst>
                                      </p:cBhvr>
                                      <p:tavLst>
                                        <p:tav tm="0">
                                          <p:val>
                                            <p:strVal val="#ppt_x"/>
                                          </p:val>
                                        </p:tav>
                                        <p:tav tm="100000">
                                          <p:val>
                                            <p:strVal val="#ppt_x"/>
                                          </p:val>
                                        </p:tav>
                                      </p:tavLst>
                                    </p:anim>
                                    <p:anim calcmode="lin" valueType="num">
                                      <p:cBhvr>
                                        <p:cTn id="33" dur="1000" fill="hold"/>
                                        <p:tgtEl>
                                          <p:spTgt spid="48"/>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1000"/>
                                        <p:tgtEl>
                                          <p:spTgt spid="43"/>
                                        </p:tgtEl>
                                      </p:cBhvr>
                                    </p:animEffect>
                                    <p:anim calcmode="lin" valueType="num">
                                      <p:cBhvr>
                                        <p:cTn id="38" dur="1000" fill="hold"/>
                                        <p:tgtEl>
                                          <p:spTgt spid="43"/>
                                        </p:tgtEl>
                                        <p:attrNameLst>
                                          <p:attrName>ppt_x</p:attrName>
                                        </p:attrNameLst>
                                      </p:cBhvr>
                                      <p:tavLst>
                                        <p:tav tm="0">
                                          <p:val>
                                            <p:strVal val="#ppt_x"/>
                                          </p:val>
                                        </p:tav>
                                        <p:tav tm="100000">
                                          <p:val>
                                            <p:strVal val="#ppt_x"/>
                                          </p:val>
                                        </p:tav>
                                      </p:tavLst>
                                    </p:anim>
                                    <p:anim calcmode="lin" valueType="num">
                                      <p:cBhvr>
                                        <p:cTn id="3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1000"/>
                                        <p:tgtEl>
                                          <p:spTgt spid="51"/>
                                        </p:tgtEl>
                                      </p:cBhvr>
                                    </p:animEffect>
                                    <p:anim calcmode="lin" valueType="num">
                                      <p:cBhvr>
                                        <p:cTn id="45" dur="1000" fill="hold"/>
                                        <p:tgtEl>
                                          <p:spTgt spid="51"/>
                                        </p:tgtEl>
                                        <p:attrNameLst>
                                          <p:attrName>ppt_x</p:attrName>
                                        </p:attrNameLst>
                                      </p:cBhvr>
                                      <p:tavLst>
                                        <p:tav tm="0">
                                          <p:val>
                                            <p:strVal val="#ppt_x"/>
                                          </p:val>
                                        </p:tav>
                                        <p:tav tm="100000">
                                          <p:val>
                                            <p:strVal val="#ppt_x"/>
                                          </p:val>
                                        </p:tav>
                                      </p:tavLst>
                                    </p:anim>
                                    <p:anim calcmode="lin" valueType="num">
                                      <p:cBhvr>
                                        <p:cTn id="46" dur="1000" fill="hold"/>
                                        <p:tgtEl>
                                          <p:spTgt spid="51"/>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42" presetClass="entr" presetSubtype="0" fill="hold" nodeType="after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1000"/>
                                        <p:tgtEl>
                                          <p:spTgt spid="44"/>
                                        </p:tgtEl>
                                      </p:cBhvr>
                                    </p:animEffect>
                                    <p:anim calcmode="lin" valueType="num">
                                      <p:cBhvr>
                                        <p:cTn id="51" dur="1000" fill="hold"/>
                                        <p:tgtEl>
                                          <p:spTgt spid="44"/>
                                        </p:tgtEl>
                                        <p:attrNameLst>
                                          <p:attrName>ppt_x</p:attrName>
                                        </p:attrNameLst>
                                      </p:cBhvr>
                                      <p:tavLst>
                                        <p:tav tm="0">
                                          <p:val>
                                            <p:strVal val="#ppt_x"/>
                                          </p:val>
                                        </p:tav>
                                        <p:tav tm="100000">
                                          <p:val>
                                            <p:strVal val="#ppt_x"/>
                                          </p:val>
                                        </p:tav>
                                      </p:tavLst>
                                    </p:anim>
                                    <p:anim calcmode="lin" valueType="num">
                                      <p:cBhvr>
                                        <p:cTn id="5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1000"/>
                                        <p:tgtEl>
                                          <p:spTgt spid="54"/>
                                        </p:tgtEl>
                                      </p:cBhvr>
                                    </p:animEffect>
                                    <p:anim calcmode="lin" valueType="num">
                                      <p:cBhvr>
                                        <p:cTn id="58" dur="1000" fill="hold"/>
                                        <p:tgtEl>
                                          <p:spTgt spid="54"/>
                                        </p:tgtEl>
                                        <p:attrNameLst>
                                          <p:attrName>ppt_x</p:attrName>
                                        </p:attrNameLst>
                                      </p:cBhvr>
                                      <p:tavLst>
                                        <p:tav tm="0">
                                          <p:val>
                                            <p:strVal val="#ppt_x"/>
                                          </p:val>
                                        </p:tav>
                                        <p:tav tm="100000">
                                          <p:val>
                                            <p:strVal val="#ppt_x"/>
                                          </p:val>
                                        </p:tav>
                                      </p:tavLst>
                                    </p:anim>
                                    <p:anim calcmode="lin" valueType="num">
                                      <p:cBhvr>
                                        <p:cTn id="59" dur="1000" fill="hold"/>
                                        <p:tgtEl>
                                          <p:spTgt spid="54"/>
                                        </p:tgtEl>
                                        <p:attrNameLst>
                                          <p:attrName>ppt_y</p:attrName>
                                        </p:attrNameLst>
                                      </p:cBhvr>
                                      <p:tavLst>
                                        <p:tav tm="0">
                                          <p:val>
                                            <p:strVal val="#ppt_y+.1"/>
                                          </p:val>
                                        </p:tav>
                                        <p:tav tm="100000">
                                          <p:val>
                                            <p:strVal val="#ppt_y"/>
                                          </p:val>
                                        </p:tav>
                                      </p:tavLst>
                                    </p:anim>
                                  </p:childTnLst>
                                </p:cTn>
                              </p:par>
                            </p:childTnLst>
                          </p:cTn>
                        </p:par>
                        <p:par>
                          <p:cTn id="60" fill="hold">
                            <p:stCondLst>
                              <p:cond delay="1000"/>
                            </p:stCondLst>
                            <p:childTnLst>
                              <p:par>
                                <p:cTn id="61" presetID="42"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anim calcmode="lin" valueType="num">
                                      <p:cBhvr>
                                        <p:cTn id="64" dur="1000" fill="hold"/>
                                        <p:tgtEl>
                                          <p:spTgt spid="19"/>
                                        </p:tgtEl>
                                        <p:attrNameLst>
                                          <p:attrName>ppt_x</p:attrName>
                                        </p:attrNameLst>
                                      </p:cBhvr>
                                      <p:tavLst>
                                        <p:tav tm="0">
                                          <p:val>
                                            <p:strVal val="#ppt_x"/>
                                          </p:val>
                                        </p:tav>
                                        <p:tav tm="100000">
                                          <p:val>
                                            <p:strVal val="#ppt_x"/>
                                          </p:val>
                                        </p:tav>
                                      </p:tavLst>
                                    </p:anim>
                                    <p:anim calcmode="lin" valueType="num">
                                      <p:cBhvr>
                                        <p:cTn id="6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1000"/>
                                        <p:tgtEl>
                                          <p:spTgt spid="57"/>
                                        </p:tgtEl>
                                      </p:cBhvr>
                                    </p:animEffect>
                                    <p:anim calcmode="lin" valueType="num">
                                      <p:cBhvr>
                                        <p:cTn id="71" dur="1000" fill="hold"/>
                                        <p:tgtEl>
                                          <p:spTgt spid="57"/>
                                        </p:tgtEl>
                                        <p:attrNameLst>
                                          <p:attrName>ppt_x</p:attrName>
                                        </p:attrNameLst>
                                      </p:cBhvr>
                                      <p:tavLst>
                                        <p:tav tm="0">
                                          <p:val>
                                            <p:strVal val="#ppt_x"/>
                                          </p:val>
                                        </p:tav>
                                        <p:tav tm="100000">
                                          <p:val>
                                            <p:strVal val="#ppt_x"/>
                                          </p:val>
                                        </p:tav>
                                      </p:tavLst>
                                    </p:anim>
                                    <p:anim calcmode="lin" valueType="num">
                                      <p:cBhvr>
                                        <p:cTn id="72"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مجموعة 41">
            <a:extLst>
              <a:ext uri="{FF2B5EF4-FFF2-40B4-BE49-F238E27FC236}">
                <a16:creationId xmlns:a16="http://schemas.microsoft.com/office/drawing/2014/main" id="{0904CDD0-D004-4E7E-C07E-B6E820C0751D}"/>
              </a:ext>
            </a:extLst>
          </p:cNvPr>
          <p:cNvGrpSpPr/>
          <p:nvPr/>
        </p:nvGrpSpPr>
        <p:grpSpPr>
          <a:xfrm>
            <a:off x="1981200" y="3924300"/>
            <a:ext cx="15131060" cy="685800"/>
            <a:chOff x="2184857" y="3314700"/>
            <a:chExt cx="15131060" cy="685800"/>
          </a:xfrm>
        </p:grpSpPr>
        <p:sp>
          <p:nvSpPr>
            <p:cNvPr id="17" name="TextBox 17"/>
            <p:cNvSpPr txBox="1"/>
            <p:nvPr/>
          </p:nvSpPr>
          <p:spPr>
            <a:xfrm>
              <a:off x="2184857" y="3377273"/>
              <a:ext cx="14578874" cy="600164"/>
            </a:xfrm>
            <a:prstGeom prst="rect">
              <a:avLst/>
            </a:prstGeom>
          </p:spPr>
          <p:txBody>
            <a:bodyPr lIns="0" tIns="0" rIns="0" bIns="0" rtlCol="0" anchor="t">
              <a:spAutoFit/>
            </a:bodyPr>
            <a:lstStyle/>
            <a:p>
              <a:pPr algn="r" rtl="1">
                <a:lnSpc>
                  <a:spcPts val="4829"/>
                </a:lnSpc>
              </a:pPr>
              <a:r>
                <a:rPr lang="en-US" sz="3600" dirty="0" err="1">
                  <a:solidFill>
                    <a:srgbClr val="000000"/>
                  </a:solidFill>
                  <a:cs typeface="PT Bold Heading" panose="02010400000000000000" pitchFamily="2" charset="-78"/>
                </a:rPr>
                <a:t>اجيبي</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بعلامة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أمام</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الإجابة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الصحيحة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وعلامة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أمام</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الإجابة</a:t>
              </a:r>
              <a:r>
                <a:rPr lang="en-US" sz="3600" dirty="0">
                  <a:solidFill>
                    <a:srgbClr val="000000"/>
                  </a:solidFill>
                  <a:cs typeface="PT Bold Heading" panose="02010400000000000000" pitchFamily="2" charset="-78"/>
                </a:rPr>
                <a:t> </a:t>
              </a:r>
              <a:r>
                <a:rPr lang="en-US" sz="3600" dirty="0" err="1">
                  <a:solidFill>
                    <a:srgbClr val="000000"/>
                  </a:solidFill>
                  <a:cs typeface="PT Bold Heading" panose="02010400000000000000" pitchFamily="2" charset="-78"/>
                </a:rPr>
                <a:t>الخاطئة</a:t>
              </a:r>
              <a:r>
                <a:rPr lang="en-US" sz="3600" dirty="0">
                  <a:solidFill>
                    <a:srgbClr val="000000"/>
                  </a:solidFill>
                  <a:cs typeface="PT Bold Heading" panose="02010400000000000000" pitchFamily="2" charset="-78"/>
                </a:rPr>
                <a:t> ؟</a:t>
              </a:r>
            </a:p>
          </p:txBody>
        </p:sp>
        <p:sp>
          <p:nvSpPr>
            <p:cNvPr id="18" name="Freeform 18"/>
            <p:cNvSpPr/>
            <p:nvPr/>
          </p:nvSpPr>
          <p:spPr>
            <a:xfrm>
              <a:off x="13874457" y="3314700"/>
              <a:ext cx="503776" cy="600165"/>
            </a:xfrm>
            <a:custGeom>
              <a:avLst/>
              <a:gdLst/>
              <a:ahLst/>
              <a:cxnLst/>
              <a:rect l="l" t="t" r="r" b="b"/>
              <a:pathLst>
                <a:path w="736107" h="552080">
                  <a:moveTo>
                    <a:pt x="0" y="0"/>
                  </a:moveTo>
                  <a:lnTo>
                    <a:pt x="736107" y="0"/>
                  </a:lnTo>
                  <a:lnTo>
                    <a:pt x="736107" y="552080"/>
                  </a:lnTo>
                  <a:lnTo>
                    <a:pt x="0" y="5520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sz="2800" dirty="0">
                <a:solidFill>
                  <a:srgbClr val="2A8D87"/>
                </a:solidFill>
                <a:cs typeface="PT Bold Heading" panose="02010400000000000000" pitchFamily="2" charset="-78"/>
              </a:endParaRPr>
            </a:p>
          </p:txBody>
        </p:sp>
        <p:sp>
          <p:nvSpPr>
            <p:cNvPr id="19" name="Freeform 19"/>
            <p:cNvSpPr/>
            <p:nvPr/>
          </p:nvSpPr>
          <p:spPr>
            <a:xfrm>
              <a:off x="8487824" y="3400336"/>
              <a:ext cx="351376" cy="600164"/>
            </a:xfrm>
            <a:custGeom>
              <a:avLst/>
              <a:gdLst/>
              <a:ahLst/>
              <a:cxnLst/>
              <a:rect l="l" t="t" r="r" b="b"/>
              <a:pathLst>
                <a:path w="538031" h="539380">
                  <a:moveTo>
                    <a:pt x="0" y="0"/>
                  </a:moveTo>
                  <a:lnTo>
                    <a:pt x="538032" y="0"/>
                  </a:lnTo>
                  <a:lnTo>
                    <a:pt x="538032" y="539380"/>
                  </a:lnTo>
                  <a:lnTo>
                    <a:pt x="0" y="5393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sz="2800">
                <a:solidFill>
                  <a:srgbClr val="FF0000"/>
                </a:solidFill>
                <a:cs typeface="PT Bold Heading" panose="02010400000000000000" pitchFamily="2" charset="-78"/>
              </a:endParaRPr>
            </a:p>
          </p:txBody>
        </p:sp>
        <p:sp>
          <p:nvSpPr>
            <p:cNvPr id="20" name="Freeform 20"/>
            <p:cNvSpPr/>
            <p:nvPr/>
          </p:nvSpPr>
          <p:spPr>
            <a:xfrm>
              <a:off x="16903542" y="3369558"/>
              <a:ext cx="412375" cy="630942"/>
            </a:xfrm>
            <a:custGeom>
              <a:avLst/>
              <a:gdLst/>
              <a:ahLst/>
              <a:cxnLst/>
              <a:rect l="l" t="t" r="r" b="b"/>
              <a:pathLst>
                <a:path w="570306" h="720766">
                  <a:moveTo>
                    <a:pt x="0" y="0"/>
                  </a:moveTo>
                  <a:lnTo>
                    <a:pt x="570305" y="0"/>
                  </a:lnTo>
                  <a:lnTo>
                    <a:pt x="570305" y="720766"/>
                  </a:lnTo>
                  <a:lnTo>
                    <a:pt x="0" y="7207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algn="r" rtl="1"/>
              <a:endParaRPr lang="ar-SA" sz="2800">
                <a:cs typeface="PT Bold Heading" panose="02010400000000000000" pitchFamily="2" charset="-78"/>
              </a:endParaRPr>
            </a:p>
          </p:txBody>
        </p:sp>
      </p:grpSp>
      <p:grpSp>
        <p:nvGrpSpPr>
          <p:cNvPr id="51" name="مجموعة 50">
            <a:extLst>
              <a:ext uri="{FF2B5EF4-FFF2-40B4-BE49-F238E27FC236}">
                <a16:creationId xmlns:a16="http://schemas.microsoft.com/office/drawing/2014/main" id="{DE6BFCD1-7641-3BA3-25FE-0C05379BB75F}"/>
              </a:ext>
            </a:extLst>
          </p:cNvPr>
          <p:cNvGrpSpPr/>
          <p:nvPr/>
        </p:nvGrpSpPr>
        <p:grpSpPr>
          <a:xfrm>
            <a:off x="2019632" y="5031519"/>
            <a:ext cx="15711397" cy="1121007"/>
            <a:chOff x="2362201" y="4504393"/>
            <a:chExt cx="15711397" cy="1121007"/>
          </a:xfrm>
        </p:grpSpPr>
        <p:sp>
          <p:nvSpPr>
            <p:cNvPr id="3" name="Freeform 3"/>
            <p:cNvSpPr/>
            <p:nvPr/>
          </p:nvSpPr>
          <p:spPr>
            <a:xfrm>
              <a:off x="2362201" y="4510959"/>
              <a:ext cx="15085827" cy="1114441"/>
            </a:xfrm>
            <a:custGeom>
              <a:avLst/>
              <a:gdLst/>
              <a:ahLst/>
              <a:cxnLst/>
              <a:rect l="l" t="t" r="r" b="b"/>
              <a:pathLst>
                <a:path w="2811621" h="259413">
                  <a:moveTo>
                    <a:pt x="7169" y="0"/>
                  </a:moveTo>
                  <a:lnTo>
                    <a:pt x="2804452" y="0"/>
                  </a:lnTo>
                  <a:cubicBezTo>
                    <a:pt x="2806353" y="0"/>
                    <a:pt x="2808177" y="755"/>
                    <a:pt x="2809521" y="2100"/>
                  </a:cubicBezTo>
                  <a:cubicBezTo>
                    <a:pt x="2810866" y="3444"/>
                    <a:pt x="2811621" y="5268"/>
                    <a:pt x="2811621" y="7169"/>
                  </a:cubicBezTo>
                  <a:lnTo>
                    <a:pt x="2811621" y="252244"/>
                  </a:lnTo>
                  <a:cubicBezTo>
                    <a:pt x="2811621" y="254146"/>
                    <a:pt x="2810866" y="255969"/>
                    <a:pt x="2809521" y="257313"/>
                  </a:cubicBezTo>
                  <a:cubicBezTo>
                    <a:pt x="2808177" y="258658"/>
                    <a:pt x="2806353" y="259413"/>
                    <a:pt x="2804452" y="259413"/>
                  </a:cubicBezTo>
                  <a:lnTo>
                    <a:pt x="7169" y="259413"/>
                  </a:lnTo>
                  <a:cubicBezTo>
                    <a:pt x="5268" y="259413"/>
                    <a:pt x="3444" y="258658"/>
                    <a:pt x="2100" y="257313"/>
                  </a:cubicBezTo>
                  <a:cubicBezTo>
                    <a:pt x="755" y="255969"/>
                    <a:pt x="0" y="254146"/>
                    <a:pt x="0" y="252244"/>
                  </a:cubicBezTo>
                  <a:lnTo>
                    <a:pt x="0" y="7169"/>
                  </a:lnTo>
                  <a:cubicBezTo>
                    <a:pt x="0" y="5268"/>
                    <a:pt x="755" y="3444"/>
                    <a:pt x="2100" y="2100"/>
                  </a:cubicBezTo>
                  <a:cubicBezTo>
                    <a:pt x="3444" y="755"/>
                    <a:pt x="5268" y="0"/>
                    <a:pt x="7169" y="0"/>
                  </a:cubicBezTo>
                  <a:close/>
                </a:path>
              </a:pathLst>
            </a:custGeom>
            <a:solidFill>
              <a:srgbClr val="FFF0C8">
                <a:alpha val="50980"/>
              </a:srgbClr>
            </a:solidFill>
            <a:ln>
              <a:noFill/>
            </a:ln>
          </p:spPr>
          <p:txBody>
            <a:bodyPr/>
            <a:lstStyle/>
            <a:p>
              <a:pPr algn="ctr" rtl="1"/>
              <a:endParaRPr lang="ar-SA" sz="1050" dirty="0">
                <a:cs typeface="PT Bold Heading" panose="02010400000000000000" pitchFamily="2" charset="-78"/>
              </a:endParaRPr>
            </a:p>
          </p:txBody>
        </p:sp>
        <p:grpSp>
          <p:nvGrpSpPr>
            <p:cNvPr id="33" name="Group 33"/>
            <p:cNvGrpSpPr/>
            <p:nvPr/>
          </p:nvGrpSpPr>
          <p:grpSpPr>
            <a:xfrm>
              <a:off x="17184398" y="4504393"/>
              <a:ext cx="889200" cy="1096015"/>
              <a:chOff x="0" y="0"/>
              <a:chExt cx="1022912" cy="1010894"/>
            </a:xfrm>
          </p:grpSpPr>
          <p:sp>
            <p:nvSpPr>
              <p:cNvPr id="35" name="Freeform 35"/>
              <p:cNvSpPr/>
              <p:nvPr/>
            </p:nvSpPr>
            <p:spPr>
              <a:xfrm>
                <a:off x="0" y="0"/>
                <a:ext cx="1022912" cy="1010894"/>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37" name="TextBox 37"/>
              <p:cNvSpPr txBox="1"/>
              <p:nvPr/>
            </p:nvSpPr>
            <p:spPr>
              <a:xfrm>
                <a:off x="71198" y="281790"/>
                <a:ext cx="859298" cy="617425"/>
              </a:xfrm>
              <a:prstGeom prst="rect">
                <a:avLst/>
              </a:prstGeom>
            </p:spPr>
            <p:txBody>
              <a:bodyPr lIns="0" tIns="0" rIns="0" bIns="0" rtlCol="0" anchor="t">
                <a:spAutoFit/>
              </a:bodyPr>
              <a:lstStyle/>
              <a:p>
                <a:pPr algn="ctr" rtl="1">
                  <a:lnSpc>
                    <a:spcPts val="4771"/>
                  </a:lnSpc>
                </a:pPr>
                <a:r>
                  <a:rPr lang="en-US" sz="5400" b="1" dirty="0">
                    <a:solidFill>
                      <a:srgbClr val="000000"/>
                    </a:solidFill>
                    <a:latin typeface="PT Bold Heading"/>
                    <a:cs typeface="PT Bold Heading" panose="02010400000000000000" pitchFamily="2" charset="-78"/>
                  </a:rPr>
                  <a:t>1</a:t>
                </a:r>
              </a:p>
            </p:txBody>
          </p:sp>
        </p:grpSp>
      </p:grpSp>
      <p:grpSp>
        <p:nvGrpSpPr>
          <p:cNvPr id="7" name="مجموعة 6">
            <a:extLst>
              <a:ext uri="{FF2B5EF4-FFF2-40B4-BE49-F238E27FC236}">
                <a16:creationId xmlns:a16="http://schemas.microsoft.com/office/drawing/2014/main" id="{9723AF6C-A0BD-40CF-E88A-7654B9E8CEC7}"/>
              </a:ext>
            </a:extLst>
          </p:cNvPr>
          <p:cNvGrpSpPr/>
          <p:nvPr/>
        </p:nvGrpSpPr>
        <p:grpSpPr>
          <a:xfrm>
            <a:off x="8842200" y="2400300"/>
            <a:ext cx="9448801" cy="1300381"/>
            <a:chOff x="9067800" y="1599556"/>
            <a:chExt cx="9448801" cy="1300381"/>
          </a:xfrm>
        </p:grpSpPr>
        <p:sp>
          <p:nvSpPr>
            <p:cNvPr id="5" name="مستطيل 4">
              <a:extLst>
                <a:ext uri="{FF2B5EF4-FFF2-40B4-BE49-F238E27FC236}">
                  <a16:creationId xmlns:a16="http://schemas.microsoft.com/office/drawing/2014/main" id="{C8F48BB8-5C07-D13C-5114-9810F3499DDA}"/>
                </a:ext>
              </a:extLst>
            </p:cNvPr>
            <p:cNvSpPr/>
            <p:nvPr/>
          </p:nvSpPr>
          <p:spPr>
            <a:xfrm>
              <a:off x="9232314" y="1707356"/>
              <a:ext cx="2286000" cy="1101694"/>
            </a:xfrm>
            <a:prstGeom prst="rect">
              <a:avLst/>
            </a:prstGeom>
            <a:solidFill>
              <a:srgbClr val="2A8D87"/>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4" name="مستطيل 3">
              <a:extLst>
                <a:ext uri="{FF2B5EF4-FFF2-40B4-BE49-F238E27FC236}">
                  <a16:creationId xmlns:a16="http://schemas.microsoft.com/office/drawing/2014/main" id="{FC0A0C6C-0F35-BC44-5CC6-B69A7AC5A68A}"/>
                </a:ext>
              </a:extLst>
            </p:cNvPr>
            <p:cNvSpPr/>
            <p:nvPr/>
          </p:nvSpPr>
          <p:spPr>
            <a:xfrm>
              <a:off x="16230601" y="1686974"/>
              <a:ext cx="2286000" cy="1121762"/>
            </a:xfrm>
            <a:prstGeom prst="rect">
              <a:avLst/>
            </a:prstGeom>
            <a:solidFill>
              <a:srgbClr val="FFE19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26" name="Freeform 26"/>
            <p:cNvSpPr/>
            <p:nvPr/>
          </p:nvSpPr>
          <p:spPr>
            <a:xfrm>
              <a:off x="11259901" y="1707356"/>
              <a:ext cx="5619506" cy="1101379"/>
            </a:xfrm>
            <a:custGeom>
              <a:avLst/>
              <a:gdLst/>
              <a:ahLst/>
              <a:cxnLst/>
              <a:rect l="l" t="t" r="r" b="b"/>
              <a:pathLst>
                <a:path w="2270302" h="254664">
                  <a:moveTo>
                    <a:pt x="8673" y="0"/>
                  </a:moveTo>
                  <a:lnTo>
                    <a:pt x="2261628" y="0"/>
                  </a:lnTo>
                  <a:cubicBezTo>
                    <a:pt x="2263929" y="0"/>
                    <a:pt x="2266135" y="914"/>
                    <a:pt x="2267761" y="2540"/>
                  </a:cubicBezTo>
                  <a:cubicBezTo>
                    <a:pt x="2269388" y="4167"/>
                    <a:pt x="2270302" y="6373"/>
                    <a:pt x="2270302" y="8673"/>
                  </a:cubicBezTo>
                  <a:lnTo>
                    <a:pt x="2270302" y="245991"/>
                  </a:lnTo>
                  <a:cubicBezTo>
                    <a:pt x="2270302" y="250781"/>
                    <a:pt x="2266418" y="254664"/>
                    <a:pt x="2261628" y="254664"/>
                  </a:cubicBezTo>
                  <a:lnTo>
                    <a:pt x="8673" y="254664"/>
                  </a:lnTo>
                  <a:cubicBezTo>
                    <a:pt x="3883" y="254664"/>
                    <a:pt x="0" y="250781"/>
                    <a:pt x="0" y="245991"/>
                  </a:cubicBezTo>
                  <a:lnTo>
                    <a:pt x="0" y="8673"/>
                  </a:lnTo>
                  <a:cubicBezTo>
                    <a:pt x="0" y="3883"/>
                    <a:pt x="3883" y="0"/>
                    <a:pt x="8673" y="0"/>
                  </a:cubicBezTo>
                  <a:close/>
                </a:path>
              </a:pathLst>
            </a:custGeom>
            <a:solidFill>
              <a:srgbClr val="FFFFFF"/>
            </a:solidFill>
            <a:ln w="38100">
              <a:solidFill>
                <a:srgbClr val="2EB086"/>
              </a:solidFill>
            </a:ln>
          </p:spPr>
          <p:txBody>
            <a:bodyPr/>
            <a:lstStyle/>
            <a:p>
              <a:pPr algn="r" rtl="1"/>
              <a:endParaRPr lang="ar-SA">
                <a:cs typeface="PT Bold Heading" panose="02010400000000000000" pitchFamily="2" charset="-78"/>
              </a:endParaRPr>
            </a:p>
          </p:txBody>
        </p:sp>
        <p:sp>
          <p:nvSpPr>
            <p:cNvPr id="31" name="TextBox 31"/>
            <p:cNvSpPr txBox="1"/>
            <p:nvPr/>
          </p:nvSpPr>
          <p:spPr>
            <a:xfrm>
              <a:off x="11851198" y="1686974"/>
              <a:ext cx="4046519" cy="988476"/>
            </a:xfrm>
            <a:prstGeom prst="rect">
              <a:avLst/>
            </a:prstGeom>
          </p:spPr>
          <p:txBody>
            <a:bodyPr lIns="0" tIns="0" rIns="0" bIns="0" rtlCol="0" anchor="t">
              <a:spAutoFit/>
            </a:bodyPr>
            <a:lstStyle/>
            <a:p>
              <a:pPr algn="ctr" rtl="1">
                <a:lnSpc>
                  <a:spcPts val="7970"/>
                </a:lnSpc>
              </a:pPr>
              <a:r>
                <a:rPr lang="en-US" sz="5693" dirty="0" err="1">
                  <a:solidFill>
                    <a:srgbClr val="000000"/>
                  </a:solidFill>
                  <a:cs typeface="PT Bold Heading" panose="02010400000000000000" pitchFamily="2" charset="-78"/>
                </a:rPr>
                <a:t>تقويم</a:t>
              </a:r>
              <a:r>
                <a:rPr lang="en-US" sz="5693" dirty="0">
                  <a:solidFill>
                    <a:srgbClr val="000000"/>
                  </a:solidFill>
                  <a:cs typeface="PT Bold Heading" panose="02010400000000000000" pitchFamily="2" charset="-78"/>
                </a:rPr>
                <a:t> </a:t>
              </a:r>
              <a:r>
                <a:rPr lang="ar-SA" sz="5693" dirty="0">
                  <a:solidFill>
                    <a:srgbClr val="000000"/>
                  </a:solidFill>
                  <a:cs typeface="PT Bold Heading" panose="02010400000000000000" pitchFamily="2" charset="-78"/>
                </a:rPr>
                <a:t>ختامي</a:t>
              </a:r>
              <a:r>
                <a:rPr lang="en-US" sz="5693" dirty="0">
                  <a:solidFill>
                    <a:srgbClr val="000000"/>
                  </a:solidFill>
                  <a:cs typeface="PT Bold Heading" panose="02010400000000000000" pitchFamily="2" charset="-78"/>
                </a:rPr>
                <a:t> </a:t>
              </a:r>
            </a:p>
          </p:txBody>
        </p:sp>
        <p:sp>
          <p:nvSpPr>
            <p:cNvPr id="32" name="TextBox 32"/>
            <p:cNvSpPr txBox="1"/>
            <p:nvPr/>
          </p:nvSpPr>
          <p:spPr>
            <a:xfrm>
              <a:off x="10357974" y="1747794"/>
              <a:ext cx="616134" cy="988476"/>
            </a:xfrm>
            <a:prstGeom prst="rect">
              <a:avLst/>
            </a:prstGeom>
          </p:spPr>
          <p:txBody>
            <a:bodyPr lIns="0" tIns="0" rIns="0" bIns="0" rtlCol="0" anchor="t">
              <a:spAutoFit/>
            </a:bodyPr>
            <a:lstStyle/>
            <a:p>
              <a:pPr algn="ctr" rtl="1">
                <a:lnSpc>
                  <a:spcPts val="7970"/>
                </a:lnSpc>
              </a:pPr>
              <a:r>
                <a:rPr lang="en-US" sz="5693" dirty="0">
                  <a:solidFill>
                    <a:srgbClr val="FFFFFF"/>
                  </a:solidFill>
                  <a:latin typeface="PT Bold Heading"/>
                  <a:cs typeface="PT Bold Heading" panose="02010400000000000000" pitchFamily="2" charset="-78"/>
                </a:rPr>
                <a:t>1</a:t>
              </a:r>
            </a:p>
          </p:txBody>
        </p:sp>
        <p:sp>
          <p:nvSpPr>
            <p:cNvPr id="47" name="Freeform 47"/>
            <p:cNvSpPr/>
            <p:nvPr/>
          </p:nvSpPr>
          <p:spPr>
            <a:xfrm>
              <a:off x="9067800" y="1599556"/>
              <a:ext cx="1125660" cy="1300381"/>
            </a:xfrm>
            <a:custGeom>
              <a:avLst/>
              <a:gdLst/>
              <a:ahLst/>
              <a:cxnLst/>
              <a:rect l="l" t="t" r="r" b="b"/>
              <a:pathLst>
                <a:path w="3760645" h="4027465">
                  <a:moveTo>
                    <a:pt x="0" y="0"/>
                  </a:moveTo>
                  <a:lnTo>
                    <a:pt x="3760645" y="0"/>
                  </a:lnTo>
                  <a:lnTo>
                    <a:pt x="3760645" y="4027465"/>
                  </a:lnTo>
                  <a:lnTo>
                    <a:pt x="0" y="40274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algn="r" rtl="1"/>
              <a:endParaRPr lang="ar-SA" dirty="0">
                <a:cs typeface="PT Bold Heading" panose="02010400000000000000" pitchFamily="2" charset="-78"/>
              </a:endParaRPr>
            </a:p>
          </p:txBody>
        </p:sp>
      </p:grpSp>
      <p:grpSp>
        <p:nvGrpSpPr>
          <p:cNvPr id="6" name="مجموعة 5">
            <a:extLst>
              <a:ext uri="{FF2B5EF4-FFF2-40B4-BE49-F238E27FC236}">
                <a16:creationId xmlns:a16="http://schemas.microsoft.com/office/drawing/2014/main" id="{542F94B9-9BF0-3F6B-BCB0-C4465921810D}"/>
              </a:ext>
            </a:extLst>
          </p:cNvPr>
          <p:cNvGrpSpPr/>
          <p:nvPr/>
        </p:nvGrpSpPr>
        <p:grpSpPr>
          <a:xfrm>
            <a:off x="1431471" y="5074190"/>
            <a:ext cx="993600" cy="993600"/>
            <a:chOff x="5162453" y="5175617"/>
            <a:chExt cx="813078" cy="816723"/>
          </a:xfrm>
        </p:grpSpPr>
        <p:sp>
          <p:nvSpPr>
            <p:cNvPr id="9" name="Freeform 6">
              <a:extLst>
                <a:ext uri="{FF2B5EF4-FFF2-40B4-BE49-F238E27FC236}">
                  <a16:creationId xmlns:a16="http://schemas.microsoft.com/office/drawing/2014/main" id="{F3A7C4AB-8F3B-9B06-8A46-0CC08CDB472D}"/>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12" name="Freeform 15">
              <a:extLst>
                <a:ext uri="{FF2B5EF4-FFF2-40B4-BE49-F238E27FC236}">
                  <a16:creationId xmlns:a16="http://schemas.microsoft.com/office/drawing/2014/main" id="{CC98E9F9-6864-46F4-4CF5-F15EC2F5CB82}"/>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algn="r" rtl="1"/>
              <a:endParaRPr lang="ar-SA">
                <a:cs typeface="PT Bold Heading" panose="02010400000000000000" pitchFamily="2" charset="-78"/>
              </a:endParaRPr>
            </a:p>
          </p:txBody>
        </p:sp>
      </p:grpSp>
      <p:grpSp>
        <p:nvGrpSpPr>
          <p:cNvPr id="44" name="مجموعة 43">
            <a:extLst>
              <a:ext uri="{FF2B5EF4-FFF2-40B4-BE49-F238E27FC236}">
                <a16:creationId xmlns:a16="http://schemas.microsoft.com/office/drawing/2014/main" id="{0796648B-A3D6-FAD1-816E-1059C9601960}"/>
              </a:ext>
            </a:extLst>
          </p:cNvPr>
          <p:cNvGrpSpPr/>
          <p:nvPr/>
        </p:nvGrpSpPr>
        <p:grpSpPr>
          <a:xfrm>
            <a:off x="2019632" y="6451205"/>
            <a:ext cx="15711397" cy="1206895"/>
            <a:chOff x="2362201" y="4504393"/>
            <a:chExt cx="15711397" cy="1206895"/>
          </a:xfrm>
        </p:grpSpPr>
        <p:sp>
          <p:nvSpPr>
            <p:cNvPr id="46" name="Freeform 3">
              <a:extLst>
                <a:ext uri="{FF2B5EF4-FFF2-40B4-BE49-F238E27FC236}">
                  <a16:creationId xmlns:a16="http://schemas.microsoft.com/office/drawing/2014/main" id="{C0520C85-1484-6A8A-1C2F-87C73741601E}"/>
                </a:ext>
              </a:extLst>
            </p:cNvPr>
            <p:cNvSpPr/>
            <p:nvPr/>
          </p:nvSpPr>
          <p:spPr>
            <a:xfrm>
              <a:off x="2362201" y="4510959"/>
              <a:ext cx="15085827" cy="1200329"/>
            </a:xfrm>
            <a:custGeom>
              <a:avLst/>
              <a:gdLst/>
              <a:ahLst/>
              <a:cxnLst/>
              <a:rect l="l" t="t" r="r" b="b"/>
              <a:pathLst>
                <a:path w="2811621" h="259413">
                  <a:moveTo>
                    <a:pt x="7169" y="0"/>
                  </a:moveTo>
                  <a:lnTo>
                    <a:pt x="2804452" y="0"/>
                  </a:lnTo>
                  <a:cubicBezTo>
                    <a:pt x="2806353" y="0"/>
                    <a:pt x="2808177" y="755"/>
                    <a:pt x="2809521" y="2100"/>
                  </a:cubicBezTo>
                  <a:cubicBezTo>
                    <a:pt x="2810866" y="3444"/>
                    <a:pt x="2811621" y="5268"/>
                    <a:pt x="2811621" y="7169"/>
                  </a:cubicBezTo>
                  <a:lnTo>
                    <a:pt x="2811621" y="252244"/>
                  </a:lnTo>
                  <a:cubicBezTo>
                    <a:pt x="2811621" y="254146"/>
                    <a:pt x="2810866" y="255969"/>
                    <a:pt x="2809521" y="257313"/>
                  </a:cubicBezTo>
                  <a:cubicBezTo>
                    <a:pt x="2808177" y="258658"/>
                    <a:pt x="2806353" y="259413"/>
                    <a:pt x="2804452" y="259413"/>
                  </a:cubicBezTo>
                  <a:lnTo>
                    <a:pt x="7169" y="259413"/>
                  </a:lnTo>
                  <a:cubicBezTo>
                    <a:pt x="5268" y="259413"/>
                    <a:pt x="3444" y="258658"/>
                    <a:pt x="2100" y="257313"/>
                  </a:cubicBezTo>
                  <a:cubicBezTo>
                    <a:pt x="755" y="255969"/>
                    <a:pt x="0" y="254146"/>
                    <a:pt x="0" y="252244"/>
                  </a:cubicBezTo>
                  <a:lnTo>
                    <a:pt x="0" y="7169"/>
                  </a:lnTo>
                  <a:cubicBezTo>
                    <a:pt x="0" y="5268"/>
                    <a:pt x="755" y="3444"/>
                    <a:pt x="2100" y="2100"/>
                  </a:cubicBezTo>
                  <a:cubicBezTo>
                    <a:pt x="3444" y="755"/>
                    <a:pt x="5268" y="0"/>
                    <a:pt x="7169" y="0"/>
                  </a:cubicBezTo>
                  <a:close/>
                </a:path>
              </a:pathLst>
            </a:custGeom>
            <a:solidFill>
              <a:srgbClr val="FFF0C8">
                <a:alpha val="50980"/>
              </a:srgbClr>
            </a:solidFill>
            <a:ln>
              <a:noFill/>
            </a:ln>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SA" sz="1050" b="0" i="0" u="none" strike="noStrike" kern="1200" cap="none" spc="0" normalizeH="0" baseline="0" noProof="0" dirty="0">
                <a:ln>
                  <a:noFill/>
                </a:ln>
                <a:solidFill>
                  <a:prstClr val="black"/>
                </a:solidFill>
                <a:effectLst/>
                <a:uLnTx/>
                <a:uFillTx/>
                <a:latin typeface="Calibri" panose="020F0502020204030204"/>
                <a:ea typeface="+mn-ea"/>
                <a:cs typeface="PT Bold Heading" panose="02010400000000000000" pitchFamily="2" charset="-78"/>
              </a:endParaRPr>
            </a:p>
          </p:txBody>
        </p:sp>
        <p:grpSp>
          <p:nvGrpSpPr>
            <p:cNvPr id="48" name="Group 33">
              <a:extLst>
                <a:ext uri="{FF2B5EF4-FFF2-40B4-BE49-F238E27FC236}">
                  <a16:creationId xmlns:a16="http://schemas.microsoft.com/office/drawing/2014/main" id="{D927BC82-825D-336B-E934-1F6C76AD4302}"/>
                </a:ext>
              </a:extLst>
            </p:cNvPr>
            <p:cNvGrpSpPr/>
            <p:nvPr/>
          </p:nvGrpSpPr>
          <p:grpSpPr>
            <a:xfrm>
              <a:off x="17184398" y="4504393"/>
              <a:ext cx="889200" cy="1096015"/>
              <a:chOff x="0" y="0"/>
              <a:chExt cx="1022912" cy="1010894"/>
            </a:xfrm>
          </p:grpSpPr>
          <p:sp>
            <p:nvSpPr>
              <p:cNvPr id="49" name="Freeform 35">
                <a:extLst>
                  <a:ext uri="{FF2B5EF4-FFF2-40B4-BE49-F238E27FC236}">
                    <a16:creationId xmlns:a16="http://schemas.microsoft.com/office/drawing/2014/main" id="{0E4446B0-C4A7-7CB7-A400-8E6B79C1BD49}"/>
                  </a:ext>
                </a:extLst>
              </p:cNvPr>
              <p:cNvSpPr/>
              <p:nvPr/>
            </p:nvSpPr>
            <p:spPr>
              <a:xfrm>
                <a:off x="0" y="0"/>
                <a:ext cx="1022912" cy="1010894"/>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50" name="TextBox 37">
                <a:extLst>
                  <a:ext uri="{FF2B5EF4-FFF2-40B4-BE49-F238E27FC236}">
                    <a16:creationId xmlns:a16="http://schemas.microsoft.com/office/drawing/2014/main" id="{A5D0AC32-9010-D7FF-516A-E05326AA8F8D}"/>
                  </a:ext>
                </a:extLst>
              </p:cNvPr>
              <p:cNvSpPr txBox="1"/>
              <p:nvPr/>
            </p:nvSpPr>
            <p:spPr>
              <a:xfrm>
                <a:off x="71199" y="352295"/>
                <a:ext cx="859298" cy="617425"/>
              </a:xfrm>
              <a:prstGeom prst="rect">
                <a:avLst/>
              </a:prstGeom>
            </p:spPr>
            <p:txBody>
              <a:bodyPr lIns="0" tIns="0" rIns="0" bIns="0" rtlCol="0" anchor="t">
                <a:spAutoFit/>
              </a:bodyPr>
              <a:lstStyle/>
              <a:p>
                <a:pPr algn="ctr" rtl="1">
                  <a:lnSpc>
                    <a:spcPts val="4771"/>
                  </a:lnSpc>
                </a:pPr>
                <a:r>
                  <a:rPr lang="en-US" sz="5400" b="1" dirty="0">
                    <a:solidFill>
                      <a:srgbClr val="000000"/>
                    </a:solidFill>
                    <a:latin typeface="PT Bold Heading"/>
                    <a:cs typeface="PT Bold Heading" panose="02010400000000000000" pitchFamily="2" charset="-78"/>
                  </a:rPr>
                  <a:t>2</a:t>
                </a:r>
              </a:p>
            </p:txBody>
          </p:sp>
        </p:grpSp>
      </p:grpSp>
      <p:sp>
        <p:nvSpPr>
          <p:cNvPr id="55" name="مربع نص 54">
            <a:extLst>
              <a:ext uri="{FF2B5EF4-FFF2-40B4-BE49-F238E27FC236}">
                <a16:creationId xmlns:a16="http://schemas.microsoft.com/office/drawing/2014/main" id="{90FF4A11-22E1-0DD3-7A34-2F6D0851A1E1}"/>
              </a:ext>
            </a:extLst>
          </p:cNvPr>
          <p:cNvSpPr txBox="1"/>
          <p:nvPr/>
        </p:nvSpPr>
        <p:spPr>
          <a:xfrm>
            <a:off x="2747143" y="6541567"/>
            <a:ext cx="13990465" cy="1015663"/>
          </a:xfrm>
          <a:prstGeom prst="rect">
            <a:avLst/>
          </a:prstGeom>
          <a:noFill/>
        </p:spPr>
        <p:txBody>
          <a:bodyPr wrap="square" rtlCol="1">
            <a:spAutoFit/>
          </a:bodyPr>
          <a:lstStyle/>
          <a:p>
            <a:pPr algn="r" rtl="1"/>
            <a:r>
              <a:rPr lang="ar-SA" sz="3000" dirty="0">
                <a:cs typeface="PT Bold Heading" panose="02010400000000000000" pitchFamily="2" charset="-78"/>
              </a:rPr>
              <a:t>يمكن للمؤسسات إعطاء الأولوية للتدابير الأمنية بمجرد نشر النظام كبديل للأمن السيبراني في دورة حياة النظام.</a:t>
            </a:r>
          </a:p>
        </p:txBody>
      </p:sp>
      <p:sp>
        <p:nvSpPr>
          <p:cNvPr id="56" name="مربع نص 55">
            <a:extLst>
              <a:ext uri="{FF2B5EF4-FFF2-40B4-BE49-F238E27FC236}">
                <a16:creationId xmlns:a16="http://schemas.microsoft.com/office/drawing/2014/main" id="{72FD0868-0CB6-F917-1A33-5436184C8595}"/>
              </a:ext>
            </a:extLst>
          </p:cNvPr>
          <p:cNvSpPr txBox="1"/>
          <p:nvPr/>
        </p:nvSpPr>
        <p:spPr>
          <a:xfrm>
            <a:off x="2678709" y="5100043"/>
            <a:ext cx="14070802" cy="1015663"/>
          </a:xfrm>
          <a:prstGeom prst="rect">
            <a:avLst/>
          </a:prstGeom>
          <a:noFill/>
        </p:spPr>
        <p:txBody>
          <a:bodyPr wrap="square" rtlCol="1">
            <a:spAutoFit/>
          </a:bodyPr>
          <a:lstStyle/>
          <a:p>
            <a:pPr algn="r" rtl="1"/>
            <a:r>
              <a:rPr lang="ar-SA" sz="3000" dirty="0">
                <a:cs typeface="PT Bold Heading" panose="02010400000000000000" pitchFamily="2" charset="-78"/>
              </a:rPr>
              <a:t>يساعد تصميم الأنظمة وتطويرها وصيانتها مع أخذ الأمن السيبراني في الاعتبار على تقليل أخطار الهجمات الإلكترونية، وحماية البيانات والأنظمة الحساسة من الوصول </a:t>
            </a:r>
            <a:r>
              <a:rPr lang="ar-SA" sz="3000" dirty="0" err="1">
                <a:cs typeface="PT Bold Heading" panose="02010400000000000000" pitchFamily="2" charset="-78"/>
              </a:rPr>
              <a:t>غيرالمصرح</a:t>
            </a:r>
            <a:r>
              <a:rPr lang="ar-SA" sz="3000" dirty="0">
                <a:cs typeface="PT Bold Heading" panose="02010400000000000000" pitchFamily="2" charset="-78"/>
              </a:rPr>
              <a:t> به.</a:t>
            </a:r>
          </a:p>
        </p:txBody>
      </p:sp>
      <p:grpSp>
        <p:nvGrpSpPr>
          <p:cNvPr id="61" name="مجموعة 60">
            <a:extLst>
              <a:ext uri="{FF2B5EF4-FFF2-40B4-BE49-F238E27FC236}">
                <a16:creationId xmlns:a16="http://schemas.microsoft.com/office/drawing/2014/main" id="{6B65F288-6901-EDAB-36C8-409A9AC00C03}"/>
              </a:ext>
            </a:extLst>
          </p:cNvPr>
          <p:cNvGrpSpPr/>
          <p:nvPr/>
        </p:nvGrpSpPr>
        <p:grpSpPr>
          <a:xfrm>
            <a:off x="1431471" y="6500442"/>
            <a:ext cx="993600" cy="993600"/>
            <a:chOff x="1749600" y="7299092"/>
            <a:chExt cx="993600" cy="993600"/>
          </a:xfrm>
        </p:grpSpPr>
        <p:sp>
          <p:nvSpPr>
            <p:cNvPr id="53" name="Freeform 6">
              <a:extLst>
                <a:ext uri="{FF2B5EF4-FFF2-40B4-BE49-F238E27FC236}">
                  <a16:creationId xmlns:a16="http://schemas.microsoft.com/office/drawing/2014/main" id="{B073CF57-2B96-EB5D-CC2B-77E948627531}"/>
                </a:ext>
              </a:extLst>
            </p:cNvPr>
            <p:cNvSpPr/>
            <p:nvPr/>
          </p:nvSpPr>
          <p:spPr>
            <a:xfrm>
              <a:off x="1749600" y="7299092"/>
              <a:ext cx="993600" cy="9936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60" name="Freeform 14">
              <a:extLst>
                <a:ext uri="{FF2B5EF4-FFF2-40B4-BE49-F238E27FC236}">
                  <a16:creationId xmlns:a16="http://schemas.microsoft.com/office/drawing/2014/main" id="{55383439-66B4-DF21-9258-A86EC10D2F00}"/>
                </a:ext>
              </a:extLst>
            </p:cNvPr>
            <p:cNvSpPr/>
            <p:nvPr/>
          </p:nvSpPr>
          <p:spPr>
            <a:xfrm>
              <a:off x="2005535" y="7524922"/>
              <a:ext cx="481730" cy="555486"/>
            </a:xfrm>
            <a:custGeom>
              <a:avLst/>
              <a:gdLst/>
              <a:ahLst/>
              <a:cxnLst/>
              <a:rect l="l" t="t" r="r" b="b"/>
              <a:pathLst>
                <a:path w="394207" h="395195">
                  <a:moveTo>
                    <a:pt x="0" y="0"/>
                  </a:moveTo>
                  <a:lnTo>
                    <a:pt x="394207" y="0"/>
                  </a:lnTo>
                  <a:lnTo>
                    <a:pt x="394207" y="395194"/>
                  </a:lnTo>
                  <a:lnTo>
                    <a:pt x="0" y="39519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algn="r" rtl="1"/>
              <a:endParaRPr lang="ar-SA" dirty="0">
                <a:cs typeface="PT Bold Heading" panose="02010400000000000000" pitchFamily="2" charset="-78"/>
              </a:endParaRPr>
            </a:p>
          </p:txBody>
        </p:sp>
      </p:grpSp>
      <p:grpSp>
        <p:nvGrpSpPr>
          <p:cNvPr id="2" name="مجموعة 1">
            <a:extLst>
              <a:ext uri="{FF2B5EF4-FFF2-40B4-BE49-F238E27FC236}">
                <a16:creationId xmlns:a16="http://schemas.microsoft.com/office/drawing/2014/main" id="{49E6F97F-26D8-A78C-689C-CDD93C795668}"/>
              </a:ext>
            </a:extLst>
          </p:cNvPr>
          <p:cNvGrpSpPr/>
          <p:nvPr/>
        </p:nvGrpSpPr>
        <p:grpSpPr>
          <a:xfrm>
            <a:off x="1959761" y="7908693"/>
            <a:ext cx="15711397" cy="1121007"/>
            <a:chOff x="2362201" y="4504393"/>
            <a:chExt cx="15711397" cy="1121007"/>
          </a:xfrm>
        </p:grpSpPr>
        <p:sp>
          <p:nvSpPr>
            <p:cNvPr id="8" name="Freeform 3">
              <a:extLst>
                <a:ext uri="{FF2B5EF4-FFF2-40B4-BE49-F238E27FC236}">
                  <a16:creationId xmlns:a16="http://schemas.microsoft.com/office/drawing/2014/main" id="{A53E6A84-1CCD-D53D-E734-A9C38C5B4944}"/>
                </a:ext>
              </a:extLst>
            </p:cNvPr>
            <p:cNvSpPr/>
            <p:nvPr/>
          </p:nvSpPr>
          <p:spPr>
            <a:xfrm>
              <a:off x="2362201" y="4510959"/>
              <a:ext cx="15085827" cy="1114441"/>
            </a:xfrm>
            <a:custGeom>
              <a:avLst/>
              <a:gdLst/>
              <a:ahLst/>
              <a:cxnLst/>
              <a:rect l="l" t="t" r="r" b="b"/>
              <a:pathLst>
                <a:path w="2811621" h="259413">
                  <a:moveTo>
                    <a:pt x="7169" y="0"/>
                  </a:moveTo>
                  <a:lnTo>
                    <a:pt x="2804452" y="0"/>
                  </a:lnTo>
                  <a:cubicBezTo>
                    <a:pt x="2806353" y="0"/>
                    <a:pt x="2808177" y="755"/>
                    <a:pt x="2809521" y="2100"/>
                  </a:cubicBezTo>
                  <a:cubicBezTo>
                    <a:pt x="2810866" y="3444"/>
                    <a:pt x="2811621" y="5268"/>
                    <a:pt x="2811621" y="7169"/>
                  </a:cubicBezTo>
                  <a:lnTo>
                    <a:pt x="2811621" y="252244"/>
                  </a:lnTo>
                  <a:cubicBezTo>
                    <a:pt x="2811621" y="254146"/>
                    <a:pt x="2810866" y="255969"/>
                    <a:pt x="2809521" y="257313"/>
                  </a:cubicBezTo>
                  <a:cubicBezTo>
                    <a:pt x="2808177" y="258658"/>
                    <a:pt x="2806353" y="259413"/>
                    <a:pt x="2804452" y="259413"/>
                  </a:cubicBezTo>
                  <a:lnTo>
                    <a:pt x="7169" y="259413"/>
                  </a:lnTo>
                  <a:cubicBezTo>
                    <a:pt x="5268" y="259413"/>
                    <a:pt x="3444" y="258658"/>
                    <a:pt x="2100" y="257313"/>
                  </a:cubicBezTo>
                  <a:cubicBezTo>
                    <a:pt x="755" y="255969"/>
                    <a:pt x="0" y="254146"/>
                    <a:pt x="0" y="252244"/>
                  </a:cubicBezTo>
                  <a:lnTo>
                    <a:pt x="0" y="7169"/>
                  </a:lnTo>
                  <a:cubicBezTo>
                    <a:pt x="0" y="5268"/>
                    <a:pt x="755" y="3444"/>
                    <a:pt x="2100" y="2100"/>
                  </a:cubicBezTo>
                  <a:cubicBezTo>
                    <a:pt x="3444" y="755"/>
                    <a:pt x="5268" y="0"/>
                    <a:pt x="7169" y="0"/>
                  </a:cubicBezTo>
                  <a:close/>
                </a:path>
              </a:pathLst>
            </a:custGeom>
            <a:solidFill>
              <a:srgbClr val="FFF0C8">
                <a:alpha val="50980"/>
              </a:srgbClr>
            </a:solidFill>
            <a:ln>
              <a:noFill/>
            </a:ln>
          </p:spPr>
          <p:txBody>
            <a:bodyPr/>
            <a:lstStyle/>
            <a:p>
              <a:pPr algn="ctr" rtl="1"/>
              <a:endParaRPr lang="ar-SA" sz="1050" dirty="0">
                <a:cs typeface="PT Bold Heading" panose="02010400000000000000" pitchFamily="2" charset="-78"/>
              </a:endParaRPr>
            </a:p>
          </p:txBody>
        </p:sp>
        <p:grpSp>
          <p:nvGrpSpPr>
            <p:cNvPr id="10" name="Group 33">
              <a:extLst>
                <a:ext uri="{FF2B5EF4-FFF2-40B4-BE49-F238E27FC236}">
                  <a16:creationId xmlns:a16="http://schemas.microsoft.com/office/drawing/2014/main" id="{37E2C7BC-5C04-10D0-28C7-BE43258891F7}"/>
                </a:ext>
              </a:extLst>
            </p:cNvPr>
            <p:cNvGrpSpPr/>
            <p:nvPr/>
          </p:nvGrpSpPr>
          <p:grpSpPr>
            <a:xfrm>
              <a:off x="17184398" y="4504393"/>
              <a:ext cx="889200" cy="1096015"/>
              <a:chOff x="0" y="0"/>
              <a:chExt cx="1022912" cy="1010894"/>
            </a:xfrm>
          </p:grpSpPr>
          <p:sp>
            <p:nvSpPr>
              <p:cNvPr id="11" name="Freeform 35">
                <a:extLst>
                  <a:ext uri="{FF2B5EF4-FFF2-40B4-BE49-F238E27FC236}">
                    <a16:creationId xmlns:a16="http://schemas.microsoft.com/office/drawing/2014/main" id="{FA724C5D-68F7-8D0F-EBF5-8AE7A89E125F}"/>
                  </a:ext>
                </a:extLst>
              </p:cNvPr>
              <p:cNvSpPr/>
              <p:nvPr/>
            </p:nvSpPr>
            <p:spPr>
              <a:xfrm>
                <a:off x="0" y="0"/>
                <a:ext cx="1022912" cy="1010894"/>
              </a:xfrm>
              <a:custGeom>
                <a:avLst/>
                <a:gdLst/>
                <a:ahLst/>
                <a:cxnLst/>
                <a:rect l="l" t="t" r="r" b="b"/>
                <a:pathLst>
                  <a:path w="301826" h="320533">
                    <a:moveTo>
                      <a:pt x="119286" y="0"/>
                    </a:moveTo>
                    <a:lnTo>
                      <a:pt x="182540" y="0"/>
                    </a:lnTo>
                    <a:cubicBezTo>
                      <a:pt x="248420" y="0"/>
                      <a:pt x="301826" y="53406"/>
                      <a:pt x="301826" y="119286"/>
                    </a:cubicBezTo>
                    <a:lnTo>
                      <a:pt x="301826" y="201247"/>
                    </a:lnTo>
                    <a:cubicBezTo>
                      <a:pt x="301826" y="232883"/>
                      <a:pt x="289258" y="263224"/>
                      <a:pt x="266888" y="285595"/>
                    </a:cubicBezTo>
                    <a:cubicBezTo>
                      <a:pt x="244517" y="307966"/>
                      <a:pt x="214176" y="320533"/>
                      <a:pt x="182540" y="320533"/>
                    </a:cubicBezTo>
                    <a:lnTo>
                      <a:pt x="119286" y="320533"/>
                    </a:lnTo>
                    <a:cubicBezTo>
                      <a:pt x="53406" y="320533"/>
                      <a:pt x="0" y="267127"/>
                      <a:pt x="0" y="201247"/>
                    </a:cubicBezTo>
                    <a:lnTo>
                      <a:pt x="0" y="119286"/>
                    </a:lnTo>
                    <a:cubicBezTo>
                      <a:pt x="0" y="87650"/>
                      <a:pt x="12568" y="57309"/>
                      <a:pt x="34938" y="34938"/>
                    </a:cubicBezTo>
                    <a:cubicBezTo>
                      <a:pt x="57309" y="12568"/>
                      <a:pt x="87650" y="0"/>
                      <a:pt x="119286" y="0"/>
                    </a:cubicBezTo>
                    <a:close/>
                  </a:path>
                </a:pathLst>
              </a:custGeom>
              <a:solidFill>
                <a:srgbClr val="FFFFFF"/>
              </a:solidFill>
              <a:ln w="85725">
                <a:solidFill>
                  <a:srgbClr val="7C9D96"/>
                </a:solidFill>
              </a:ln>
            </p:spPr>
            <p:txBody>
              <a:bodyPr/>
              <a:lstStyle/>
              <a:p>
                <a:pPr algn="r" rtl="1"/>
                <a:endParaRPr lang="ar-SA" dirty="0">
                  <a:cs typeface="PT Bold Heading" panose="02010400000000000000" pitchFamily="2" charset="-78"/>
                </a:endParaRPr>
              </a:p>
            </p:txBody>
          </p:sp>
          <p:sp>
            <p:nvSpPr>
              <p:cNvPr id="13" name="TextBox 37">
                <a:extLst>
                  <a:ext uri="{FF2B5EF4-FFF2-40B4-BE49-F238E27FC236}">
                    <a16:creationId xmlns:a16="http://schemas.microsoft.com/office/drawing/2014/main" id="{AE5F8124-1C3A-CA7E-590B-F2460E4F3964}"/>
                  </a:ext>
                </a:extLst>
              </p:cNvPr>
              <p:cNvSpPr txBox="1"/>
              <p:nvPr/>
            </p:nvSpPr>
            <p:spPr>
              <a:xfrm>
                <a:off x="71198" y="281790"/>
                <a:ext cx="859298" cy="617425"/>
              </a:xfrm>
              <a:prstGeom prst="rect">
                <a:avLst/>
              </a:prstGeom>
            </p:spPr>
            <p:txBody>
              <a:bodyPr lIns="0" tIns="0" rIns="0" bIns="0" rtlCol="0" anchor="t">
                <a:spAutoFit/>
              </a:bodyPr>
              <a:lstStyle/>
              <a:p>
                <a:pPr algn="ctr" rtl="1">
                  <a:lnSpc>
                    <a:spcPts val="4771"/>
                  </a:lnSpc>
                </a:pPr>
                <a:r>
                  <a:rPr lang="en-US" sz="5400" b="1" dirty="0">
                    <a:solidFill>
                      <a:srgbClr val="000000"/>
                    </a:solidFill>
                    <a:latin typeface="PT Bold Heading"/>
                    <a:cs typeface="PT Bold Heading" panose="02010400000000000000" pitchFamily="2" charset="-78"/>
                  </a:rPr>
                  <a:t>3</a:t>
                </a:r>
              </a:p>
            </p:txBody>
          </p:sp>
        </p:grpSp>
      </p:grpSp>
      <p:grpSp>
        <p:nvGrpSpPr>
          <p:cNvPr id="14" name="مجموعة 13">
            <a:extLst>
              <a:ext uri="{FF2B5EF4-FFF2-40B4-BE49-F238E27FC236}">
                <a16:creationId xmlns:a16="http://schemas.microsoft.com/office/drawing/2014/main" id="{71F0652F-B7DF-284C-E727-F7DD837F0B7D}"/>
              </a:ext>
            </a:extLst>
          </p:cNvPr>
          <p:cNvGrpSpPr/>
          <p:nvPr/>
        </p:nvGrpSpPr>
        <p:grpSpPr>
          <a:xfrm>
            <a:off x="1462961" y="8006016"/>
            <a:ext cx="993600" cy="993600"/>
            <a:chOff x="5162453" y="5175617"/>
            <a:chExt cx="813078" cy="816723"/>
          </a:xfrm>
        </p:grpSpPr>
        <p:sp>
          <p:nvSpPr>
            <p:cNvPr id="15" name="Freeform 6">
              <a:extLst>
                <a:ext uri="{FF2B5EF4-FFF2-40B4-BE49-F238E27FC236}">
                  <a16:creationId xmlns:a16="http://schemas.microsoft.com/office/drawing/2014/main" id="{F9E5831C-7C03-71FA-CD92-3C524616B047}"/>
                </a:ext>
              </a:extLst>
            </p:cNvPr>
            <p:cNvSpPr/>
            <p:nvPr/>
          </p:nvSpPr>
          <p:spPr>
            <a:xfrm>
              <a:off x="5162453" y="5175617"/>
              <a:ext cx="813078" cy="816723"/>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2A8D87"/>
            </a:solidFill>
          </p:spPr>
          <p:txBody>
            <a:bodyPr/>
            <a:lstStyle/>
            <a:p>
              <a:pPr algn="r" rtl="1"/>
              <a:endParaRPr lang="ar-SA">
                <a:cs typeface="PT Bold Heading" panose="02010400000000000000" pitchFamily="2" charset="-78"/>
              </a:endParaRPr>
            </a:p>
          </p:txBody>
        </p:sp>
        <p:sp>
          <p:nvSpPr>
            <p:cNvPr id="16" name="Freeform 15">
              <a:extLst>
                <a:ext uri="{FF2B5EF4-FFF2-40B4-BE49-F238E27FC236}">
                  <a16:creationId xmlns:a16="http://schemas.microsoft.com/office/drawing/2014/main" id="{1F0F6596-946F-6499-27BB-43417F524147}"/>
                </a:ext>
              </a:extLst>
            </p:cNvPr>
            <p:cNvSpPr/>
            <p:nvPr/>
          </p:nvSpPr>
          <p:spPr>
            <a:xfrm>
              <a:off x="5308207" y="5395687"/>
              <a:ext cx="539333" cy="404500"/>
            </a:xfrm>
            <a:custGeom>
              <a:avLst/>
              <a:gdLst/>
              <a:ahLst/>
              <a:cxnLst/>
              <a:rect l="l" t="t" r="r" b="b"/>
              <a:pathLst>
                <a:path w="539333" h="404500">
                  <a:moveTo>
                    <a:pt x="0" y="0"/>
                  </a:moveTo>
                  <a:lnTo>
                    <a:pt x="539333" y="0"/>
                  </a:lnTo>
                  <a:lnTo>
                    <a:pt x="539333" y="404500"/>
                  </a:lnTo>
                  <a:lnTo>
                    <a:pt x="0" y="4045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algn="r" rtl="1"/>
              <a:endParaRPr lang="ar-SA">
                <a:cs typeface="PT Bold Heading" panose="02010400000000000000" pitchFamily="2" charset="-78"/>
              </a:endParaRPr>
            </a:p>
          </p:txBody>
        </p:sp>
      </p:grpSp>
      <p:sp>
        <p:nvSpPr>
          <p:cNvPr id="21" name="مربع نص 20">
            <a:extLst>
              <a:ext uri="{FF2B5EF4-FFF2-40B4-BE49-F238E27FC236}">
                <a16:creationId xmlns:a16="http://schemas.microsoft.com/office/drawing/2014/main" id="{B20E4DD6-DBBC-728A-1C86-E049E175E756}"/>
              </a:ext>
            </a:extLst>
          </p:cNvPr>
          <p:cNvSpPr txBox="1"/>
          <p:nvPr/>
        </p:nvSpPr>
        <p:spPr>
          <a:xfrm>
            <a:off x="2506133" y="8171555"/>
            <a:ext cx="14070802" cy="584775"/>
          </a:xfrm>
          <a:prstGeom prst="rect">
            <a:avLst/>
          </a:prstGeom>
          <a:noFill/>
        </p:spPr>
        <p:txBody>
          <a:bodyPr wrap="square" rtlCol="1">
            <a:spAutoFit/>
          </a:bodyPr>
          <a:lstStyle/>
          <a:p>
            <a:pPr algn="r" rtl="1"/>
            <a:r>
              <a:rPr lang="ar-SA" sz="3200" dirty="0">
                <a:cs typeface="PT Bold Heading" panose="02010400000000000000" pitchFamily="2" charset="-78"/>
              </a:rPr>
              <a:t>يترك كل عمل أو تصفح تقوم به عبر الإنترنت أثرا يسمى البصمة الرقمية .</a:t>
            </a:r>
          </a:p>
        </p:txBody>
      </p:sp>
    </p:spTree>
    <p:extLst>
      <p:ext uri="{BB962C8B-B14F-4D97-AF65-F5344CB8AC3E}">
        <p14:creationId xmlns:p14="http://schemas.microsoft.com/office/powerpoint/2010/main" val="5420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1000"/>
                                        <p:tgtEl>
                                          <p:spTgt spid="61"/>
                                        </p:tgtEl>
                                      </p:cBhvr>
                                    </p:animEffect>
                                    <p:anim calcmode="lin" valueType="num">
                                      <p:cBhvr>
                                        <p:cTn id="15" dur="1000" fill="hold"/>
                                        <p:tgtEl>
                                          <p:spTgt spid="61"/>
                                        </p:tgtEl>
                                        <p:attrNameLst>
                                          <p:attrName>ppt_x</p:attrName>
                                        </p:attrNameLst>
                                      </p:cBhvr>
                                      <p:tavLst>
                                        <p:tav tm="0">
                                          <p:val>
                                            <p:strVal val="#ppt_x"/>
                                          </p:val>
                                        </p:tav>
                                        <p:tav tm="100000">
                                          <p:val>
                                            <p:strVal val="#ppt_x"/>
                                          </p:val>
                                        </p:tav>
                                      </p:tavLst>
                                    </p:anim>
                                    <p:anim calcmode="lin" valueType="num">
                                      <p:cBhvr>
                                        <p:cTn id="16"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9439" y="2651184"/>
            <a:ext cx="15185648" cy="4984632"/>
            <a:chOff x="12673" y="0"/>
            <a:chExt cx="20247531" cy="6646176"/>
          </a:xfrm>
        </p:grpSpPr>
        <p:sp>
          <p:nvSpPr>
            <p:cNvPr id="4" name="Freeform 4"/>
            <p:cNvSpPr/>
            <p:nvPr/>
          </p:nvSpPr>
          <p:spPr>
            <a:xfrm>
              <a:off x="3892357" y="1137055"/>
              <a:ext cx="16367847" cy="5509121"/>
            </a:xfrm>
            <a:custGeom>
              <a:avLst/>
              <a:gdLst/>
              <a:ahLst/>
              <a:cxnLst/>
              <a:rect l="l" t="t" r="r" b="b"/>
              <a:pathLst>
                <a:path w="2838464" h="955376">
                  <a:moveTo>
                    <a:pt x="6937" y="0"/>
                  </a:moveTo>
                  <a:lnTo>
                    <a:pt x="2831527" y="0"/>
                  </a:lnTo>
                  <a:cubicBezTo>
                    <a:pt x="2835359" y="0"/>
                    <a:pt x="2838464" y="3106"/>
                    <a:pt x="2838464" y="6937"/>
                  </a:cubicBezTo>
                  <a:lnTo>
                    <a:pt x="2838464" y="948438"/>
                  </a:lnTo>
                  <a:cubicBezTo>
                    <a:pt x="2838464" y="952270"/>
                    <a:pt x="2835359" y="955376"/>
                    <a:pt x="2831527" y="955376"/>
                  </a:cubicBezTo>
                  <a:lnTo>
                    <a:pt x="6937" y="955376"/>
                  </a:lnTo>
                  <a:cubicBezTo>
                    <a:pt x="3106" y="955376"/>
                    <a:pt x="0" y="952270"/>
                    <a:pt x="0" y="948438"/>
                  </a:cubicBezTo>
                  <a:lnTo>
                    <a:pt x="0" y="6937"/>
                  </a:lnTo>
                  <a:cubicBezTo>
                    <a:pt x="0" y="3106"/>
                    <a:pt x="3106" y="0"/>
                    <a:pt x="6937" y="0"/>
                  </a:cubicBezTo>
                  <a:close/>
                </a:path>
              </a:pathLst>
            </a:custGeom>
            <a:solidFill>
              <a:srgbClr val="959E9D"/>
            </a:solidFill>
            <a:ln>
              <a:noFill/>
            </a:ln>
          </p:spPr>
          <p:txBody>
            <a:bodyPr/>
            <a:lstStyle/>
            <a:p>
              <a:pPr algn="r" rtl="1"/>
              <a:endParaRPr lang="ar-SA">
                <a:cs typeface="PT Bold Heading" panose="02010400000000000000" pitchFamily="2" charset="-78"/>
              </a:endParaRPr>
            </a:p>
          </p:txBody>
        </p:sp>
        <p:sp>
          <p:nvSpPr>
            <p:cNvPr id="7" name="Freeform 7"/>
            <p:cNvSpPr/>
            <p:nvPr/>
          </p:nvSpPr>
          <p:spPr>
            <a:xfrm>
              <a:off x="2737404" y="1015568"/>
              <a:ext cx="17301288" cy="5346071"/>
            </a:xfrm>
            <a:custGeom>
              <a:avLst/>
              <a:gdLst/>
              <a:ahLst/>
              <a:cxnLst/>
              <a:rect l="l" t="t" r="r" b="b"/>
              <a:pathLst>
                <a:path w="3417538" h="1056014">
                  <a:moveTo>
                    <a:pt x="5370" y="0"/>
                  </a:moveTo>
                  <a:lnTo>
                    <a:pt x="3412168" y="0"/>
                  </a:lnTo>
                  <a:cubicBezTo>
                    <a:pt x="3413593" y="0"/>
                    <a:pt x="3414959" y="566"/>
                    <a:pt x="3415966" y="1573"/>
                  </a:cubicBezTo>
                  <a:cubicBezTo>
                    <a:pt x="3416972" y="2580"/>
                    <a:pt x="3417538" y="3946"/>
                    <a:pt x="3417538" y="5370"/>
                  </a:cubicBezTo>
                  <a:lnTo>
                    <a:pt x="3417538" y="1050644"/>
                  </a:lnTo>
                  <a:cubicBezTo>
                    <a:pt x="3417538" y="1052068"/>
                    <a:pt x="3416972" y="1053434"/>
                    <a:pt x="3415966" y="1054441"/>
                  </a:cubicBezTo>
                  <a:cubicBezTo>
                    <a:pt x="3414959" y="1055448"/>
                    <a:pt x="3413593" y="1056014"/>
                    <a:pt x="3412168" y="1056014"/>
                  </a:cubicBezTo>
                  <a:lnTo>
                    <a:pt x="5370" y="1056014"/>
                  </a:lnTo>
                  <a:cubicBezTo>
                    <a:pt x="3946" y="1056014"/>
                    <a:pt x="2580" y="1055448"/>
                    <a:pt x="1573" y="1054441"/>
                  </a:cubicBezTo>
                  <a:cubicBezTo>
                    <a:pt x="566" y="1053434"/>
                    <a:pt x="0" y="1052068"/>
                    <a:pt x="0" y="1050644"/>
                  </a:cubicBezTo>
                  <a:lnTo>
                    <a:pt x="0" y="5370"/>
                  </a:lnTo>
                  <a:cubicBezTo>
                    <a:pt x="0" y="3946"/>
                    <a:pt x="566" y="2580"/>
                    <a:pt x="1573" y="1573"/>
                  </a:cubicBezTo>
                  <a:cubicBezTo>
                    <a:pt x="2580" y="566"/>
                    <a:pt x="3946" y="0"/>
                    <a:pt x="5370" y="0"/>
                  </a:cubicBezTo>
                  <a:close/>
                </a:path>
              </a:pathLst>
            </a:custGeom>
            <a:solidFill>
              <a:srgbClr val="FFFFFF"/>
            </a:solidFill>
            <a:ln w="38100">
              <a:solidFill>
                <a:srgbClr val="A1CCD1"/>
              </a:solidFill>
            </a:ln>
          </p:spPr>
          <p:txBody>
            <a:bodyPr/>
            <a:lstStyle/>
            <a:p>
              <a:pPr algn="r" rtl="1"/>
              <a:endParaRPr lang="ar-SA">
                <a:cs typeface="PT Bold Heading" panose="02010400000000000000" pitchFamily="2" charset="-78"/>
              </a:endParaRPr>
            </a:p>
          </p:txBody>
        </p:sp>
        <p:sp>
          <p:nvSpPr>
            <p:cNvPr id="10" name="Freeform 10"/>
            <p:cNvSpPr/>
            <p:nvPr/>
          </p:nvSpPr>
          <p:spPr>
            <a:xfrm>
              <a:off x="6422955" y="0"/>
              <a:ext cx="12036059" cy="1473008"/>
            </a:xfrm>
            <a:custGeom>
              <a:avLst/>
              <a:gdLst/>
              <a:ahLst/>
              <a:cxnLst/>
              <a:rect l="l" t="t" r="r" b="b"/>
              <a:pathLst>
                <a:path w="2087258" h="255445">
                  <a:moveTo>
                    <a:pt x="9434" y="0"/>
                  </a:moveTo>
                  <a:lnTo>
                    <a:pt x="2077824" y="0"/>
                  </a:lnTo>
                  <a:cubicBezTo>
                    <a:pt x="2083034" y="0"/>
                    <a:pt x="2087258" y="4224"/>
                    <a:pt x="2087258" y="9434"/>
                  </a:cubicBezTo>
                  <a:lnTo>
                    <a:pt x="2087258" y="246011"/>
                  </a:lnTo>
                  <a:cubicBezTo>
                    <a:pt x="2087258" y="251221"/>
                    <a:pt x="2083034" y="255445"/>
                    <a:pt x="2077824" y="255445"/>
                  </a:cubicBezTo>
                  <a:lnTo>
                    <a:pt x="9434" y="255445"/>
                  </a:lnTo>
                  <a:cubicBezTo>
                    <a:pt x="6932" y="255445"/>
                    <a:pt x="4532" y="254451"/>
                    <a:pt x="2763" y="252682"/>
                  </a:cubicBezTo>
                  <a:cubicBezTo>
                    <a:pt x="994" y="250912"/>
                    <a:pt x="0" y="248513"/>
                    <a:pt x="0" y="246011"/>
                  </a:cubicBezTo>
                  <a:lnTo>
                    <a:pt x="0" y="9434"/>
                  </a:lnTo>
                  <a:cubicBezTo>
                    <a:pt x="0" y="6932"/>
                    <a:pt x="994" y="4532"/>
                    <a:pt x="2763" y="2763"/>
                  </a:cubicBezTo>
                  <a:cubicBezTo>
                    <a:pt x="4532" y="994"/>
                    <a:pt x="6932" y="0"/>
                    <a:pt x="9434" y="0"/>
                  </a:cubicBezTo>
                  <a:close/>
                </a:path>
              </a:pathLst>
            </a:custGeom>
            <a:solidFill>
              <a:srgbClr val="2A8D87"/>
            </a:solidFill>
            <a:ln>
              <a:noFill/>
            </a:ln>
          </p:spPr>
          <p:txBody>
            <a:bodyPr/>
            <a:lstStyle/>
            <a:p>
              <a:pPr algn="r" rtl="1"/>
              <a:endParaRPr lang="ar-SA">
                <a:cs typeface="PT Bold Heading" panose="02010400000000000000" pitchFamily="2" charset="-78"/>
              </a:endParaRPr>
            </a:p>
          </p:txBody>
        </p:sp>
        <p:sp>
          <p:nvSpPr>
            <p:cNvPr id="13" name="Freeform 13"/>
            <p:cNvSpPr/>
            <p:nvPr/>
          </p:nvSpPr>
          <p:spPr>
            <a:xfrm>
              <a:off x="12673" y="964768"/>
              <a:ext cx="5656056" cy="5681408"/>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E194"/>
            </a:solidFill>
          </p:spPr>
          <p:txBody>
            <a:bodyPr/>
            <a:lstStyle/>
            <a:p>
              <a:pPr algn="r" rtl="1"/>
              <a:endParaRPr lang="ar-SA">
                <a:cs typeface="PT Bold Heading" panose="02010400000000000000" pitchFamily="2" charset="-78"/>
              </a:endParaRPr>
            </a:p>
          </p:txBody>
        </p:sp>
        <p:sp>
          <p:nvSpPr>
            <p:cNvPr id="15" name="Freeform 15"/>
            <p:cNvSpPr/>
            <p:nvPr/>
          </p:nvSpPr>
          <p:spPr>
            <a:xfrm>
              <a:off x="635141" y="1642112"/>
              <a:ext cx="4204527" cy="4499007"/>
            </a:xfrm>
            <a:custGeom>
              <a:avLst/>
              <a:gdLst/>
              <a:ahLst/>
              <a:cxnLst/>
              <a:rect l="l" t="t" r="r" b="b"/>
              <a:pathLst>
                <a:path w="4204527" h="4499007">
                  <a:moveTo>
                    <a:pt x="0" y="0"/>
                  </a:moveTo>
                  <a:lnTo>
                    <a:pt x="4204527" y="0"/>
                  </a:lnTo>
                  <a:lnTo>
                    <a:pt x="4204527" y="4499008"/>
                  </a:lnTo>
                  <a:lnTo>
                    <a:pt x="0" y="4499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algn="r" rtl="1"/>
              <a:endParaRPr lang="ar-SA">
                <a:cs typeface="PT Bold Heading" panose="02010400000000000000" pitchFamily="2" charset="-78"/>
              </a:endParaRPr>
            </a:p>
          </p:txBody>
        </p:sp>
        <p:sp>
          <p:nvSpPr>
            <p:cNvPr id="16" name="TextBox 16"/>
            <p:cNvSpPr txBox="1"/>
            <p:nvPr/>
          </p:nvSpPr>
          <p:spPr>
            <a:xfrm>
              <a:off x="7128113" y="267537"/>
              <a:ext cx="10625740" cy="869518"/>
            </a:xfrm>
            <a:prstGeom prst="rect">
              <a:avLst/>
            </a:prstGeom>
          </p:spPr>
          <p:txBody>
            <a:bodyPr lIns="0" tIns="0" rIns="0" bIns="0" rtlCol="0" anchor="t">
              <a:spAutoFit/>
            </a:bodyPr>
            <a:lstStyle/>
            <a:p>
              <a:pPr algn="ctr" rtl="1">
                <a:lnSpc>
                  <a:spcPts val="4665"/>
                </a:lnSpc>
              </a:pPr>
              <a:r>
                <a:rPr lang="en-US" sz="4761">
                  <a:solidFill>
                    <a:srgbClr val="FFFFFF"/>
                  </a:solidFill>
                  <a:cs typeface="PT Bold Heading" panose="02010400000000000000" pitchFamily="2" charset="-78"/>
                </a:rPr>
                <a:t>استراتيجية جدول التعلم KWL</a:t>
              </a:r>
            </a:p>
          </p:txBody>
        </p:sp>
        <p:sp>
          <p:nvSpPr>
            <p:cNvPr id="18" name="Freeform 18"/>
            <p:cNvSpPr/>
            <p:nvPr/>
          </p:nvSpPr>
          <p:spPr>
            <a:xfrm>
              <a:off x="18167568" y="0"/>
              <a:ext cx="2092635" cy="1473008"/>
            </a:xfrm>
            <a:custGeom>
              <a:avLst/>
              <a:gdLst/>
              <a:ahLst/>
              <a:cxnLst/>
              <a:rect l="l" t="t" r="r" b="b"/>
              <a:pathLst>
                <a:path w="362899" h="255445">
                  <a:moveTo>
                    <a:pt x="54261" y="0"/>
                  </a:moveTo>
                  <a:lnTo>
                    <a:pt x="308638" y="0"/>
                  </a:lnTo>
                  <a:cubicBezTo>
                    <a:pt x="338605" y="0"/>
                    <a:pt x="362899" y="24293"/>
                    <a:pt x="362899" y="54261"/>
                  </a:cubicBezTo>
                  <a:lnTo>
                    <a:pt x="362899" y="201184"/>
                  </a:lnTo>
                  <a:cubicBezTo>
                    <a:pt x="362899" y="231151"/>
                    <a:pt x="338605" y="255445"/>
                    <a:pt x="308638" y="255445"/>
                  </a:cubicBezTo>
                  <a:lnTo>
                    <a:pt x="54261" y="255445"/>
                  </a:lnTo>
                  <a:cubicBezTo>
                    <a:pt x="24293" y="255445"/>
                    <a:pt x="0" y="231151"/>
                    <a:pt x="0" y="201184"/>
                  </a:cubicBezTo>
                  <a:lnTo>
                    <a:pt x="0" y="54261"/>
                  </a:lnTo>
                  <a:cubicBezTo>
                    <a:pt x="0" y="24293"/>
                    <a:pt x="24293" y="0"/>
                    <a:pt x="54261" y="0"/>
                  </a:cubicBezTo>
                  <a:close/>
                </a:path>
              </a:pathLst>
            </a:custGeom>
            <a:solidFill>
              <a:srgbClr val="FFE194"/>
            </a:solidFill>
            <a:ln>
              <a:noFill/>
            </a:ln>
          </p:spPr>
          <p:txBody>
            <a:bodyPr/>
            <a:lstStyle/>
            <a:p>
              <a:pPr algn="r" rtl="1"/>
              <a:endParaRPr lang="ar-SA">
                <a:cs typeface="PT Bold Heading" panose="02010400000000000000" pitchFamily="2" charset="-78"/>
              </a:endParaRPr>
            </a:p>
          </p:txBody>
        </p:sp>
      </p:grpSp>
      <p:grpSp>
        <p:nvGrpSpPr>
          <p:cNvPr id="20" name="Group 20"/>
          <p:cNvGrpSpPr/>
          <p:nvPr/>
        </p:nvGrpSpPr>
        <p:grpSpPr>
          <a:xfrm>
            <a:off x="5775633" y="4206662"/>
            <a:ext cx="9750077" cy="596450"/>
            <a:chOff x="0" y="0"/>
            <a:chExt cx="13000102" cy="795267"/>
          </a:xfrm>
        </p:grpSpPr>
        <p:sp>
          <p:nvSpPr>
            <p:cNvPr id="21" name="Freeform 21"/>
            <p:cNvSpPr/>
            <p:nvPr/>
          </p:nvSpPr>
          <p:spPr>
            <a:xfrm>
              <a:off x="12225001" y="0"/>
              <a:ext cx="775102" cy="792390"/>
            </a:xfrm>
            <a:custGeom>
              <a:avLst/>
              <a:gdLst/>
              <a:ahLst/>
              <a:cxnLst/>
              <a:rect l="l" t="t" r="r" b="b"/>
              <a:pathLst>
                <a:path w="775102" h="792390">
                  <a:moveTo>
                    <a:pt x="0" y="0"/>
                  </a:moveTo>
                  <a:lnTo>
                    <a:pt x="775101" y="0"/>
                  </a:lnTo>
                  <a:lnTo>
                    <a:pt x="775101" y="792390"/>
                  </a:lnTo>
                  <a:lnTo>
                    <a:pt x="0" y="79239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a:cs typeface="PT Bold Heading" panose="02010400000000000000" pitchFamily="2" charset="-78"/>
              </a:endParaRPr>
            </a:p>
          </p:txBody>
        </p:sp>
        <p:sp>
          <p:nvSpPr>
            <p:cNvPr id="22" name="TextBox 22"/>
            <p:cNvSpPr txBox="1"/>
            <p:nvPr/>
          </p:nvSpPr>
          <p:spPr>
            <a:xfrm>
              <a:off x="0" y="85725"/>
              <a:ext cx="12117617" cy="709542"/>
            </a:xfrm>
            <a:prstGeom prst="rect">
              <a:avLst/>
            </a:prstGeom>
          </p:spPr>
          <p:txBody>
            <a:bodyPr lIns="0" tIns="0" rIns="0" bIns="0" rtlCol="0" anchor="t">
              <a:spAutoFit/>
            </a:bodyPr>
            <a:lstStyle/>
            <a:p>
              <a:pPr algn="r" rtl="1">
                <a:lnSpc>
                  <a:spcPts val="3881"/>
                </a:lnSpc>
              </a:pPr>
              <a:r>
                <a:rPr lang="en-US" sz="3961">
                  <a:solidFill>
                    <a:srgbClr val="28443B"/>
                  </a:solidFill>
                  <a:cs typeface="PT Bold Heading" panose="02010400000000000000" pitchFamily="2" charset="-78"/>
                </a:rPr>
                <a:t>عزيزتي الطالبة اجيبي على  هذه الاسئلة  ؟</a:t>
              </a:r>
            </a:p>
          </p:txBody>
        </p:sp>
      </p:grpSp>
      <p:grpSp>
        <p:nvGrpSpPr>
          <p:cNvPr id="23" name="Group 23"/>
          <p:cNvGrpSpPr/>
          <p:nvPr/>
        </p:nvGrpSpPr>
        <p:grpSpPr>
          <a:xfrm>
            <a:off x="5896993" y="5301567"/>
            <a:ext cx="10150641" cy="1433210"/>
            <a:chOff x="0" y="0"/>
            <a:chExt cx="13534188" cy="1910946"/>
          </a:xfrm>
        </p:grpSpPr>
        <p:sp>
          <p:nvSpPr>
            <p:cNvPr id="25" name="Freeform 25"/>
            <p:cNvSpPr/>
            <p:nvPr/>
          </p:nvSpPr>
          <p:spPr>
            <a:xfrm>
              <a:off x="8956692" y="13695"/>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28" name="Freeform 28"/>
            <p:cNvSpPr/>
            <p:nvPr/>
          </p:nvSpPr>
          <p:spPr>
            <a:xfrm>
              <a:off x="4478347" y="13695"/>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31" name="Freeform 31"/>
            <p:cNvSpPr/>
            <p:nvPr/>
          </p:nvSpPr>
          <p:spPr>
            <a:xfrm>
              <a:off x="0" y="0"/>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A1CCD1"/>
            </a:solidFill>
          </p:spPr>
          <p:txBody>
            <a:bodyPr/>
            <a:lstStyle/>
            <a:p>
              <a:pPr algn="r" rtl="1"/>
              <a:endParaRPr lang="ar-SA">
                <a:cs typeface="PT Bold Heading" panose="02010400000000000000" pitchFamily="2" charset="-78"/>
              </a:endParaRPr>
            </a:p>
          </p:txBody>
        </p:sp>
        <p:sp>
          <p:nvSpPr>
            <p:cNvPr id="34" name="Freeform 34"/>
            <p:cNvSpPr/>
            <p:nvPr/>
          </p:nvSpPr>
          <p:spPr>
            <a:xfrm>
              <a:off x="8956692" y="996559"/>
              <a:ext cx="4437260" cy="914387"/>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37" name="Freeform 37"/>
            <p:cNvSpPr/>
            <p:nvPr/>
          </p:nvSpPr>
          <p:spPr>
            <a:xfrm>
              <a:off x="4478347" y="996558"/>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40" name="Freeform 40"/>
            <p:cNvSpPr/>
            <p:nvPr/>
          </p:nvSpPr>
          <p:spPr>
            <a:xfrm>
              <a:off x="0" y="982862"/>
              <a:ext cx="4437260" cy="914386"/>
            </a:xfrm>
            <a:custGeom>
              <a:avLst/>
              <a:gdLst/>
              <a:ahLst/>
              <a:cxnLst/>
              <a:rect l="l" t="t" r="r" b="b"/>
              <a:pathLst>
                <a:path w="812800" h="167494">
                  <a:moveTo>
                    <a:pt x="0" y="0"/>
                  </a:moveTo>
                  <a:lnTo>
                    <a:pt x="812800" y="0"/>
                  </a:lnTo>
                  <a:lnTo>
                    <a:pt x="812800" y="167494"/>
                  </a:lnTo>
                  <a:lnTo>
                    <a:pt x="0" y="167494"/>
                  </a:lnTo>
                  <a:close/>
                </a:path>
              </a:pathLst>
            </a:custGeom>
            <a:solidFill>
              <a:srgbClr val="FFE194"/>
            </a:solidFill>
          </p:spPr>
          <p:txBody>
            <a:bodyPr/>
            <a:lstStyle/>
            <a:p>
              <a:pPr algn="r" rtl="1"/>
              <a:endParaRPr lang="ar-SA">
                <a:cs typeface="PT Bold Heading" panose="02010400000000000000" pitchFamily="2" charset="-78"/>
              </a:endParaRPr>
            </a:p>
          </p:txBody>
        </p:sp>
        <p:sp>
          <p:nvSpPr>
            <p:cNvPr id="42" name="TextBox 42"/>
            <p:cNvSpPr txBox="1"/>
            <p:nvPr/>
          </p:nvSpPr>
          <p:spPr>
            <a:xfrm>
              <a:off x="8726663" y="67537"/>
              <a:ext cx="4807525" cy="693181"/>
            </a:xfrm>
            <a:prstGeom prst="rect">
              <a:avLst/>
            </a:prstGeom>
          </p:spPr>
          <p:txBody>
            <a:bodyPr lIns="0" tIns="0" rIns="0" bIns="0" rtlCol="0" anchor="t">
              <a:spAutoFit/>
            </a:bodyPr>
            <a:lstStyle/>
            <a:p>
              <a:pPr algn="ctr" rtl="1">
                <a:lnSpc>
                  <a:spcPts val="4217"/>
                </a:lnSpc>
              </a:pPr>
              <a:r>
                <a:rPr lang="en-US" sz="3012">
                  <a:solidFill>
                    <a:srgbClr val="FFFFFF"/>
                  </a:solidFill>
                  <a:cs typeface="PT Bold Heading" panose="02010400000000000000" pitchFamily="2" charset="-78"/>
                </a:rPr>
                <a:t>ماذا أعرف عن الدرس</a:t>
              </a:r>
            </a:p>
          </p:txBody>
        </p:sp>
        <p:sp>
          <p:nvSpPr>
            <p:cNvPr id="43" name="TextBox 43"/>
            <p:cNvSpPr txBox="1"/>
            <p:nvPr/>
          </p:nvSpPr>
          <p:spPr>
            <a:xfrm>
              <a:off x="4565501" y="67537"/>
              <a:ext cx="4262951" cy="741912"/>
            </a:xfrm>
            <a:prstGeom prst="rect">
              <a:avLst/>
            </a:prstGeom>
          </p:spPr>
          <p:txBody>
            <a:bodyPr lIns="0" tIns="0" rIns="0" bIns="0" rtlCol="0" anchor="t">
              <a:spAutoFit/>
            </a:bodyPr>
            <a:lstStyle/>
            <a:p>
              <a:pPr algn="ctr" rtl="1">
                <a:lnSpc>
                  <a:spcPts val="4497"/>
                </a:lnSpc>
              </a:pPr>
              <a:r>
                <a:rPr lang="en-US" sz="3212">
                  <a:solidFill>
                    <a:srgbClr val="FFFFFF"/>
                  </a:solidFill>
                  <a:cs typeface="PT Bold Heading" panose="02010400000000000000" pitchFamily="2" charset="-78"/>
                </a:rPr>
                <a:t>ماذا تريد أن تعرف</a:t>
              </a:r>
            </a:p>
          </p:txBody>
        </p:sp>
        <p:sp>
          <p:nvSpPr>
            <p:cNvPr id="44" name="TextBox 44"/>
            <p:cNvSpPr txBox="1"/>
            <p:nvPr/>
          </p:nvSpPr>
          <p:spPr>
            <a:xfrm>
              <a:off x="515979" y="48015"/>
              <a:ext cx="3377911" cy="741912"/>
            </a:xfrm>
            <a:prstGeom prst="rect">
              <a:avLst/>
            </a:prstGeom>
          </p:spPr>
          <p:txBody>
            <a:bodyPr lIns="0" tIns="0" rIns="0" bIns="0" rtlCol="0" anchor="t">
              <a:spAutoFit/>
            </a:bodyPr>
            <a:lstStyle/>
            <a:p>
              <a:pPr algn="ctr" rtl="1">
                <a:lnSpc>
                  <a:spcPts val="4497"/>
                </a:lnSpc>
              </a:pPr>
              <a:r>
                <a:rPr lang="en-US" sz="3212">
                  <a:solidFill>
                    <a:srgbClr val="FFFFFF"/>
                  </a:solidFill>
                  <a:cs typeface="PT Bold Heading" panose="02010400000000000000" pitchFamily="2" charset="-78"/>
                </a:rPr>
                <a:t>ماذا تعلمت</a:t>
              </a:r>
            </a:p>
          </p:txBody>
        </p:sp>
      </p:grpSp>
    </p:spTree>
    <p:extLst>
      <p:ext uri="{BB962C8B-B14F-4D97-AF65-F5344CB8AC3E}">
        <p14:creationId xmlns:p14="http://schemas.microsoft.com/office/powerpoint/2010/main" val="29419267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عنصر نائب للمحتوى 4">
            <a:extLst>
              <a:ext uri="{FF2B5EF4-FFF2-40B4-BE49-F238E27FC236}">
                <a16:creationId xmlns:a16="http://schemas.microsoft.com/office/drawing/2014/main" id="{8671FBE3-F605-A76E-68DE-0E397D0951CE}"/>
              </a:ext>
            </a:extLst>
          </p:cNvPr>
          <p:cNvPicPr>
            <a:picLocks noGrp="1" noChangeAspect="1"/>
          </p:cNvPicPr>
          <p:nvPr>
            <p:ph idx="1"/>
          </p:nvPr>
        </p:nvPicPr>
        <p:blipFill>
          <a:blip r:embed="rId2"/>
          <a:stretch>
            <a:fillRect/>
          </a:stretch>
        </p:blipFill>
        <p:spPr>
          <a:xfrm>
            <a:off x="1763371" y="4461284"/>
            <a:ext cx="8545535" cy="3796641"/>
          </a:xfrm>
        </p:spPr>
      </p:pic>
      <p:sp>
        <p:nvSpPr>
          <p:cNvPr id="6" name="TextBox 4">
            <a:extLst>
              <a:ext uri="{FF2B5EF4-FFF2-40B4-BE49-F238E27FC236}">
                <a16:creationId xmlns:a16="http://schemas.microsoft.com/office/drawing/2014/main" id="{0495F808-126A-5F31-0C56-A8D2E84B8433}"/>
              </a:ext>
            </a:extLst>
          </p:cNvPr>
          <p:cNvSpPr txBox="1"/>
          <p:nvPr/>
        </p:nvSpPr>
        <p:spPr>
          <a:xfrm>
            <a:off x="10748508" y="3943990"/>
            <a:ext cx="6858000" cy="5466433"/>
          </a:xfrm>
          <a:prstGeom prst="rect">
            <a:avLst/>
          </a:prstGeom>
          <a:noFill/>
        </p:spPr>
        <p:txBody>
          <a:bodyPr wrap="square">
            <a:spAutoFit/>
          </a:bodyPr>
          <a:lstStyle/>
          <a:p>
            <a:pPr algn="ctr">
              <a:lnSpc>
                <a:spcPct val="150000"/>
              </a:lnSpc>
            </a:pPr>
            <a:r>
              <a:rPr lang="ar-SA" sz="6000" b="1" dirty="0">
                <a:solidFill>
                  <a:srgbClr val="D76F62"/>
                </a:solidFill>
                <a:latin typeface="Adobe Arabic" panose="02040503050201020203" pitchFamily="18" charset="-78"/>
                <a:cs typeface="Adobe Arabic" panose="02040503050201020203" pitchFamily="18" charset="-78"/>
              </a:rPr>
              <a:t>الكتاب المدرسي</a:t>
            </a:r>
          </a:p>
          <a:p>
            <a:pPr algn="ctr">
              <a:lnSpc>
                <a:spcPct val="150000"/>
              </a:lnSpc>
            </a:pPr>
            <a:r>
              <a:rPr lang="ar-SA" sz="6000" b="1" dirty="0">
                <a:solidFill>
                  <a:srgbClr val="D76F62"/>
                </a:solidFill>
                <a:latin typeface="Adobe Arabic" panose="02040503050201020203" pitchFamily="18" charset="-78"/>
                <a:cs typeface="Adobe Arabic" panose="02040503050201020203" pitchFamily="18" charset="-78"/>
              </a:rPr>
              <a:t>صفحة 106 - تدريب 1</a:t>
            </a:r>
          </a:p>
          <a:p>
            <a:pPr algn="ctr">
              <a:lnSpc>
                <a:spcPct val="150000"/>
              </a:lnSpc>
            </a:pPr>
            <a:r>
              <a:rPr lang="ar-SA" sz="6000" b="1" dirty="0">
                <a:solidFill>
                  <a:srgbClr val="D76F62"/>
                </a:solidFill>
                <a:latin typeface="Adobe Arabic" panose="02040503050201020203" pitchFamily="18" charset="-78"/>
                <a:cs typeface="Adobe Arabic" panose="02040503050201020203" pitchFamily="18" charset="-78"/>
              </a:rPr>
              <a:t>+</a:t>
            </a:r>
          </a:p>
          <a:p>
            <a:pPr algn="ctr">
              <a:lnSpc>
                <a:spcPct val="150000"/>
              </a:lnSpc>
            </a:pPr>
            <a:r>
              <a:rPr lang="ar-SA" sz="6000" b="1" dirty="0">
                <a:solidFill>
                  <a:srgbClr val="D76F62"/>
                </a:solidFill>
                <a:latin typeface="Adobe Arabic" panose="02040503050201020203" pitchFamily="18" charset="-78"/>
                <a:cs typeface="Adobe Arabic" panose="02040503050201020203" pitchFamily="18" charset="-78"/>
              </a:rPr>
              <a:t>منصة مدرستي</a:t>
            </a:r>
          </a:p>
        </p:txBody>
      </p:sp>
      <p:grpSp>
        <p:nvGrpSpPr>
          <p:cNvPr id="3" name="مجموعة 2">
            <a:extLst>
              <a:ext uri="{FF2B5EF4-FFF2-40B4-BE49-F238E27FC236}">
                <a16:creationId xmlns:a16="http://schemas.microsoft.com/office/drawing/2014/main" id="{9F4237D3-3857-C082-ECB0-B45C8EA8AD8E}"/>
              </a:ext>
            </a:extLst>
          </p:cNvPr>
          <p:cNvGrpSpPr/>
          <p:nvPr/>
        </p:nvGrpSpPr>
        <p:grpSpPr>
          <a:xfrm>
            <a:off x="8842200" y="2400300"/>
            <a:ext cx="9448801" cy="1300381"/>
            <a:chOff x="9067800" y="1599556"/>
            <a:chExt cx="9448801" cy="1300381"/>
          </a:xfrm>
        </p:grpSpPr>
        <p:sp>
          <p:nvSpPr>
            <p:cNvPr id="4" name="مستطيل 3">
              <a:extLst>
                <a:ext uri="{FF2B5EF4-FFF2-40B4-BE49-F238E27FC236}">
                  <a16:creationId xmlns:a16="http://schemas.microsoft.com/office/drawing/2014/main" id="{A8203FC7-CA18-6640-49EC-DAAA0D73DA84}"/>
                </a:ext>
              </a:extLst>
            </p:cNvPr>
            <p:cNvSpPr/>
            <p:nvPr/>
          </p:nvSpPr>
          <p:spPr>
            <a:xfrm>
              <a:off x="9232314" y="1707356"/>
              <a:ext cx="2286000" cy="1101694"/>
            </a:xfrm>
            <a:prstGeom prst="rect">
              <a:avLst/>
            </a:prstGeom>
            <a:solidFill>
              <a:srgbClr val="2A8D87"/>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7" name="مستطيل 6">
              <a:extLst>
                <a:ext uri="{FF2B5EF4-FFF2-40B4-BE49-F238E27FC236}">
                  <a16:creationId xmlns:a16="http://schemas.microsoft.com/office/drawing/2014/main" id="{C7B4C5AA-50A7-44C7-5652-E9253CE79FAA}"/>
                </a:ext>
              </a:extLst>
            </p:cNvPr>
            <p:cNvSpPr/>
            <p:nvPr/>
          </p:nvSpPr>
          <p:spPr>
            <a:xfrm>
              <a:off x="16230601" y="1686974"/>
              <a:ext cx="2286000" cy="1121762"/>
            </a:xfrm>
            <a:prstGeom prst="rect">
              <a:avLst/>
            </a:prstGeom>
            <a:solidFill>
              <a:srgbClr val="FFE19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8" name="Freeform 26">
              <a:extLst>
                <a:ext uri="{FF2B5EF4-FFF2-40B4-BE49-F238E27FC236}">
                  <a16:creationId xmlns:a16="http://schemas.microsoft.com/office/drawing/2014/main" id="{491A5477-C437-EFD5-7F76-4EE570BE6D57}"/>
                </a:ext>
              </a:extLst>
            </p:cNvPr>
            <p:cNvSpPr/>
            <p:nvPr/>
          </p:nvSpPr>
          <p:spPr>
            <a:xfrm>
              <a:off x="11259901" y="1707356"/>
              <a:ext cx="5619506" cy="1101379"/>
            </a:xfrm>
            <a:custGeom>
              <a:avLst/>
              <a:gdLst/>
              <a:ahLst/>
              <a:cxnLst/>
              <a:rect l="l" t="t" r="r" b="b"/>
              <a:pathLst>
                <a:path w="2270302" h="254664">
                  <a:moveTo>
                    <a:pt x="8673" y="0"/>
                  </a:moveTo>
                  <a:lnTo>
                    <a:pt x="2261628" y="0"/>
                  </a:lnTo>
                  <a:cubicBezTo>
                    <a:pt x="2263929" y="0"/>
                    <a:pt x="2266135" y="914"/>
                    <a:pt x="2267761" y="2540"/>
                  </a:cubicBezTo>
                  <a:cubicBezTo>
                    <a:pt x="2269388" y="4167"/>
                    <a:pt x="2270302" y="6373"/>
                    <a:pt x="2270302" y="8673"/>
                  </a:cubicBezTo>
                  <a:lnTo>
                    <a:pt x="2270302" y="245991"/>
                  </a:lnTo>
                  <a:cubicBezTo>
                    <a:pt x="2270302" y="250781"/>
                    <a:pt x="2266418" y="254664"/>
                    <a:pt x="2261628" y="254664"/>
                  </a:cubicBezTo>
                  <a:lnTo>
                    <a:pt x="8673" y="254664"/>
                  </a:lnTo>
                  <a:cubicBezTo>
                    <a:pt x="3883" y="254664"/>
                    <a:pt x="0" y="250781"/>
                    <a:pt x="0" y="245991"/>
                  </a:cubicBezTo>
                  <a:lnTo>
                    <a:pt x="0" y="8673"/>
                  </a:lnTo>
                  <a:cubicBezTo>
                    <a:pt x="0" y="3883"/>
                    <a:pt x="3883" y="0"/>
                    <a:pt x="8673" y="0"/>
                  </a:cubicBezTo>
                  <a:close/>
                </a:path>
              </a:pathLst>
            </a:custGeom>
            <a:solidFill>
              <a:srgbClr val="FFFFFF"/>
            </a:solidFill>
            <a:ln w="38100">
              <a:solidFill>
                <a:srgbClr val="2EB086"/>
              </a:solidFill>
            </a:ln>
          </p:spPr>
          <p:txBody>
            <a:bodyPr/>
            <a:lstStyle/>
            <a:p>
              <a:pPr algn="r" rtl="1"/>
              <a:endParaRPr lang="ar-SA">
                <a:cs typeface="PT Bold Heading" panose="02010400000000000000" pitchFamily="2" charset="-78"/>
              </a:endParaRPr>
            </a:p>
          </p:txBody>
        </p:sp>
        <p:sp>
          <p:nvSpPr>
            <p:cNvPr id="9" name="TextBox 31">
              <a:extLst>
                <a:ext uri="{FF2B5EF4-FFF2-40B4-BE49-F238E27FC236}">
                  <a16:creationId xmlns:a16="http://schemas.microsoft.com/office/drawing/2014/main" id="{4BC4CF4E-6BC8-69A6-6CA6-A21015FE8077}"/>
                </a:ext>
              </a:extLst>
            </p:cNvPr>
            <p:cNvSpPr txBox="1"/>
            <p:nvPr/>
          </p:nvSpPr>
          <p:spPr>
            <a:xfrm>
              <a:off x="11851198" y="1686974"/>
              <a:ext cx="4046519" cy="988476"/>
            </a:xfrm>
            <a:prstGeom prst="rect">
              <a:avLst/>
            </a:prstGeom>
          </p:spPr>
          <p:txBody>
            <a:bodyPr lIns="0" tIns="0" rIns="0" bIns="0" rtlCol="0" anchor="t">
              <a:spAutoFit/>
            </a:bodyPr>
            <a:lstStyle/>
            <a:p>
              <a:pPr algn="ctr" rtl="1">
                <a:lnSpc>
                  <a:spcPts val="7970"/>
                </a:lnSpc>
              </a:pPr>
              <a:r>
                <a:rPr lang="ar-SA" sz="5693" dirty="0">
                  <a:solidFill>
                    <a:srgbClr val="000000"/>
                  </a:solidFill>
                  <a:cs typeface="PT Bold Heading" panose="02010400000000000000" pitchFamily="2" charset="-78"/>
                </a:rPr>
                <a:t>الواجب</a:t>
              </a:r>
              <a:endParaRPr lang="en-US" sz="5693" dirty="0">
                <a:solidFill>
                  <a:srgbClr val="000000"/>
                </a:solidFill>
                <a:cs typeface="PT Bold Heading" panose="02010400000000000000" pitchFamily="2" charset="-78"/>
              </a:endParaRPr>
            </a:p>
          </p:txBody>
        </p:sp>
        <p:sp>
          <p:nvSpPr>
            <p:cNvPr id="10" name="TextBox 32">
              <a:extLst>
                <a:ext uri="{FF2B5EF4-FFF2-40B4-BE49-F238E27FC236}">
                  <a16:creationId xmlns:a16="http://schemas.microsoft.com/office/drawing/2014/main" id="{1A835A67-4BEB-FA3B-70A3-EDDF43A61686}"/>
                </a:ext>
              </a:extLst>
            </p:cNvPr>
            <p:cNvSpPr txBox="1"/>
            <p:nvPr/>
          </p:nvSpPr>
          <p:spPr>
            <a:xfrm>
              <a:off x="10357974" y="1747794"/>
              <a:ext cx="616134" cy="988476"/>
            </a:xfrm>
            <a:prstGeom prst="rect">
              <a:avLst/>
            </a:prstGeom>
          </p:spPr>
          <p:txBody>
            <a:bodyPr lIns="0" tIns="0" rIns="0" bIns="0" rtlCol="0" anchor="t">
              <a:spAutoFit/>
            </a:bodyPr>
            <a:lstStyle/>
            <a:p>
              <a:pPr algn="ctr" rtl="1">
                <a:lnSpc>
                  <a:spcPts val="7970"/>
                </a:lnSpc>
              </a:pPr>
              <a:r>
                <a:rPr lang="en-US" sz="5693" dirty="0">
                  <a:solidFill>
                    <a:srgbClr val="FFFFFF"/>
                  </a:solidFill>
                  <a:latin typeface="PT Bold Heading"/>
                  <a:cs typeface="PT Bold Heading" panose="02010400000000000000" pitchFamily="2" charset="-78"/>
                </a:rPr>
                <a:t>1</a:t>
              </a:r>
            </a:p>
          </p:txBody>
        </p:sp>
        <p:sp>
          <p:nvSpPr>
            <p:cNvPr id="11" name="Freeform 47">
              <a:extLst>
                <a:ext uri="{FF2B5EF4-FFF2-40B4-BE49-F238E27FC236}">
                  <a16:creationId xmlns:a16="http://schemas.microsoft.com/office/drawing/2014/main" id="{073145CF-0578-1B6D-0683-EADE43F3F5AD}"/>
                </a:ext>
              </a:extLst>
            </p:cNvPr>
            <p:cNvSpPr/>
            <p:nvPr/>
          </p:nvSpPr>
          <p:spPr>
            <a:xfrm>
              <a:off x="9067800" y="1599556"/>
              <a:ext cx="1125660" cy="1300381"/>
            </a:xfrm>
            <a:custGeom>
              <a:avLst/>
              <a:gdLst/>
              <a:ahLst/>
              <a:cxnLst/>
              <a:rect l="l" t="t" r="r" b="b"/>
              <a:pathLst>
                <a:path w="3760645" h="4027465">
                  <a:moveTo>
                    <a:pt x="0" y="0"/>
                  </a:moveTo>
                  <a:lnTo>
                    <a:pt x="3760645" y="0"/>
                  </a:lnTo>
                  <a:lnTo>
                    <a:pt x="3760645" y="4027465"/>
                  </a:lnTo>
                  <a:lnTo>
                    <a:pt x="0" y="40274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algn="r" rtl="1"/>
              <a:endParaRPr lang="ar-SA" dirty="0">
                <a:cs typeface="PT Bold Heading" panose="02010400000000000000" pitchFamily="2" charset="-78"/>
              </a:endParaRPr>
            </a:p>
          </p:txBody>
        </p:sp>
      </p:grpSp>
    </p:spTree>
    <p:extLst>
      <p:ext uri="{BB962C8B-B14F-4D97-AF65-F5344CB8AC3E}">
        <p14:creationId xmlns:p14="http://schemas.microsoft.com/office/powerpoint/2010/main" val="27383151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id="{0495F808-126A-5F31-0C56-A8D2E84B8433}"/>
              </a:ext>
            </a:extLst>
          </p:cNvPr>
          <p:cNvSpPr txBox="1"/>
          <p:nvPr/>
        </p:nvSpPr>
        <p:spPr>
          <a:xfrm>
            <a:off x="985671" y="1692267"/>
            <a:ext cx="15780099" cy="6095066"/>
          </a:xfrm>
          <a:prstGeom prst="rect">
            <a:avLst/>
          </a:prstGeom>
          <a:noFill/>
        </p:spPr>
        <p:txBody>
          <a:bodyPr wrap="square">
            <a:spAutoFit/>
          </a:bodyPr>
          <a:lstStyle/>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لوحة النقاش</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مشاركة ولي امر</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قراءة عدد بطريقة لغوية صحيحة وتوضيح إذا كان مركب او لا</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توظيف الكتاب</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إضافة عجلة أسماء الطالبات</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إضافة المؤقت</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المجموعات</a:t>
            </a:r>
          </a:p>
          <a:p>
            <a:pPr algn="r">
              <a:lnSpc>
                <a:spcPct val="150000"/>
              </a:lnSpc>
            </a:pPr>
            <a:r>
              <a:rPr lang="ar-SA" sz="3300" b="1" dirty="0">
                <a:solidFill>
                  <a:srgbClr val="D76F62"/>
                </a:solidFill>
                <a:latin typeface="Adobe Arabic" panose="02040503050201020203" pitchFamily="18" charset="-78"/>
                <a:cs typeface="Adobe Arabic" panose="02040503050201020203" pitchFamily="18" charset="-78"/>
              </a:rPr>
              <a:t>أنشطة مع التقييم الذاتي وتقييم المعلمة</a:t>
            </a:r>
          </a:p>
        </p:txBody>
      </p:sp>
    </p:spTree>
    <p:extLst>
      <p:ext uri="{BB962C8B-B14F-4D97-AF65-F5344CB8AC3E}">
        <p14:creationId xmlns:p14="http://schemas.microsoft.com/office/powerpoint/2010/main" val="3657768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تصميم مخص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تصميم مخص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2496</Words>
  <Application>Microsoft Office PowerPoint</Application>
  <PresentationFormat>مخصص</PresentationFormat>
  <Paragraphs>345</Paragraphs>
  <Slides>53</Slides>
  <Notes>0</Notes>
  <HiddenSlides>0</HiddenSlides>
  <MMClips>3</MMClips>
  <ScaleCrop>false</ScaleCrop>
  <HeadingPairs>
    <vt:vector size="4" baseType="variant">
      <vt:variant>
        <vt:lpstr>نسق</vt:lpstr>
      </vt:variant>
      <vt:variant>
        <vt:i4>3</vt:i4>
      </vt:variant>
      <vt:variant>
        <vt:lpstr>عناوين الشرائح</vt:lpstr>
      </vt:variant>
      <vt:variant>
        <vt:i4>53</vt:i4>
      </vt:variant>
    </vt:vector>
  </HeadingPairs>
  <TitlesOfParts>
    <vt:vector size="56" baseType="lpstr">
      <vt:lpstr>Office Theme</vt:lpstr>
      <vt:lpstr>تصميم مخصص</vt:lpstr>
      <vt:lpstr>1_تصميم مخصص</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التقنية الرقمية 3 (6)</dc:title>
  <dc:creator>MAHA ss</dc:creator>
  <cp:lastModifiedBy>شهد العتيبي</cp:lastModifiedBy>
  <cp:revision>65</cp:revision>
  <dcterms:created xsi:type="dcterms:W3CDTF">2006-08-16T00:00:00Z</dcterms:created>
  <dcterms:modified xsi:type="dcterms:W3CDTF">2026-10-23T18:58:03Z</dcterms:modified>
  <dc:identifier>DAFqNtPexEU</dc:identifier>
</cp:coreProperties>
</file>